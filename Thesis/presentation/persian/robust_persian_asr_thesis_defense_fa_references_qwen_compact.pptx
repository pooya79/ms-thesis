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7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5.xml" ContentType="application/vnd.openxmlformats-officedocument.theme+xml"/>
  <Override PartName="/ppt/theme/theme14.xml" ContentType="application/vnd.openxmlformats-officedocument.theme+xml"/>
  <Override PartName="/ppt/theme/theme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22.xml" ContentType="application/vnd.openxmlformats-officedocument.presentationml.slide+xml"/>
  <Override PartName="/ppt/slides/slide34.xml" ContentType="application/vnd.openxmlformats-officedocument.presentationml.slide+xml"/>
  <Override PartName="/ppt/slides/slide23.xml" ContentType="application/vnd.openxmlformats-officedocument.presentationml.slide+xml"/>
  <Override PartName="/ppt/slides/slide35.xml" ContentType="application/vnd.openxmlformats-officedocument.presentationml.slide+xml"/>
  <Override PartName="/ppt/slides/slide24.xml" ContentType="application/vnd.openxmlformats-officedocument.presentationml.slide+xml"/>
  <Override PartName="/ppt/slides/slide36.xml" ContentType="application/vnd.openxmlformats-officedocument.presentationml.slide+xml"/>
  <Override PartName="/ppt/slides/slide25.xml" ContentType="application/vnd.openxmlformats-officedocument.presentationml.slide+xml"/>
  <Override PartName="/ppt/slides/slide37.xml" ContentType="application/vnd.openxmlformats-officedocument.presentationml.slide+xml"/>
  <Override PartName="/ppt/slides/_rels/slide1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7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3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37.xml.rels" ContentType="application/vnd.openxmlformats-package.relationships+xml"/>
  <Override PartName="/ppt/slides/_rels/slide2.xml.rels" ContentType="application/vnd.openxmlformats-package.relationships+xml"/>
  <Override PartName="/ppt/slides/_rels/slide38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slide38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9.png" ContentType="image/png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s/slide39.xml" ContentType="application/vnd.openxmlformats-officedocument.presentationml.slide+xml"/>
  <Default Extension="xlsx" ContentType="application/vnd.openxmlformats-officedocument.spreadsheetml.sheet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</p:sldMasterIdLst>
  <p:sldIdLst>
    <p:sldId id="256" r:id="rId20"/>
    <p:sldId id="257" r:id="rId21"/>
    <p:sldId id="258" r:id="rId22"/>
    <p:sldId id="259" r:id="rId23"/>
    <p:sldId id="260" r:id="rId24"/>
    <p:sldId id="261" r:id="rId25"/>
    <p:sldId id="262" r:id="rId26"/>
    <p:sldId id="263" r:id="rId27"/>
    <p:sldId id="264" r:id="rId28"/>
    <p:sldId id="265" r:id="rId29"/>
    <p:sldId id="266" r:id="rId30"/>
    <p:sldId id="294" r:id="rIdModelEquations"/>
    <p:sldId id="267" r:id="rId31"/>
    <p:sldId id="268" r:id="rId32"/>
    <p:sldId id="269" r:id="rId33"/>
    <p:sldId id="270" r:id="rId34"/>
    <p:sldId id="271" r:id="rId35"/>
    <p:sldId id="272" r:id="rId36"/>
    <p:sldId id="273" r:id="rId37"/>
    <p:sldId id="274" r:id="rId38"/>
    <p:sldId id="275" r:id="rId39"/>
    <p:sldId id="276" r:id="rId40"/>
    <p:sldId id="277" r:id="rId41"/>
    <p:sldId id="278" r:id="rId42"/>
    <p:sldId id="279" r:id="rId43"/>
    <p:sldId id="280" r:id="rId44"/>
    <p:sldId id="281" r:id="rId45"/>
    <p:sldId id="282" r:id="rId46"/>
    <p:sldId id="283" r:id="rId47"/>
    <p:sldId id="284" r:id="rId48"/>
    <p:sldId id="285" r:id="rId49"/>
    <p:sldId id="286" r:id="rId50"/>
    <p:sldId id="287" r:id="rId51"/>
    <p:sldId id="288" r:id="rId52"/>
    <p:sldId id="289" r:id="rId53"/>
    <p:sldId id="290" r:id="rId54"/>
    <p:sldId id="291" r:id="rId55"/>
    <p:sldId id="292" r:id="rId56"/>
    <p:sldId id="293" r:id="rId5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" Target="slides/slide1.xml"/><Relationship Id="rId21" Type="http://schemas.openxmlformats.org/officeDocument/2006/relationships/slide" Target="slides/slide2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2" Type="http://schemas.openxmlformats.org/officeDocument/2006/relationships/slide" Target="slides/slide13.xml"/><Relationship Id="rId33" Type="http://schemas.openxmlformats.org/officeDocument/2006/relationships/slide" Target="slides/slide14.xml"/><Relationship Id="rId34" Type="http://schemas.openxmlformats.org/officeDocument/2006/relationships/slide" Target="slides/slide15.xml"/><Relationship Id="rId35" Type="http://schemas.openxmlformats.org/officeDocument/2006/relationships/slide" Target="slides/slide16.xml"/><Relationship Id="rId36" Type="http://schemas.openxmlformats.org/officeDocument/2006/relationships/slide" Target="slides/slide17.xml"/><Relationship Id="rId37" Type="http://schemas.openxmlformats.org/officeDocument/2006/relationships/slide" Target="slides/slide18.xml"/><Relationship Id="rId38" Type="http://schemas.openxmlformats.org/officeDocument/2006/relationships/slide" Target="slides/slide19.xml"/><Relationship Id="rId39" Type="http://schemas.openxmlformats.org/officeDocument/2006/relationships/slide" Target="slides/slide20.xml"/><Relationship Id="rId40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5" Type="http://schemas.openxmlformats.org/officeDocument/2006/relationships/slide" Target="slides/slide26.xml"/><Relationship Id="rId46" Type="http://schemas.openxmlformats.org/officeDocument/2006/relationships/slide" Target="slides/slide27.xml"/><Relationship Id="rId47" Type="http://schemas.openxmlformats.org/officeDocument/2006/relationships/slide" Target="slides/slide28.xml"/><Relationship Id="rId48" Type="http://schemas.openxmlformats.org/officeDocument/2006/relationships/slide" Target="slides/slide29.xml"/><Relationship Id="rId49" Type="http://schemas.openxmlformats.org/officeDocument/2006/relationships/slide" Target="slides/slide30.xml"/><Relationship Id="rId50" Type="http://schemas.openxmlformats.org/officeDocument/2006/relationships/slide" Target="slides/slide31.xml"/><Relationship Id="rId51" Type="http://schemas.openxmlformats.org/officeDocument/2006/relationships/slide" Target="slides/slide32.xml"/><Relationship Id="rId52" Type="http://schemas.openxmlformats.org/officeDocument/2006/relationships/slide" Target="slides/slide33.xml"/><Relationship Id="rId53" Type="http://schemas.openxmlformats.org/officeDocument/2006/relationships/slide" Target="slides/slide34.xml"/><Relationship Id="rId54" Type="http://schemas.openxmlformats.org/officeDocument/2006/relationships/slide" Target="slides/slide35.xml"/><Relationship Id="rId55" Type="http://schemas.openxmlformats.org/officeDocument/2006/relationships/slide" Target="slides/slide36.xml"/><Relationship Id="rId56" Type="http://schemas.openxmlformats.org/officeDocument/2006/relationships/slide" Target="slides/slide37.xml"/><Relationship Id="rId57" Type="http://schemas.openxmlformats.org/officeDocument/2006/relationships/slide" Target="slides/slide38.xml"/><Relationship Id="rId58" Type="http://schemas.openxmlformats.org/officeDocument/2006/relationships/presProps" Target="presProps.xml"/>
<Relationship Id="rIdModelEquations" Type="http://schemas.openxmlformats.org/officeDocument/2006/relationships/slide" Target="slides/slide39.xml"/></Relationships>
</file>

<file path=ppt/charts/_rels/chart1.xml.rels><Relationships xmlns="http://schemas.openxmlformats.org/package/2006/relationships"><Relationship Id="rIdChartSnapshot1" Type="http://schemas.openxmlformats.org/officeDocument/2006/relationships/package" Target="../embeddings/chart-data-snapshot-001.xlsx"/></Relationships>
</file>

<file path=ppt/charts/_rels/chart2.xml.rels><Relationships xmlns="http://schemas.openxmlformats.org/package/2006/relationships"><Relationship Id="rIdChartSnapshot1" Type="http://schemas.openxmlformats.org/officeDocument/2006/relationships/package" Target="../embeddings/chart-data-snapshot-002.xlsx"/></Relationships>
</file>

<file path=ppt/charts/_rels/chart3.xml.rels><Relationships xmlns="http://schemas.openxmlformats.org/package/2006/relationships"><Relationship Id="rIdChartSnapshot1" Type="http://schemas.openxmlformats.org/officeDocument/2006/relationships/package" Target="../embeddings/chart-data-snapshot-003.xlsx"/></Relationships>
</file>

<file path=ppt/charts/_rels/chart4.xml.rels><Relationships xmlns="http://schemas.openxmlformats.org/package/2006/relationships"><Relationship Id="rIdChartSnapshot1" Type="http://schemas.openxmlformats.org/officeDocument/2006/relationships/package" Target="../embeddings/chart-data-snapshot-004.xlsx"/></Relationships>
</file>

<file path=ppt/charts/_rels/chart5.xml.rels><Relationships xmlns="http://schemas.openxmlformats.org/package/2006/relationships"><Relationship Id="rIdChartSnapshot1" Type="http://schemas.openxmlformats.org/officeDocument/2006/relationships/package" Target="../embeddings/chart-data-snapshot-00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1"/>
            <c:spPr>
              <a:solidFill>
                <a:srgbClr val="8da1a9"/>
              </a:solidFill>
              <a:ln w="0">
                <a:noFill/>
              </a:ln>
            </c:spPr>
          </c:dPt>
          <c:dPt>
            <c:idx val="2"/>
            <c:spPr>
              <a:solidFill>
                <a:srgbClr val="63828e"/>
              </a:solidFill>
              <a:ln w="0">
                <a:noFill/>
              </a:ln>
            </c:spPr>
          </c:dPt>
          <c:dPt>
            <c:idx val="3"/>
            <c:spPr>
              <a:solidFill>
                <a:srgbClr val="1d6f8a"/>
              </a:solidFill>
              <a:ln w="0">
                <a:noFill/>
              </a:ln>
            </c:spPr>
          </c:dPt>
          <c:dLbls>
            <c:numFmt formatCode="0.00%" sourceLinked="0"/>
            <c:dLbl>
              <c:idx val="0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۳۵٫۶۳٪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۳۲٫۶۷٪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۳۰٫۰۱٪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۲۵٫۸۰٪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  <a:ea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'Chart Data'!$A$2:$A$5</c:f>
              <c:strCache>
                <c:ptCount val="4"/>
                <c:pt idx="0">
                  <c:v>معمولی</c:v>
                </c:pt>
                <c:pt idx="1">
                  <c:v>فقط نویز</c:v>
                </c:pt>
                <c:pt idx="2">
                  <c:v>pMCT</c:v>
                </c:pt>
                <c:pt idx="3">
                  <c:v>چندشرایطی
مخابراتی</c:v>
                </c:pt>
              </c:strCache>
            </c:strRef>
          </c:cat>
          <c:val>
            <c:numRef>
              <c:f>'Chart Data'!$B$2:$B$5</c:f>
              <c:numCache>
                <c:formatCode>0.00%</c:formatCode>
                <c:ptCount val="4"/>
                <c:pt idx="0">
                  <c:v>0.3563</c:v>
                </c:pt>
                <c:pt idx="1">
                  <c:v>0.3267</c:v>
                </c:pt>
                <c:pt idx="2">
                  <c:v>0.3001</c:v>
                </c:pt>
                <c:pt idx="3">
                  <c:v>0.258</c:v>
                </c:pt>
              </c:numCache>
            </c:numRef>
          </c:val>
        </c:ser>
        <c:gapWidth val="100"/>
        <c:overlap val="0"/>
        <c:axId val="98180542"/>
        <c:axId val="53258045"/>
      </c:barChart>
      <c:catAx>
        <c:axId val="9818054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360">
            <a:solidFill>
              <a:srgbClr val="d5dcdd"/>
            </a:solidFill>
            <a:round/>
          </a:ln>
        </c:spPr>
        <c:txPr>
          <a:bodyPr/>
          <a:lstStyle/>
          <a:p>
            <a:pPr>
              <a:defRPr b="0" sz="1725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53258045"/>
        <c:crosses val="autoZero"/>
        <c:auto val="1"/>
        <c:lblAlgn val="ctr"/>
        <c:lblOffset val="100"/>
        <c:noMultiLvlLbl val="0"/>
      </c:catAx>
      <c:valAx>
        <c:axId val="53258045"/>
        <c:scaling>
          <c:orientation val="minMax"/>
          <c:max val="0.42"/>
          <c:min val="0"/>
        </c:scaling>
        <c:delete val="1"/>
        <c:axPos val="l"/>
        <c:numFmt formatCode="0.00%" sourceLinked="1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98180542"/>
        <c:crossBetween val="between"/>
        <c:majorUnit val="0.105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1"/>
            <c:spPr>
              <a:solidFill>
                <a:srgbClr val="63828e"/>
              </a:solidFill>
              <a:ln w="0">
                <a:noFill/>
              </a:ln>
            </c:spPr>
          </c:dPt>
          <c:dPt>
            <c:idx val="2"/>
            <c:spPr>
              <a:solidFill>
                <a:srgbClr val="1d6f8a"/>
              </a:solidFill>
              <a:ln w="0">
                <a:noFill/>
              </a:ln>
            </c:spPr>
          </c:dPt>
          <c:dLbls>
            <c:numFmt formatCode="0.00%" sourceLinked="0"/>
            <c:dLbl>
              <c:idx val="0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۱۷٫۸۳٪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۱۷٫۷۴٪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۱۷٫۶۴٪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  <a:ea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'Chart Data'!$A$2:$A$4</c:f>
              <c:strCache>
                <c:ptCount val="3"/>
                <c:pt idx="0">
                  <c:v>چندشرایطی</c:v>
                </c:pt>
                <c:pt idx="1">
                  <c:v>پل تطبیقی</c:v>
                </c:pt>
                <c:pt idx="2">
                  <c:v>همجوشی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0.1783</c:v>
                </c:pt>
                <c:pt idx="1">
                  <c:v>0.1774</c:v>
                </c:pt>
                <c:pt idx="2">
                  <c:v>0.1764</c:v>
                </c:pt>
              </c:numCache>
            </c:numRef>
          </c:val>
        </c:ser>
        <c:gapWidth val="90"/>
        <c:overlap val="0"/>
        <c:axId val="57100213"/>
        <c:axId val="90472979"/>
      </c:barChart>
      <c:catAx>
        <c:axId val="571002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360">
            <a:solidFill>
              <a:srgbClr val="d5dcdd"/>
            </a:solidFill>
            <a:round/>
          </a:ln>
        </c:spPr>
        <c:txPr>
          <a:bodyPr/>
          <a:lstStyle/>
          <a:p>
            <a:pPr>
              <a:defRPr b="0" sz="1650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90472979"/>
        <c:crosses val="autoZero"/>
        <c:auto val="1"/>
        <c:lblAlgn val="ctr"/>
        <c:lblOffset val="100"/>
        <c:noMultiLvlLbl val="0"/>
      </c:catAx>
      <c:valAx>
        <c:axId val="90472979"/>
        <c:scaling>
          <c:orientation val="minMax"/>
          <c:max val="0.22"/>
          <c:min val="0"/>
        </c:scaling>
        <c:delete val="1"/>
        <c:axPos val="l"/>
        <c:numFmt formatCode="0.00%" sourceLinked="1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57100213"/>
        <c:crossBetween val="between"/>
        <c:majorUnit val="0.055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1"/>
            <c:spPr>
              <a:solidFill>
                <a:srgbClr val="63828e"/>
              </a:solidFill>
              <a:ln w="0">
                <a:noFill/>
              </a:ln>
            </c:spPr>
          </c:dPt>
          <c:dPt>
            <c:idx val="2"/>
            <c:spPr>
              <a:solidFill>
                <a:srgbClr val="1d6f8a"/>
              </a:solidFill>
              <a:ln w="0">
                <a:noFill/>
              </a:ln>
            </c:spPr>
          </c:dPt>
          <c:dLbls>
            <c:numFmt formatCode="0.00%" sourceLinked="0"/>
            <c:dLbl>
              <c:idx val="0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۲۵٫۸۰٪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۲۵٫۸۴٪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۲۵٫۳۷٪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  <a:ea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'Chart Data'!$A$2:$A$4</c:f>
              <c:strCache>
                <c:ptCount val="3"/>
                <c:pt idx="0">
                  <c:v>چندشرایطی</c:v>
                </c:pt>
                <c:pt idx="1">
                  <c:v>پل تطبیقی</c:v>
                </c:pt>
                <c:pt idx="2">
                  <c:v>همجوشی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0.258</c:v>
                </c:pt>
                <c:pt idx="1">
                  <c:v>0.2584</c:v>
                </c:pt>
                <c:pt idx="2">
                  <c:v>0.2537</c:v>
                </c:pt>
              </c:numCache>
            </c:numRef>
          </c:val>
        </c:ser>
        <c:gapWidth val="90"/>
        <c:overlap val="0"/>
        <c:axId val="79358915"/>
        <c:axId val="1056393"/>
      </c:barChart>
      <c:catAx>
        <c:axId val="79358915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360">
            <a:solidFill>
              <a:srgbClr val="d5dcdd"/>
            </a:solidFill>
            <a:round/>
          </a:ln>
        </c:spPr>
        <c:txPr>
          <a:bodyPr/>
          <a:lstStyle/>
          <a:p>
            <a:pPr>
              <a:defRPr b="0" sz="1650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1056393"/>
        <c:crosses val="autoZero"/>
        <c:auto val="1"/>
        <c:lblAlgn val="ctr"/>
        <c:lblOffset val="100"/>
        <c:noMultiLvlLbl val="0"/>
      </c:catAx>
      <c:valAx>
        <c:axId val="1056393"/>
        <c:scaling>
          <c:orientation val="minMax"/>
          <c:max val="0.32"/>
          <c:min val="0"/>
        </c:scaling>
        <c:delete val="1"/>
        <c:axPos val="l"/>
        <c:numFmt formatCode="0.00%" sourceLinked="1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79358915"/>
        <c:crossBetween val="between"/>
        <c:majorUnit val="0.08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1d6f8a"/>
              </a:solidFill>
              <a:ln w="0">
                <a:noFill/>
              </a:ln>
            </c:spPr>
          </c:dPt>
          <c:dPt>
            <c:idx val="1"/>
            <c:spPr>
              <a:solidFill>
                <a:srgbClr val="63828e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da1a9"/>
              </a:solidFill>
              <a:ln w="0">
                <a:noFill/>
              </a:ln>
            </c:spPr>
          </c:dPt>
          <c:dPt>
            <c:idx val="3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bdc7cb"/>
              </a:solidFill>
              <a:ln w="0">
                <a:noFill/>
              </a:ln>
            </c:spPr>
          </c:dPt>
          <c:dLbls>
            <c:numFmt formatCode="0.00%" sourceLinked="0"/>
            <c:dLbl>
              <c:idx val="0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۶۳٫۵۰٪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۶۵٫۸۸٪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۶۹٫۲۳٪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۶۹٫۶۹٪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4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۷۶٫۸۵٪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  <a:ea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'Chart Data'!$A$2:$A$6</c:f>
              <c:strCache>
                <c:ptCount val="5"/>
                <c:pt idx="0">
                  <c:v>همجوشی
دوسویه</c:v>
                </c:pt>
                <c:pt idx="1">
                  <c:v>فقط دروازه</c:v>
                </c:pt>
                <c:pt idx="2">
                  <c:v>فقط بازنمایی
اصلی¹</c:v>
                </c:pt>
                <c:pt idx="3">
                  <c:v>فقط بازنمایی
بهسازی‌شده¹</c:v>
                </c:pt>
                <c:pt idx="4">
                  <c:v>خط مبنای
چندشرایطی</c:v>
                </c:pt>
              </c:strCache>
            </c:strRef>
          </c:cat>
          <c:val>
            <c:numRef>
              <c:f>'Chart Data'!$B$2:$B$6</c:f>
              <c:numCache>
                <c:formatCode>0.00%</c:formatCode>
                <c:ptCount val="5"/>
                <c:pt idx="0">
                  <c:v>0.635</c:v>
                </c:pt>
                <c:pt idx="1">
                  <c:v>0.6588</c:v>
                </c:pt>
                <c:pt idx="2">
                  <c:v>0.6923</c:v>
                </c:pt>
                <c:pt idx="3">
                  <c:v>0.6969</c:v>
                </c:pt>
                <c:pt idx="4">
                  <c:v>0.7685</c:v>
                </c:pt>
              </c:numCache>
            </c:numRef>
          </c:val>
        </c:ser>
        <c:gapWidth val="90"/>
        <c:overlap val="0"/>
        <c:axId val="14948398"/>
        <c:axId val="8432793"/>
      </c:barChart>
      <c:catAx>
        <c:axId val="14948398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360">
            <a:solidFill>
              <a:srgbClr val="d5dcdd"/>
            </a:solidFill>
            <a:round/>
          </a:ln>
        </c:spPr>
        <c:txPr>
          <a:bodyPr/>
          <a:lstStyle/>
          <a:p>
            <a:pPr>
              <a:defRPr b="0" sz="1575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8432793"/>
        <c:crosses val="autoZero"/>
        <c:auto val="1"/>
        <c:lblAlgn val="ctr"/>
        <c:lblOffset val="100"/>
        <c:noMultiLvlLbl val="0"/>
      </c:catAx>
      <c:valAx>
        <c:axId val="8432793"/>
        <c:scaling>
          <c:orientation val="minMax"/>
          <c:max val="0.83"/>
          <c:min val="0"/>
        </c:scaling>
        <c:delete val="1"/>
        <c:axPos val="l"/>
        <c:numFmt formatCode="0.00%" sourceLinked="1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14948398"/>
        <c:crossBetween val="between"/>
        <c:majorUnit val="0.2075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spPr>
            <a:solidFill>
              <a:srgbClr val="1d6f8a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7b8794"/>
              </a:solidFill>
              <a:ln w="0">
                <a:noFill/>
              </a:ln>
            </c:spPr>
          </c:dPt>
          <c:dPt>
            <c:idx val="1"/>
            <c:spPr>
              <a:solidFill>
                <a:srgbClr val="aab6bb"/>
              </a:solidFill>
              <a:ln w="0">
                <a:noFill/>
              </a:ln>
            </c:spPr>
          </c:dPt>
          <c:dPt>
            <c:idx val="2"/>
            <c:spPr>
              <a:solidFill>
                <a:srgbClr val="1d6f8a"/>
              </a:solidFill>
              <a:ln w="0">
                <a:noFill/>
              </a:ln>
            </c:spPr>
          </c:dPt>
          <c:dPt>
            <c:idx val="3"/>
            <c:spPr>
              <a:solidFill>
                <a:srgbClr val="1d6f8a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d6f8a"/>
              </a:solidFill>
              <a:ln w="0">
                <a:noFill/>
              </a:ln>
            </c:spPr>
          </c:dPt>
          <c:dLbls>
            <c:numFmt formatCode="\+0.00;\-0.00;0" sourceLinked="0"/>
            <c:dLbl>
              <c:idx val="0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+۰٫۸۶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+۰٫۳۵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−۶٫۰۴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−۸٫۳۹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4"/>
              <c:tx>
                <c:rich>
                  <a:bodyPr/>
                  <a:p>
                    <a:r>
                      <a:rPr b="1" sz="1875" spc="-1" strike="noStrike">
                        <a:solidFill>
                          <a:srgbClr val="153d42"/>
                        </a:solidFill>
                        <a:latin typeface="Vazirmatn"/>
                        <a:ea typeface="Vazirmatn"/>
                      </a:rPr>
                      <a:t>−۵٫۰۳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Vazirmatn"/>
                      <a:ea typeface="Vazirmatn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Vazirmatn"/>
                    <a:ea typeface="Vazirmatn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'Chart Data'!$A$2:$A$6</c:f>
              <c:strCache>
                <c:ptCount val="5"/>
                <c:pt idx="0">
                  <c:v>AGFarsdat</c:v>
                </c:pt>
                <c:pt idx="1">
                  <c:v>Common Voice</c:v>
                </c:pt>
                <c:pt idx="2">
                  <c:v>FLEURS</c:v>
                </c:pt>
                <c:pt idx="3">
                  <c:v>PersianSpeech¹</c:v>
                </c:pt>
                <c:pt idx="4">
                  <c:v>Persian Speech
Corpus</c:v>
                </c:pt>
              </c:strCache>
            </c:strRef>
          </c:cat>
          <c:val>
            <c:numRef>
              <c:f>'Chart Data'!$B$2:$B$6</c:f>
              <c:numCache>
                <c:formatCode>\+0.00;\-0.00;0</c:formatCode>
                <c:ptCount val="5"/>
                <c:pt idx="0">
                  <c:v>0.86</c:v>
                </c:pt>
                <c:pt idx="1">
                  <c:v>0.35</c:v>
                </c:pt>
                <c:pt idx="2">
                  <c:v>-6.04</c:v>
                </c:pt>
                <c:pt idx="3">
                  <c:v>-8.39</c:v>
                </c:pt>
                <c:pt idx="4">
                  <c:v>-5.03</c:v>
                </c:pt>
              </c:numCache>
            </c:numRef>
          </c:val>
        </c:ser>
        <c:gapWidth val="120"/>
        <c:overlap val="0"/>
        <c:axId val="38621763"/>
        <c:axId val="46147329"/>
      </c:barChart>
      <c:catAx>
        <c:axId val="3862176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17280">
            <a:solidFill>
              <a:srgbClr val="153d42"/>
            </a:solidFill>
            <a:round/>
          </a:ln>
        </c:spPr>
        <c:txPr>
          <a:bodyPr/>
          <a:lstStyle/>
          <a:p>
            <a:pPr>
              <a:defRPr b="0" sz="1575" spc="-1" strike="noStrike">
                <a:solidFill>
                  <a:srgbClr val="153d42"/>
                </a:solidFill>
                <a:latin typeface="Vazirmatn"/>
                <a:ea typeface="Vazirmatn"/>
              </a:defRPr>
            </a:pPr>
          </a:p>
        </c:txPr>
        <c:crossAx val="46147329"/>
        <c:crosses val="autoZero"/>
        <c:auto val="1"/>
        <c:lblAlgn val="ctr"/>
        <c:lblOffset val="100"/>
        <c:noMultiLvlLbl val="0"/>
      </c:catAx>
      <c:valAx>
        <c:axId val="46147329"/>
        <c:scaling>
          <c:orientation val="minMax"/>
          <c:max val="2"/>
          <c:min val="-10"/>
        </c:scaling>
        <c:delete val="0"/>
        <c:axPos val="l"/>
        <c:majorGridlines>
          <c:spPr>
            <a:ln w="6840">
              <a:solidFill>
                <a:srgbClr val="d5dcdd"/>
              </a:solidFill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350" spc="-1" strike="noStrike">
                <a:solidFill>
                  <a:srgbClr val="52606d"/>
                </a:solidFill>
                <a:latin typeface="Vazirmatn"/>
                <a:ea typeface="Vazirmatn"/>
              </a:defRPr>
            </a:pPr>
          </a:p>
        </c:txPr>
        <c:crossAx val="38621763"/>
        <c:crosses val="autoZero"/>
        <c:crossBetween val="between"/>
        <c:majorUnit val="2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  <c:externalData r:id="rIdChartSnapshot1">
    <c:autoUpdate val="0"/>
  </c:externalData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</a:pPr>
            <a:endParaRPr b="0" lang="en-US" sz="4400" spc="-1" strike="noStrike">
              <a:solidFill>
                <a:schemeClr val="dk1"/>
              </a:solidFill>
              <a:latin typeface="Vazirmat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</a:pPr>
            <a:endParaRPr b="0" lang="en-US" sz="4400" spc="-1" strike="noStrike">
              <a:solidFill>
                <a:schemeClr val="dk1"/>
              </a:solidFill>
              <a:latin typeface="Vazirmat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</a:pPr>
            <a:endParaRPr b="0" lang="en-US" sz="4400" spc="-1" strike="noStrike">
              <a:solidFill>
                <a:schemeClr val="dk1"/>
              </a:solidFill>
              <a:latin typeface="Vazirmat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edit the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edit the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k 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edit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85800" y="533520"/>
            <a:ext cx="10820160" cy="83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Click 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to 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edit 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the 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title 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text 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form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at</a:t>
            </a:r>
            <a:endParaRPr b="0" lang="en-US" sz="3300" spc="-1" strike="noStrike">
              <a:solidFill>
                <a:schemeClr val="dk1"/>
              </a:solidFill>
              <a:latin typeface="Vazirmat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85800" y="1905120"/>
            <a:ext cx="5028840" cy="426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Click to edit the outline text format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Second Outline Level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Third Outline Level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Fourth Outline Level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Fifth Outline Level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Sixth Outline Level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Seventh Outline Level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6477120" y="1905120"/>
            <a:ext cx="5028840" cy="426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Click to edit the outline text format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Second Outline Level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Third Outline Level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Fourth Outline Level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Fifth Outline Level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Sixth Outline Level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dk1"/>
                </a:solidFill>
                <a:latin typeface="Vazirmatn"/>
              </a:rPr>
              <a:t>Seventh Outline Level</a:t>
            </a:r>
            <a:endParaRPr b="0" lang="en-US" sz="2100" spc="-1" strike="noStrike">
              <a:solidFill>
                <a:schemeClr val="dk1"/>
              </a:solidFill>
              <a:latin typeface="Vazirmat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219320" y="2590920"/>
            <a:ext cx="9753120" cy="99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</a:pPr>
            <a:r>
              <a:rPr b="0" lang="en-US" sz="4800" spc="-1" strike="noStrike">
                <a:solidFill>
                  <a:schemeClr val="dk1"/>
                </a:solidFill>
                <a:latin typeface="Vazirmatn"/>
              </a:rPr>
              <a:t>Clic</a:t>
            </a:r>
            <a:r>
              <a:rPr b="0" lang="en-US" sz="4800" spc="-1" strike="noStrike">
                <a:solidFill>
                  <a:schemeClr val="dk1"/>
                </a:solidFill>
                <a:latin typeface="Vazirmatn"/>
              </a:rPr>
              <a:t>k to </a:t>
            </a:r>
            <a:r>
              <a:rPr b="0" lang="en-US" sz="4800" spc="-1" strike="noStrike">
                <a:solidFill>
                  <a:schemeClr val="dk1"/>
                </a:solidFill>
                <a:latin typeface="Vazirmatn"/>
              </a:rPr>
              <a:t>edit </a:t>
            </a:r>
            <a:r>
              <a:rPr b="0" lang="en-US" sz="4800" spc="-1" strike="noStrike">
                <a:solidFill>
                  <a:schemeClr val="dk1"/>
                </a:solidFill>
                <a:latin typeface="Vazirmatn"/>
              </a:rPr>
              <a:t>the </a:t>
            </a:r>
            <a:r>
              <a:rPr b="0" lang="en-US" sz="4800" spc="-1" strike="noStrike">
                <a:solidFill>
                  <a:schemeClr val="dk1"/>
                </a:solidFill>
                <a:latin typeface="Vazirmatn"/>
              </a:rPr>
              <a:t>title </a:t>
            </a:r>
            <a:r>
              <a:rPr b="0" lang="en-US" sz="4800" spc="-1" strike="noStrike">
                <a:solidFill>
                  <a:schemeClr val="dk1"/>
                </a:solidFill>
                <a:latin typeface="Vazirmatn"/>
              </a:rPr>
              <a:t>tex</a:t>
            </a:r>
            <a:r>
              <a:rPr b="0" lang="en-US" sz="4800" spc="-1" strike="noStrike">
                <a:solidFill>
                  <a:schemeClr val="dk1"/>
                </a:solidFill>
                <a:latin typeface="Vazirmatn"/>
              </a:rPr>
              <a:t>t </a:t>
            </a:r>
            <a:r>
              <a:rPr b="0" lang="en-US" sz="4800" spc="-1" strike="noStrike">
                <a:solidFill>
                  <a:schemeClr val="dk1"/>
                </a:solidFill>
                <a:latin typeface="Vazirmatn"/>
              </a:rPr>
              <a:t>for</a:t>
            </a:r>
            <a:r>
              <a:rPr b="0" lang="en-US" sz="4800" spc="-1" strike="noStrike">
                <a:solidFill>
                  <a:schemeClr val="dk1"/>
                </a:solidFill>
                <a:latin typeface="Vazirmatn"/>
              </a:rPr>
              <a:t>ma</a:t>
            </a:r>
            <a:r>
              <a:rPr b="0" lang="en-US" sz="4800" spc="-1" strike="noStrike">
                <a:solidFill>
                  <a:schemeClr val="dk1"/>
                </a:solidFill>
                <a:latin typeface="Vazirmatn"/>
              </a:rPr>
              <a:t>t</a:t>
            </a:r>
            <a:endParaRPr b="0" lang="en-US" sz="4800" spc="-1" strike="noStrike">
              <a:solidFill>
                <a:schemeClr val="dk1"/>
              </a:solidFill>
              <a:latin typeface="Vazirmat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1219320" y="2857680"/>
            <a:ext cx="97531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</a:pPr>
            <a:r>
              <a:rPr b="0" lang="en-US" sz="4200" spc="-1" strike="noStrike">
                <a:solidFill>
                  <a:schemeClr val="dk1"/>
                </a:solidFill>
                <a:latin typeface="Vazirmatn"/>
              </a:rPr>
              <a:t>Click to edit the title </a:t>
            </a:r>
            <a:r>
              <a:rPr b="0" lang="en-US" sz="4200" spc="-1" strike="noStrike">
                <a:solidFill>
                  <a:schemeClr val="dk1"/>
                </a:solidFill>
                <a:latin typeface="Vazirmatn"/>
              </a:rPr>
              <a:t>text format</a:t>
            </a:r>
            <a:endParaRPr b="0" lang="en-US" sz="4200" spc="-1" strike="noStrike">
              <a:solidFill>
                <a:schemeClr val="dk1"/>
              </a:solidFill>
              <a:latin typeface="Vazirmat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Vazirmatn"/>
              </a:rPr>
              <a:t>Click to edit the </a:t>
            </a:r>
            <a:r>
              <a:rPr b="0" lang="en-US" sz="4400" spc="-1" strike="noStrike">
                <a:solidFill>
                  <a:schemeClr val="dk1"/>
                </a:solidFill>
                <a:latin typeface="Vazirmatn"/>
              </a:rPr>
              <a:t>title text format</a:t>
            </a:r>
            <a:endParaRPr b="0" lang="en-US" sz="4400" spc="-1" strike="noStrike">
              <a:solidFill>
                <a:schemeClr val="dk1"/>
              </a:solidFill>
              <a:latin typeface="Vazirmatn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Vazirmatn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Vazirmatn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Vazirmatn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Vazirmatn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Vazirmatn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Vazirmatn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Vazirmatn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Vazirmatn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Vazirmatn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Vazirmatn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Vazirmatn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Vazirmatn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Vazirmatn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Vazirmat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533520"/>
            <a:ext cx="10820160" cy="83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Click to edit the title text 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format</a:t>
            </a:r>
            <a:endParaRPr b="0" lang="en-US" sz="3300" spc="-1" strike="noStrike">
              <a:solidFill>
                <a:schemeClr val="dk1"/>
              </a:solidFill>
              <a:latin typeface="Vazirmat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85800" y="1905120"/>
            <a:ext cx="10820160" cy="426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Click to edit the outline text format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Second Outline Level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Third Outline Level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Fourth Outline Level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Fifth Outline Level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Sixth Outline Level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Seventh Outline Level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533520"/>
            <a:ext cx="10820160" cy="83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Click 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to 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edit 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the 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title 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text 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form</a:t>
            </a:r>
            <a:r>
              <a:rPr b="0" lang="en-US" sz="3300" spc="-1" strike="noStrike">
                <a:solidFill>
                  <a:schemeClr val="dk1"/>
                </a:solidFill>
                <a:latin typeface="Vazirmatn"/>
              </a:rPr>
              <a:t>at</a:t>
            </a:r>
            <a:endParaRPr b="0" lang="en-US" sz="3300" spc="-1" strike="noStrike">
              <a:solidFill>
                <a:schemeClr val="dk1"/>
              </a:solidFill>
              <a:latin typeface="Vazirmatn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85800" y="1905120"/>
            <a:ext cx="5028840" cy="426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Click to edit the outline text format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Second Outline Level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Third Outline Level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Fourth Outline Level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Fifth Outline Level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Sixth Outline Level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50" spc="-1" strike="noStrike">
                <a:solidFill>
                  <a:schemeClr val="dk1"/>
                </a:solidFill>
                <a:latin typeface="Vazirmatn"/>
              </a:rPr>
              <a:t>Seventh Outline Level</a:t>
            </a:r>
            <a:endParaRPr b="0" lang="en-US" sz="2250" spc="-1" strike="noStrike">
              <a:solidFill>
                <a:schemeClr val="dk1"/>
              </a:solidFill>
              <a:latin typeface="Vazirmat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3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35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4" name="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315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5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6" name="۱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 از ۲۳</a:t>
            </a:r>
          </a:p>
        </p:txBody>
      </p:sp>
      <p:pic>
        <p:nvPicPr>
          <p:cNvPr id="27" name="" descr=""/>
          <p:cNvPicPr/>
          <p:nvPr/>
        </p:nvPicPr>
        <p:blipFill>
          <a:blip r:embed="rId1"/>
          <a:stretch/>
        </p:blipFill>
        <p:spPr>
          <a:xfrm>
            <a:off x="685800" y="476280"/>
            <a:ext cx="1254960" cy="1254960"/>
          </a:xfrm>
          <a:prstGeom prst="rect">
            <a:avLst/>
          </a:prstGeom>
          <a:ln w="0">
            <a:noFill/>
          </a:ln>
        </p:spPr>
      </p:pic>
      <p:sp>
        <p:nvSpPr>
          <p:cNvPr id="28" name="دانشگاه صنعتی شریف"/>
          <p:cNvSpPr/>
          <p:nvPr/>
        </p:nvSpPr>
        <p:spPr>
          <a:xfrm>
            <a:off x="4762440" y="504720"/>
            <a:ext cx="6741360" cy="47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دانشگاه صنعتی شریف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دانشکده مهندسی کامپیوتر"/>
          <p:cNvSpPr/>
          <p:nvPr/>
        </p:nvSpPr>
        <p:spPr>
          <a:xfrm>
            <a:off x="4762440" y="1009800"/>
            <a:ext cx="6741360" cy="3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650" spc="-1" strike="noStrike">
                <a:solidFill>
                  <a:srgbClr val="52606d"/>
                </a:solidFill>
                <a:latin typeface="Vazirmatn"/>
                <a:cs typeface="Vazirmatn"/>
              </a:rPr>
              <a:t>دانشکده مهندسی کامپیوتر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2571480" y="1733400"/>
            <a:ext cx="893448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31" name="بازشناسی مقاوم گفتار"/>
          <p:cNvSpPr/>
          <p:nvPr/>
        </p:nvSpPr>
        <p:spPr>
          <a:xfrm>
            <a:off x="2190600" y="2324160"/>
            <a:ext cx="9312840" cy="10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4800" spc="-1" strike="noStrike">
                <a:solidFill>
                  <a:srgbClr val="153d42"/>
                </a:solidFill>
                <a:latin typeface="Vazirmatn"/>
                <a:cs typeface="Vazirmatn"/>
              </a:rPr>
              <a:t>بازشناسی مقاوم گفتار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در زبان فارسی"/>
          <p:cNvSpPr/>
          <p:nvPr/>
        </p:nvSpPr>
        <p:spPr>
          <a:xfrm>
            <a:off x="2190600" y="3476520"/>
            <a:ext cx="9312840" cy="10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4800" spc="-1" strike="noStrike">
                <a:solidFill>
                  <a:srgbClr val="153d42"/>
                </a:solidFill>
                <a:latin typeface="Vazirmatn"/>
                <a:cs typeface="Vazirmatn"/>
              </a:rPr>
              <a:t>در زبان فارسی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پویا فلاح سیچانی"/>
          <p:cNvSpPr/>
          <p:nvPr/>
        </p:nvSpPr>
        <p:spPr>
          <a:xfrm>
            <a:off x="6191280" y="5238720"/>
            <a:ext cx="531252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پویا فلاح سیچانی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استاد راهنما: دکتر حسین صامتی"/>
          <p:cNvSpPr/>
          <p:nvPr/>
        </p:nvSpPr>
        <p:spPr>
          <a:xfrm>
            <a:off x="6191280" y="5762520"/>
            <a:ext cx="5312520" cy="4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52606d"/>
                </a:solidFill>
                <a:latin typeface="Vazirmatn"/>
                <a:cs typeface="Vazirmatn"/>
              </a:rPr>
              <a:t>استاد راهنما: دکتر حسین صامتی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دفاع پایان‌نامه کارشناسی ارشد"/>
          <p:cNvSpPr/>
          <p:nvPr/>
        </p:nvSpPr>
        <p:spPr>
          <a:xfrm>
            <a:off x="685800" y="5381640"/>
            <a:ext cx="4188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52606d"/>
                </a:solidFill>
                <a:latin typeface="Vazirmatn"/>
                <a:cs typeface="Vazirmatn"/>
              </a:rPr>
              <a:t>دفاع پایان‌نامه کارشناسی ارشد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مسئله پژوهش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مسئله پژوهش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شکاف میان گفتار آموزشی و تماس واقعی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شکاف میان گفتار آموزشی و تماس واقعی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39" name="۲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 از ۲۳</a:t>
            </a:r>
          </a:p>
        </p:txBody>
      </p:sp>
      <p:sp>
        <p:nvSpPr>
          <p:cNvPr id="40" name="گفتار در دسترس"/>
          <p:cNvSpPr/>
          <p:nvPr/>
        </p:nvSpPr>
        <p:spPr>
          <a:xfrm>
            <a:off x="6667560" y="2095560"/>
            <a:ext cx="48362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470" spc="-1" strike="noStrike">
                <a:solidFill>
                  <a:srgbClr val="153d42"/>
                </a:solidFill>
                <a:latin typeface="Vazirmatn"/>
                <a:cs typeface="Vazirmatn"/>
              </a:rPr>
              <a:t>گفتار در دسترس</a:t>
            </a:r>
            <a:endParaRPr b="0" lang="en-US" sz="24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پیکره‌های عمومی فارسی&#10;قطعه‌های عمدتاً کوتاه&#10;سبک‌ها و شرایط ضبط متنوع"/>
          <p:cNvSpPr/>
          <p:nvPr/>
        </p:nvSpPr>
        <p:spPr>
          <a:xfrm>
            <a:off x="6667560" y="2905200"/>
            <a:ext cx="4836240" cy="19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1f2933"/>
                </a:solidFill>
                <a:latin typeface="Vazirmatn"/>
                <a:cs typeface="Vazirmatn"/>
              </a:rPr>
              <a:t>پیکره‌های عمومی فارسی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1f2933"/>
                </a:solidFill>
                <a:latin typeface="Vazirmatn"/>
                <a:cs typeface="Vazirmatn"/>
              </a:rPr>
              <a:t>قطعه‌های عمدتاً کوتاه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1f2933"/>
                </a:solidFill>
                <a:latin typeface="Vazirmatn"/>
                <a:cs typeface="Vazirmatn"/>
              </a:rPr>
              <a:t>سبک‌ها و شرایط ضبط متنوع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685800" y="1952640"/>
            <a:ext cx="5255280" cy="3236040"/>
          </a:xfrm>
          <a:prstGeom prst="rect">
            <a:avLst/>
          </a:prstGeom>
          <a:solidFill>
            <a:srgbClr val="153d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Vazirmatn"/>
              <a:ea typeface="Vazirmatn"/>
            </a:endParaRPr>
          </a:p>
        </p:txBody>
      </p:sp>
      <p:sp>
        <p:nvSpPr>
          <p:cNvPr id="43" name="شرایط تماس"/>
          <p:cNvSpPr/>
          <p:nvPr/>
        </p:nvSpPr>
        <p:spPr>
          <a:xfrm>
            <a:off x="990720" y="2143080"/>
            <a:ext cx="46076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470" spc="-1" strike="noStrike">
                <a:solidFill>
                  <a:srgbClr val="f7f6f2"/>
                </a:solidFill>
                <a:latin typeface="Vazirmatn"/>
                <a:cs typeface="Vazirmatn"/>
              </a:rPr>
              <a:t>شرایط تماس</a:t>
            </a:r>
            <a:endParaRPr b="0" lang="en-US" sz="24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نویز و پهنای‌باند محدود&#10;اعوجاج کدک و افت بسته&#10;تلفن و تماس اینترنتی"/>
          <p:cNvSpPr/>
          <p:nvPr/>
        </p:nvSpPr>
        <p:spPr>
          <a:xfrm>
            <a:off x="990720" y="2952720"/>
            <a:ext cx="4607640" cy="19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f7f6f2"/>
                </a:solidFill>
                <a:latin typeface="Vazirmatn"/>
                <a:cs typeface="Vazirmatn"/>
              </a:rPr>
              <a:t>نویز و پهنای‌باند محدود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f7f6f2"/>
                </a:solidFill>
                <a:latin typeface="Vazirmatn"/>
                <a:cs typeface="Vazirmatn"/>
              </a:rPr>
              <a:t>اعوجاج کدک و افت بسته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170" spc="-1" strike="noStrike">
                <a:solidFill>
                  <a:srgbClr val="f7f6f2"/>
                </a:solidFill>
                <a:latin typeface="Vazirmatn"/>
                <a:cs typeface="Vazirmatn"/>
              </a:rPr>
              <a:t>تلفن و تماس اینترنتی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هدف: کاهش خطای تماس واقعی با داده‌های موجود"/>
          <p:cNvSpPr/>
          <p:nvPr/>
        </p:nvSpPr>
        <p:spPr>
          <a:xfrm>
            <a:off x="685800" y="5391000"/>
            <a:ext cx="108180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d6f8a"/>
                </a:solidFill>
                <a:latin typeface="Vazirmatn"/>
                <a:cs typeface="Vazirmatn"/>
              </a:rPr>
              <a:t>هدف: کاهش خطای تماس واقعی با داده‌های موجود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گردآوری تماس رونویسی‌شده پرهزینه و حساس به حریم خصوصی است"/>
          <p:cNvSpPr/>
          <p:nvPr/>
        </p:nvSpPr>
        <p:spPr>
          <a:xfrm>
            <a:off x="685800" y="6019920"/>
            <a:ext cx="10818000" cy="28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گردآوری تماس رونویسی‌شده پرهزینه و حساس به حریم خصوصی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مرور روش‌های نوین بازشناسی گفتار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مرور روش‌های نوین بازشناسی گفتار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آموزش، سازگارسازی و اصلاح خروجی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آموزش، سازگارسازی و اصلاح خروجی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50" name="۳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۳ از ۲۳</a:t>
            </a:r>
          </a:p>
        </p:txBody>
      </p:sp>
      <p:graphicFrame>
        <p:nvGraphicFramePr>
          <p:cNvPr id="51" name=""/>
          <p:cNvGraphicFramePr/>
          <p:nvPr/>
        </p:nvGraphicFramePr>
        <p:xfrm>
          <a:off x="685800" y="1866960"/>
          <a:ext cx="10819800" cy="3828240"/>
        </p:xfrm>
        <a:graphic>
          <a:graphicData uri="http://schemas.openxmlformats.org/drawingml/2006/table">
            <a:tbl>
              <a:tblPr/>
              <a:tblGrid>
                <a:gridCol w="4000320"/>
                <a:gridCol w="4114800"/>
                <a:gridCol w="2705040"/>
              </a:tblGrid>
              <a:tr h="475920"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نمونه پژوهش‌ها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ایده اصلی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خانواده روش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838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pMCT (2022)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Acoustic-aware Aug. (2025*)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آموزش با نویز و تخریب کانال،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همراه با تنوع آکوستیکی هدفمند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آموزش چندشرایطی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و داده‌افزایی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838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MCAT–LoRA (2025) / SPS (2026)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Neyshekar (2026*)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ریزتنظیم کامل یا کم‌پارامتر،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با داده متناسب با زبان و دامنه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انطباق مدل‌های پایه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838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Bhogale et al. (2024)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Cross-lingual (2025) / DASH (2026)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پیش‌آموزش با صوت بی‌برچسب،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خودتقطیر و پالایش شبه‌برچسب‌ها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یادگیری خودنظارتی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و نیمه‌نظارتی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838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ClozeGER / Listen Again (2024)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Conservative Filtering (2024)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اصلاح فرضیه‌های بازشناس با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مدل زبانی و شواهد صوتی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اصلاح با مدل زبانی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52" name="ارزیابی‌های جدید"/>
          <p:cNvSpPr/>
          <p:nvPr/>
        </p:nvSpPr>
        <p:spPr>
          <a:xfrm>
            <a:off x="9010800" y="5810400"/>
            <a:ext cx="249300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580" spc="-1" strike="noStrike">
                <a:solidFill>
                  <a:srgbClr val="153d42"/>
                </a:solidFill>
                <a:latin typeface="Vazirmatn"/>
                <a:cs typeface="Vazirmatn"/>
              </a:rPr>
              <a:t>ارزیابی‌های جدید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peech Robust Bench (2025)   URGENT (2025)   PSRB (2025*)"/>
          <p:cNvSpPr/>
          <p:nvPr/>
        </p:nvSpPr>
        <p:spPr>
          <a:xfrm>
            <a:off x="685800" y="5810400"/>
            <a:ext cx="80938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Speech Robust Bench (2025)   URGENT (2025)   PSRB (2025)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مرور روش‌های نوین بازشناسی گفتار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مرور روش‌های نوین بازشناسی گفتار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بهسازی گفتار و ادغام نماها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بهسازی گفتار و ادغام نماها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57" name="۴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۴ از ۲۳</a:t>
            </a:r>
          </a:p>
        </p:txBody>
      </p:sp>
      <p:graphicFrame>
        <p:nvGraphicFramePr>
          <p:cNvPr id="58" name=""/>
          <p:cNvGraphicFramePr/>
          <p:nvPr/>
        </p:nvGraphicFramePr>
        <p:xfrm>
          <a:off x="685800" y="1866960"/>
          <a:ext cx="10819800" cy="4133520"/>
        </p:xfrm>
        <a:graphic>
          <a:graphicData uri="http://schemas.openxmlformats.org/drawingml/2006/table">
            <a:tbl>
              <a:tblPr/>
              <a:tblGrid>
                <a:gridCol w="4000320"/>
                <a:gridCol w="4114800"/>
                <a:gridCol w="2705040"/>
              </a:tblGrid>
              <a:tr h="475920"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نمونه پژوهش‌ها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ایده اصلی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خانواده روش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914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Schrödinger Bridge (2025)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Decoupled SE–ASR (2026)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بازسازی گفتار با بهساز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پیش‌بینی‌گر یا مولد پیش از بازشناسی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بهسازی پیش از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بازشناسی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914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Dissen et al. (2025)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SSL-MSE / Sato et al. (2025)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آموزش بهساز با زیان بازشناسی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یا بازنمایی‌های خودنظارتی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بهسازی وظیفه‌محور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914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FAT-HuBERT (2023)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Wav2code (2024)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تعامل و ترکیب ویژگی‌های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بازنمایی اصلی و بهسازی‌شده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همجوشی در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فضای بازنمایی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914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Adaptive Bridge (2024, 2025)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8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Conf-OA / Rethink-and-Refine (2026)</a:t>
                      </a:r>
                      <a:endParaRPr b="0" lang="en-US" sz="1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آمیختن تطبیقی دو موج با پل،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اطمینان بازشناس یا پالایش قطعه‌ای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ترکیب در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53d42"/>
                          </a:solidFill>
                          <a:latin typeface="Vazirmatn"/>
                          <a:cs typeface="Vazirmatn"/>
                        </a:rPr>
                        <a:t>سطح موج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59" name="افزایش کیفیت شنیداری الزاماً به کاهش خطای بازشناسی منجر نمی‌شود"/>
          <p:cNvSpPr/>
          <p:nvPr/>
        </p:nvSpPr>
        <p:spPr>
          <a:xfrm>
            <a:off x="685800" y="6114960"/>
            <a:ext cx="1081800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افزایش کیفیت شنیداری الزاماً به کاهش خطای بازشناسی منجر نمی‌شود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"/>
          <p:cNvCxnSpPr>
            <a:stCxn id="61" idx="1"/>
            <a:endCxn id="62" idx="3"/>
          </p:cNvCxnSpPr>
          <p:nvPr/>
        </p:nvCxnSpPr>
        <p:spPr>
          <a:xfrm flipV="1" rot="10800000">
            <a:off x="3711960" y="3760920"/>
            <a:ext cx="1955520" cy="1333440"/>
          </a:xfrm>
          <a:prstGeom prst="bentConnector3">
            <a:avLst>
              <a:gd name="adj1" fmla="val 49898"/>
            </a:avLst>
          </a:prstGeom>
          <a:ln w="16193">
            <a:solidFill>
              <a:srgbClr val="52606d"/>
            </a:solidFill>
            <a:round/>
            <a:tailEnd len="sm" type="triangle" w="sm"/>
          </a:ln>
        </p:spPr>
      </p:cxnSp>
      <p:cxnSp>
        <p:nvCxnSpPr>
          <p:cNvPr id="63" name=""/>
          <p:cNvCxnSpPr>
            <a:stCxn id="61" idx="1"/>
            <a:endCxn id="64" idx="3"/>
          </p:cNvCxnSpPr>
          <p:nvPr/>
        </p:nvCxnSpPr>
        <p:spPr>
          <a:xfrm flipH="1">
            <a:off x="3712320" y="3761280"/>
            <a:ext cx="1955520" cy="28440"/>
          </a:xfrm>
          <a:prstGeom prst="straightConnector1">
            <a:avLst/>
          </a:prstGeom>
          <a:ln w="16193">
            <a:solidFill>
              <a:srgbClr val="52606d"/>
            </a:solidFill>
            <a:prstDash val="dash"/>
            <a:round/>
            <a:tailEnd len="sm" type="triangle" w="sm"/>
          </a:ln>
        </p:spPr>
      </p:cxnSp>
      <p:cxnSp>
        <p:nvCxnSpPr>
          <p:cNvPr id="65" name=""/>
          <p:cNvCxnSpPr>
            <a:stCxn id="61" idx="1"/>
            <a:endCxn id="66" idx="3"/>
          </p:cNvCxnSpPr>
          <p:nvPr/>
        </p:nvCxnSpPr>
        <p:spPr>
          <a:xfrm rot="10800000">
            <a:off x="3711960" y="2484720"/>
            <a:ext cx="1955520" cy="1276920"/>
          </a:xfrm>
          <a:prstGeom prst="bentConnector3">
            <a:avLst>
              <a:gd name="adj1" fmla="val 49898"/>
            </a:avLst>
          </a:prstGeom>
          <a:ln w="16193">
            <a:solidFill>
              <a:srgbClr val="52606d"/>
            </a:solidFill>
            <a:round/>
            <a:tailEnd len="sm" type="triangle" w="sm"/>
          </a:ln>
        </p:spPr>
      </p:cxnSp>
      <p:cxnSp>
        <p:nvCxnSpPr>
          <p:cNvPr id="67" name=""/>
          <p:cNvCxnSpPr>
            <a:stCxn id="68" idx="1"/>
            <a:endCxn id="61" idx="3"/>
          </p:cNvCxnSpPr>
          <p:nvPr/>
        </p:nvCxnSpPr>
        <p:spPr>
          <a:xfrm flipH="1">
            <a:off x="8379720" y="3761280"/>
            <a:ext cx="745560" cy="360"/>
          </a:xfrm>
          <a:prstGeom prst="straightConnector1">
            <a:avLst/>
          </a:prstGeom>
          <a:ln w="16193">
            <a:solidFill>
              <a:srgbClr val="52606d"/>
            </a:solidFill>
            <a:round/>
            <a:tailEnd len="sm" type="triangle" w="sm"/>
          </a:ln>
        </p:spPr>
      </p:cxnSp>
      <p:sp>
        <p:nvSpPr>
          <p:cNvPr id="69" name="طرح پژوهش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طرح پژوهش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ساختار آزمایش‌ها و خط مبنا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ساختار آزمایش‌ها و خط مبنا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72" name="۵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۵ از ۲۳</a:t>
            </a:r>
          </a:p>
        </p:txBody>
      </p:sp>
      <p:sp>
        <p:nvSpPr>
          <p:cNvPr id="68" name="ویسپر کوچک معمولی&#10;گفتار پایه و نمونه‌های بلند"/>
          <p:cNvSpPr/>
          <p:nvPr/>
        </p:nvSpPr>
        <p:spPr>
          <a:xfrm>
            <a:off x="9124920" y="3191040"/>
            <a:ext cx="2378880" cy="1140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ویسپر کوچک معمولی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گفتار پایه و نمونه‌های بلند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ویسپر کوچک&#10;چندشرایطی"/>
          <p:cNvSpPr/>
          <p:nvPr/>
        </p:nvSpPr>
        <p:spPr>
          <a:xfrm>
            <a:off x="5667480" y="3191040"/>
            <a:ext cx="2712240" cy="1140480"/>
          </a:xfrm>
          <a:prstGeom prst="roundRect">
            <a:avLst>
              <a:gd name="adj" fmla="val 6667"/>
            </a:avLst>
          </a:prstGeom>
          <a:solidFill>
            <a:srgbClr val="e8f3f6"/>
          </a:solidFill>
          <a:ln w="19050">
            <a:solidFill>
              <a:srgbClr val="1d6f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d6f8a"/>
                </a:solidFill>
                <a:latin typeface="Vazirmatn"/>
                <a:cs typeface="Vazirmatn"/>
              </a:rPr>
              <a:t>ویسپر کوچک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ct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d6f8a"/>
                </a:solidFill>
                <a:latin typeface="Vazirmatn"/>
                <a:cs typeface="Vazirmatn"/>
              </a:rPr>
              <a:t>چندشرایطی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افزودن گفتار تخریب‌شده"/>
          <p:cNvSpPr/>
          <p:nvPr/>
        </p:nvSpPr>
        <p:spPr>
          <a:xfrm>
            <a:off x="5667480" y="4467240"/>
            <a:ext cx="271224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650" spc="-1" strike="noStrike">
                <a:solidFill>
                  <a:srgbClr val="52606d"/>
                </a:solidFill>
                <a:latin typeface="Vazirmatn"/>
                <a:cs typeface="Vazirmatn"/>
              </a:rPr>
              <a:t>افزودن گفتار تخریب‌شده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بهسازی و همجوشی"/>
          <p:cNvSpPr/>
          <p:nvPr/>
        </p:nvSpPr>
        <p:spPr>
          <a:xfrm>
            <a:off x="857160" y="2048040"/>
            <a:ext cx="2855160" cy="8737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بهسازی و همجوشی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پل تطبیقی&#10;روش مقایسه‌ای همجوشی"/>
          <p:cNvSpPr/>
          <p:nvPr/>
        </p:nvSpPr>
        <p:spPr>
          <a:xfrm>
            <a:off x="857160" y="3352680"/>
            <a:ext cx="2855160" cy="8737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پل تطبیقی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روش مقایسه‌ای همجوشی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افزودن ایران‌صدا&#10;حفظ ترکیب کامل داده‌ها"/>
          <p:cNvSpPr/>
          <p:nvPr/>
        </p:nvSpPr>
        <p:spPr>
          <a:xfrm>
            <a:off x="857160" y="4657680"/>
            <a:ext cx="2855160" cy="8737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4480" rIns="114480" tIns="114480" bIns="11448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افزودن ایران‌صدا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ct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حفظ ترکیب کامل داده‌ها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همجوشی و ایران‌صدا دو مسیر مستقل‌اند. سامانه ترکیبی آن‌ها ارزیابی نشده است"/>
          <p:cNvSpPr/>
          <p:nvPr/>
        </p:nvSpPr>
        <p:spPr>
          <a:xfrm>
            <a:off x="685800" y="5905440"/>
            <a:ext cx="10818000" cy="4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همجوشی و ایران‌صدا دو مسیر مستقل‌اند. سامانه ترکیبی آن‌ها ارزیابی نشده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داده و ارزیاب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داده و ارزیابی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داده‌های آموزش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داده‌های آموزش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78" name="۶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۶ از ۲۳</a:t>
            </a:r>
          </a:p>
        </p:txBody>
      </p:sp>
      <p:sp>
        <p:nvSpPr>
          <p:cNvPr id="79" name="گفتار پایه فارسی"/>
          <p:cNvSpPr/>
          <p:nvPr/>
        </p:nvSpPr>
        <p:spPr>
          <a:xfrm>
            <a:off x="6572160" y="1952640"/>
            <a:ext cx="493128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400" spc="-1" strike="noStrike">
                <a:solidFill>
                  <a:srgbClr val="153d42"/>
                </a:solidFill>
                <a:latin typeface="Vazirmatn"/>
                <a:cs typeface="Vazirmatn"/>
              </a:rPr>
              <a:t>گفتار پایه فارسی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۲ تا ۴"/>
          <p:cNvSpPr/>
          <p:nvPr/>
        </p:nvSpPr>
        <p:spPr>
          <a:xfrm>
            <a:off x="685800" y="1952640"/>
            <a:ext cx="4798080" cy="11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5850" spc="-1" strike="noStrike">
                <a:solidFill>
                  <a:srgbClr val="1d6f8a"/>
                </a:solidFill>
                <a:latin typeface="Vazirmatn"/>
                <a:cs typeface="Vazirmatn"/>
              </a:rPr>
              <a:t>۲</a:t>
            </a:r>
            <a:r>
              <a:rPr b="1" lang="en-US" sz="5850" spc="-1" strike="noStrike">
                <a:solidFill>
                  <a:srgbClr val="1d6f8a"/>
                </a:solidFill>
                <a:latin typeface="Vazirmatn"/>
                <a:ea typeface="Vazirmatn"/>
              </a:rPr>
              <a:t> تا </a:t>
            </a:r>
            <a:r>
              <a:rPr b="1" lang="fa-IR" sz="5850" spc="-1" strike="noStrike">
                <a:solidFill>
                  <a:srgbClr val="1d6f8a"/>
                </a:solidFill>
                <a:latin typeface="Vazirmatn"/>
                <a:cs typeface="Vazirmatn"/>
              </a:rPr>
              <a:t>۴</a:t>
            </a:r>
            <a:endParaRPr b="0" lang="en-US" sz="5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قطعه برای ساخت هر نمونه بلند"/>
          <p:cNvSpPr/>
          <p:nvPr/>
        </p:nvSpPr>
        <p:spPr>
          <a:xfrm>
            <a:off x="685800" y="3152880"/>
            <a:ext cx="479808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قطعه برای ساخت هر نمونه بلند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اتصال درون همان بخش داده&#10;بیش از ۵ و حداکثر ۲۰ ثانیه&#10;حضور در خط مبنای معمولی"/>
          <p:cNvSpPr/>
          <p:nvPr/>
        </p:nvSpPr>
        <p:spPr>
          <a:xfrm>
            <a:off x="685800" y="3990960"/>
            <a:ext cx="4798080" cy="15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اتصال درون همان گروه داده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حداقل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۵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و حداکثر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۲۰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ثانیه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حضور در تمام آزمایش‌ها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3" name=""/>
          <p:cNvGraphicFramePr/>
          <p:nvPr/>
        </p:nvGraphicFramePr>
        <p:xfrm>
          <a:off x="6134040" y="2685960"/>
          <a:ext cx="5371200" cy="2864880"/>
        </p:xfrm>
        <a:graphic>
          <a:graphicData uri="http://schemas.openxmlformats.org/drawingml/2006/table">
            <a:tbl>
              <a:tblPr/>
              <a:tblGrid>
                <a:gridCol w="1199880"/>
                <a:gridCol w="1314360"/>
                <a:gridCol w="2857320"/>
              </a:tblGrid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اعتبارسنجی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آموزش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پیکره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55224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۱۰٬۰۰۶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۲۹۹٬۴۳۰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Common Voice 25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666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۶٬۰۴۴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۶۰۰٬۶۷۲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FarsSpon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زیرمجموعه محدود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5224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۳۶۲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۳٬۰۱۹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FLEURS Persian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3316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fa-IR" sz="195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۱۶٬۴۱۲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7efe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fa-IR" sz="195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۹۰۳٬۱۲۱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7efe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مجموع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7efee"/>
                    </a:solidFill>
                  </a:tcPr>
                </a:tc>
              </a:tr>
            </a:tbl>
          </a:graphicData>
        </a:graphic>
      </p:graphicFrame>
      <p:sp>
        <p:nvSpPr>
          <p:cNvPr id="84" name="dataset-caption-6"/>
          <p:cNvSpPr/>
          <p:nvPr/>
        </p:nvSpPr>
        <p:spPr>
          <a:xfrm>
            <a:off x="685800" y="5781600"/>
            <a:ext cx="108183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تعدادها برای پیکره پایه‌اند، پیش از ساخت گونه‌های بلند و تخریب‌شده و افزودن ایران‌صدا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صوت تک‌کاناله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۱۶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کیلوهرتزی و نرمال‌سازی مشترک متن فارسی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داده و ارزیاب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داده و ارزیابی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ارزیابی روی تماس واقعی و گفتار عمومی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ارزیابی روی تماس واقعی و گفتار عمومی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88" name="۷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۷ از ۲۳</a:t>
            </a:r>
          </a:p>
        </p:txBody>
      </p:sp>
      <p:sp>
        <p:nvSpPr>
          <p:cNvPr id="89" name="۱۰٬۰۴۴"/>
          <p:cNvSpPr/>
          <p:nvPr/>
        </p:nvSpPr>
        <p:spPr>
          <a:xfrm>
            <a:off x="6381720" y="1828800"/>
            <a:ext cx="5122080" cy="13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6600" spc="-1" strike="noStrike">
                <a:solidFill>
                  <a:srgbClr val="1d6f8a"/>
                </a:solidFill>
                <a:latin typeface="Vazirmatn"/>
                <a:cs typeface="Vazirmatn"/>
              </a:rPr>
              <a:t>۱۰٬۰۴۴</a:t>
            </a:r>
            <a:endParaRPr b="0" lang="en-US" sz="6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نمونه تماس واقعی در AGFarsdat"/>
          <p:cNvSpPr/>
          <p:nvPr/>
        </p:nvSpPr>
        <p:spPr>
          <a:xfrm>
            <a:off x="6381720" y="3238560"/>
            <a:ext cx="512208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نمونه تماس واقعی در </a:t>
            </a:r>
            <a:r>
              <a:rPr b="1" lang="en-US" sz="2170" spc="-1" strike="noStrike">
                <a:solidFill>
                  <a:srgbClr val="153d42"/>
                </a:solidFill>
                <a:latin typeface="Vazirmatn"/>
                <a:ea typeface="Vazirmatn"/>
              </a:rPr>
              <a:t>AGFarsdat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آزمون‌های گفتار عمومی"/>
          <p:cNvSpPr/>
          <p:nvPr/>
        </p:nvSpPr>
        <p:spPr>
          <a:xfrm>
            <a:off x="685800" y="2057400"/>
            <a:ext cx="475992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آزمون‌های گفتار عمومی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685800" y="51433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93" name="نرخ خطای واژه"/>
          <p:cNvSpPr/>
          <p:nvPr/>
        </p:nvSpPr>
        <p:spPr>
          <a:xfrm>
            <a:off x="8096400" y="5257800"/>
            <a:ext cx="340740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95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WER = (S + D + I) / N"/>
          <p:cNvSpPr/>
          <p:nvPr/>
        </p:nvSpPr>
        <p:spPr>
          <a:xfrm>
            <a:off x="685800" y="5257800"/>
            <a:ext cx="647460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2250" spc="-1" strike="noStrike">
                <a:solidFill>
                  <a:srgbClr val="153d42"/>
                </a:solidFill>
                <a:latin typeface="Vazirmatn"/>
                <a:ea typeface="Vazirmatn"/>
              </a:rPr>
              <a:t>WER = (S + D + I) / N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CER بر پایه نویسه است. تجمیع با جمع شمارش خطاها و واحدهای مرجع انجام می‌شود"/>
          <p:cNvSpPr/>
          <p:nvPr/>
        </p:nvSpPr>
        <p:spPr>
          <a:xfrm>
            <a:off x="685800" y="5791320"/>
            <a:ext cx="10818000" cy="28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CER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بر پایه نویسه است. تجمیع با جمع شمارش خطاها و واحدهای مرجع انجام می‌شود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6" name=""/>
          <p:cNvGraphicFramePr/>
          <p:nvPr/>
        </p:nvGraphicFramePr>
        <p:xfrm>
          <a:off x="685800" y="2752560"/>
          <a:ext cx="4952520" cy="1875600"/>
        </p:xfrm>
        <a:graphic>
          <a:graphicData uri="http://schemas.openxmlformats.org/drawingml/2006/table">
            <a:tbl>
              <a:tblPr/>
              <a:tblGrid>
                <a:gridCol w="1523880"/>
                <a:gridCol w="342900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</a:rPr>
                        <a:t> </a:t>
                      </a: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۱۰٬۵۱۸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Common Voice Persian 25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۸۷۱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FLEURS Persian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95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۲۴</a:t>
                      </a:r>
                      <a:endParaRPr b="0" lang="en-US" sz="19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PersianSpeech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۳۹۱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Persian Speech Corpus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97" name="dataset-public-total-7"/>
          <p:cNvSpPr/>
          <p:nvPr/>
        </p:nvSpPr>
        <p:spPr>
          <a:xfrm>
            <a:off x="685800" y="4695840"/>
            <a:ext cx="495072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580" spc="-1" strike="noStrike">
                <a:solidFill>
                  <a:srgbClr val="1d6f8a"/>
                </a:solidFill>
                <a:latin typeface="Vazirmatn"/>
                <a:cs typeface="Vazirmatn"/>
              </a:rPr>
              <a:t>در مجموع، حدود </a:t>
            </a:r>
            <a:r>
              <a:rPr b="1" lang="fa-IR" sz="1580" spc="-1" strike="noStrike">
                <a:solidFill>
                  <a:srgbClr val="1d6f8a"/>
                </a:solidFill>
                <a:latin typeface="Vazirmatn"/>
                <a:cs typeface="Vazirmatn"/>
              </a:rPr>
              <a:t>۱۱٬۸۰۰</a:t>
            </a:r>
            <a:r>
              <a:rPr b="1" lang="en-US" sz="1580" spc="-1" strike="noStrike">
                <a:solidFill>
                  <a:srgbClr val="1d6f8a"/>
                </a:solidFill>
                <a:latin typeface="Vazirmatn"/>
                <a:ea typeface="Vazirmatn"/>
              </a:rPr>
              <a:t> نمونه گفتار عمومی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dataset-call-details-7"/>
          <p:cNvSpPr/>
          <p:nvPr/>
        </p:nvSpPr>
        <p:spPr>
          <a:xfrm>
            <a:off x="6381720" y="3886200"/>
            <a:ext cx="5122440" cy="11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۵۸۵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گوینده و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۴۹٫۹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ساعت صوت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تلفن و تماس اینترنتی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مستقل از آموزش و انتخاب مدل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dataset-caption-7"/>
          <p:cNvSpPr/>
          <p:nvPr/>
        </p:nvSpPr>
        <p:spPr>
          <a:xfrm>
            <a:off x="685800" y="6105600"/>
            <a:ext cx="1081836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تعداد نمونه‌های واجدشرایط در بعضی سامانه‌ها متفاوت است. رمزگشایی حریصانه مشترک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مقاوم‌سازی با داده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مقاوم‌سازی با داده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داده‌افزایی مخابراتیِ بازتولیدپذیر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داده‌افزایی مخابراتی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03" name="۸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۸ از ۲۳</a:t>
            </a:r>
          </a:p>
        </p:txBody>
      </p:sp>
      <p:sp>
        <p:nvSpPr>
          <p:cNvPr id="104" name="ساخت جفت‌های پاک و تخریب‌شده با رونویسی مشترک"/>
          <p:cNvSpPr/>
          <p:nvPr/>
        </p:nvSpPr>
        <p:spPr>
          <a:xfrm>
            <a:off x="685800" y="1657440"/>
            <a:ext cx="108180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00" spc="-1" strike="noStrike">
                <a:solidFill>
                  <a:srgbClr val="52606d"/>
                </a:solidFill>
                <a:latin typeface="Vazirmatn"/>
                <a:cs typeface="Vazirmatn"/>
              </a:rPr>
              <a:t>ساخت جفت‌های پاک و تخریب‌شده با رونویسی مشترک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" name="" descr=""/>
          <p:cNvPicPr/>
          <p:nvPr/>
        </p:nvPicPr>
        <p:blipFill>
          <a:blip r:embed="rId1"/>
          <a:stretch/>
        </p:blipFill>
        <p:spPr>
          <a:xfrm>
            <a:off x="685800" y="2324160"/>
            <a:ext cx="10818000" cy="2161440"/>
          </a:xfrm>
          <a:prstGeom prst="rect">
            <a:avLst/>
          </a:prstGeom>
          <a:ln w="0">
            <a:noFill/>
          </a:ln>
        </p:spPr>
      </p:pic>
      <p:sp>
        <p:nvSpPr>
          <p:cNvPr id="106" name="نویز و تغییر بهره"/>
          <p:cNvSpPr/>
          <p:nvPr/>
        </p:nvSpPr>
        <p:spPr>
          <a:xfrm>
            <a:off x="6762600" y="4629240"/>
            <a:ext cx="4740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نویز و تغییر بهره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DEMAND     SNR: −5 … 15 dB     Gain: ±6 dB"/>
          <p:cNvSpPr/>
          <p:nvPr/>
        </p:nvSpPr>
        <p:spPr>
          <a:xfrm>
            <a:off x="6191280" y="5248440"/>
            <a:ext cx="531252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r>
              <a:rPr b="0" lang="en-US" sz="1729" spc="-1" strike="noStrike">
                <a:solidFill>
                  <a:srgbClr val="1f2933"/>
                </a:solidFill>
                <a:latin typeface="Vazirmatn"/>
                <a:ea typeface="Vazirmatn"/>
              </a:rPr>
              <a:t>DEMAND     SNR: −5 … 15 dB     Gain: ±6 dB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مقاوم‌سازی با داده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مقاوم‌سازی با داده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مسیرهای کدک و جفت‌های هم‌تراز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مسیرهای کدک و جفت‌های هم‌تراز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11" name="۹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۹ از ۲۳</a:t>
            </a:r>
          </a:p>
        </p:txBody>
      </p:sp>
      <p:pic>
        <p:nvPicPr>
          <p:cNvPr id="112" name="" descr=""/>
          <p:cNvPicPr/>
          <p:nvPr/>
        </p:nvPicPr>
        <p:blipFill>
          <a:blip r:embed="rId1"/>
          <a:stretch/>
        </p:blipFill>
        <p:spPr>
          <a:xfrm>
            <a:off x="1162080" y="1581120"/>
            <a:ext cx="9855720" cy="4285080"/>
          </a:xfrm>
          <a:prstGeom prst="rect">
            <a:avLst/>
          </a:prstGeom>
          <a:ln w="0">
            <a:noFill/>
          </a:ln>
        </p:spPr>
      </p:pic>
      <p:sp>
        <p:nvSpPr>
          <p:cNvPr id="113" name="G.711، GSM، AMR-NB، AMR-WB و Opus. هدف پاک، پهنای‌باند متناظر با کانال را حفظ می‌کند"/>
          <p:cNvSpPr/>
          <p:nvPr/>
        </p:nvSpPr>
        <p:spPr>
          <a:xfrm>
            <a:off x="685800" y="5924520"/>
            <a:ext cx="1081800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G.711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،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GSM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،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AMR-NB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،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AMR-WB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و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Opus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. هدف پاک، پهنای‌باند متناظر با کانال را حفظ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Opus بومی افت بسته و پنهان‌سازی خطا را مدل می‌کند. در مسیرهای دیگر، حذف موج یک تقریب است"/>
          <p:cNvSpPr/>
          <p:nvPr/>
        </p:nvSpPr>
        <p:spPr>
          <a:xfrm>
            <a:off x="685800" y="6172200"/>
            <a:ext cx="1081800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Opus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بومی افت بسته و پنهان‌سازی خطا را مدل می‌کند. در مسیرهای دیگر، حذف موج یک تقریب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نتیجه داده‌افزایی مخابرات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نتیجه داده‌افزایی مخابراتی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انتقال بهبود به تماس‌های واقعی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انتقال بهبود به تماس‌های واقعی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18" name="۱۰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۱۰ از ۲۳</a:t>
            </a:r>
          </a:p>
        </p:txBody>
      </p:sp>
      <p:sp>
        <p:nvSpPr>
          <p:cNvPr id="119" name="نرخ خطای واژه در AGFarsdat"/>
          <p:cNvSpPr/>
          <p:nvPr/>
        </p:nvSpPr>
        <p:spPr>
          <a:xfrm>
            <a:off x="4286160" y="1657440"/>
            <a:ext cx="721728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در </a:t>
            </a:r>
            <a:r>
              <a:rPr b="1" lang="en-US" sz="2020" spc="-1" strike="noStrike">
                <a:solidFill>
                  <a:srgbClr val="153d42"/>
                </a:solidFill>
                <a:latin typeface="Vazirmatn"/>
                <a:ea typeface="Vazirmatn"/>
              </a:rPr>
              <a:t>AGFarsdat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0" name="Chart"/>
          <p:cNvGraphicFramePr/>
          <p:nvPr/>
        </p:nvGraphicFramePr>
        <p:xfrm>
          <a:off x="4191120" y="2286000"/>
          <a:ext cx="7312680" cy="323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21" name="۹٫۸۳"/>
          <p:cNvSpPr/>
          <p:nvPr/>
        </p:nvSpPr>
        <p:spPr>
          <a:xfrm>
            <a:off x="685800" y="2114640"/>
            <a:ext cx="2950200" cy="12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6600" spc="-1" strike="noStrike">
                <a:solidFill>
                  <a:srgbClr val="1d6f8a"/>
                </a:solidFill>
                <a:latin typeface="Vazirmatn"/>
                <a:cs typeface="Vazirmatn"/>
              </a:rPr>
              <a:t>۹٫۸۳</a:t>
            </a:r>
            <a:endParaRPr b="0" lang="en-US" sz="6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واحد درصد کاهش خطا&#10;در تماس‌های واقعی"/>
          <p:cNvSpPr/>
          <p:nvPr/>
        </p:nvSpPr>
        <p:spPr>
          <a:xfrm>
            <a:off x="685800" y="3467160"/>
            <a:ext cx="2950200" cy="10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واحد درصد کاهش خطا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در تماس‌های واقعی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۲۷٫۶٪ کاهش نسبی"/>
          <p:cNvSpPr/>
          <p:nvPr/>
        </p:nvSpPr>
        <p:spPr>
          <a:xfrm>
            <a:off x="685800" y="4791240"/>
            <a:ext cx="295020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950" spc="-1" strike="noStrike">
                <a:solidFill>
                  <a:srgbClr val="52606d"/>
                </a:solidFill>
                <a:latin typeface="Vazirmatn"/>
                <a:cs typeface="Vazirmatn"/>
              </a:rPr>
              <a:t>۲۷٫۶٪</a:t>
            </a:r>
            <a:r>
              <a:rPr b="0" lang="en-US" sz="1950" spc="-1" strike="noStrike">
                <a:solidFill>
                  <a:srgbClr val="52606d"/>
                </a:solidFill>
                <a:latin typeface="Vazirmatn"/>
                <a:ea typeface="Vazirmatn"/>
              </a:rPr>
              <a:t> کاهش نسبی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WER تجمیعی نیز از ۲۳٫۲۷٪ به ۱۷٫۸۳٪ کاهش یافت. مقدار کمتر بهتر است"/>
          <p:cNvSpPr/>
          <p:nvPr/>
        </p:nvSpPr>
        <p:spPr>
          <a:xfrm>
            <a:off x="685800" y="5762520"/>
            <a:ext cx="10818000" cy="3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WER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تجمیعی نیز از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۲۳٫۲۷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به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۱۷٫۸۳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کاهش یافت. مقدار کمتر بهتر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اثر جداگانه کدک و اختلال شبکه در آزمایش حذفی سنجیده نشده است"/>
          <p:cNvSpPr/>
          <p:nvPr/>
        </p:nvSpPr>
        <p:spPr>
          <a:xfrm>
            <a:off x="685800" y="6124680"/>
            <a:ext cx="1081800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اثر جداگانه کدک و اختلال شبکه در آزمایش حذفی سنجیده نشده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بهسازی و همجوش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بهسازی و همجوشی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معماری بهسازی و همجوشی دوجریانه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معماری بهسازی و همجوشی دوجریانه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29" name="۱۱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۱۱ از ۲۳</a:t>
            </a:r>
          </a:p>
        </p:txBody>
      </p:sp>
      <p:sp>
        <p:nvSpPr>
          <p:cNvPr id="130" name="حفظ نمای اصلی در کنار نمای بهسازی‌شده"/>
          <p:cNvSpPr/>
          <p:nvPr/>
        </p:nvSpPr>
        <p:spPr>
          <a:xfrm>
            <a:off x="685800" y="1549800"/>
            <a:ext cx="1081800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00" spc="-1" strike="noStrike">
                <a:solidFill>
                  <a:srgbClr val="52606d"/>
                </a:solidFill>
                <a:latin typeface="Vazirmatn"/>
                <a:cs typeface="Vazirmatn"/>
              </a:rPr>
              <a:t>حفظ بازنمایی اصلی در کنار بازنمایی بهسازی‌شده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1" name="" descr=""/>
          <p:cNvPicPr/>
          <p:nvPr/>
        </p:nvPicPr>
        <p:blipFill>
          <a:blip r:embed="rId1"/>
          <a:stretch/>
        </p:blipFill>
        <p:spPr>
          <a:xfrm>
            <a:off x="685800" y="2009880"/>
            <a:ext cx="10817640" cy="3804480"/>
          </a:xfrm>
          <a:prstGeom prst="rect">
            <a:avLst/>
          </a:prstGeom>
          <a:ln w="0">
            <a:noFill/>
          </a:ln>
        </p:spPr>
      </p:pic>
      <p:sp>
        <p:nvSpPr>
          <p:cNvPr id="132" name="شروع از ویسپر کوچک چندشرایطی است. بهساز در حوزه لاگ‌مل کار می‌کند و موج صوتی بازسازی نمی‌کند"/>
          <p:cNvSpPr/>
          <p:nvPr/>
        </p:nvSpPr>
        <p:spPr>
          <a:xfrm>
            <a:off x="685800" y="5905440"/>
            <a:ext cx="10818000" cy="4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شروع از ویسپر کوچک چندشرایطی است. بهساز در حوزه لاگ‌مل کار می‌کند و موج صوتی بازسازی نمی‌کند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بهسازی و همجوش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بهسازی و همجوشی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آموزش سه‌مرحله‌ای همجوشی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آموزش سه‌مرحله‌ای همجوشی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36" name="۱۲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۱۳ از ۲۳</a:t>
            </a:r>
          </a:p>
        </p:txBody>
      </p:sp>
      <p:pic>
        <p:nvPicPr>
          <p:cNvPr id="137" name="" descr=""/>
          <p:cNvPicPr/>
          <p:nvPr/>
        </p:nvPicPr>
        <p:blipFill>
          <a:blip r:embed="rId1"/>
          <a:stretch/>
        </p:blipFill>
        <p:spPr>
          <a:xfrm>
            <a:off x="685800" y="2095560"/>
            <a:ext cx="10818000" cy="1644120"/>
          </a:xfrm>
          <a:prstGeom prst="rect">
            <a:avLst/>
          </a:prstGeom>
          <a:ln w="0">
            <a:noFill/>
          </a:ln>
        </p:spPr>
      </p:pic>
      <p:sp>
        <p:nvSpPr>
          <p:cNvPr id="138" name="مرحله سوم: آموزش همه اجزا، شامل ویسپر"/>
          <p:cNvSpPr/>
          <p:nvPr/>
        </p:nvSpPr>
        <p:spPr>
          <a:xfrm>
            <a:off x="685800" y="3952800"/>
            <a:ext cx="1081800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d6f8a"/>
                </a:solidFill>
                <a:latin typeface="Vazirmatn"/>
                <a:cs typeface="Vazirmatn"/>
              </a:rPr>
              <a:t>مرحله سوم: آموزش همه اجزا، شامل ویسپر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هر مرحله یک دوره کامل"/>
          <p:cNvSpPr/>
          <p:nvPr/>
        </p:nvSpPr>
        <p:spPr>
          <a:xfrm>
            <a:off x="6762600" y="4629240"/>
            <a:ext cx="474084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هر مرحله یک دوره کامل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نرخ نهایی: ماژول‌های جدید ⁦1e-4⁩&#10;ویسپر ⁦5e-6⁩"/>
          <p:cNvSpPr/>
          <p:nvPr/>
        </p:nvSpPr>
        <p:spPr>
          <a:xfrm>
            <a:off x="6762600" y="5162400"/>
            <a:ext cx="474084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نرخ نهایی: ماژول‌های جدید ⁦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1e-4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⁩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ویسپر ⁦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5e-6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⁩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داده مرحله نهایی"/>
          <p:cNvSpPr/>
          <p:nvPr/>
        </p:nvSpPr>
        <p:spPr>
          <a:xfrm>
            <a:off x="685800" y="4629240"/>
            <a:ext cx="4950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داده مرحله نهایی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نمونه‌های تخریب‌شده و بلند&#10;زیرمجموعه تصادفی ۲۵٪ از گفتار پاک"/>
          <p:cNvSpPr/>
          <p:nvPr/>
        </p:nvSpPr>
        <p:spPr>
          <a:xfrm>
            <a:off x="685800" y="5162400"/>
            <a:ext cx="495036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نمونه‌های تخریب‌شده و بلند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زیرمجموعه تصادفی 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۲۵</a:t>
            </a: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٪ از گفتار پاک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این آزمایش هم معماری و هم برنامه آموزش بازشناس را تغییر می‌دهد"/>
          <p:cNvSpPr/>
          <p:nvPr/>
        </p:nvSpPr>
        <p:spPr>
          <a:xfrm>
            <a:off x="685800" y="6048360"/>
            <a:ext cx="10818000" cy="28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این آزمایش هم معماری و هم برنامه آموزش بازشناس را تغییر می‌دهد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روش مقایسه‌ا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روش مقایسه‌ای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پل تطبیقی پیش از بازشناسی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پل تطبیقی پیش از بازشناسی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47" name="۱۳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۱۴ از ۲۳</a:t>
            </a:r>
          </a:p>
        </p:txBody>
      </p:sp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685800" y="2117520"/>
            <a:ext cx="7484040" cy="3449160"/>
          </a:xfrm>
          <a:prstGeom prst="rect">
            <a:avLst/>
          </a:prstGeom>
          <a:ln w="0">
            <a:noFill/>
          </a:ln>
        </p:spPr>
      </p:pic>
      <p:sp>
        <p:nvSpPr>
          <p:cNvPr id="149" name="پیاده‌سازی این پایان‌نامه"/>
          <p:cNvSpPr/>
          <p:nvPr/>
        </p:nvSpPr>
        <p:spPr>
          <a:xfrm>
            <a:off x="8648640" y="1981080"/>
            <a:ext cx="285516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پیاده‌سازی این پایان‌نامه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بهساز FRCRN ثابت&#10;بازشناس ویسپر ثابت&#10;آموزش فقط ماژول پل"/>
          <p:cNvSpPr/>
          <p:nvPr/>
        </p:nvSpPr>
        <p:spPr>
          <a:xfrm>
            <a:off x="8648640" y="2828880"/>
            <a:ext cx="2855160" cy="166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بهساز 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FRCRN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 ثابت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بازشناس ویسپر ثابت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70" spc="-1" strike="noStrike">
                <a:solidFill>
                  <a:srgbClr val="1f2933"/>
                </a:solidFill>
                <a:latin typeface="Vazirmatn"/>
                <a:cs typeface="Vazirmatn"/>
              </a:rPr>
              <a:t>آموزش فقط ماژول پل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یک ضریب ترکیب&#10;برای هر گفتار"/>
          <p:cNvSpPr/>
          <p:nvPr/>
        </p:nvSpPr>
        <p:spPr>
          <a:xfrm>
            <a:off x="8648640" y="4695840"/>
            <a:ext cx="2855160" cy="95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یک ضریب ترکیب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برای هر گفتار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Cui et al., ICASSP 2025, Fig. 1 (CC BY 4.0)"/>
          <p:cNvSpPr/>
          <p:nvPr/>
        </p:nvSpPr>
        <p:spPr>
          <a:xfrm>
            <a:off x="685800" y="5638680"/>
            <a:ext cx="7484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52606d"/>
                </a:solidFill>
                <a:latin typeface="Vazirmatn"/>
                <a:ea typeface="Vazirmatn"/>
              </a:rPr>
              <a:t>Cui et al., ICASSP 2025, Fig. 1 (CC BY 4.0)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اجرای مستقل فارسی است. تفاوت بهساز و برنامه آموزش، انتساب اثر به محل ادغام را محدود می‌کند"/>
          <p:cNvSpPr/>
          <p:nvPr/>
        </p:nvSpPr>
        <p:spPr>
          <a:xfrm>
            <a:off x="685800" y="6048360"/>
            <a:ext cx="1081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اجرای مستقل فارسی است. تفاوت بهساز و برنامه آموزش، انتساب اثر به محل ادغام را محدود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نتایج بهسازی و همجوش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نتایج بهسازی و همجوشی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سود افزوده همجوشی و پل تطبیقی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سود افزوده همجوشی و پل تطبیقی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57" name="۱۴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۱۵ از ۲۳</a:t>
            </a:r>
          </a:p>
        </p:txBody>
      </p:sp>
      <p:sp>
        <p:nvSpPr>
          <p:cNvPr id="158" name="نرخ خطای واژه تجمیعی"/>
          <p:cNvSpPr/>
          <p:nvPr/>
        </p:nvSpPr>
        <p:spPr>
          <a:xfrm>
            <a:off x="685800" y="1685880"/>
            <a:ext cx="504576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تجمیعی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نرخ خطای واژه تماس واقعی"/>
          <p:cNvSpPr/>
          <p:nvPr/>
        </p:nvSpPr>
        <p:spPr>
          <a:xfrm>
            <a:off x="6458040" y="1685880"/>
            <a:ext cx="504576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تماس واقعی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60" name="Chart"/>
          <p:cNvGraphicFramePr/>
          <p:nvPr/>
        </p:nvGraphicFramePr>
        <p:xfrm>
          <a:off x="685800" y="2324160"/>
          <a:ext cx="5045760" cy="295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61" name="Chart"/>
          <p:cNvGraphicFramePr/>
          <p:nvPr/>
        </p:nvGraphicFramePr>
        <p:xfrm>
          <a:off x="6458040" y="2324160"/>
          <a:ext cx="5045760" cy="295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62" name="کاهش WER با همجوشی: ۰٫۱۹ واحد درصد تجمیعی و ۰٫۴۳ واحد درصد در تماس واقعی"/>
          <p:cNvSpPr/>
          <p:nvPr/>
        </p:nvSpPr>
        <p:spPr>
          <a:xfrm>
            <a:off x="685800" y="5477040"/>
            <a:ext cx="10818000" cy="4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کاهش 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WER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 با همجوشی: </a:t>
            </a: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۰٫۱۹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 واحد درصد تجمیعی و </a:t>
            </a: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۰٫۴۳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 واحد درصد در تماس واقعی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CER تجمیعی به همین ترتیب: ۷٫۹۳٪، ۸٫۰۰٪ و ۷٫۸۵٪. اختلاف‌ها فاصله اطمینان ندارند"/>
          <p:cNvSpPr/>
          <p:nvPr/>
        </p:nvSpPr>
        <p:spPr>
          <a:xfrm>
            <a:off x="685800" y="6010200"/>
            <a:ext cx="10818000" cy="28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CER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تجمیعی به همین ترتیب: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۷٫۹۳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٪،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۸٫۰۰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و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۷٫۸۵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٪.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مطالعه مؤلفه‌های همجوش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مطالعه مؤلفه‌های همجوشی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آزمایش حذفیِ دو بازنمایی و توجه متقاطع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آزمایش حذفیِ دو بازنمایی و توجه متقاطع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67" name="۱۵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۱۶ از ۲۳</a:t>
            </a:r>
          </a:p>
        </p:txBody>
      </p:sp>
      <p:sp>
        <p:nvSpPr>
          <p:cNvPr id="168" name="آزمایش مستقل&#10;ویسپر بسیار کوچک"/>
          <p:cNvSpPr/>
          <p:nvPr/>
        </p:nvSpPr>
        <p:spPr>
          <a:xfrm>
            <a:off x="685800" y="2028960"/>
            <a:ext cx="2807280" cy="11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آزمایش مستقل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ویسپر بسیار کوچک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آموزش فقط با کامن‌وویس"/>
          <p:cNvSpPr/>
          <p:nvPr/>
        </p:nvSpPr>
        <p:spPr>
          <a:xfrm>
            <a:off x="685800" y="3295800"/>
            <a:ext cx="280728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75" spc="-1" strike="noStrike">
                <a:solidFill>
                  <a:srgbClr val="52606d"/>
                </a:solidFill>
                <a:latin typeface="Vazirmatn"/>
                <a:cs typeface="Vazirmatn"/>
              </a:rPr>
              <a:t>آموزش فقط با کامن‌وویس</a:t>
            </a:r>
          </a:p>
          <a:p>
            <a:pPr algn="r" rtl="1">
              <a:lnSpc>
                <a:spcPct val="100000"/>
              </a:lnSpc>
            </a:pPr>
            <a:r>
              <a:rPr b="0" lang="fa-IR" sz="1575" spc="-1" strike="noStrike">
                <a:solidFill>
                  <a:srgbClr val="52606d"/>
                </a:solidFill>
                <a:latin typeface="Vazirmatn"/>
                <a:cs typeface="Vazirmatn"/>
              </a:rPr>
              <a:t>خط مبنای چندشرایطی:</a:t>
            </a:r>
          </a:p>
          <a:p>
            <a:pPr algn="r" rtl="1">
              <a:lnSpc>
                <a:spcPct val="100000"/>
              </a:lnSpc>
            </a:pPr>
            <a:r>
              <a:rPr b="0" lang="fa-IR" sz="1575" spc="-1" strike="noStrike">
                <a:solidFill>
                  <a:srgbClr val="52606d"/>
                </a:solidFill>
                <a:latin typeface="Vazirmatn"/>
                <a:cs typeface="Vazirmatn"/>
              </a:rPr>
              <a:t>WER کامن‌وویس: ۷۴٫۹۲٪</a:t>
            </a:r>
          </a:p>
        </p:txBody>
      </p:sp>
      <p:sp>
        <p:nvSpPr>
          <p:cNvPr id="170" name="WER کامن‌وویس&#10;به ترتیب نمودار"/>
          <p:cNvSpPr/>
          <p:nvPr/>
        </p:nvSpPr>
        <p:spPr>
          <a:xfrm>
            <a:off x="685800" y="4248000"/>
            <a:ext cx="2807280" cy="74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en-US" sz="1729" spc="-1" strike="noStrike">
                <a:solidFill>
                  <a:srgbClr val="153d42"/>
                </a:solidFill>
                <a:latin typeface="Vazirmatn"/>
                <a:ea typeface="Vazirmatn"/>
              </a:rPr>
              <a:t>WER کامن‌وویس</a:t>
            </a:r>
          </a:p>
          <a:p>
            <a:pPr algn="r" rtl="1">
              <a:lnSpc>
                <a:spcPct val="100000"/>
              </a:lnSpc>
            </a:pPr>
            <a:r>
              <a:rPr b="1" lang="en-US" sz="1729" spc="-1" strike="noStrike">
                <a:solidFill>
                  <a:srgbClr val="153d42"/>
                </a:solidFill>
                <a:latin typeface="Vazirmatn"/>
                <a:ea typeface="Vazirmatn"/>
              </a:rPr>
              <a:t>چهار مدل همجوشی</a:t>
            </a:r>
          </a:p>
        </p:txBody>
      </p:sp>
      <p:sp>
        <p:nvSpPr>
          <p:cNvPr id="171" name="۵۷٫۸۲، ۶۲٫۳۵،&#10;۶۴٫۱۰، ۶۳٫۸۱ درصد"/>
          <p:cNvSpPr/>
          <p:nvPr/>
        </p:nvSpPr>
        <p:spPr>
          <a:xfrm>
            <a:off x="685800" y="5076720"/>
            <a:ext cx="280728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۵۷٫۸۲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، 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۶۲٫۳۵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۶۴٫۱۰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، </a:t>
            </a:r>
            <a:r>
              <a:rPr b="0" lang="fa-IR" sz="1729" spc="-1" strike="noStrike">
                <a:solidFill>
                  <a:srgbClr val="1d6f8a"/>
                </a:solidFill>
                <a:latin typeface="Vazirmatn"/>
                <a:cs typeface="Vazirmatn"/>
              </a:rPr>
              <a:t>۶۳٫۸۱</a:t>
            </a:r>
            <a:r>
              <a:rPr b="0" lang="en-US" sz="1729" spc="-1" strike="noStrike">
                <a:solidFill>
                  <a:srgbClr val="1d6f8a"/>
                </a:solidFill>
                <a:latin typeface="Vazirmatn"/>
                <a:ea typeface="Vazirmatn"/>
              </a:rPr>
              <a:t> درصد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نرخ خطای واژه در AGFarsdat"/>
          <p:cNvSpPr/>
          <p:nvPr/>
        </p:nvSpPr>
        <p:spPr>
          <a:xfrm>
            <a:off x="3962520" y="1657440"/>
            <a:ext cx="754128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در </a:t>
            </a:r>
            <a:r>
              <a:rPr b="1" lang="en-US" sz="2020" spc="-1" strike="noStrike">
                <a:solidFill>
                  <a:srgbClr val="153d42"/>
                </a:solidFill>
                <a:latin typeface="Vazirmatn"/>
                <a:ea typeface="Vazirmatn"/>
              </a:rPr>
              <a:t>AGFarsdat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73" name="Chart"/>
          <p:cNvGraphicFramePr/>
          <p:nvPr/>
        </p:nvGraphicFramePr>
        <p:xfrm>
          <a:off x="3886200" y="2343240"/>
          <a:ext cx="7617600" cy="3255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74" name="¹ حذف بازنمایی در زمان استنتاج از مدل همجوشی آموزش‌دیده، نه آموزش مستقل یک مدل تک‌جریانه"/>
          <p:cNvSpPr/>
          <p:nvPr/>
        </p:nvSpPr>
        <p:spPr>
          <a:xfrm>
            <a:off x="685800" y="5848200"/>
            <a:ext cx="10818000" cy="28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¹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حذف بازنمایی در زمان استنتاج از مدل همجوشی آموزش‌دیده، نه آموزش مستقل یک مدل تک‌جریانه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بودجه آموزش و تعداد پارامترهای نابرابر، تعیین سهم مستقل مؤلفه‌ها را محدود می‌کند"/>
          <p:cNvSpPr/>
          <p:nvPr/>
        </p:nvSpPr>
        <p:spPr>
          <a:xfrm>
            <a:off x="685800" y="6153120"/>
            <a:ext cx="108180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بودجه آموزش و تعداد پارامترهای نابرابر، تعیین سهم مستقل مؤلفه‌ها را محدود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افزایش داده فارس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افزایش داده فارسی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گردآوری و قطعه‌بندی ایران‌صدا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گردآوری و قطعه‌بندی ایران‌صدا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79" name="۱۶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۱۷ از ۲۳</a:t>
            </a:r>
          </a:p>
        </p:txBody>
      </p:sp>
      <p:pic>
        <p:nvPicPr>
          <p:cNvPr id="180" name="" descr=""/>
          <p:cNvPicPr/>
          <p:nvPr/>
        </p:nvPicPr>
        <p:blipFill>
          <a:blip r:embed="rId1"/>
          <a:stretch/>
        </p:blipFill>
        <p:spPr>
          <a:xfrm>
            <a:off x="685800" y="1724040"/>
            <a:ext cx="3521880" cy="4156920"/>
          </a:xfrm>
          <a:prstGeom prst="rect">
            <a:avLst/>
          </a:prstGeom>
          <a:ln w="0">
            <a:noFill/>
          </a:ln>
        </p:spPr>
      </p:pic>
      <p:sp>
        <p:nvSpPr>
          <p:cNvPr id="181" name="۳٬۷۷۷ کتاب صوتی"/>
          <p:cNvSpPr/>
          <p:nvPr/>
        </p:nvSpPr>
        <p:spPr>
          <a:xfrm>
            <a:off x="4952880" y="2000160"/>
            <a:ext cx="6550560" cy="7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300" spc="-1" strike="noStrike">
                <a:solidFill>
                  <a:srgbClr val="153d42"/>
                </a:solidFill>
                <a:latin typeface="Vazirmatn"/>
                <a:cs typeface="Vazirmatn"/>
              </a:rPr>
              <a:t>۳٬۷۷۷</a:t>
            </a:r>
            <a:r>
              <a:rPr b="1" lang="en-US" sz="3300" spc="-1" strike="noStrike">
                <a:solidFill>
                  <a:srgbClr val="153d42"/>
                </a:solidFill>
                <a:latin typeface="Vazirmatn"/>
                <a:ea typeface="Vazirmatn"/>
              </a:rPr>
              <a:t> کتاب صوتی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حدود ۶٬۳۰۰ ساعت صوت خام دریافت‌شده"/>
          <p:cNvSpPr/>
          <p:nvPr/>
        </p:nvSpPr>
        <p:spPr>
          <a:xfrm>
            <a:off x="4952880" y="2933640"/>
            <a:ext cx="655056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100" spc="-1" strike="noStrike">
                <a:solidFill>
                  <a:srgbClr val="1f2933"/>
                </a:solidFill>
                <a:latin typeface="Vazirmatn"/>
                <a:cs typeface="Vazirmatn"/>
              </a:rPr>
              <a:t>حدود </a:t>
            </a:r>
            <a:r>
              <a:rPr b="0" lang="fa-IR" sz="2100" spc="-1" strike="noStrike">
                <a:solidFill>
                  <a:srgbClr val="1f2933"/>
                </a:solidFill>
                <a:latin typeface="Vazirmatn"/>
                <a:cs typeface="Vazirmatn"/>
              </a:rPr>
              <a:t>۶٬۳۰۰</a:t>
            </a:r>
            <a:r>
              <a:rPr b="0" lang="en-US" sz="2100" spc="-1" strike="noStrike">
                <a:solidFill>
                  <a:srgbClr val="1f2933"/>
                </a:solidFill>
                <a:latin typeface="Vazirmatn"/>
                <a:ea typeface="Vazirmatn"/>
              </a:rPr>
              <a:t> ساعت صوت خام دریافت‌شده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۲۵۰ ساعت منتخب"/>
          <p:cNvSpPr/>
          <p:nvPr/>
        </p:nvSpPr>
        <p:spPr>
          <a:xfrm>
            <a:off x="4952880" y="3762360"/>
            <a:ext cx="6550560" cy="7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300" spc="-1" strike="noStrike">
                <a:solidFill>
                  <a:srgbClr val="1d6f8a"/>
                </a:solidFill>
                <a:latin typeface="Vazirmatn"/>
                <a:cs typeface="Vazirmatn"/>
              </a:rPr>
              <a:t>۲۵۰</a:t>
            </a:r>
            <a:r>
              <a:rPr b="1" lang="en-US" sz="3300" spc="-1" strike="noStrike">
                <a:solidFill>
                  <a:srgbClr val="1d6f8a"/>
                </a:solidFill>
                <a:latin typeface="Vazirmatn"/>
                <a:ea typeface="Vazirmatn"/>
              </a:rPr>
              <a:t> ساعت منتخب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طول هدف قطعه‌ها ۲۰ ثانیه است&#10;بازه ترجیحی ۱۵ تا ۲۵، سقف سخت ۲۸ ثانیه"/>
          <p:cNvSpPr/>
          <p:nvPr/>
        </p:nvSpPr>
        <p:spPr>
          <a:xfrm>
            <a:off x="4952880" y="4714920"/>
            <a:ext cx="6550560" cy="95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طول هدف قطعه‌ها </a:t>
            </a: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۲۰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ثانیه است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بازه ترجیحی </a:t>
            </a: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۱۵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تا </a:t>
            </a: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۲۵</a:t>
            </a: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، سقف سخت </a:t>
            </a:r>
            <a:r>
              <a:rPr b="0" lang="fa-IR" sz="2020" spc="-1" strike="noStrike">
                <a:solidFill>
                  <a:srgbClr val="1f2933"/>
                </a:solidFill>
                <a:latin typeface="Vazirmatn"/>
                <a:cs typeface="Vazirmatn"/>
              </a:rPr>
              <a:t>۲۸</a:t>
            </a:r>
            <a:r>
              <a:rPr b="0" lang="en-US" sz="2020" spc="-1" strike="noStrike">
                <a:solidFill>
                  <a:srgbClr val="1f2933"/>
                </a:solidFill>
                <a:latin typeface="Vazirmatn"/>
                <a:ea typeface="Vazirmatn"/>
              </a:rPr>
              <a:t> ثانیه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مجموعه گردآوری‌شده از زیرمجموعه انتخاب‌شده برای آموزش بزرگ‌تر است"/>
          <p:cNvSpPr/>
          <p:nvPr/>
        </p:nvSpPr>
        <p:spPr>
          <a:xfrm>
            <a:off x="685800" y="5905440"/>
            <a:ext cx="10818000" cy="4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مجموعه گردآوری‌شده از زیرمجموعه انتخاب‌شده برای آموزش بزرگ‌تر است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افزایش داده فارس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افزایش داده فارسی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رونویسی معلم، پالایش و آموزش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رونویسی معلم، پالایش و آموزش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189" name="۱۷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۱۸ از ۲۳</a:t>
            </a:r>
          </a:p>
        </p:txBody>
      </p:sp>
      <p:sp>
        <p:nvSpPr>
          <p:cNvPr id="190" name="۱. رونویسی معلم"/>
          <p:cNvSpPr/>
          <p:nvPr/>
        </p:nvSpPr>
        <p:spPr>
          <a:xfrm>
            <a:off x="685800" y="1714680"/>
            <a:ext cx="49503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۱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. رونویسی معلم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1" name="" descr=""/>
          <p:cNvPicPr/>
          <p:nvPr/>
        </p:nvPicPr>
        <p:blipFill>
          <a:blip r:embed="rId1"/>
          <a:stretch/>
        </p:blipFill>
        <p:spPr>
          <a:xfrm>
            <a:off x="1262160" y="2143080"/>
            <a:ext cx="3798000" cy="1502280"/>
          </a:xfrm>
          <a:prstGeom prst="rect">
            <a:avLst/>
          </a:prstGeom>
          <a:ln w="0">
            <a:noFill/>
          </a:ln>
        </p:spPr>
      </p:pic>
      <p:sp>
        <p:nvSpPr>
          <p:cNvPr id="192" name="۲. نرمال‌سازی فارسی"/>
          <p:cNvSpPr/>
          <p:nvPr/>
        </p:nvSpPr>
        <p:spPr>
          <a:xfrm>
            <a:off x="6553080" y="1714680"/>
            <a:ext cx="49503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۲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. نرمال‌سازی فارسی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3" name="" descr=""/>
          <p:cNvPicPr/>
          <p:nvPr/>
        </p:nvPicPr>
        <p:blipFill>
          <a:blip r:embed="rId2"/>
          <a:stretch/>
        </p:blipFill>
        <p:spPr>
          <a:xfrm>
            <a:off x="7129440" y="2143080"/>
            <a:ext cx="3798000" cy="1502280"/>
          </a:xfrm>
          <a:prstGeom prst="rect">
            <a:avLst/>
          </a:prstGeom>
          <a:ln w="0">
            <a:noFill/>
          </a:ln>
        </p:spPr>
      </p:pic>
      <p:sp>
        <p:nvSpPr>
          <p:cNvPr id="194" name="۳. اصلاح با Qwen"/>
          <p:cNvSpPr/>
          <p:nvPr/>
        </p:nvSpPr>
        <p:spPr>
          <a:xfrm>
            <a:off x="685800" y="3657600"/>
            <a:ext cx="49503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. اصلاح با 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Qwen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" name="" descr=""/>
          <p:cNvPicPr/>
          <p:nvPr/>
        </p:nvPicPr>
        <p:blipFill>
          <a:blip r:embed="rId3"/>
          <a:stretch/>
        </p:blipFill>
        <p:spPr>
          <a:xfrm>
            <a:off x="1262160" y="4086360"/>
            <a:ext cx="3798000" cy="1502280"/>
          </a:xfrm>
          <a:prstGeom prst="rect">
            <a:avLst/>
          </a:prstGeom>
          <a:ln w="0">
            <a:noFill/>
          </a:ln>
        </p:spPr>
      </p:pic>
      <p:sp>
        <p:nvSpPr>
          <p:cNvPr id="196" name="۴. پالایش کیفیت"/>
          <p:cNvSpPr/>
          <p:nvPr/>
        </p:nvSpPr>
        <p:spPr>
          <a:xfrm>
            <a:off x="6553080" y="3657600"/>
            <a:ext cx="49503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۴</a:t>
            </a:r>
            <a:r>
              <a:rPr b="1" lang="en-US" sz="1870" spc="-1" strike="noStrike">
                <a:solidFill>
                  <a:srgbClr val="1d6f8a"/>
                </a:solidFill>
                <a:latin typeface="Vazirmatn"/>
                <a:ea typeface="Vazirmatn"/>
              </a:rPr>
              <a:t>. پالایش کیفیت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7" name="" descr=""/>
          <p:cNvPicPr/>
          <p:nvPr/>
        </p:nvPicPr>
        <p:blipFill>
          <a:blip r:embed="rId4"/>
          <a:stretch/>
        </p:blipFill>
        <p:spPr>
          <a:xfrm>
            <a:off x="7427880" y="4086360"/>
            <a:ext cx="3200760" cy="1502280"/>
          </a:xfrm>
          <a:prstGeom prst="rect">
            <a:avLst/>
          </a:prstGeom>
          <a:ln w="0">
            <a:noFill/>
          </a:ln>
        </p:spPr>
      </p:pic>
      <p:sp>
        <p:nvSpPr>
          <p:cNvPr id="198" name="افزودن داده پذیرفته‌شده به ترکیب کامل گفتار معمولی، بلند و تخریب‌شده"/>
          <p:cNvSpPr/>
          <p:nvPr/>
        </p:nvSpPr>
        <p:spPr>
          <a:xfrm>
            <a:off x="685800" y="5743440"/>
            <a:ext cx="1081800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53d42"/>
                </a:solidFill>
                <a:latin typeface="Vazirmatn"/>
                <a:cs typeface="Vazirmatn"/>
              </a:rPr>
              <a:t>افزودن داده پذیرفته‌شده به ترکیب کامل گفتار معمولی، بلند و تخریب‌شده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معماری ویسپر کوچک، تنظیمات اصلی و تعداد گام‌های آموزش ثابت‌اند"/>
          <p:cNvSpPr/>
          <p:nvPr/>
        </p:nvSpPr>
        <p:spPr>
          <a:xfrm>
            <a:off x="685800" y="6153120"/>
            <a:ext cx="108180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معماری ویسپر کوچک، تنظیمات اصلی و تعداد گام‌های آموزش ثابت‌اند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افزایش داده فارس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افزایش داده فارسی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پالایش رونویسی و داده پذیرفته‌شده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پالایش رونویسی و داده پذیرفته‌شده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03" name="۱۸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۱۹ از ۲۳</a:t>
            </a:r>
          </a:p>
        </p:txBody>
      </p:sp>
      <p:sp>
        <p:nvSpPr>
          <p:cNvPr id="204" name="۳۹٬۴۵۴"/>
          <p:cNvSpPr/>
          <p:nvPr/>
        </p:nvSpPr>
        <p:spPr>
          <a:xfrm>
            <a:off x="7238880" y="1838160"/>
            <a:ext cx="4264560" cy="11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5850" spc="-1" strike="noStrike">
                <a:solidFill>
                  <a:srgbClr val="1d6f8a"/>
                </a:solidFill>
                <a:latin typeface="Vazirmatn"/>
                <a:cs typeface="Vazirmatn"/>
              </a:rPr>
              <a:t>۳۹٬۴۵۴</a:t>
            </a:r>
            <a:endParaRPr b="0" lang="en-US" sz="5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قطعه پذیرفته‌شده برای آموزش"/>
          <p:cNvSpPr/>
          <p:nvPr/>
        </p:nvSpPr>
        <p:spPr>
          <a:xfrm>
            <a:off x="7238880" y="3057480"/>
            <a:ext cx="426456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قطعه پذیرفته‌شده برای آموزش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۲۱۸٫۵۶۴ ساعت"/>
          <p:cNvSpPr/>
          <p:nvPr/>
        </p:nvSpPr>
        <p:spPr>
          <a:xfrm>
            <a:off x="6667560" y="3772080"/>
            <a:ext cx="4836240" cy="81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230" spc="-1" strike="noStrike">
                <a:solidFill>
                  <a:srgbClr val="153d42"/>
                </a:solidFill>
                <a:latin typeface="Vazirmatn"/>
                <a:cs typeface="Vazirmatn"/>
              </a:rPr>
              <a:t>۲۱۸٫۵۶۴</a:t>
            </a:r>
            <a:r>
              <a:rPr b="1" lang="en-US" sz="3230" spc="-1" strike="noStrike">
                <a:solidFill>
                  <a:srgbClr val="153d42"/>
                </a:solidFill>
                <a:latin typeface="Vazirmatn"/>
                <a:ea typeface="Vazirmatn"/>
              </a:rPr>
              <a:t> ساعت</a:t>
            </a:r>
            <a:endParaRPr b="0" lang="en-US" sz="32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۴۴٬۸۲۰ قطعه بررسی و ۵٬۳۶۶ قطعه رد شد&#10;۱۳۶ فایل منبع، با تفکیک در سطح کتاب"/>
          <p:cNvSpPr/>
          <p:nvPr/>
        </p:nvSpPr>
        <p:spPr>
          <a:xfrm>
            <a:off x="6667560" y="4838760"/>
            <a:ext cx="4836240" cy="80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۴۴٬۸۲۰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قطعه بررسی و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۵٬۳۶۶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قطعه رد شد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۱۳۶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فایل منبع، با تفکیک در سطح کتاب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اصلاح محافظه‌کارانه با Qwen"/>
          <p:cNvSpPr/>
          <p:nvPr/>
        </p:nvSpPr>
        <p:spPr>
          <a:xfrm>
            <a:off x="685800" y="1952640"/>
            <a:ext cx="5293440" cy="47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اصلاح محافظه‌کارانه با مدل زبانی </a:t>
            </a:r>
            <a:r>
              <a:rPr b="0" lang="en-US" sz="1800" spc="-1" strike="noStrike">
                <a:solidFill>
                  <a:srgbClr val="52606d"/>
                </a:solidFill>
                <a:latin typeface="Vazirmatn"/>
                <a:ea typeface="Vazirmatn"/>
              </a:rPr>
              <a:t>Qwen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اصلاح املا، نیم‌فاصله و نشانه‌گذاری&#10;رفع خطاهای آشکار واژگانی با کمک بافت&#10;حفظ اعداد و پرهیز از افزودن محتوا"/>
          <p:cNvSpPr/>
          <p:nvPr/>
        </p:nvSpPr>
        <p:spPr>
          <a:xfrm>
            <a:off x="685800" y="2657520"/>
            <a:ext cx="529344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اصلاح املا، نیم‌فاصله و نشانه‌گذاری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رفع خطاهای آشکار واژگانی با کمک محتوا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153d42"/>
                </a:solidFill>
                <a:latin typeface="Vazirmatn"/>
                <a:cs typeface="Vazirmatn"/>
              </a:rPr>
              <a:t>حفظ اعداد و پرهیز از افزودن محتوا</a:t>
            </a:r>
            <a:endParaRPr b="0" lang="en-US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ورودی فقط متن قطعه و بافت قبل و بعد آن&#10;رد خروجی‌های نامطمئن یا دارای تغییر زیاد&#10;ذخیره متن اولیه در کنار نسخه اصلاح‌شده"/>
          <p:cNvSpPr/>
          <p:nvPr/>
        </p:nvSpPr>
        <p:spPr>
          <a:xfrm>
            <a:off x="685800" y="4543560"/>
            <a:ext cx="5293440" cy="11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ورودی فقط متن قطعه و بافت قبل و بعد آن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رد خروجی‌های نامطمئن یا دارای تغییر زیاد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ذخیره متن اولیه در کنار نسخه اصلاح‌شده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نتیجه افزایش داده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نتیجه افزایش داده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اثر ایران‌صدا به دامنه گفتار وابسته است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اثر ایران‌صدا به دامنه گفتار وابسته است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14" name="۱۹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۲۰ از ۲۳</a:t>
            </a:r>
          </a:p>
        </p:txBody>
      </p:sp>
      <p:sp>
        <p:nvSpPr>
          <p:cNvPr id="215" name="تغییر WER نسبت به مدل چندشرایطی، بر حسب واحد درصد"/>
          <p:cNvSpPr/>
          <p:nvPr/>
        </p:nvSpPr>
        <p:spPr>
          <a:xfrm>
            <a:off x="685800" y="1619280"/>
            <a:ext cx="108180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950" spc="-1" strike="noStrike">
                <a:solidFill>
                  <a:srgbClr val="153d42"/>
                </a:solidFill>
                <a:latin typeface="Vazirmatn"/>
                <a:cs typeface="Vazirmatn"/>
              </a:rPr>
              <a:t>تغییر </a:t>
            </a:r>
            <a:r>
              <a:rPr b="0" lang="en-US" sz="1950" spc="-1" strike="noStrike">
                <a:solidFill>
                  <a:srgbClr val="153d42"/>
                </a:solidFill>
                <a:latin typeface="Vazirmatn"/>
                <a:ea typeface="Vazirmatn"/>
              </a:rPr>
              <a:t>WER</a:t>
            </a:r>
            <a:r>
              <a:rPr b="0" lang="en-US" sz="1950" spc="-1" strike="noStrike">
                <a:solidFill>
                  <a:srgbClr val="153d42"/>
                </a:solidFill>
                <a:latin typeface="Vazirmatn"/>
                <a:ea typeface="Vazirmatn"/>
              </a:rPr>
              <a:t> نسبت به مدل چندشرایطی، بر حسب درصد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16" name="Chart"/>
          <p:cNvGraphicFramePr/>
          <p:nvPr/>
        </p:nvGraphicFramePr>
        <p:xfrm>
          <a:off x="685800" y="2276640"/>
          <a:ext cx="10818000" cy="320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7" name="مقدار منفی یعنی بهبود. تغییر = با ایران‌صدا منهای خط مبنای چندشرایطی"/>
          <p:cNvSpPr/>
          <p:nvPr/>
        </p:nvSpPr>
        <p:spPr>
          <a:xfrm>
            <a:off x="685800" y="5505480"/>
            <a:ext cx="1081800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00" spc="-1" strike="noStrike">
                <a:solidFill>
                  <a:srgbClr val="1d6f8a"/>
                </a:solidFill>
                <a:latin typeface="Vazirmatn"/>
                <a:cs typeface="Vazirmatn"/>
              </a:rPr>
              <a:t>مقدار منفی یعنی بهبود. تغییر = با ایران‌صدا منهای خط مبنای چندشرایطی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تجمیعی: WER از ۱۷٫۸۳٪ به ۱۷٫۲۲٪ و CER از ۷٫۹۳٪ به ۷٫۷۰٪ رسید"/>
          <p:cNvSpPr/>
          <p:nvPr/>
        </p:nvSpPr>
        <p:spPr>
          <a:xfrm>
            <a:off x="685800" y="5952960"/>
            <a:ext cx="1081800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تجمیعی: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WER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از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۱۷٫۸۳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به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۱۷٫۲۲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و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CER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از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۷٫۹۳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به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۷٫۷۰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رسید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جمع‌بندی شواهد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جمع‌بندی شواهد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نتیجه آزمایش‌های اصلی ویسپر کوچک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نتیجه آزمایش‌های اصلی ویسپر کوچک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22" name="۲۰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۲۱ از ۲۳</a:t>
            </a:r>
          </a:p>
        </p:txBody>
      </p:sp>
      <p:graphicFrame>
        <p:nvGraphicFramePr>
          <p:cNvPr id="223" name=""/>
          <p:cNvGraphicFramePr/>
          <p:nvPr/>
        </p:nvGraphicFramePr>
        <p:xfrm>
          <a:off x="685800" y="2143080"/>
          <a:ext cx="10819800" cy="2952000"/>
        </p:xfrm>
        <a:graphic>
          <a:graphicData uri="http://schemas.openxmlformats.org/drawingml/2006/table">
            <a:tbl>
              <a:tblPr/>
              <a:tblGrid>
                <a:gridCol w="2952720"/>
                <a:gridCol w="2952720"/>
                <a:gridCol w="4914720"/>
              </a:tblGrid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r>
                        <a:rPr b="1" lang="en-US" sz="180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 تماس واقعی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r>
                        <a:rPr b="1" lang="en-US" sz="180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 تجمیعی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سامانه ویسپر کوچک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۳۵٫۶۳٪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۲۳٫۲۷٪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معمولی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۲۵٫۸۰٪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۱۷٫۸۳٪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چندشرایطی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217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۲۵٫۳۷٪</a:t>
                      </a:r>
                      <a:endParaRPr b="0" lang="en-US" sz="21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8f3f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۱۷٫۶۴٪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پیشنهادی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۲۶٫۶۶٪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217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۱۷٫۲۲٪</a:t>
                      </a:r>
                      <a:endParaRPr b="0" lang="en-US" sz="21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e8f3f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21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چندشرایطی و ایران‌صدا</a:t>
                      </a:r>
                      <a:endParaRPr b="0" lang="en-US" sz="2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224" name="کمترین خطای تماس واقعی: همجوشی"/>
          <p:cNvSpPr/>
          <p:nvPr/>
        </p:nvSpPr>
        <p:spPr>
          <a:xfrm>
            <a:off x="685800" y="5381640"/>
            <a:ext cx="518868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کمترین خطای تماس واقعی: همجوشی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کمترین خطای تجمیعی: ایران‌صدا"/>
          <p:cNvSpPr/>
          <p:nvPr/>
        </p:nvSpPr>
        <p:spPr>
          <a:xfrm>
            <a:off x="6315120" y="5381640"/>
            <a:ext cx="518868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70" spc="-1" strike="noStrike">
                <a:solidFill>
                  <a:srgbClr val="1d6f8a"/>
                </a:solidFill>
                <a:latin typeface="Vazirmatn"/>
                <a:cs typeface="Vazirmatn"/>
              </a:rPr>
              <a:t>کمترین خطای تجمیعی: ایران‌صدا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ویسپر متوسط: ۱۴٫۳۶٪ تجمیعی و ۲۱٫۹۹٪ تماس واقعی، با ظرفیت و آموزش متفاوت"/>
          <p:cNvSpPr/>
          <p:nvPr/>
        </p:nvSpPr>
        <p:spPr>
          <a:xfrm>
            <a:off x="685800" y="6067440"/>
            <a:ext cx="10818000" cy="26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ویسپر متوسط: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۱۴٫۳۶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تجمیعی و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۲۱٫۹۹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تماس واقعی، با ظرفیت و آموزش متفاوت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بحث و ادامه پژوهش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بحث و ادامه پژوهش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محدودیت‌ها و آزمایش‌های بعدی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محدودیت‌ها و آزمایش‌های بعدی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30" name="۲۱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7b8794"/>
                </a:solidFill>
                <a:latin typeface="Vazirmatn"/>
                <a:cs typeface="Vazirmatn"/>
              </a:rPr>
              <a:t>۲۲ از ۲۳</a:t>
            </a:r>
          </a:p>
        </p:txBody>
      </p:sp>
      <p:sp>
        <p:nvSpPr>
          <p:cNvPr id="231" name="۱"/>
          <p:cNvSpPr/>
          <p:nvPr/>
        </p:nvSpPr>
        <p:spPr>
          <a:xfrm>
            <a:off x="10839600" y="1952640"/>
            <a:ext cx="664200" cy="7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670" spc="-1" strike="noStrike">
                <a:solidFill>
                  <a:srgbClr val="1d6f8a"/>
                </a:solidFill>
                <a:latin typeface="Vazirmatn"/>
                <a:cs typeface="Vazirmatn"/>
              </a:rPr>
              <a:t>۱</a:t>
            </a:r>
            <a:endParaRPr b="0" lang="en-US" sz="3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سهم مستقل تخریب‌ها"/>
          <p:cNvSpPr/>
          <p:nvPr/>
        </p:nvSpPr>
        <p:spPr>
          <a:xfrm>
            <a:off x="7095960" y="1952640"/>
            <a:ext cx="3359880" cy="7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سهم مستقل تخریب‌ها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اثر جداگانه نویز، کدک و افت بسته سنجیده نشده است&#10;آزمایش حذفی هر تخریب با تنظیمات آموزش یکسان"/>
          <p:cNvSpPr/>
          <p:nvPr/>
        </p:nvSpPr>
        <p:spPr>
          <a:xfrm>
            <a:off x="685800" y="1952640"/>
            <a:ext cx="5960160" cy="7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اثر جداگانه نویز، کدک و افت بسته سنجیده نشده است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آزمایش حذفی هر تخریب با تنظیمات آموزش یکسان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685800" y="280980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35" name="۲"/>
          <p:cNvSpPr/>
          <p:nvPr/>
        </p:nvSpPr>
        <p:spPr>
          <a:xfrm>
            <a:off x="10839600" y="2943360"/>
            <a:ext cx="664200" cy="7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670" spc="-1" strike="noStrike">
                <a:solidFill>
                  <a:srgbClr val="1d6f8a"/>
                </a:solidFill>
                <a:latin typeface="Vazirmatn"/>
                <a:cs typeface="Vazirmatn"/>
              </a:rPr>
              <a:t>۲</a:t>
            </a:r>
            <a:endParaRPr b="0" lang="en-US" sz="3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اثر معماری و برنامه آموزش"/>
          <p:cNvSpPr/>
          <p:nvPr/>
        </p:nvSpPr>
        <p:spPr>
          <a:xfrm>
            <a:off x="7095960" y="2943360"/>
            <a:ext cx="3359880" cy="7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اثر معماری و برنامه آموزش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معماری و برنامه آموزش هم‌زمان تغییر کرده‌اند&#10;مقایسه همجوشی با خط مبنا تحت آموزش یکسان"/>
          <p:cNvSpPr/>
          <p:nvPr/>
        </p:nvSpPr>
        <p:spPr>
          <a:xfrm>
            <a:off x="685800" y="2943360"/>
            <a:ext cx="5960160" cy="7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معماری و برنامه آموزش هم‌زمان تغییر کرده‌اند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مقایسه همجوشی با خط مبنا تحت آموزش یکسان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685800" y="380016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39" name="۳"/>
          <p:cNvSpPr/>
          <p:nvPr/>
        </p:nvSpPr>
        <p:spPr>
          <a:xfrm>
            <a:off x="10839600" y="3933720"/>
            <a:ext cx="664200" cy="7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67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endParaRPr b="0" lang="en-US" sz="3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کیفیت و تناسب داده"/>
          <p:cNvSpPr/>
          <p:nvPr/>
        </p:nvSpPr>
        <p:spPr>
          <a:xfrm>
            <a:off x="7095960" y="3933720"/>
            <a:ext cx="3359880" cy="7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کیفیت و تناسب داده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ممیزی انسانی متن معلم و اصلاح‌های مدل زبانی&#10;آزمایش نسبت داده و گفتار نزدیک به تماس"/>
          <p:cNvSpPr/>
          <p:nvPr/>
        </p:nvSpPr>
        <p:spPr>
          <a:xfrm>
            <a:off x="685800" y="3933720"/>
            <a:ext cx="5960160" cy="7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ممیزی انسانی متن معلم و اصلاح‌های مدل زبانی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آزمایش نسبت داده و گفتار نزدیک به تماس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پوشش محدود شبیه‌ساز و خصوصی‌بودن آزمون تماس واقعی نیز دامنه شواهد را محدود می‌کنند"/>
          <p:cNvSpPr/>
          <p:nvPr/>
        </p:nvSpPr>
        <p:spPr>
          <a:xfrm>
            <a:off x="685800" y="6048360"/>
            <a:ext cx="10818000" cy="26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پوشش محدود شبیه‌ساز و خصوصی‌بودن آزمون تماس واقعی نیز دامنه شواهد را محدود می‌کنند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685800" y="479088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sp>
        <p:nvSpPr>
          <p:cNvPr id="244" name="۴"/>
          <p:cNvSpPr/>
          <p:nvPr/>
        </p:nvSpPr>
        <p:spPr>
          <a:xfrm>
            <a:off x="10839600" y="4924440"/>
            <a:ext cx="664200" cy="7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670" spc="-1" strike="noStrike">
                <a:solidFill>
                  <a:srgbClr val="1d6f8a"/>
                </a:solidFill>
                <a:latin typeface="Vazirmatn"/>
                <a:cs typeface="Vazirmatn"/>
              </a:rPr>
              <a:t>۴</a:t>
            </a:r>
            <a:endParaRPr b="0" lang="en-US" sz="3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ترکیب روش‌های پیشنهادی"/>
          <p:cNvSpPr/>
          <p:nvPr/>
        </p:nvSpPr>
        <p:spPr>
          <a:xfrm>
            <a:off x="7095960" y="4924440"/>
            <a:ext cx="3359880" cy="7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70" spc="-1" strike="noStrike">
                <a:solidFill>
                  <a:srgbClr val="153d42"/>
                </a:solidFill>
                <a:latin typeface="Vazirmatn"/>
                <a:cs typeface="Vazirmatn"/>
              </a:rPr>
              <a:t>ترکیب روش‌های پیشنهادی</a:t>
            </a:r>
            <a:endParaRPr b="0" lang="en-US" sz="2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همجوشی و ایران‌صدا جداگانه ارزیابی شده‌اند&#10;آزمون ترکیب آن‌ها و سنجش سود احتمالی"/>
          <p:cNvSpPr/>
          <p:nvPr/>
        </p:nvSpPr>
        <p:spPr>
          <a:xfrm>
            <a:off x="685800" y="4924440"/>
            <a:ext cx="5960160" cy="7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همجوشی و ایران‌صدا جداگانه ارزیابی شده‌اند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آزمون ترکیب آن‌ها و سنجش سود احتمالی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پایان ارائه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b8d8db"/>
                </a:solidFill>
                <a:latin typeface="Vazirmatn"/>
                <a:cs typeface="Vazirmatn"/>
              </a:rPr>
              <a:t>پایان ارائه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جمع‌بندی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f7f6f2"/>
                </a:solidFill>
                <a:latin typeface="Vazirmatn"/>
                <a:cs typeface="Vazirmatn"/>
              </a:rPr>
              <a:t>جمع‌بندی</a:t>
            </a:r>
            <a:endParaRPr b="0" lang="en-US" sz="3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4362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Vazirmatn"/>
              <a:ea typeface="Vazirmatn"/>
            </a:endParaRPr>
          </a:p>
        </p:txBody>
      </p:sp>
      <p:sp>
        <p:nvSpPr>
          <p:cNvPr id="250" name="۲۲ از ۲۲"/>
          <p:cNvSpPr/>
          <p:nvPr/>
        </p:nvSpPr>
        <p:spPr>
          <a:xfrm>
            <a:off x="685800" y="6486480"/>
            <a:ext cx="950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0" lang="fa-IR" sz="1200" spc="-1" strike="noStrike">
                <a:solidFill>
                  <a:srgbClr val="b8d8db"/>
                </a:solidFill>
                <a:latin typeface="Vazirmatn"/>
                <a:cs typeface="Vazirmatn"/>
              </a:rPr>
              <a:t>۲۳ از ۲۳</a:t>
            </a:r>
          </a:p>
        </p:txBody>
      </p:sp>
      <p:sp>
        <p:nvSpPr>
          <p:cNvPr id="251" name="بیشترین بهبود با آموزش متناسب با کانال"/>
          <p:cNvSpPr/>
          <p:nvPr/>
        </p:nvSpPr>
        <p:spPr>
          <a:xfrm>
            <a:off x="685800" y="1590840"/>
            <a:ext cx="1081800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620" spc="-1" strike="noStrike">
                <a:solidFill>
                  <a:srgbClr val="f7f6f2"/>
                </a:solidFill>
                <a:latin typeface="Vazirmatn"/>
                <a:cs typeface="Vazirmatn"/>
              </a:rPr>
              <a:t>بیشترین بهبود با آموزش متناسب با کانال</a:t>
            </a:r>
            <a:endParaRPr b="0" lang="en-US" sz="26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۳۵٫۶۳٪"/>
          <p:cNvSpPr/>
          <p:nvPr/>
        </p:nvSpPr>
        <p:spPr>
          <a:xfrm>
            <a:off x="7896240" y="2467080"/>
            <a:ext cx="3607560" cy="11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5550" spc="-1" strike="noStrike">
                <a:solidFill>
                  <a:srgbClr val="b8d8db"/>
                </a:solidFill>
                <a:latin typeface="Vazirmatn"/>
                <a:cs typeface="Vazirmatn"/>
              </a:rPr>
              <a:t>۳۵٫۶۳٪</a:t>
            </a:r>
            <a:endParaRPr b="0" lang="en-US" sz="5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به"/>
          <p:cNvSpPr/>
          <p:nvPr/>
        </p:nvSpPr>
        <p:spPr>
          <a:xfrm>
            <a:off x="7000920" y="2647800"/>
            <a:ext cx="569160" cy="85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rtl="1">
              <a:lnSpc>
                <a:spcPct val="100000"/>
              </a:lnSpc>
            </a:pPr>
            <a:r>
              <a:rPr b="0" lang="fa-IR" sz="2400" spc="-1" strike="noStrike">
                <a:solidFill>
                  <a:srgbClr val="f7f6f2"/>
                </a:solidFill>
                <a:latin typeface="Vazirmatn"/>
                <a:cs typeface="Vazirmatn"/>
              </a:rPr>
              <a:t>به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۲۵٫۸۰٪"/>
          <p:cNvSpPr/>
          <p:nvPr/>
        </p:nvSpPr>
        <p:spPr>
          <a:xfrm>
            <a:off x="3067200" y="2467080"/>
            <a:ext cx="3607560" cy="11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5550" spc="-1" strike="noStrike">
                <a:solidFill>
                  <a:srgbClr val="f7f6f2"/>
                </a:solidFill>
                <a:latin typeface="Vazirmatn"/>
                <a:cs typeface="Vazirmatn"/>
              </a:rPr>
              <a:t>۲۵٫۸۰٪</a:t>
            </a:r>
            <a:endParaRPr b="0" lang="en-US" sz="5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نرخ خطای واژه در تماس‌های واقعی مستقل"/>
          <p:cNvSpPr/>
          <p:nvPr/>
        </p:nvSpPr>
        <p:spPr>
          <a:xfrm>
            <a:off x="3067200" y="3724200"/>
            <a:ext cx="843660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020" spc="-1" strike="noStrike">
                <a:solidFill>
                  <a:srgbClr val="b8d8db"/>
                </a:solidFill>
                <a:latin typeface="Vazirmatn"/>
                <a:cs typeface="Vazirmatn"/>
              </a:rPr>
              <a:t>نرخ خطای واژه در تماس‌های واقعی مستقل</a:t>
            </a:r>
            <a:endParaRPr b="0" lang="en-US" sz="20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3066840" y="4514760"/>
            <a:ext cx="8439120" cy="360"/>
          </a:xfrm>
          <a:prstGeom prst="line">
            <a:avLst/>
          </a:prstGeom>
          <a:ln w="9525">
            <a:solidFill>
              <a:srgbClr val="4362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Vazirmatn"/>
              <a:ea typeface="Vazirmatn"/>
            </a:endParaRPr>
          </a:p>
        </p:txBody>
      </p:sp>
      <p:sp>
        <p:nvSpPr>
          <p:cNvPr id="257" name="همجوشی"/>
          <p:cNvSpPr/>
          <p:nvPr/>
        </p:nvSpPr>
        <p:spPr>
          <a:xfrm>
            <a:off x="8153280" y="4676760"/>
            <a:ext cx="335016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00" spc="-1" strike="noStrike">
                <a:solidFill>
                  <a:srgbClr val="f7f6f2"/>
                </a:solidFill>
                <a:latin typeface="Vazirmatn"/>
                <a:cs typeface="Vazirmatn"/>
              </a:rPr>
              <a:t>همجوشی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۲۵٫۳۷٪ خطای تماس واقعی&#10;بهبود عددی کوچک"/>
          <p:cNvSpPr/>
          <p:nvPr/>
        </p:nvSpPr>
        <p:spPr>
          <a:xfrm>
            <a:off x="8153280" y="5238720"/>
            <a:ext cx="3350160" cy="77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b8d8db"/>
                </a:solidFill>
                <a:latin typeface="Vazirmatn"/>
                <a:cs typeface="Vazirmatn"/>
              </a:rPr>
              <a:t>۲۵٫۳۷٪</a:t>
            </a:r>
            <a:r>
              <a:rPr b="0" lang="en-US" sz="1800" spc="-1" strike="noStrike">
                <a:solidFill>
                  <a:srgbClr val="b8d8db"/>
                </a:solidFill>
                <a:latin typeface="Vazirmatn"/>
                <a:ea typeface="Vazirmatn"/>
              </a:rPr>
              <a:t> خطای تماس واقعی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b8d8db"/>
                </a:solidFill>
                <a:latin typeface="Vazirmatn"/>
                <a:cs typeface="Vazirmatn"/>
              </a:rPr>
              <a:t>بهبود عددی کوچک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داده کتاب صوتی"/>
          <p:cNvSpPr/>
          <p:nvPr/>
        </p:nvSpPr>
        <p:spPr>
          <a:xfrm>
            <a:off x="3581280" y="4676760"/>
            <a:ext cx="390276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00" spc="-1" strike="noStrike">
                <a:solidFill>
                  <a:srgbClr val="f7f6f2"/>
                </a:solidFill>
                <a:latin typeface="Vazirmatn"/>
                <a:cs typeface="Vazirmatn"/>
              </a:rPr>
              <a:t>داده کتاب صوتی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۱۷٫۲۲٪ خطای تجمیعی&#10;سود وابسته به دامنه"/>
          <p:cNvSpPr/>
          <p:nvPr/>
        </p:nvSpPr>
        <p:spPr>
          <a:xfrm>
            <a:off x="3581280" y="5238720"/>
            <a:ext cx="3902760" cy="77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b8d8db"/>
                </a:solidFill>
                <a:latin typeface="Vazirmatn"/>
                <a:cs typeface="Vazirmatn"/>
              </a:rPr>
              <a:t>۱۷٫۲۲٪</a:t>
            </a:r>
            <a:r>
              <a:rPr b="0" lang="en-US" sz="1800" spc="-1" strike="noStrike">
                <a:solidFill>
                  <a:srgbClr val="b8d8db"/>
                </a:solidFill>
                <a:latin typeface="Vazirmatn"/>
                <a:ea typeface="Vazirmatn"/>
              </a:rPr>
              <a:t> خطای تجمیعی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b8d8db"/>
                </a:solidFill>
                <a:latin typeface="Vazirmatn"/>
                <a:cs typeface="Vazirmatn"/>
              </a:rPr>
              <a:t>سود وابسته به دامنه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سپاسگزارم&#10;پرسش‌ها"/>
          <p:cNvSpPr/>
          <p:nvPr/>
        </p:nvSpPr>
        <p:spPr>
          <a:xfrm>
            <a:off x="685800" y="5067360"/>
            <a:ext cx="2035800" cy="90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f7f6f2"/>
                </a:solidFill>
                <a:latin typeface="Vazirmatn"/>
                <a:cs typeface="Vazirmatn"/>
              </a:rPr>
              <a:t>سپاسگزارم</a:t>
            </a:r>
            <a:endParaRPr b="0" lang="en-US" sz="2250" spc="-1" strike="noStrike">
              <a:solidFill>
                <a:srgbClr val="ffffff"/>
              </a:solidFill>
              <a:latin typeface="Arial"/>
            </a:endParaRPr>
          </a:p>
          <a:p>
            <a:pPr rtl="1">
              <a:lnSpc>
                <a:spcPct val="100000"/>
              </a:lnSpc>
            </a:pPr>
            <a:r>
              <a:rPr b="1" lang="fa-IR" sz="2250" spc="-1" strike="noStrike">
                <a:solidFill>
                  <a:srgbClr val="f7f6f2"/>
                </a:solidFill>
                <a:latin typeface="Vazirmatn"/>
                <a:cs typeface="Vazirmatn"/>
              </a:rPr>
              <a:t>پرسش‌ها</a:t>
            </a:r>
            <a:endParaRPr b="0" lang="en-US" sz="2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"/>
          <p:cNvSpPr/>
          <p:nvPr/>
        </p:nvSpPr>
        <p:spPr>
          <a:xfrm>
            <a:off x="4191120" y="285840"/>
            <a:ext cx="73148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مرور پیشینه پژوهش، </a:t>
            </a: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۱</a:t>
            </a:r>
            <a:r>
              <a:rPr b="1" lang="en-US" sz="1350" spc="-1" strike="noStrike">
                <a:solidFill>
                  <a:srgbClr val="1d6f8a"/>
                </a:solidFill>
                <a:latin typeface="Vazirmatn"/>
                <a:ea typeface="Vazirmatn"/>
                <a:cs typeface="Vazirmatn"/>
              </a:rPr>
              <a:t> از </a:t>
            </a: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endParaRPr b="0" lang="en-US" sz="1350" spc="-1" strike="noStrike">
              <a:solidFill>
                <a:srgbClr val="000000"/>
              </a:solidFill>
              <a:latin typeface="Arial"/>
              <a:cs typeface="Vazirmatn"/>
            </a:endParaRPr>
          </a:p>
        </p:txBody>
      </p:sp>
      <p:sp>
        <p:nvSpPr>
          <p:cNvPr id="263" name=""/>
          <p:cNvSpPr/>
          <p:nvPr/>
        </p:nvSpPr>
        <p:spPr>
          <a:xfrm>
            <a:off x="685800" y="714240"/>
            <a:ext cx="1082016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مراجع</a:t>
            </a:r>
            <a:endParaRPr b="0" lang="en-US" sz="3150" spc="-1" strike="noStrike">
              <a:solidFill>
                <a:srgbClr val="000000"/>
              </a:solidFill>
              <a:latin typeface="Arial"/>
              <a:cs typeface="Vazirmatn"/>
            </a:endParaRPr>
          </a:p>
        </p:txBody>
      </p:sp>
      <p:sp>
        <p:nvSpPr>
          <p:cNvPr id="264" name=""/>
          <p:cNvSpPr/>
          <p:nvPr/>
        </p:nvSpPr>
        <p:spPr>
          <a:xfrm>
            <a:off x="685800" y="16192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[1] P. Peso Parada et al., “pMCT: Patched Multi-Condition Training for Robust Speech Recognition,” Interspeech, pp. 3779–3783, 2022.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"/>
          <p:cNvSpPr/>
          <p:nvPr/>
        </p:nvSpPr>
        <p:spPr>
          <a:xfrm>
            <a:off x="685800" y="258120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10.21437/Interspeech.2022-117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"/>
          <p:cNvSpPr/>
          <p:nvPr/>
        </p:nvSpPr>
        <p:spPr>
          <a:xfrm>
            <a:off x="685800" y="28288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[2] D. Liu et al., “Towards Pretraining Robust ASR Foundation Model with Acoustic-Aware Data Augmentation,” arXiv:2505.20606,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685800" y="379080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10.48550/arXiv.2505.20606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685800" y="40384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[3] T. Niu et al., “Parameter-Efficient Adaptation with Multi-Channel Adversarial Training for Far-Field Speech Recognition,” EURASIP JASMP,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"/>
          <p:cNvSpPr/>
          <p:nvPr/>
        </p:nvSpPr>
        <p:spPr>
          <a:xfrm>
            <a:off x="685800" y="500076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10.1186/s13636-025-00406-5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685800" y="524844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[4] B. Namdarzadeh et al., “Fine-tuning Whisper with Spontaneous Persian Speech (SPS),” SIGUL, pp. 263–269, 2026.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"/>
          <p:cNvSpPr/>
          <p:nvPr/>
        </p:nvSpPr>
        <p:spPr>
          <a:xfrm>
            <a:off x="685800" y="621036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10.63317/2ca2yoj8fzgd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6286680" y="16192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[5] A. Amirivojdan et al., “Neyshekar: An Open Persian Read-Speech Corpus for Automatic Speech Recognition,” arXiv:2609.14542, 2026.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6286680" y="258120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10.48550/arXiv.2609.14542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"/>
          <p:cNvSpPr/>
          <p:nvPr/>
        </p:nvSpPr>
        <p:spPr>
          <a:xfrm>
            <a:off x="6286680" y="28288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[6] K. S. Bhogale et al., “Empowering Low-Resource Language ASR via Large-Scale Pseudo Labeling,” Interspeech, pp. 2519–2523, 2024.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6286680" y="379080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10.21437/Interspeech.2024-2396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6286680" y="40384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[7] S. Bandarupalli et al., “Efficient ASR for Low-Resource Languages: Leveraging Cross-Lingual Unlabeled Data,” Findings of IJCNLP-AACL, pp. 1611–1617,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6286680" y="500076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10.18653/v1/2025.findings-ijcnlp.99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"/>
          <p:cNvSpPr/>
          <p:nvPr/>
        </p:nvSpPr>
        <p:spPr>
          <a:xfrm>
            <a:off x="6286680" y="524844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[8] J. Baik et al., “DASH: Dual-View Self-Distillation with Multi-Layer Hidden Representations for Robust Speech Recognition,” Interspeech, pp. 3116–3121, 2026.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6286680" y="621036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ISCA Archive, Interspeech 2026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>
            <a:off x="4191120" y="285840"/>
            <a:ext cx="73148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مرور پیشینه پژوهش، </a:t>
            </a: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۲</a:t>
            </a:r>
            <a:r>
              <a:rPr b="1" lang="en-US" sz="1350" spc="-1" strike="noStrike">
                <a:solidFill>
                  <a:srgbClr val="1d6f8a"/>
                </a:solidFill>
                <a:latin typeface="Vazirmatn"/>
                <a:ea typeface="Vazirmatn"/>
                <a:cs typeface="Vazirmatn"/>
              </a:rPr>
              <a:t> از </a:t>
            </a: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endParaRPr b="0" lang="en-US" sz="1350" spc="-1" strike="noStrike">
              <a:solidFill>
                <a:srgbClr val="000000"/>
              </a:solidFill>
              <a:latin typeface="Arial"/>
              <a:cs typeface="Vazirmatn"/>
            </a:endParaRPr>
          </a:p>
        </p:txBody>
      </p:sp>
      <p:sp>
        <p:nvSpPr>
          <p:cNvPr id="281" name=""/>
          <p:cNvSpPr/>
          <p:nvPr/>
        </p:nvSpPr>
        <p:spPr>
          <a:xfrm>
            <a:off x="685800" y="714240"/>
            <a:ext cx="1082016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مراجع</a:t>
            </a:r>
            <a:endParaRPr b="0" lang="en-US" sz="3150" spc="-1" strike="noStrike">
              <a:solidFill>
                <a:srgbClr val="000000"/>
              </a:solidFill>
              <a:latin typeface="Arial"/>
              <a:cs typeface="Vazirmatn"/>
            </a:endParaRPr>
          </a:p>
        </p:txBody>
      </p:sp>
      <p:sp>
        <p:nvSpPr>
          <p:cNvPr id="282" name=""/>
          <p:cNvSpPr/>
          <p:nvPr/>
        </p:nvSpPr>
        <p:spPr>
          <a:xfrm>
            <a:off x="685800" y="16192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[9] Y. Hu et al., “Listen Again and Choose the Right Answer: A New Paradigm for Automatic Speech Recognition with Large Language Models,” Findings of ACL, pp. 666–679, 2024.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685800" y="258120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10.18653/v1/2024.findings-acl.37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"/>
          <p:cNvSpPr/>
          <p:nvPr/>
        </p:nvSpPr>
        <p:spPr>
          <a:xfrm>
            <a:off x="685800" y="28288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[10] T. Udagawa et al., “Robust ASR Error Correction with Conservative Data Filtering,” EMNLP Industry, pp. 256–266, 2024.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>
            <a:off x="685800" y="379080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10.18653/v1/2024.emnlp-industry.20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685800" y="40384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[11] M. A. Shah et al., “Speech Robust Bench: A Robustness Benchmark for Speech Recognition,” ICLR, pp. 38625–38651,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685800" y="500076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ICLR 2025 proceedings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>
            <a:off x="685800" y="524844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[12] K. Saijo et al., “Interspeech 2025 URGENT Speech Enhancement Challenge,” Interspeech, pp. 858–862,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685800" y="621036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10.21437/Interspeech.2025-1363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"/>
          <p:cNvSpPr/>
          <p:nvPr/>
        </p:nvSpPr>
        <p:spPr>
          <a:xfrm>
            <a:off x="6286680" y="16192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[13] N. Sedghiyeh et al., “PSRB: A Comprehensive Benchmark for Evaluating Persian ASR Systems,” arXiv:2505.21230,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6286680" y="258120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10.48550/arXiv.2505.21230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"/>
          <p:cNvSpPr/>
          <p:nvPr/>
        </p:nvSpPr>
        <p:spPr>
          <a:xfrm>
            <a:off x="6286680" y="28288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[14] R. Nasretdinov et al., “Robust Speech Recognition with Schrödinger Bridge-Based Speech Enhancement,” ICASSP, pp. 1–5,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6286680" y="379080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10.1109/ICASSP49660.2025.10890638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6286680" y="40384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[15] Y. Yang et al., “Towards Decoupling Frontend Enhancement and Backend Recognition in Monaural Robust ASR,” Comput. Speech Lang., vol. 95, Art. 101821, 2026.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6286680" y="500076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10.1016/j.csl.2025.101821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6286680" y="524844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[16] Y. Dissen et al., “A Front-End Adaptation Network for Improving Speech Recognition Performance in Packet Loss and Noisy Environments,” IEEE TASLPRO, vol. 33, pp. 2175–2188,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"/>
          <p:cNvSpPr/>
          <p:nvPr/>
        </p:nvSpPr>
        <p:spPr>
          <a:xfrm>
            <a:off x="6286680" y="621036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10.1109/TASLPRO.2025.3574840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"/>
          <p:cNvSpPr/>
          <p:nvPr/>
        </p:nvSpPr>
        <p:spPr>
          <a:xfrm>
            <a:off x="4191120" y="285840"/>
            <a:ext cx="73148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مرور پیشینه پژوهش، </a:t>
            </a: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r>
              <a:rPr b="1" lang="en-US" sz="1350" spc="-1" strike="noStrike">
                <a:solidFill>
                  <a:srgbClr val="1d6f8a"/>
                </a:solidFill>
                <a:latin typeface="Vazirmatn"/>
                <a:ea typeface="Vazirmatn"/>
                <a:cs typeface="Vazirmatn"/>
              </a:rPr>
              <a:t> از </a:t>
            </a: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۳</a:t>
            </a:r>
            <a:endParaRPr b="0" lang="en-US" sz="1350" spc="-1" strike="noStrike">
              <a:solidFill>
                <a:srgbClr val="000000"/>
              </a:solidFill>
              <a:latin typeface="Arial"/>
              <a:cs typeface="Vazirmatn"/>
            </a:endParaRPr>
          </a:p>
        </p:txBody>
      </p:sp>
      <p:sp>
        <p:nvSpPr>
          <p:cNvPr id="299" name=""/>
          <p:cNvSpPr/>
          <p:nvPr/>
        </p:nvSpPr>
        <p:spPr>
          <a:xfrm>
            <a:off x="685800" y="714240"/>
            <a:ext cx="1082016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مراجع</a:t>
            </a:r>
            <a:endParaRPr b="0" lang="en-US" sz="3150" spc="-1" strike="noStrike">
              <a:solidFill>
                <a:srgbClr val="000000"/>
              </a:solidFill>
              <a:latin typeface="Arial"/>
              <a:cs typeface="Vazirmatn"/>
            </a:endParaRPr>
          </a:p>
        </p:txBody>
      </p:sp>
      <p:sp>
        <p:nvSpPr>
          <p:cNvPr id="300" name=""/>
          <p:cNvSpPr/>
          <p:nvPr/>
        </p:nvSpPr>
        <p:spPr>
          <a:xfrm>
            <a:off x="685800" y="16192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[17] H. Sato et al., “Generic Speech Enhancement with Self-Supervised Representation Space Loss,” Front. Signal Process., vol. 5, Art. 1587969,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685800" y="258120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10.3389/frsip.2025.1587969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685800" y="28288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[18] D. Yang et al., “FAT-HuBERT: Front-End Adaptive Training of Hidden-Unit BERT for Distortion-Invariant Robust Speech Recognition,” ASRU, pp. 1–8, 2023.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685800" y="379080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10.1109/ASRU57964.2023.10389685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685800" y="40384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[19] Y. Hu et al., “Wav2code: Restore Clean Speech Representations via Codebook Lookup for Noise-Robust ASR,” IEEE/ACM TASLP, vol. 32, pp. 1145–1156, 2024.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685800" y="500076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10.1109/TASLP.2023.3332545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685800" y="524844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[20] K. Wang et al., “Bridging the Gap: Integrating Pre-Trained Speech Enhancement and Recognition Models for Robust Speech Recognition,” EUSIPCO, pp. 426–430, 2024.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685800" y="621036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10.23919/EUSIPCO63174.2024.10715447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6286680" y="16192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[21] Z. Cui et al., “Reducing the Gap Between Pretrained Speech Enhancement and Recognition Models Using a Real Speech-Trained Bridging Module,” ICASSP, pp. 1–5, 2025.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>
            <a:off x="6286680" y="258120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10.1109/ICASSP49660.2025.10889737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6286680" y="28288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[22] H. Li et al., “Training-Free Intelligibility-Guided Observation Addition for Noisy ASR,” Interspeech, pp. 3138–3143, 2026.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6286680" y="379080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10.21437/Interspeech.2026-1096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6286680" y="4038480"/>
            <a:ext cx="521928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390" spc="-1" strike="noStrike">
                <a:solidFill>
                  <a:srgbClr val="1f2933"/>
                </a:solidFill>
                <a:latin typeface="Vazirmatn"/>
                <a:ea typeface="Vazirmatn"/>
              </a:rPr>
              <a:t>[23] M. Qu et al., “Mitigating Over-Suppression in Speech Enhancement via Inference-Time Rethink-and-Refine Correction Module,” IEEE MLSP, 2026.</a:t>
            </a:r>
            <a:endParaRPr b="0" lang="en-US" sz="1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"/>
          <p:cNvSpPr/>
          <p:nvPr/>
        </p:nvSpPr>
        <p:spPr>
          <a:xfrm>
            <a:off x="6286680" y="5000760"/>
            <a:ext cx="521928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170" spc="-1" strike="noStrike">
                <a:solidFill>
                  <a:srgbClr val="1d6f8a"/>
                </a:solidFill>
                <a:latin typeface="Vazirmatn"/>
                <a:ea typeface="Vazirmatn"/>
              </a:rPr>
              <a:t>doi: 10.48550/arXiv.2608.07781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پیوست پژوهش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b8d8db"/>
                </a:solidFill>
                <a:latin typeface="Vazirmatn"/>
                <a:cs typeface="Vazirmatn"/>
              </a:rPr>
              <a:t>پیوست پژوهش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3150" spc="-1" strike="noStrike">
              <a:solidFill>
                <a:srgbClr val="ffffff"/>
              </a:solidFill>
              <a:latin typeface="Vazirmatn"/>
              <a:ea typeface="Vazirmatn"/>
            </a:endParaRPr>
          </a:p>
        </p:txBody>
      </p:sp>
      <p:sp>
        <p:nvSpPr>
          <p:cNvPr id="31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4362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Vazirmatn"/>
              <a:ea typeface="Vazirmatn"/>
            </a:endParaRPr>
          </a:p>
        </p:txBody>
      </p:sp>
      <p:sp>
        <p:nvSpPr>
          <p:cNvPr id="317" name="مطالب تکمیلی"/>
          <p:cNvSpPr/>
          <p:nvPr/>
        </p:nvSpPr>
        <p:spPr>
          <a:xfrm>
            <a:off x="685800" y="2171880"/>
            <a:ext cx="10818000" cy="11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5250" spc="-1" strike="noStrike">
                <a:solidFill>
                  <a:srgbClr val="f7f6f2"/>
                </a:solidFill>
                <a:latin typeface="Vazirmatn"/>
                <a:cs typeface="Vazirmatn"/>
              </a:rPr>
              <a:t>مطالب تکمیلی</a:t>
            </a:r>
            <a:endParaRPr b="0" lang="en-US" sz="5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جزئیات داده‌ها و نتایج پژوهش"/>
          <p:cNvSpPr/>
          <p:nvPr/>
        </p:nvSpPr>
        <p:spPr>
          <a:xfrm>
            <a:off x="685800" y="3495600"/>
            <a:ext cx="10818000" cy="6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2470" spc="-1" strike="noStrike">
                <a:solidFill>
                  <a:srgbClr val="b8d8db"/>
                </a:solidFill>
                <a:latin typeface="Vazirmatn"/>
                <a:cs typeface="Vazirmatn"/>
              </a:rPr>
              <a:t>جزئیات داده‌ها و نتایج پژوهش</a:t>
            </a:r>
            <a:endParaRPr b="0" lang="en-US" sz="247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مطالب تکمیل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مقایسه مدل‌ها روی زیرمجموعه مشترک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مقایسه مدل‌ها روی زیرمجموعه مشترک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22" name=""/>
          <p:cNvGraphicFramePr/>
          <p:nvPr/>
        </p:nvGraphicFramePr>
        <p:xfrm>
          <a:off x="685800" y="1657440"/>
          <a:ext cx="10819080" cy="4658040"/>
        </p:xfrm>
        <a:graphic>
          <a:graphicData uri="http://schemas.openxmlformats.org/drawingml/2006/table">
            <a:tbl>
              <a:tblPr/>
              <a:tblGrid>
                <a:gridCol w="2000160"/>
                <a:gridCol w="1761840"/>
                <a:gridCol w="1761840"/>
                <a:gridCol w="5295600"/>
              </a:tblGrid>
              <a:tr h="666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تماس واقعی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تجمیعی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تجمیعی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مدل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۲۲٫۹۴٪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۵٫۱۴٪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۱۶٫۴۴٪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Chirp 3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۴۸٫۶۲٪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۶٫۹۴٪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۱۸٫۵۵٪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GPT-4o Transcribe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۲۶٫۶۱٪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۱۰٫۷۲٪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۲۰٫۷۲٪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کوچک: چندشرایطی و ایران‌صدا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۲۵٫۳۱٪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۱۰٫۹۷٪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۲۱٫۷۲٪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دوجریانه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۲۴٫۷۷٪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۱۱٫۲۴٪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۲۳٫۱۳٪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ویسپر متوسط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۴۵٫۸۷٪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۱۰٫۷۵٪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۲۶٫۹۲٪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Voxtral Small 24B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۶۳٫۳۰٪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۱۵٫۶۸٪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۳۶٫۶۶٪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Qwen3-ASR 1.7B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۶۷٫۸۹٪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۲۳٫۶۸٪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۴۰٫۸۸٪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Grok STT 1.0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۱۰۴٫۵۹٪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۸۰٫۸۶٪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۹۸٫۷۰٪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Nemotron 3.5 ASR 0.6B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23" name="۱۰۰ نمونه ثابت، ۲۰ نمونه از هر مجموعه. این مقایسه جایگزین ارزیابی کامل نیست"/>
          <p:cNvSpPr/>
          <p:nvPr/>
        </p:nvSpPr>
        <p:spPr>
          <a:xfrm>
            <a:off x="686160" y="6505560"/>
            <a:ext cx="108180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۱۰۰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نمونه ثابت،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۲۰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نمونه از هر مجموعه. این مقایسه جایگزین ارزیابی کامل نیست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مطالب تکمیل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نرخ خطای واژه به تفکیک مجموعه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نرخ خطای واژه به تفکیک مجموعه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27" name=""/>
          <p:cNvGraphicFramePr/>
          <p:nvPr/>
        </p:nvGraphicFramePr>
        <p:xfrm>
          <a:off x="685800" y="1752480"/>
          <a:ext cx="10819440" cy="4344120"/>
        </p:xfrm>
        <a:graphic>
          <a:graphicData uri="http://schemas.openxmlformats.org/drawingml/2006/table">
            <a:tbl>
              <a:tblPr/>
              <a:tblGrid>
                <a:gridCol w="1476360"/>
                <a:gridCol w="1523880"/>
                <a:gridCol w="1333440"/>
                <a:gridCol w="1476360"/>
                <a:gridCol w="1523880"/>
                <a:gridCol w="3485880"/>
              </a:tblGrid>
              <a:tr h="666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پیکره گفتار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فارسی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پرشین‌اسپیچ</a:t>
                      </a: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¹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فلورز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کامن‌وویس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۲۵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AGFarsdat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سامانه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۳۰٫۱۷٪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۳۴٫۵۳٪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۲۱٫۰۵٪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۱۱٫۵۲٪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۳۵٫۶۳٪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معمولی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۳۰٫۴۷٪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۳۳٫۵۷٪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۱۹٫۲۶٪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۷٫۸۶٪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۳۲٫۶۷٪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داده‌افزایی نویزی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۳۰٫۵۰٪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۳۱٫۶۵٪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۲۰٫۲۳٪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۳۰٫۰۱٪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pMCT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۳۰٫۹۰٪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۱۹٫۸۲٪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۷٫۸۴٪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۲۵٫۸۰٪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چندشرایطی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۳۳٫۸۲٪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۳۱٫۸۱٪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۱۹٫۶۷٪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۷٫۵۳٪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۲۵٫۳۷٪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دوجریانه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۳۲٫۳۲٪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۳۵٫۰۹٪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۱۹٫۷۳٪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۷٫۶۳٪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۲۵٫۸۴٪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پل تطبیقی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۳۱٫۱۷٪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۳۱٫۶۵٪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۱۷٫۱۴٪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۳٫۸۴٪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۲۱٫۹۹٪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ویسپر متوسط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381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۲۵٫۸۷٪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۲۶٫۸۶٪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۱۳٫۷۸٪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۸٫۱۹٪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۲۶٫۶۶٪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چندشرایطی و ایران‌صدا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28" name="همه اعداد WER و درصد هستند. ¹ فقط ۲۴ نمونه. تعداد واجدشرایط پیکره گفتار فارسی تغییر می‌کند"/>
          <p:cNvSpPr/>
          <p:nvPr/>
        </p:nvSpPr>
        <p:spPr>
          <a:xfrm>
            <a:off x="685800" y="6076800"/>
            <a:ext cx="108180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همه اعداد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WER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و درصد هستند.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¹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فقط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۲۴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نمونه. تعداد واجدشرایط پیکره گفتار فارسی تغییر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مطالب تکمیل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آزمایش کامل مؤلفه‌ها در ویسپر بسیار کوچک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آزمایش کامل مؤلفه‌ها در ویسپر بسیار کوچک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32" name=""/>
          <p:cNvGraphicFramePr/>
          <p:nvPr/>
        </p:nvGraphicFramePr>
        <p:xfrm>
          <a:off x="685800" y="1657440"/>
          <a:ext cx="10819440" cy="4658040"/>
        </p:xfrm>
        <a:graphic>
          <a:graphicData uri="http://schemas.openxmlformats.org/drawingml/2006/table">
            <a:tbl>
              <a:tblPr/>
              <a:tblGrid>
                <a:gridCol w="1666800"/>
                <a:gridCol w="1666800"/>
                <a:gridCol w="1666800"/>
                <a:gridCol w="1666800"/>
                <a:gridCol w="4152600"/>
              </a:tblGrid>
              <a:tr h="666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AGFarsdat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AGFarsdat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Common Voice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Common Voice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پیکربندی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۳۵٫۰۴٪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۷۶٫۸۵٪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۳۸٫۰۳٪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۷۴٫۹۲٪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خط مبنای چندشرایطی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۲۸٫۴۲٪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۶۵٫۸۸٪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۳۲٫۸۷٪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۶۲٫۳۵٪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فقط دروازه‌ای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۲۸٫۳۵٪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۶۵٫۴۸٪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۳۱٫۹۰٪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۶۰٫۲۶٪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توجه متقاطع باقیمانده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۳۰٫۳۹٪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۶۹٫۲۳٪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۳۳٫۲۱٪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۶۴٫۱۰٪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فقط نمای اصلی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¹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۳۰٫۷۳٪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۶۹٫۶۹٪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۳۳٫۰۵٪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۶۳٫۸۱٪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فقط نمای بهسازی‌شده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¹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۲۷٫۰۲٪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۶۳٫۵۰٪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۳۰٫۵۷٪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۵۷٫۸۲٪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همجوشی دوسویه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۳۴٫۸۳٪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۷۶٫۶۳٪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۳۷٫۸۱٪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۷۴٫۴۸٪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پل: فقط 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PQ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۳۵٫۵۳٪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۷۷٫۶۷٪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۳۸٫۷۹٪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۷۵٫۹۰٪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پل: فقط صوت بهسازی‌شده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۳۴٫۹۴٪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۷۶٫۸۱٪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۳۷٫۸۱٪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۷۴٫۴۰٪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پل: 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PQ + RI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33" name="¹ حذف مسیر در استنتاج. آموزش فقط با کامن‌وویس است. بودجه آموزش و ظرفیت گونه‌ها برابر نیست"/>
          <p:cNvSpPr/>
          <p:nvPr/>
        </p:nvSpPr>
        <p:spPr>
          <a:xfrm>
            <a:off x="685800" y="6172200"/>
            <a:ext cx="108180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¹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حذف مسیر در استنتاج. آموزش فقط با کامن‌وویس است. بودجه آموزش و ظرفیت گونه‌ها برابر نیست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مطالب تکمیلی"/>
          <p:cNvSpPr/>
          <p:nvPr/>
        </p:nvSpPr>
        <p:spPr>
          <a:xfrm>
            <a:off x="4191120" y="285840"/>
            <a:ext cx="7313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توزیع نمایه‌های تخریب مخابراتی"/>
          <p:cNvSpPr/>
          <p:nvPr/>
        </p:nvSpPr>
        <p:spPr>
          <a:xfrm>
            <a:off x="685800" y="714240"/>
            <a:ext cx="1081872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توزیع نمایه‌های تخریب مخابراتی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37" name=""/>
          <p:cNvGraphicFramePr/>
          <p:nvPr/>
        </p:nvGraphicFramePr>
        <p:xfrm>
          <a:off x="685800" y="1809720"/>
          <a:ext cx="10819440" cy="2837520"/>
        </p:xfrm>
        <a:graphic>
          <a:graphicData uri="http://schemas.openxmlformats.org/drawingml/2006/table">
            <a:tbl>
              <a:tblPr/>
              <a:tblGrid>
                <a:gridCol w="2647800"/>
                <a:gridCol w="2647800"/>
                <a:gridCol w="1904760"/>
                <a:gridCol w="3619440"/>
              </a:tblGrid>
              <a:tr h="5522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احتمال اختلال شبکه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احتمال افزودن نویز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سهم انتخاب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نمایه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571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telephone_clean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71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telephone_noisy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71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۸۰٪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voip_lossy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71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۳۰٪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۴۵٪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mobile_wideband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38" name="احتمال کلی افزودن نویز: ۳۷٫۵٪"/>
          <p:cNvSpPr/>
          <p:nvPr/>
        </p:nvSpPr>
        <p:spPr>
          <a:xfrm>
            <a:off x="6191280" y="4886280"/>
            <a:ext cx="531324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احتمال کلی افزودن نویز: </a:t>
            </a: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۳۷٫۵</a:t>
            </a: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٪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احتمال کلی اختلال شبکه: ۳۴٫۵٪"/>
          <p:cNvSpPr/>
          <p:nvPr/>
        </p:nvSpPr>
        <p:spPr>
          <a:xfrm>
            <a:off x="685800" y="4886280"/>
            <a:ext cx="531324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احتمال کلی اختلال شبکه: </a:t>
            </a: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۳۴٫۵</a:t>
            </a:r>
            <a:r>
              <a:rPr b="1" lang="fa-IR" sz="2100" spc="-1" strike="noStrike">
                <a:solidFill>
                  <a:srgbClr val="153d42"/>
                </a:solidFill>
                <a:latin typeface="Vazirmatn"/>
                <a:cs typeface="Vazirmatn"/>
              </a:rPr>
              <a:t>٪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ابتدا نمایه انتخاب می‌شود، سپس احتمال‌های همان نمایه روی نمونه اعمال می‌شوند"/>
          <p:cNvSpPr/>
          <p:nvPr/>
        </p:nvSpPr>
        <p:spPr>
          <a:xfrm>
            <a:off x="685800" y="5438880"/>
            <a:ext cx="10818720" cy="41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ابتدا نمایه انتخاب می‌شود، سپس احتمال‌های همان نمایه روی نمونه اعمال می‌شوند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وزن‌ها طراحی آموزشی‌اند. درصدها احتمال نمونه‌برداری‌اند و شمارش واقعی داده نیستند"/>
          <p:cNvSpPr/>
          <p:nvPr/>
        </p:nvSpPr>
        <p:spPr>
          <a:xfrm>
            <a:off x="685800" y="6010200"/>
            <a:ext cx="1081872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وزن‌ها طراحی آموزشی‌اند. درصدها احتمال نمونه‌برداری‌اند و شمارش واقعی داده نیستند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مطالب تکمیلی"/>
          <p:cNvSpPr/>
          <p:nvPr/>
        </p:nvSpPr>
        <p:spPr>
          <a:xfrm>
            <a:off x="4191120" y="285840"/>
            <a:ext cx="7313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توزیع کدک در هر نمایه و در کل داده"/>
          <p:cNvSpPr/>
          <p:nvPr/>
        </p:nvSpPr>
        <p:spPr>
          <a:xfrm>
            <a:off x="685800" y="714240"/>
            <a:ext cx="1081872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توزیع کدک در هر نمایه و در کل داده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45" name=""/>
          <p:cNvGraphicFramePr/>
          <p:nvPr/>
        </p:nvGraphicFramePr>
        <p:xfrm>
          <a:off x="685800" y="1657440"/>
          <a:ext cx="10819440" cy="4199400"/>
        </p:xfrm>
        <a:graphic>
          <a:graphicData uri="http://schemas.openxmlformats.org/drawingml/2006/table">
            <a:tbl>
              <a:tblPr/>
              <a:tblGrid>
                <a:gridCol w="1523880"/>
                <a:gridCol w="1523880"/>
                <a:gridCol w="1523880"/>
                <a:gridCol w="1523880"/>
                <a:gridCol w="1523880"/>
                <a:gridCol w="3200400"/>
              </a:tblGrid>
              <a:tr h="5904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سهم کل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همراه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پهن‌باند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8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VoIP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با افت بسته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تلفن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نویزی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تلفن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بدون نویز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58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کدک</a:t>
                      </a:r>
                      <a:endParaRPr b="0" lang="en-US" sz="158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۱۹٫۲۵٪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G.711 A-law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۹٫۵۰٪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G.711 μ-law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۱۱٫۰۰٪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GSM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۱۵٫۲۵٪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AMR-NB (12.2k)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۱۱٫۰۰٪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۵۵٪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AMR-WB (12.65k)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۲۳٫۵۰٪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۷۰٪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Opus WB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۷٫۵۰٪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Opus NB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۳٫۰۰٪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۱۵٪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۰٪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pass_through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46" name="سهم کل کدک = مجموعِ «سهم نمایه × احتمال کدک در همان نمایه»"/>
          <p:cNvSpPr/>
          <p:nvPr/>
        </p:nvSpPr>
        <p:spPr>
          <a:xfrm>
            <a:off x="685800" y="5638680"/>
            <a:ext cx="108187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سهم کل کدک = مجموعِ «سهم نمایه × احتمال کدک در همان نمایه»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جمع هر ستون ۱۰۰٪ است. انتخاب نمایه، توزیع کدک سراسری را بازنویسی می‌کند"/>
          <p:cNvSpPr/>
          <p:nvPr/>
        </p:nvSpPr>
        <p:spPr>
          <a:xfrm>
            <a:off x="685800" y="6058080"/>
            <a:ext cx="1081872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جمع هر ستون 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۱۰۰</a:t>
            </a: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٪ است. انتخاب نمایه، توزیع کدک سراسری را بازنویسی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مطالب تکمیلی"/>
          <p:cNvSpPr/>
          <p:nvPr/>
        </p:nvSpPr>
        <p:spPr>
          <a:xfrm>
            <a:off x="4191120" y="285840"/>
            <a:ext cx="7313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توزیع نویز، SNR و تغییر بهره"/>
          <p:cNvSpPr/>
          <p:nvPr/>
        </p:nvSpPr>
        <p:spPr>
          <a:xfrm>
            <a:off x="685800" y="714240"/>
            <a:ext cx="1081872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توزیع نویز، </a:t>
            </a:r>
            <a:r>
              <a:rPr b="1" lang="en-US" sz="3150" spc="-1" strike="noStrike">
                <a:solidFill>
                  <a:srgbClr val="153d42"/>
                </a:solidFill>
                <a:latin typeface="Vazirmatn"/>
                <a:ea typeface="Vazirmatn"/>
              </a:rPr>
              <a:t>SNR</a:t>
            </a:r>
            <a:r>
              <a:rPr b="1" lang="en-US" sz="3150" spc="-1" strike="noStrike">
                <a:solidFill>
                  <a:srgbClr val="153d42"/>
                </a:solidFill>
                <a:latin typeface="Vazirmatn"/>
                <a:ea typeface="Vazirmatn"/>
              </a:rPr>
              <a:t> و تغییر بهره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51" name=""/>
          <p:cNvGraphicFramePr/>
          <p:nvPr/>
        </p:nvGraphicFramePr>
        <p:xfrm>
          <a:off x="685800" y="1676520"/>
          <a:ext cx="10819440" cy="2295000"/>
        </p:xfrm>
        <a:graphic>
          <a:graphicData uri="http://schemas.openxmlformats.org/drawingml/2006/table">
            <a:tbl>
              <a:tblPr/>
              <a:tblGrid>
                <a:gridCol w="3333600"/>
                <a:gridCol w="3809880"/>
                <a:gridCol w="3676320"/>
              </a:tblGrid>
              <a:tr h="4950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سهم از کل نمونه‌ها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احتمال در نمونه نویزی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بازه 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SNR (dB)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۹٫۳۷۵٪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−</a:t>
                      </a: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5 to 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۹٫۳۷۵٪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0 to 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۹٫۳۷۵٪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5 to 10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093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۹٫۳۷۵٪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10 to 15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52" name="انتخاب بازه هم‌احتمال است. SNR داخل بازه، توزیع یکنواخت پیوسته دارد"/>
          <p:cNvSpPr/>
          <p:nvPr/>
        </p:nvSpPr>
        <p:spPr>
          <a:xfrm>
            <a:off x="685800" y="3971880"/>
            <a:ext cx="108187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انتخاب بازه هم‌احتمال است. 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SNR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 داخل بازه، توزیع یکنواخت پیوسته دارد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در نمونه‌های نویزی: یک فایل ۹۰٪، دو فایل ۱۰٪ با انتخاب مستقل از DEMAND"/>
          <p:cNvSpPr/>
          <p:nvPr/>
        </p:nvSpPr>
        <p:spPr>
          <a:xfrm>
            <a:off x="685800" y="4429080"/>
            <a:ext cx="1081872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در نمونه‌های نویزی: یک فایل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۹۰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٪، دو فایل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۱۰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٪ با انتخاب مستقل از 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DEMAND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از کل داده: بدون نویز ۶۲٫۵٪، یک فایل ۳۳٫۷۵٪، دو فایل ۳٫۷۵٪"/>
          <p:cNvSpPr/>
          <p:nvPr/>
        </p:nvSpPr>
        <p:spPr>
          <a:xfrm>
            <a:off x="685800" y="4838760"/>
            <a:ext cx="1081872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از کل داده: بدون نویز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۶۲٫۵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٪، یک فایل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۳۳٫۷۵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٪، دو فایل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۳٫۷۵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٪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انتخاب فایل در فهرست یکنواخت است. سهم هر محیط به تعداد فایل‌های آن بستگی دارد"/>
          <p:cNvSpPr/>
          <p:nvPr/>
        </p:nvSpPr>
        <p:spPr>
          <a:xfrm>
            <a:off x="685800" y="5248440"/>
            <a:ext cx="1081872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729" spc="-1" strike="noStrike">
                <a:solidFill>
                  <a:srgbClr val="1f2933"/>
                </a:solidFill>
                <a:latin typeface="Vazirmatn"/>
                <a:cs typeface="Vazirmatn"/>
              </a:rPr>
              <a:t>انتخاب فایل در فهرست یکنواخت است. سهم هر محیط به تعداد فایل‌های آن بستگی دارد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بهره روی کل مخلوط: یکنواخت از ۶− تا ۶+ دسی‌بل، بدون تغییر SNR"/>
          <p:cNvSpPr/>
          <p:nvPr/>
        </p:nvSpPr>
        <p:spPr>
          <a:xfrm>
            <a:off x="685800" y="5657760"/>
            <a:ext cx="1081872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بهره روی کل مخلوط: یکنواخت از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۶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− تا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۶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+ دسی‌بل، بدون تغییر 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SNR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درصدهای نویز، وجود فهرست معتبر DEMAND را فرض می‌کنند"/>
          <p:cNvSpPr/>
          <p:nvPr/>
        </p:nvSpPr>
        <p:spPr>
          <a:xfrm>
            <a:off x="685800" y="6076800"/>
            <a:ext cx="1081872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درصدهای نویز، وجود فهرست معتبر 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DEMAND</a:t>
            </a:r>
            <a:r>
              <a:rPr b="0" lang="en-US" sz="1500" spc="-1" strike="noStrike">
                <a:solidFill>
                  <a:srgbClr val="52606d"/>
                </a:solidFill>
                <a:latin typeface="Vazirmatn"/>
                <a:ea typeface="Vazirmatn"/>
              </a:rPr>
              <a:t> را فرض می‌کنند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مطالب تکمیلی"/>
          <p:cNvSpPr/>
          <p:nvPr/>
        </p:nvSpPr>
        <p:spPr>
          <a:xfrm>
            <a:off x="4191120" y="285840"/>
            <a:ext cx="7313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پهنای‌باند کانال و پارامترهای Opus"/>
          <p:cNvSpPr/>
          <p:nvPr/>
        </p:nvSpPr>
        <p:spPr>
          <a:xfrm>
            <a:off x="685800" y="714240"/>
            <a:ext cx="1081872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پهنای‌باند کانال و پارامترهای </a:t>
            </a:r>
            <a:r>
              <a:rPr b="1" lang="en-US" sz="3150" spc="-1" strike="noStrike">
                <a:solidFill>
                  <a:srgbClr val="153d42"/>
                </a:solidFill>
                <a:latin typeface="Vazirmatn"/>
                <a:ea typeface="Vazirmatn"/>
              </a:rPr>
              <a:t>Opus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61" name=""/>
          <p:cNvGraphicFramePr/>
          <p:nvPr/>
        </p:nvGraphicFramePr>
        <p:xfrm>
          <a:off x="685800" y="1657440"/>
          <a:ext cx="10819440" cy="1357200"/>
        </p:xfrm>
        <a:graphic>
          <a:graphicData uri="http://schemas.openxmlformats.org/drawingml/2006/table">
            <a:tbl>
              <a:tblPr/>
              <a:tblGrid>
                <a:gridCol w="1714320"/>
                <a:gridCol w="3238200"/>
                <a:gridCol w="2286000"/>
                <a:gridCol w="358128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سهم کل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بازه فرکانسی (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Hz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)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نرخ کانال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مسیر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۶۴٪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300–3400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8 kHz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باریک‌باند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1904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۳۶٪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50–7000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16 kHz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پهن‌باند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62" name="عبور مستقیم: ۳٪ کل داده، با انتخاب ۵۰٪ باریک‌باند و ۵۰٪ پهن‌باند"/>
          <p:cNvSpPr/>
          <p:nvPr/>
        </p:nvSpPr>
        <p:spPr>
          <a:xfrm>
            <a:off x="685800" y="3057480"/>
            <a:ext cx="108187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عبور مستقیم: </a:t>
            </a: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۳</a:t>
            </a: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٪ کل داده، با انتخاب </a:t>
            </a: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۵۰</a:t>
            </a: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٪ باریک‌باند و </a:t>
            </a: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۵۰</a:t>
            </a:r>
            <a:r>
              <a:rPr b="0" lang="fa-IR" sz="1800" spc="-1" strike="noStrike">
                <a:solidFill>
                  <a:srgbClr val="52606d"/>
                </a:solidFill>
                <a:latin typeface="Vazirmatn"/>
                <a:cs typeface="Vazirmatn"/>
              </a:rPr>
              <a:t>٪ پهن‌باند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63" name=""/>
          <p:cNvGraphicFramePr/>
          <p:nvPr/>
        </p:nvGraphicFramePr>
        <p:xfrm>
          <a:off x="685800" y="3581280"/>
          <a:ext cx="10819800" cy="1828800"/>
        </p:xfrm>
        <a:graphic>
          <a:graphicData uri="http://schemas.openxmlformats.org/drawingml/2006/table">
            <a:tbl>
              <a:tblPr/>
              <a:tblGrid>
                <a:gridCol w="2952720"/>
                <a:gridCol w="2952720"/>
                <a:gridCol w="491472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طول قاب (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ms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)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نرخ بیت (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kb/s</a:t>
                      </a:r>
                      <a:r>
                        <a:rPr b="1" lang="en-US" sz="1729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)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نمایه و کدک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20 / 40 / 60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16 / 24 / 32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voip_lossy: Opus WB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20 / 40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12 / 16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voip_lossy: Opus NB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20 / 40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16 / 24 / 32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mobile_wideband: Opus WB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64" name="گزینه‌های هر خانه هم‌احتمال‌اند. نرخ بیت و طول قاب مستقل انتخاب می‌شوند"/>
          <p:cNvSpPr/>
          <p:nvPr/>
        </p:nvSpPr>
        <p:spPr>
          <a:xfrm>
            <a:off x="685800" y="5562720"/>
            <a:ext cx="108187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گزینه‌های هر خانه هم‌احتمال‌اند. نرخ بیت و طول قاب مستقل انتخاب می‌شوند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خروجی همه مسیرها: تک‌کاناله و ۱۶ کیلوهرتز، با حفظ محدودیت پهنای‌باند"/>
          <p:cNvSpPr/>
          <p:nvPr/>
        </p:nvSpPr>
        <p:spPr>
          <a:xfrm>
            <a:off x="685800" y="6019920"/>
            <a:ext cx="1081872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80" spc="-1" strike="noStrike">
                <a:solidFill>
                  <a:srgbClr val="52606d"/>
                </a:solidFill>
                <a:latin typeface="Vazirmatn"/>
                <a:cs typeface="Vazirmatn"/>
              </a:rPr>
              <a:t>خروجی همه مسیرها: تک‌کاناله و </a:t>
            </a:r>
            <a:r>
              <a:rPr b="0" lang="fa-IR" sz="1580" spc="-1" strike="noStrike">
                <a:solidFill>
                  <a:srgbClr val="52606d"/>
                </a:solidFill>
                <a:latin typeface="Vazirmatn"/>
                <a:cs typeface="Vazirmatn"/>
              </a:rPr>
              <a:t>۱۶</a:t>
            </a:r>
            <a:r>
              <a:rPr b="0" lang="en-US" sz="1580" spc="-1" strike="noStrike">
                <a:solidFill>
                  <a:srgbClr val="52606d"/>
                </a:solidFill>
                <a:latin typeface="Vazirmatn"/>
                <a:ea typeface="Vazirmatn"/>
              </a:rPr>
              <a:t> کیلوهرتز، با حفظ محدودیت پهنای‌باند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مطالب تکمیلی"/>
          <p:cNvSpPr/>
          <p:nvPr/>
        </p:nvSpPr>
        <p:spPr>
          <a:xfrm>
            <a:off x="4191120" y="285840"/>
            <a:ext cx="7313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توزیع شدت افت و مدل اختلال شبکه"/>
          <p:cNvSpPr/>
          <p:nvPr/>
        </p:nvSpPr>
        <p:spPr>
          <a:xfrm>
            <a:off x="685800" y="714240"/>
            <a:ext cx="1081872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توزیع شدت افت و مدل اختلال شبکه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69" name=""/>
          <p:cNvGraphicFramePr/>
          <p:nvPr/>
        </p:nvGraphicFramePr>
        <p:xfrm>
          <a:off x="685800" y="1657440"/>
          <a:ext cx="10819440" cy="1866600"/>
        </p:xfrm>
        <a:graphic>
          <a:graphicData uri="http://schemas.openxmlformats.org/drawingml/2006/table">
            <a:tbl>
              <a:tblPr/>
              <a:tblGrid>
                <a:gridCol w="3333600"/>
                <a:gridCol w="3809880"/>
                <a:gridCol w="3676320"/>
              </a:tblGrid>
              <a:tr h="4950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سهم از کل نمونه‌ها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احتمال پس از فعال‌شدن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بازه نرخ افت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۱۱٫۵٪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۱/۳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0.3% to 2%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۱۱٫۵٪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۱/۳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2% to 5%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800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۱۱٫۵٪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۱/۳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5% to 10%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70" name="نرخ افت داخل بازه یکنواخت است. طول متوسط جهش از ۱ تا ۵ قاب انتخاب می‌شود"/>
          <p:cNvSpPr/>
          <p:nvPr/>
        </p:nvSpPr>
        <p:spPr>
          <a:xfrm>
            <a:off x="685800" y="3724200"/>
            <a:ext cx="108187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نرخ افت داخل بازه یکنواخت است. طول متوسط جهش از </a:t>
            </a: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۱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 تا </a:t>
            </a: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۵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 قاب انتخاب می‌شود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مدل دوحالته خوب/بد با شروع از توزیع پایا، برای ایجاد افت‌های متوالی"/>
          <p:cNvSpPr/>
          <p:nvPr/>
        </p:nvSpPr>
        <p:spPr>
          <a:xfrm>
            <a:off x="685800" y="4162320"/>
            <a:ext cx="108187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مدل دوحالته خوب/بد با شروع از توزیع پایا، برای ایجاد افت‌های متوالی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Opus: حذف بسته پیش از رمزگشایی و پنهان‌سازی افت با PLC"/>
          <p:cNvSpPr/>
          <p:nvPr/>
        </p:nvSpPr>
        <p:spPr>
          <a:xfrm>
            <a:off x="685800" y="4600440"/>
            <a:ext cx="108187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Opus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: حذف بسته پیش از رمزگشایی و پنهان‌سازی افت با </a:t>
            </a:r>
            <a:r>
              <a:rPr b="0" lang="en-US" sz="1870" spc="-1" strike="noStrike">
                <a:solidFill>
                  <a:srgbClr val="1f2933"/>
                </a:solidFill>
                <a:latin typeface="Vazirmatn"/>
                <a:ea typeface="Vazirmatn"/>
              </a:rPr>
              <a:t>PLC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سایر مسیرها: صفرکردن قاب‌های موج پس از رمزگشایی، با قاب ۲۰ میلی‌ثانیه"/>
          <p:cNvSpPr/>
          <p:nvPr/>
        </p:nvSpPr>
        <p:spPr>
          <a:xfrm>
            <a:off x="685800" y="5038560"/>
            <a:ext cx="108187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سایر مسیرها: صفرکردن قاب‌های موج پس از رمزگشایی، با قاب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۲۰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میلی‌ثانیه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سهم موردانتظار از کل: Opus با PLC برابر ۲۱٫۸٪، حذف موج برابر ۱۲٫۷٪"/>
          <p:cNvSpPr/>
          <p:nvPr/>
        </p:nvSpPr>
        <p:spPr>
          <a:xfrm>
            <a:off x="685800" y="5477040"/>
            <a:ext cx="108187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سهم موردانتظار از کل: 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Opus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 با 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PLC</a:t>
            </a:r>
            <a:r>
              <a:rPr b="1" lang="en-US" sz="1800" spc="-1" strike="noStrike">
                <a:solidFill>
                  <a:srgbClr val="153d42"/>
                </a:solidFill>
                <a:latin typeface="Vazirmatn"/>
                <a:ea typeface="Vazirmatn"/>
              </a:rPr>
              <a:t> برابر </a:t>
            </a: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۲۱٫۸</a:t>
            </a: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٪، حذف موج برابر </a:t>
            </a: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۱۲٫۷</a:t>
            </a:r>
            <a:r>
              <a:rPr b="1" lang="fa-IR" sz="1800" spc="-1" strike="noStrike">
                <a:solidFill>
                  <a:srgbClr val="153d42"/>
                </a:solidFill>
                <a:latin typeface="Vazirmatn"/>
                <a:cs typeface="Vazirmatn"/>
              </a:rPr>
              <a:t>٪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نرخ افتِ هدف با نرخ افتِ مشاهده‌شده در قطعه‌های کوتاه یکسان نیست"/>
          <p:cNvSpPr/>
          <p:nvPr/>
        </p:nvSpPr>
        <p:spPr>
          <a:xfrm>
            <a:off x="685800" y="6019920"/>
            <a:ext cx="1081872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80" spc="-1" strike="noStrike">
                <a:solidFill>
                  <a:srgbClr val="52606d"/>
                </a:solidFill>
                <a:latin typeface="Vazirmatn"/>
                <a:cs typeface="Vazirmatn"/>
              </a:rPr>
              <a:t>نرخ افتِ هدف با نرخ افتِ مشاهده‌شده در قطعه‌های کوتاه یکسان نیست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مطالب تکمیلی"/>
          <p:cNvSpPr/>
          <p:nvPr/>
        </p:nvSpPr>
        <p:spPr>
          <a:xfrm>
            <a:off x="4191120" y="285840"/>
            <a:ext cx="7313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ساخت جفت‌های هم‌تراز و ثبت فراداده"/>
          <p:cNvSpPr/>
          <p:nvPr/>
        </p:nvSpPr>
        <p:spPr>
          <a:xfrm>
            <a:off x="685800" y="714240"/>
            <a:ext cx="1081872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ساخت جفت‌های هم‌تراز و ثبت فراداده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79" name=""/>
          <p:cNvGraphicFramePr/>
          <p:nvPr/>
        </p:nvGraphicFramePr>
        <p:xfrm>
          <a:off x="685800" y="1657440"/>
          <a:ext cx="10819800" cy="3219120"/>
        </p:xfrm>
        <a:graphic>
          <a:graphicData uri="http://schemas.openxmlformats.org/drawingml/2006/table">
            <a:tbl>
              <a:tblPr/>
              <a:tblGrid>
                <a:gridCol w="6534000"/>
                <a:gridCol w="4286160"/>
              </a:tblGrid>
              <a:tr h="4759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تنظیم اجرا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جزء خط لوله</a:t>
                      </a:r>
                      <a:endParaRPr b="0" lang="en-US" sz="1729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۲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 گونه برای هر قطعه در 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train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 و 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dev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تولید داده مخابراتی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ffmpeg</a:t>
                      </a: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، یا 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Opus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 بومی در شاخه </a:t>
                      </a:r>
                      <a:r>
                        <a:rPr b="1" lang="en-US" sz="1729" spc="-1" strike="noStrike">
                          <a:solidFill>
                            <a:srgbClr val="1d6f8a"/>
                          </a:solidFill>
                          <a:latin typeface="Vazirmatn"/>
                          <a:ea typeface="Vazirmatn"/>
                        </a:rPr>
                        <a:t>PLC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اجرای رمزگذاری و رمزگشایی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هم‌بستگی متقاطع و جبران تأخیر کدک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هم‌ترازی زمانی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همان محدودیت پهنای‌باند، طول و نرخ نمونه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هدف پاک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ضریب مشترک و سقف دامنه </a:t>
                      </a: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۰٫۹۹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کنترل دامنه جفت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729" spc="-1" strike="noStrike">
                          <a:solidFill>
                            <a:srgbClr val="1d6f8a"/>
                          </a:solidFill>
                          <a:latin typeface="Vazirmatn"/>
                          <a:cs typeface="Vazirmatn"/>
                        </a:rPr>
                        <a:t>غیرفعال در پیکربندی حاضر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729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کلیپینگ مصنوعی و </a:t>
                      </a:r>
                      <a:r>
                        <a:rPr b="0" lang="en-US" sz="1729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AGC</a:t>
                      </a:r>
                      <a:endParaRPr b="0" lang="en-US" sz="1729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80" name="JSONL: نمایه، بذر، کدک، SNR، مسیر کانال، افت واقعی و ضریب نرمال‌سازی"/>
          <p:cNvSpPr/>
          <p:nvPr/>
        </p:nvSpPr>
        <p:spPr>
          <a:xfrm>
            <a:off x="685800" y="5505480"/>
            <a:ext cx="108187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en-US" sz="1729" spc="-1" strike="noStrike">
                <a:solidFill>
                  <a:srgbClr val="153d42"/>
                </a:solidFill>
                <a:latin typeface="Vazirmatn"/>
                <a:ea typeface="Vazirmatn"/>
              </a:rPr>
              <a:t>JSONL</a:t>
            </a:r>
            <a:r>
              <a:rPr b="1" lang="en-US" sz="1729" spc="-1" strike="noStrike">
                <a:solidFill>
                  <a:srgbClr val="153d42"/>
                </a:solidFill>
                <a:latin typeface="Vazirmatn"/>
                <a:ea typeface="Vazirmatn"/>
              </a:rPr>
              <a:t>: نمایه، بذر، کدک، </a:t>
            </a:r>
            <a:r>
              <a:rPr b="1" lang="en-US" sz="1729" spc="-1" strike="noStrike">
                <a:solidFill>
                  <a:srgbClr val="153d42"/>
                </a:solidFill>
                <a:latin typeface="Vazirmatn"/>
                <a:ea typeface="Vazirmatn"/>
              </a:rPr>
              <a:t>SNR</a:t>
            </a:r>
            <a:r>
              <a:rPr b="1" lang="fa-IR" sz="1729" spc="-1" strike="noStrike">
                <a:solidFill>
                  <a:srgbClr val="153d42"/>
                </a:solidFill>
                <a:latin typeface="Vazirmatn"/>
                <a:cs typeface="Vazirmatn"/>
              </a:rPr>
              <a:t>، مسیر کانال، افت واقعی و ضریب نرمال‌سازی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نویز، بهره، فیلتر و کدک به این شبیه‌سازی تعلق دارند. پژواک و نوسان تأخیر مدل نشده‌اند"/>
          <p:cNvSpPr/>
          <p:nvPr/>
        </p:nvSpPr>
        <p:spPr>
          <a:xfrm>
            <a:off x="685800" y="6019920"/>
            <a:ext cx="1081872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نویز، بهره، فیلتر و کدک به این شبیه‌سازی تعلق دارند. پژواک و نوسان تأخیر مدل نشده‌اند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مطالب تکمیل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اندازه پیکره‌ها و تنظیمات خط مبنا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اندازه پیکره‌ها و تنظیمات خط مبنا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85" name=""/>
          <p:cNvGraphicFramePr/>
          <p:nvPr/>
        </p:nvGraphicFramePr>
        <p:xfrm>
          <a:off x="685800" y="1809720"/>
          <a:ext cx="10819440" cy="2418840"/>
        </p:xfrm>
        <a:graphic>
          <a:graphicData uri="http://schemas.openxmlformats.org/drawingml/2006/table">
            <a:tbl>
              <a:tblPr/>
              <a:tblGrid>
                <a:gridCol w="3809880"/>
                <a:gridCol w="1857240"/>
                <a:gridCol w="1857240"/>
                <a:gridCol w="3295440"/>
              </a:tblGrid>
              <a:tr h="53316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نقش در آموزش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اعتبارسنجی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آموزش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پیکره پایه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62856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گفتار عمومی و تولید تخریب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۱۰۰۰۶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۲۹۹۴۳۰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کامن‌وویس فارسی </a:t>
                      </a: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62856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گفتار بداهه فارسی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۶۰۴۴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۶۰۰۶۷۲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فارس‌اسپان (محدود)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62856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تنوع دامنه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۳۶۲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۳۰۱۹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فلورز فارسی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86" name="ویسپر کوچک تک‌جریانه"/>
          <p:cNvSpPr/>
          <p:nvPr/>
        </p:nvSpPr>
        <p:spPr>
          <a:xfrm>
            <a:off x="7048440" y="4476600"/>
            <a:ext cx="44553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ویسپر کوچک تک‌جریانه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یک دوره، نرخ یادگیری ⁦1e-5⁩&#10;دسته ۴ و انباشت ۸ گام: ۳۲ نمونه"/>
          <p:cNvSpPr/>
          <p:nvPr/>
        </p:nvSpPr>
        <p:spPr>
          <a:xfrm>
            <a:off x="7048440" y="4981680"/>
            <a:ext cx="4455360" cy="7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یک دوره، نرخ یادگیری ⁦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1e-5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⁩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دسته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۴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و انباشت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۸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گام: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۳۲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نمونه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جزئیات آزمون AGFarsdat"/>
          <p:cNvSpPr/>
          <p:nvPr/>
        </p:nvSpPr>
        <p:spPr>
          <a:xfrm>
            <a:off x="685800" y="4476600"/>
            <a:ext cx="571248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53d42"/>
                </a:solidFill>
                <a:latin typeface="Vazirmatn"/>
                <a:cs typeface="Vazirmatn"/>
              </a:rPr>
              <a:t>جزئیات آزمون </a:t>
            </a:r>
            <a:r>
              <a:rPr b="1" lang="en-US" sz="2020" spc="-1" strike="noStrike">
                <a:solidFill>
                  <a:srgbClr val="153d42"/>
                </a:solidFill>
                <a:latin typeface="Vazirmatn"/>
                <a:ea typeface="Vazirmatn"/>
              </a:rPr>
              <a:t>AGFarsdat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۵۸۵ گوینده و ۴۹٫۹ ساعت&#10;صوت منبع: تک‌کاناله، ۸ کیلوهرتز، ۱۶ بیت"/>
          <p:cNvSpPr/>
          <p:nvPr/>
        </p:nvSpPr>
        <p:spPr>
          <a:xfrm>
            <a:off x="685800" y="4981680"/>
            <a:ext cx="5712480" cy="7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۵۸۵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گوینده و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۴۹٫۹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ساعت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r" rtl="1">
              <a:lnSpc>
                <a:spcPct val="100000"/>
              </a:lnSpc>
            </a:pP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صوت منبع: تک‌کاناله،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۸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کیلوهرتز، </a:t>
            </a:r>
            <a:r>
              <a:rPr b="0" lang="fa-IR" sz="1800" spc="-1" strike="noStrike">
                <a:solidFill>
                  <a:srgbClr val="1f2933"/>
                </a:solidFill>
                <a:latin typeface="Vazirmatn"/>
                <a:cs typeface="Vazirmatn"/>
              </a:rPr>
              <a:t>۱۶</a:t>
            </a:r>
            <a:r>
              <a:rPr b="0" lang="en-US" sz="1800" spc="-1" strike="noStrike">
                <a:solidFill>
                  <a:srgbClr val="1f2933"/>
                </a:solidFill>
                <a:latin typeface="Vazirmatn"/>
                <a:ea typeface="Vazirmatn"/>
              </a:rPr>
              <a:t> بیت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تعدادها مربوط به پیکره پایه‌اند. گونه‌های بلند، تخریب‌شده و ایران‌صدا در این جدول نیستند"/>
          <p:cNvSpPr/>
          <p:nvPr/>
        </p:nvSpPr>
        <p:spPr>
          <a:xfrm>
            <a:off x="685800" y="6019920"/>
            <a:ext cx="1081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تعدادها مربوط به پیکره پایه‌اند. گونه‌های بلند، تخریب‌شده و ایران‌صدا در این جدول نیستند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مطالب تکمیلی"/>
          <p:cNvSpPr/>
          <p:nvPr/>
        </p:nvSpPr>
        <p:spPr>
          <a:xfrm>
            <a:off x="4191120" y="285840"/>
            <a:ext cx="73126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آموزش چندشرایطی در فست کانفورمر"/>
          <p:cNvSpPr/>
          <p:nvPr/>
        </p:nvSpPr>
        <p:spPr>
          <a:xfrm>
            <a:off x="685800" y="714240"/>
            <a:ext cx="10818000" cy="8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آموزش چندشرایطی در فست کانفورمر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685800" y="6419520"/>
            <a:ext cx="10820160" cy="360"/>
          </a:xfrm>
          <a:prstGeom prst="line">
            <a:avLst/>
          </a:prstGeom>
          <a:ln w="9525">
            <a:solidFill>
              <a:srgbClr val="d5d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Vazirmatn"/>
              <a:ea typeface="Vazirmatn"/>
            </a:endParaRPr>
          </a:p>
        </p:txBody>
      </p:sp>
      <p:graphicFrame>
        <p:nvGraphicFramePr>
          <p:cNvPr id="394" name=""/>
          <p:cNvGraphicFramePr/>
          <p:nvPr/>
        </p:nvGraphicFramePr>
        <p:xfrm>
          <a:off x="685800" y="1809720"/>
          <a:ext cx="10819440" cy="3772440"/>
        </p:xfrm>
        <a:graphic>
          <a:graphicData uri="http://schemas.openxmlformats.org/drawingml/2006/table">
            <a:tbl>
              <a:tblPr/>
              <a:tblGrid>
                <a:gridCol w="1666800"/>
                <a:gridCol w="1666800"/>
                <a:gridCol w="1666800"/>
                <a:gridCol w="1666800"/>
                <a:gridCol w="4152600"/>
              </a:tblGrid>
              <a:tr h="666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چندشرایطی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چندشرایطی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CER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معمولی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7f6f2"/>
                          </a:solidFill>
                          <a:latin typeface="Vazirmatn"/>
                          <a:ea typeface="Vazirmatn"/>
                        </a:rPr>
                        <a:t>WER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معمولی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1" lang="fa-IR" sz="1650" spc="-1" strike="noStrike">
                          <a:solidFill>
                            <a:srgbClr val="f7f6f2"/>
                          </a:solidFill>
                          <a:latin typeface="Vazirmatn"/>
                          <a:cs typeface="Vazirmatn"/>
                        </a:rPr>
                        <a:t>مجموعه آزمون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7200">
                      <a:solidFill>
                        <a:srgbClr val="d5dcdd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153d4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۱۴٫۴۵٪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۲۱٫۸۱٪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۱۴٫۷۹٪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۲۲٫۷۳٪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تجمیعی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۱۴٫۰۹٪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۳۰٫۴۸٪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۱۴٫۸۱٪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۳۱٫۰۷٪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870" spc="-1" strike="noStrike">
                          <a:solidFill>
                            <a:srgbClr val="1f2933"/>
                          </a:solidFill>
                          <a:latin typeface="Vazirmatn"/>
                          <a:ea typeface="Vazirmatn"/>
                        </a:rPr>
                        <a:t>AGFarsdat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۱۶٫۱۰٪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۱۰٫۰۱٪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۱۶٫۴۶٪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۱۱٫۶۸٪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کامن‌وویس فارسی </a:t>
                      </a: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۲۵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۱۰٫۲۲٪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۲۹٫۴۰٪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۹٫۹۴٪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۲۹٫۲۲٪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فلورز فارسی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۱۳٫۵۶٪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۳۱٫۴۱٪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۱۳٫۵۰٪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۳۰٫۷۰٪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پرشین‌اسپیچ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  <a:tr h="504720"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۱۲٫۶۸٪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7200">
                      <a:solidFill>
                        <a:srgbClr val="d5dcdd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۳۳٫۵۹٪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۱۲٫۲۲٪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rtl="1">
                        <a:lnSpc>
                          <a:spcPct val="100000"/>
                        </a:lnSpc>
                      </a:pPr>
                      <a:r>
                        <a:rPr b="0" lang="fa-IR" sz="180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۳۳٫۶۹٪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b="0" lang="fa-IR" sz="1870" spc="-1" strike="noStrike">
                          <a:solidFill>
                            <a:srgbClr val="1f2933"/>
                          </a:solidFill>
                          <a:latin typeface="Vazirmatn"/>
                          <a:cs typeface="Vazirmatn"/>
                        </a:rPr>
                        <a:t>پیکره گفتار فارسی</a:t>
                      </a:r>
                      <a:endParaRPr b="0" lang="en-US" sz="187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d5dcdd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d5dcdd"/>
                      </a:solidFill>
                      <a:prstDash val="soli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395" name="کاهش WER تجمیعی: ۰٫۹۲ واحد درصد، حدود ۴٪ کاهش نسبی"/>
          <p:cNvSpPr/>
          <p:nvPr/>
        </p:nvSpPr>
        <p:spPr>
          <a:xfrm>
            <a:off x="685800" y="5638680"/>
            <a:ext cx="1081800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کاهش </a:t>
            </a:r>
            <a:r>
              <a:rPr b="1" lang="en-US" sz="2020" spc="-1" strike="noStrike">
                <a:solidFill>
                  <a:srgbClr val="1d6f8a"/>
                </a:solidFill>
                <a:latin typeface="Vazirmatn"/>
                <a:ea typeface="Vazirmatn"/>
              </a:rPr>
              <a:t>WER</a:t>
            </a:r>
            <a:r>
              <a:rPr b="1" lang="en-US" sz="2020" spc="-1" strike="noStrike">
                <a:solidFill>
                  <a:srgbClr val="1d6f8a"/>
                </a:solidFill>
                <a:latin typeface="Vazirmatn"/>
                <a:ea typeface="Vazirmatn"/>
              </a:rPr>
              <a:t> تجمیعی: </a:t>
            </a: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۰٫۹۲</a:t>
            </a:r>
            <a:r>
              <a:rPr b="1" lang="en-US" sz="2020" spc="-1" strike="noStrike">
                <a:solidFill>
                  <a:srgbClr val="1d6f8a"/>
                </a:solidFill>
                <a:latin typeface="Vazirmatn"/>
                <a:ea typeface="Vazirmatn"/>
              </a:rPr>
              <a:t> واحد درصد، حدود </a:t>
            </a: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۴</a:t>
            </a:r>
            <a:r>
              <a:rPr b="1" lang="fa-IR" sz="2020" spc="-1" strike="noStrike">
                <a:solidFill>
                  <a:srgbClr val="1d6f8a"/>
                </a:solidFill>
                <a:latin typeface="Vazirmatn"/>
                <a:cs typeface="Vazirmatn"/>
              </a:rPr>
              <a:t>٪ کاهش نسبی</a:t>
            </a:r>
            <a:endParaRPr b="0" lang="en-US" sz="2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مقایسه درون فست کانفورمر است. تفاوت پیش‌آموزش و آموزش، انتساب فاصله با ویسپر را محدود می‌کند"/>
          <p:cNvSpPr/>
          <p:nvPr/>
        </p:nvSpPr>
        <p:spPr>
          <a:xfrm>
            <a:off x="685800" y="6105600"/>
            <a:ext cx="1081800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rtl="1">
              <a:lnSpc>
                <a:spcPct val="100000"/>
              </a:lnSpc>
            </a:pPr>
            <a:r>
              <a:rPr b="0" lang="fa-IR" sz="1500" spc="-1" strike="noStrike">
                <a:solidFill>
                  <a:srgbClr val="52606d"/>
                </a:solidFill>
                <a:latin typeface="Vazirmatn"/>
                <a:cs typeface="Vazirmatn"/>
              </a:rPr>
              <a:t>مقایسه درون فست کانفورمر است. تفاوت پیش‌آموزش و آموزش، انتساب فاصله با ویسپر را محدود می‌کند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"/>
          <p:cNvSpPr/>
          <p:nvPr/>
        </p:nvSpPr>
        <p:spPr>
          <a:xfrm>
            <a:off x="4191120" y="285840"/>
            <a:ext cx="73148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1350" spc="-1" strike="noStrike">
                <a:solidFill>
                  <a:srgbClr val="1d6f8a"/>
                </a:solidFill>
                <a:latin typeface="Vazirmatn"/>
                <a:cs typeface="Vazirmatn"/>
              </a:rPr>
              <a:t>مطالب تکمیلی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685800" y="714240"/>
            <a:ext cx="1082016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rtl="1">
              <a:lnSpc>
                <a:spcPct val="100000"/>
              </a:lnSpc>
            </a:pPr>
            <a:r>
              <a:rPr b="1" lang="fa-IR" sz="3150" spc="-1" strike="noStrike">
                <a:solidFill>
                  <a:srgbClr val="153d42"/>
                </a:solidFill>
                <a:latin typeface="Vazirmatn"/>
                <a:cs typeface="Vazirmatn"/>
              </a:rPr>
              <a:t>پرامپت اصلاح رونویسی با </a:t>
            </a:r>
            <a:r>
              <a:rPr b="1" lang="en-US" sz="3150" spc="-1" strike="noStrike">
                <a:solidFill>
                  <a:srgbClr val="153d42"/>
                </a:solidFill>
                <a:latin typeface="Vazirmatn"/>
                <a:ea typeface="Vazirmatn"/>
              </a:rPr>
              <a:t>Qwen</a:t>
            </a:r>
            <a:endParaRPr b="0" lang="en-US" sz="3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"/>
          <p:cNvSpPr/>
          <p:nvPr/>
        </p:nvSpPr>
        <p:spPr>
          <a:xfrm>
            <a:off x="685800" y="1390680"/>
            <a:ext cx="1082016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1280" spc="-1" strike="noStrike">
                <a:solidFill>
                  <a:srgbClr val="1d6f8a"/>
                </a:solidFill>
                <a:latin typeface="Vazirmatn"/>
                <a:ea typeface="Vazirmatn"/>
              </a:rPr>
              <a:t>cyankiwi/Qwen3.6-27B-AWQ-INT4   ·   temperature = 0</a:t>
            </a:r>
            <a:endParaRPr b="0" lang="en-US" sz="1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685800" y="1752480"/>
            <a:ext cx="5219280" cy="47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Refine one Persian ASR segment conservatively. Modify only the TARGET WHISPER TEXT.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Allowed corrections: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Persian orthography and spelling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spacing and </a:t>
            </a:r>
            <a:r>
              <a:rPr b="0" lang="hi-IN" sz="1470" spc="-1" strike="noStrike">
                <a:solidFill>
                  <a:srgbClr val="1f2933"/>
                </a:solidFill>
                <a:latin typeface="Vazirmatn"/>
                <a:cs typeface="Vazirmatn"/>
              </a:rPr>
              <a:t>نیم‌فاصله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punctuation when clearly justified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obvious ASR word substitutions when the intended spoken word is strongly supported by the target and context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Rules: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Preserve the meaning and wording of the spoken target as closely as possible.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Use surrounding context only to disambiguate the target.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Never copy words or phrases from the context into the target unless they clearly correct an ASR error already present in the target.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Never complete an incomplete phrase at a segment boundary.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Never add, infer, summarize, or rewrite speech that is not present in the target.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Do not remove valid spoken words merely to improve fluency.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6286680" y="1752480"/>
            <a:ext cx="5219280" cy="47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Rules (continued):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Preserve every numeric token exactly as written, including digits, signs, separators, and formatting.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When a correction is not sufficiently certain, keep the original text and set uncertain=true.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Set uncertain=false only when all applied corrections are high-confidence.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- Return only the required JSON object with no explanation or Markdown.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[AUDIOBOOK TITLE]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&lt;audiobook title or (omitted)&gt;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[AUDIOBOOK DESCRIPTION]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&lt;audiobook description or (omitted)&gt;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[REFINED PRECEDING CONTEXT]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&lt;up to three previously accepted refined segments or (none)&gt;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[TARGET WHISPER TEXT]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&lt;normalized target transcription&gt;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[FOLLOWING WHISPER CONTEXT]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70" spc="-1" strike="noStrike">
                <a:solidFill>
                  <a:srgbClr val="1f2933"/>
                </a:solidFill>
                <a:latin typeface="Vazirmatn"/>
                <a:ea typeface="Vazirmatn"/>
              </a:rPr>
              <a:t>&lt;up to three following normalized Whisper segments or (none)&gt;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ection">
            <a:extLst xmlns:a="http://schemas.openxmlformats.org/drawingml/2006/main">
              <a:ext uri="{FF2B5EF4-FFF2-40B4-BE49-F238E27FC236}">
                <a16:creationId xmlns:a16="http://schemas.microsoft.com/office/drawing/2014/main" id="{9EC3330E-E708-4FF5-AC28-0782B3A0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5750"/>
            <a:ext cx="731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defPPr>
            <a:lvl1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lvl1pPr>
            <a:lvl2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lvl2pPr>
            <a:lvl3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lvl3pPr>
            <a:lvl4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lvl4pPr>
            <a:lvl5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lvl5pPr>
            <a:lvl6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lvl6pPr>
            <a:lvl7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lvl7pPr>
            <a:lvl8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lvl8pPr>
            <a:lvl9pPr algn="r">
              <a:defRPr sz="1350" b="1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r" rtl="1">
              <a:def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defRPr>
            </a:pPr>
            <a:r>
              <a:rPr sz="1350" b="1" lang="fa-IR">
                <a:solidFill>
                  <a:srgbClr val="1D6F8A"/>
                </a:solidFill>
                <a:latin typeface="Vazirmatn"/>
                <a:ea typeface="Vazirmatn"/>
                <a:cs typeface="Vazirmatn"/>
              </a:rPr>
              <a:t>بهسازی و همجوشی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6FE20AE-8F58-4C3E-B63A-4D0D70DD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  <a:lvl1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1pPr>
            <a:lvl2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2pPr>
            <a:lvl3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3pPr>
            <a:lvl4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4pPr>
            <a:lvl5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5pPr>
            <a:lvl6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6pPr>
            <a:lvl7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7pPr>
            <a:lvl8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8pPr>
            <a:lvl9pPr algn="r">
              <a:defRPr sz="315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r" rtl="1">
              <a:def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315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روابط مدل بهسازی و همجوشی دوجریانه</a:t>
            </a:r>
          </a:p>
        </p:txBody>
      </p:sp>
      <p:sp>
        <p:nvSpPr>
          <p:cNvPr id="3" name="enh-label">
            <a:extLst xmlns:a="http://schemas.openxmlformats.org/drawingml/2006/main">
              <a:ext uri="{FF2B5EF4-FFF2-40B4-BE49-F238E27FC236}">
                <a16:creationId xmlns:a16="http://schemas.microsoft.com/office/drawing/2014/main" id="{6C7C031C-B1FA-44DB-B597-CF867350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502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  <a:lvl1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1pPr>
            <a:lvl2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2pPr>
            <a:lvl3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3pPr>
            <a:lvl4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4pPr>
            <a:lvl5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5pPr>
            <a:lvl6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6pPr>
            <a:lvl7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7pPr>
            <a:lvl8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8pPr>
            <a:lvl9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r" rtl="1">
              <a:defRPr sz="1725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1725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بهسازی باقیمانده و زیان بازسازی</a:t>
            </a:r>
          </a:p>
        </p:txBody>
      </p:sp>
      <p:sp>
        <p:nvSpPr>
          <p:cNvPr id="4" name="enc-label">
            <a:extLst xmlns:a="http://schemas.openxmlformats.org/drawingml/2006/main">
              <a:ext uri="{FF2B5EF4-FFF2-40B4-BE49-F238E27FC236}">
                <a16:creationId xmlns:a16="http://schemas.microsoft.com/office/drawing/2014/main" id="{A7C6C2A6-AA65-4AEF-9E5E-2D0A5CAB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09725"/>
            <a:ext cx="521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  <a:lvl1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1pPr>
            <a:lvl2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2pPr>
            <a:lvl3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3pPr>
            <a:lvl4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4pPr>
            <a:lvl5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5pPr>
            <a:lvl6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6pPr>
            <a:lvl7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7pPr>
            <a:lvl8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8pPr>
            <a:lvl9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r" rtl="1">
              <a:defRPr sz="1725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1725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رمزگذار مشترک ویسپر</a:t>
            </a:r>
          </a:p>
        </p:txBody>
      </p:sp>
      <p:sp>
        <p:nvSpPr>
          <p:cNvPr id="5" name="eq-me">
            <a:extLst xmlns:a="http://schemas.openxmlformats.org/drawingml/2006/main">
              <a:ext uri="{FF2B5EF4-FFF2-40B4-BE49-F238E27FC236}">
                <a16:creationId xmlns:a16="http://schemas.microsoft.com/office/drawing/2014/main" id="{14DE5622-3C2B-4799-A1EA-0A3BFD7F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502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  <a:lvl1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1pPr>
            <a:lvl2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2pPr>
            <a:lvl3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3pPr>
            <a:lvl4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4pPr>
            <a:lvl5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5pPr>
            <a:lvl6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6pPr>
            <a:lvl7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7pPr>
            <a:lvl8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8pPr>
            <a:lvl9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l" rtl="0">
              <a:def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M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e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 = M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n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 + E(M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n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)</a:t>
            </a:r>
          </a:p>
        </p:txBody>
      </p:sp>
      <p:sp>
        <p:nvSpPr>
          <p:cNvPr id="6" name="eq-loss">
            <a:extLst xmlns:a="http://schemas.openxmlformats.org/drawingml/2006/main">
              <a:ext uri="{FF2B5EF4-FFF2-40B4-BE49-F238E27FC236}">
                <a16:creationId xmlns:a16="http://schemas.microsoft.com/office/drawing/2014/main" id="{A50A7FB7-F539-4148-9C91-79A75FB5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90775"/>
            <a:ext cx="502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  <a:lvl1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1pPr>
            <a:lvl2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2pPr>
            <a:lvl3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3pPr>
            <a:lvl4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4pPr>
            <a:lvl5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5pPr>
            <a:lvl6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6pPr>
            <a:lvl7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7pPr>
            <a:lvl8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8pPr>
            <a:lvl9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l" rtl="0">
              <a:def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ℒ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enh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 = ‖M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e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 − M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c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‖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1</a:t>
            </a:r>
          </a:p>
        </p:txBody>
      </p:sp>
      <p:sp>
        <p:nvSpPr>
          <p:cNvPr id="7" name="eq-hn">
            <a:extLst xmlns:a="http://schemas.openxmlformats.org/drawingml/2006/main">
              <a:ext uri="{FF2B5EF4-FFF2-40B4-BE49-F238E27FC236}">
                <a16:creationId xmlns:a16="http://schemas.microsoft.com/office/drawing/2014/main" id="{1EE49363-A5DB-4920-BCED-5BA58D06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71675"/>
            <a:ext cx="5219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  <a:lvl1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1pPr>
            <a:lvl2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2pPr>
            <a:lvl3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3pPr>
            <a:lvl4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4pPr>
            <a:lvl5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5pPr>
            <a:lvl6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6pPr>
            <a:lvl7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7pPr>
            <a:lvl8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8pPr>
            <a:lvl9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l" rtl="0">
              <a:def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H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n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 = Enc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θ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(M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n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)</a:t>
            </a:r>
          </a:p>
        </p:txBody>
      </p:sp>
      <p:sp>
        <p:nvSpPr>
          <p:cNvPr id="8" name="eq-he">
            <a:extLst xmlns:a="http://schemas.openxmlformats.org/drawingml/2006/main">
              <a:ext uri="{FF2B5EF4-FFF2-40B4-BE49-F238E27FC236}">
                <a16:creationId xmlns:a16="http://schemas.microsoft.com/office/drawing/2014/main" id="{9EBD1424-74AD-4522-872F-CCD0A8CE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90775"/>
            <a:ext cx="5219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  <a:lvl1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1pPr>
            <a:lvl2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2pPr>
            <a:lvl3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3pPr>
            <a:lvl4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4pPr>
            <a:lvl5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5pPr>
            <a:lvl6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6pPr>
            <a:lvl7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7pPr>
            <a:lvl8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8pPr>
            <a:lvl9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l" rtl="0">
              <a:def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H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e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 = Enc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θ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(M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e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)</a:t>
            </a:r>
          </a:p>
        </p:txBody>
      </p:sp>
      <p:sp>
        <p:nvSpPr>
          <p:cNvPr id="9" name="cross-label">
            <a:extLst xmlns:a="http://schemas.openxmlformats.org/drawingml/2006/main">
              <a:ext uri="{FF2B5EF4-FFF2-40B4-BE49-F238E27FC236}">
                <a16:creationId xmlns:a16="http://schemas.microsoft.com/office/drawing/2014/main" id="{45D1C78F-050B-45C9-94A0-0F37832B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  <a:lvl1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1pPr>
            <a:lvl2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2pPr>
            <a:lvl3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3pPr>
            <a:lvl4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4pPr>
            <a:lvl5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5pPr>
            <a:lvl6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6pPr>
            <a:lvl7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7pPr>
            <a:lvl8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8pPr>
            <a:lvl9pPr algn="r">
              <a:defRPr sz="1800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r" rtl="1">
              <a:defRPr sz="18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1800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توجه متقاطع دوسویه: هر نما از نمای مقابل اطلاعات می‌گیرد</a:t>
            </a:r>
          </a:p>
        </p:txBody>
      </p:sp>
      <p:sp>
        <p:nvSpPr>
          <p:cNvPr id="10" name="eq-n">
            <a:extLst xmlns:a="http://schemas.openxmlformats.org/drawingml/2006/main">
              <a:ext uri="{FF2B5EF4-FFF2-40B4-BE49-F238E27FC236}">
                <a16:creationId xmlns:a16="http://schemas.microsoft.com/office/drawing/2014/main" id="{6979711D-7DFF-4018-95FC-656FEEC5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5219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  <a:lvl1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1pPr>
            <a:lvl2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2pPr>
            <a:lvl3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3pPr>
            <a:lvl4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4pPr>
            <a:lvl5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5pPr>
            <a:lvl6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6pPr>
            <a:lvl7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7pPr>
            <a:lvl8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8pPr>
            <a:lvl9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l" rtl="0">
              <a:defRPr sz="225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225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H′</a:t>
            </a:r>
            <a:r>
              <a:rPr sz="1688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n</a:t>
            </a:r>
            <a:r>
              <a:rPr sz="225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 = B</a:t>
            </a:r>
            <a:r>
              <a:rPr sz="1688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n</a:t>
            </a:r>
            <a:r>
              <a:rPr sz="225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(H</a:t>
            </a:r>
            <a:r>
              <a:rPr sz="1688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n</a:t>
            </a:r>
            <a:r>
              <a:rPr sz="225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, H</a:t>
            </a:r>
            <a:r>
              <a:rPr sz="1688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e</a:t>
            </a:r>
            <a:r>
              <a:rPr sz="225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)</a:t>
            </a:r>
          </a:p>
        </p:txBody>
      </p:sp>
      <p:sp>
        <p:nvSpPr>
          <p:cNvPr id="11" name="n-explain">
            <a:extLst xmlns:a="http://schemas.openxmlformats.org/drawingml/2006/main">
              <a:ext uri="{FF2B5EF4-FFF2-40B4-BE49-F238E27FC236}">
                <a16:creationId xmlns:a16="http://schemas.microsoft.com/office/drawing/2014/main" id="{0E71ED3D-E918-4605-AE1F-82EECD05F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defPPr>
            <a:lvl1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1pPr>
            <a:lvl2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2pPr>
            <a:lvl3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3pPr>
            <a:lvl4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4pPr>
            <a:lvl5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5pPr>
            <a:lvl6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6pPr>
            <a:lvl7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7pPr>
            <a:lvl8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8pPr>
            <a:lvl9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r" rtl="1">
              <a:defRPr sz="1388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pPr>
            <a:r>
              <a:rPr sz="1388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rPr>
              <a:t>پرسش: نمای اصلی، کلید و مقدار: نمای بهسازی‌شده</a:t>
            </a:r>
          </a:p>
        </p:txBody>
      </p:sp>
      <p:sp>
        <p:nvSpPr>
          <p:cNvPr id="12" name="eq-e">
            <a:extLst xmlns:a="http://schemas.openxmlformats.org/drawingml/2006/main">
              <a:ext uri="{FF2B5EF4-FFF2-40B4-BE49-F238E27FC236}">
                <a16:creationId xmlns:a16="http://schemas.microsoft.com/office/drawing/2014/main" id="{6A6C9D58-9407-4B0D-B390-421A61DE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5219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  <a:lvl1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1pPr>
            <a:lvl2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2pPr>
            <a:lvl3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3pPr>
            <a:lvl4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4pPr>
            <a:lvl5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5pPr>
            <a:lvl6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6pPr>
            <a:lvl7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7pPr>
            <a:lvl8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8pPr>
            <a:lvl9pPr algn="l">
              <a:defRPr sz="225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l" rtl="0">
              <a:defRPr sz="225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225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H′</a:t>
            </a:r>
            <a:r>
              <a:rPr sz="1688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e</a:t>
            </a:r>
            <a:r>
              <a:rPr sz="225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 = B</a:t>
            </a:r>
            <a:r>
              <a:rPr sz="1688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e</a:t>
            </a:r>
            <a:r>
              <a:rPr sz="225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(H</a:t>
            </a:r>
            <a:r>
              <a:rPr sz="1688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e</a:t>
            </a:r>
            <a:r>
              <a:rPr sz="225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, H</a:t>
            </a:r>
            <a:r>
              <a:rPr sz="1688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n</a:t>
            </a:r>
            <a:r>
              <a:rPr sz="225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)</a:t>
            </a:r>
          </a:p>
        </p:txBody>
      </p:sp>
      <p:sp>
        <p:nvSpPr>
          <p:cNvPr id="13" name="e-explain">
            <a:extLst xmlns:a="http://schemas.openxmlformats.org/drawingml/2006/main">
              <a:ext uri="{FF2B5EF4-FFF2-40B4-BE49-F238E27FC236}">
                <a16:creationId xmlns:a16="http://schemas.microsoft.com/office/drawing/2014/main" id="{A1462DFD-79A2-4E11-ACCA-99AA0A66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defPPr>
            <a:lvl1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1pPr>
            <a:lvl2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2pPr>
            <a:lvl3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3pPr>
            <a:lvl4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4pPr>
            <a:lvl5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5pPr>
            <a:lvl6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6pPr>
            <a:lvl7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7pPr>
            <a:lvl8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8pPr>
            <a:lvl9pPr algn="r">
              <a:defRPr sz="1388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r" rtl="1">
              <a:defRPr sz="1388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pPr>
            <a:r>
              <a:rPr sz="1388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rPr>
              <a:t>پرسش: نمای بهسازی‌شده، کلید و مقدار: نمای اصلی</a:t>
            </a:r>
          </a:p>
        </p:txBody>
      </p:sp>
      <p:sp>
        <p:nvSpPr>
          <p:cNvPr id="14" name="block-label">
            <a:extLst xmlns:a="http://schemas.openxmlformats.org/drawingml/2006/main">
              <a:ext uri="{FF2B5EF4-FFF2-40B4-BE49-F238E27FC236}">
                <a16:creationId xmlns:a16="http://schemas.microsoft.com/office/drawing/2014/main" id="{ACCE30EF-1CE4-4661-9DAA-08E7EE6B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81350"/>
            <a:ext cx="5219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4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  <a:lvl1pPr algn="r">
              <a:defRPr sz="14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1pPr>
            <a:lvl2pPr algn="r">
              <a:defRPr sz="14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2pPr>
            <a:lvl3pPr algn="r">
              <a:defRPr sz="14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3pPr>
            <a:lvl4pPr algn="r">
              <a:defRPr sz="14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4pPr>
            <a:lvl5pPr algn="r">
              <a:defRPr sz="14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5pPr>
            <a:lvl6pPr algn="r">
              <a:defRPr sz="14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6pPr>
            <a:lvl7pPr algn="r">
              <a:defRPr sz="14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7pPr>
            <a:lvl8pPr algn="r">
              <a:defRPr sz="14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8pPr>
            <a:lvl9pPr algn="r">
              <a:defRPr sz="14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r" rtl="1">
              <a:defRPr sz="1425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1425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تعریف مشترک بلوک B با ورودی‌های X و Y</a:t>
            </a:r>
          </a:p>
        </p:txBody>
      </p:sp>
      <p:sp>
        <p:nvSpPr>
          <p:cNvPr id="15" name="eq-qkv">
            <a:extLst xmlns:a="http://schemas.openxmlformats.org/drawingml/2006/main">
              <a:ext uri="{FF2B5EF4-FFF2-40B4-BE49-F238E27FC236}">
                <a16:creationId xmlns:a16="http://schemas.microsoft.com/office/drawing/2014/main" id="{87189D3A-ED0C-4A87-A177-6277CA38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24250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  <a:lvl1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1pPr>
            <a:lvl2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2pPr>
            <a:lvl3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3pPr>
            <a:lvl4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4pPr>
            <a:lvl5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5pPr>
            <a:lvl6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6pPr>
            <a:lvl7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7pPr>
            <a:lvl8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8pPr>
            <a:lvl9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l" rtl="0">
              <a:defRPr sz="180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180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Q = LN</a:t>
            </a:r>
            <a:r>
              <a:rPr sz="1350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q</a:t>
            </a:r>
            <a:r>
              <a:rPr sz="180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(X), K = V = LN</a:t>
            </a:r>
            <a:r>
              <a:rPr sz="1350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kv</a:t>
            </a:r>
            <a:r>
              <a:rPr sz="180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(Y)</a:t>
            </a:r>
          </a:p>
        </p:txBody>
      </p:sp>
      <p:sp>
        <p:nvSpPr>
          <p:cNvPr id="16" name="eq-residual">
            <a:extLst xmlns:a="http://schemas.openxmlformats.org/drawingml/2006/main">
              <a:ext uri="{FF2B5EF4-FFF2-40B4-BE49-F238E27FC236}">
                <a16:creationId xmlns:a16="http://schemas.microsoft.com/office/drawing/2014/main" id="{F0D74121-C97E-4525-8FA1-1DC39D8B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24300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  <a:lvl1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1pPr>
            <a:lvl2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2pPr>
            <a:lvl3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3pPr>
            <a:lvl4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4pPr>
            <a:lvl5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5pPr>
            <a:lvl6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6pPr>
            <a:lvl7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7pPr>
            <a:lvl8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8pPr>
            <a:lvl9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l" rtl="0">
              <a:defRPr sz="187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187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Z = X + MHA(Q,K,V)</a:t>
            </a:r>
          </a:p>
        </p:txBody>
      </p:sp>
      <p:sp>
        <p:nvSpPr>
          <p:cNvPr id="17" name="eq-block">
            <a:extLst xmlns:a="http://schemas.openxmlformats.org/drawingml/2006/main">
              <a:ext uri="{FF2B5EF4-FFF2-40B4-BE49-F238E27FC236}">
                <a16:creationId xmlns:a16="http://schemas.microsoft.com/office/drawing/2014/main" id="{DFFE976A-B0DE-4321-BCD5-8BB02E18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  <a:lvl1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1pPr>
            <a:lvl2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2pPr>
            <a:lvl3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3pPr>
            <a:lvl4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4pPr>
            <a:lvl5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5pPr>
            <a:lvl6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6pPr>
            <a:lvl7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7pPr>
            <a:lvl8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8pPr>
            <a:lvl9pPr algn="l">
              <a:defRPr sz="187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l" rtl="0">
              <a:defRPr sz="187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187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B(X,Y) = Z + FFN(LN(Z))</a:t>
            </a:r>
          </a:p>
        </p:txBody>
      </p:sp>
      <p:sp>
        <p:nvSpPr>
          <p:cNvPr id="18" name="eq-head">
            <a:extLst xmlns:a="http://schemas.openxmlformats.org/drawingml/2006/main">
              <a:ext uri="{FF2B5EF4-FFF2-40B4-BE49-F238E27FC236}">
                <a16:creationId xmlns:a16="http://schemas.microsoft.com/office/drawing/2014/main" id="{EE7B3AD3-FD95-4A65-A85A-9E93466A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29175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  <a:lvl1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1pPr>
            <a:lvl2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2pPr>
            <a:lvl3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3pPr>
            <a:lvl4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4pPr>
            <a:lvl5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5pPr>
            <a:lvl6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6pPr>
            <a:lvl7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7pPr>
            <a:lvl8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8pPr>
            <a:lvl9pPr algn="l">
              <a:defRPr sz="1800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l" rtl="0">
              <a:defRPr sz="180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180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Attn(q,k,v) = softmax(qk</a:t>
            </a:r>
            <a:r>
              <a:rPr sz="1350" b="0" baseline="30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T</a:t>
            </a:r>
            <a:r>
              <a:rPr sz="180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 / √d</a:t>
            </a:r>
            <a:r>
              <a:rPr sz="1350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k</a:t>
            </a:r>
            <a:r>
              <a:rPr sz="1800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)v</a:t>
            </a:r>
          </a:p>
        </p:txBody>
      </p:sp>
      <p:sp>
        <p:nvSpPr>
          <p:cNvPr id="19" name="head-note">
            <a:extLst xmlns:a="http://schemas.openxmlformats.org/drawingml/2006/main">
              <a:ext uri="{FF2B5EF4-FFF2-40B4-BE49-F238E27FC236}">
                <a16:creationId xmlns:a16="http://schemas.microsoft.com/office/drawing/2014/main" id="{A93E569E-F180-4D91-A22F-10BA0603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29175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defPPr>
            <a:lvl1pPr algn="r">
              <a:defRPr sz="1275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1pPr>
            <a:lvl2pPr algn="r">
              <a:defRPr sz="1275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2pPr>
            <a:lvl3pPr algn="r">
              <a:defRPr sz="1275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3pPr>
            <a:lvl4pPr algn="r">
              <a:defRPr sz="1275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4pPr>
            <a:lvl5pPr algn="r">
              <a:defRPr sz="1275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5pPr>
            <a:lvl6pPr algn="r">
              <a:defRPr sz="1275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6pPr>
            <a:lvl7pPr algn="r">
              <a:defRPr sz="1275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7pPr>
            <a:lvl8pPr algn="r">
              <a:defRPr sz="1275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8pPr>
            <a:lvl9pPr algn="r">
              <a:defRPr sz="1275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r" rtl="1">
              <a:defRPr sz="1275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pPr>
            <a:r>
              <a:rPr sz="1275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rPr>
              <a:t>در هر سر، q و k و v پس از نگاشت خطی‌اند</a:t>
            </a:r>
          </a:p>
        </p:txBody>
      </p:sp>
      <p:sp>
        <p:nvSpPr>
          <p:cNvPr id="20" name="gate-label">
            <a:extLst xmlns:a="http://schemas.openxmlformats.org/drawingml/2006/main">
              <a:ext uri="{FF2B5EF4-FFF2-40B4-BE49-F238E27FC236}">
                <a16:creationId xmlns:a16="http://schemas.microsoft.com/office/drawing/2014/main" id="{C5EB7815-774A-48BF-9540-C91F8B51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defPPr>
            <a:lvl1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1pPr>
            <a:lvl2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2pPr>
            <a:lvl3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3pPr>
            <a:lvl4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4pPr>
            <a:lvl5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5pPr>
            <a:lvl6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6pPr>
            <a:lvl7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7pPr>
            <a:lvl8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8pPr>
            <a:lvl9pPr algn="r">
              <a:defRPr sz="1725" b="1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r" rtl="1">
              <a:defRPr sz="1725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defRPr>
            </a:pPr>
            <a:r>
              <a:rPr sz="1725" b="1" lang="fa-IR">
                <a:solidFill>
                  <a:srgbClr val="153D42"/>
                </a:solidFill>
                <a:latin typeface="Vazirmatn"/>
                <a:ea typeface="Vazirmatn"/>
                <a:cs typeface="Vazirmatn"/>
              </a:rPr>
              <a:t>دروازه و ترکیب بازنمایی‌های اصلاح‌شده</a:t>
            </a:r>
          </a:p>
        </p:txBody>
      </p:sp>
      <p:sp>
        <p:nvSpPr>
          <p:cNvPr id="21" name="eq-gate">
            <a:extLst xmlns:a="http://schemas.openxmlformats.org/drawingml/2006/main">
              <a:ext uri="{FF2B5EF4-FFF2-40B4-BE49-F238E27FC236}">
                <a16:creationId xmlns:a16="http://schemas.microsoft.com/office/drawing/2014/main" id="{D156BE2A-CD99-4A4D-9942-4FBE920F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5219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  <a:lvl1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1pPr>
            <a:lvl2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2pPr>
            <a:lvl3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3pPr>
            <a:lvl4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4pPr>
            <a:lvl5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5pPr>
            <a:lvl6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6pPr>
            <a:lvl7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7pPr>
            <a:lvl8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8pPr>
            <a:lvl9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l" rtl="0">
              <a:def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g = σ(W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2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 GELU(W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1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[H′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n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; H′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e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]))</a:t>
            </a:r>
          </a:p>
        </p:txBody>
      </p:sp>
      <p:sp>
        <p:nvSpPr>
          <p:cNvPr id="22" name="eq-fused">
            <a:extLst xmlns:a="http://schemas.openxmlformats.org/drawingml/2006/main">
              <a:ext uri="{FF2B5EF4-FFF2-40B4-BE49-F238E27FC236}">
                <a16:creationId xmlns:a16="http://schemas.microsoft.com/office/drawing/2014/main" id="{FCD1A6D3-F57F-4BB2-A1B1-47B09856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62600"/>
            <a:ext cx="5219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defPPr>
            <a:lvl1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1pPr>
            <a:lvl2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2pPr>
            <a:lvl3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3pPr>
            <a:lvl4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4pPr>
            <a:lvl5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5pPr>
            <a:lvl6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6pPr>
            <a:lvl7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7pPr>
            <a:lvl8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8pPr>
            <a:lvl9pPr algn="l">
              <a:defRPr sz="2025" b="0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l" rtl="0">
              <a:def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defRPr>
            </a:pP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H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f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 = g ⊙ H′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e</a:t>
            </a:r>
            <a:r>
              <a:rPr sz="2025" b="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 + (1 − g) ⊙ H′</a:t>
            </a:r>
            <a:r>
              <a:rPr sz="1519" b="0" baseline="-25000" lang="en-US">
                <a:solidFill>
                  <a:srgbClr val="1F2933"/>
                </a:solidFill>
                <a:latin typeface="Vazirmatn"/>
                <a:ea typeface="Vazirmatn"/>
                <a:cs typeface="Vazirmatn"/>
              </a:rPr>
              <a:t>n</a:t>
            </a:r>
          </a:p>
        </p:txBody>
      </p:sp>
      <p:sp>
        <p:nvSpPr>
          <p:cNvPr id="23" name="block-note">
            <a:extLst xmlns:a="http://schemas.openxmlformats.org/drawingml/2006/main">
              <a:ext uri="{FF2B5EF4-FFF2-40B4-BE49-F238E27FC236}">
                <a16:creationId xmlns:a16="http://schemas.microsoft.com/office/drawing/2014/main" id="{45AFA326-E9AF-4005-9008-F6AF8C79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820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35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defPPr>
            <a:lvl1pPr algn="r">
              <a:defRPr sz="135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1pPr>
            <a:lvl2pPr algn="r">
              <a:defRPr sz="135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2pPr>
            <a:lvl3pPr algn="r">
              <a:defRPr sz="135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3pPr>
            <a:lvl4pPr algn="r">
              <a:defRPr sz="135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4pPr>
            <a:lvl5pPr algn="r">
              <a:defRPr sz="135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5pPr>
            <a:lvl6pPr algn="r">
              <a:defRPr sz="135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6pPr>
            <a:lvl7pPr algn="r">
              <a:defRPr sz="135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7pPr>
            <a:lvl8pPr algn="r">
              <a:defRPr sz="135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8pPr>
            <a:lvl9pPr algn="r">
              <a:defRPr sz="135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r" rtl="1">
              <a:defRPr sz="135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pPr>
            <a:r>
              <a:rPr sz="1350" b="0" lang="fa-IR">
                <a:solidFill>
                  <a:srgbClr val="52606D"/>
                </a:solidFill>
                <a:latin typeface="Vazirmatn"/>
                <a:ea typeface="Vazirmatn"/>
                <a:cs typeface="Vazirmatn"/>
              </a:rPr>
              <a:t>دو بلوک B وزن‌های مستقل دارند و هم‌زمان از ورودی‌های پیش از به‌روزرسانی استفاده می‌کنند</a:t>
            </a:r>
          </a:p>
        </p:txBody>
      </p:sp>
      <p:sp>
        <p:nvSpPr>
          <p:cNvPr id="24" name="settings">
            <a:extLst xmlns:a="http://schemas.openxmlformats.org/drawingml/2006/main">
              <a:ext uri="{FF2B5EF4-FFF2-40B4-BE49-F238E27FC236}">
                <a16:creationId xmlns:a16="http://schemas.microsoft.com/office/drawing/2014/main" id="{E2A48BCE-06ED-4316-8B25-C377C35C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67450"/>
            <a:ext cx="912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defPPr>
            <a:lvl1pPr algn="r">
              <a:defRPr sz="12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1pPr>
            <a:lvl2pPr algn="r">
              <a:defRPr sz="12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2pPr>
            <a:lvl3pPr algn="r">
              <a:defRPr sz="12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3pPr>
            <a:lvl4pPr algn="r">
              <a:defRPr sz="12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4pPr>
            <a:lvl5pPr algn="r">
              <a:defRPr sz="12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5pPr>
            <a:lvl6pPr algn="r">
              <a:defRPr sz="12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6pPr>
            <a:lvl7pPr algn="r">
              <a:defRPr sz="12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7pPr>
            <a:lvl8pPr algn="r">
              <a:defRPr sz="12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8pPr>
            <a:lvl9pPr algn="r">
              <a:defRPr sz="1200" b="0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r" rtl="0">
              <a:defRPr sz="1200" b="0" lang="en-US">
                <a:solidFill>
                  <a:srgbClr val="52606D"/>
                </a:solidFill>
                <a:latin typeface="Vazirmatn"/>
                <a:ea typeface="Vazirmatn"/>
                <a:cs typeface="Vazirmatn"/>
              </a:defRPr>
            </a:pPr>
            <a:r>
              <a:rPr sz="1200" b="0" lang="en-US">
                <a:solidFill>
                  <a:srgbClr val="52606D"/>
                </a:solidFill>
                <a:latin typeface="Vazirmatn"/>
                <a:ea typeface="Vazirmatn"/>
                <a:cs typeface="Vazirmatn"/>
              </a:rPr>
              <a:t>LN: Layer Normalization    FFN: Feed-Forward Network    Heads: 4    FFN hidden dimension: 2D    Initial gate: 0.5</a:t>
            </a:r>
          </a:p>
        </p:txBody>
      </p:sp>
      <p:sp>
        <p:nvSpPr>
          <p:cNvPr id="25" name="folio">
            <a:extLst xmlns:a="http://schemas.openxmlformats.org/drawingml/2006/main">
              <a:ext uri="{FF2B5EF4-FFF2-40B4-BE49-F238E27FC236}">
                <a16:creationId xmlns:a16="http://schemas.microsoft.com/office/drawing/2014/main" id="{CB90AA94-3BA9-4C9F-A848-E1CB75C0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defPPr>
            <a:lvl1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lvl1pPr>
            <a:lvl2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lvl2pPr>
            <a:lvl3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lvl3pPr>
            <a:lvl4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lvl4pPr>
            <a:lvl5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lvl5pPr>
            <a:lvl6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lvl6pPr>
            <a:lvl7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lvl7pPr>
            <a:lvl8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lvl8pPr>
            <a:lvl9pPr algn="l">
              <a:defRPr sz="1200" b="0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lvl9pPr>
          </a:lstStyle>
          <a:p xmlns:a="http://schemas.openxmlformats.org/drawingml/2006/main">
            <a:pPr algn="l" rtl="1">
              <a:def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defRPr>
            </a:pPr>
            <a:r>
              <a:rPr sz="1200" b="0" lang="fa-IR">
                <a:solidFill>
                  <a:srgbClr val="7B8794"/>
                </a:solidFill>
                <a:latin typeface="Vazirmatn"/>
                <a:ea typeface="Vazirmatn"/>
                <a:cs typeface="Vazirmatn"/>
              </a:rPr>
              <a:t>۱۲ از ۲۳</a:t>
            </a:r>
          </a:p>
        </p:txBody>
      </p:sp>
    </p:spTree>
    <p:extLst>
      <p:ext uri="{BB962C8B-B14F-4D97-AF65-F5344CB8AC3E}">
        <p14:creationId xmlns:p14="http://schemas.microsoft.com/office/powerpoint/2010/main" val="356584057"/>
      </p:ext>
    </p:extLst>
  </p:cSld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Vazirmatn" pitchFamily="0" charset="1"/>
        <a:cs typeface="Vazirmatn" pitchFamily="0" charset="1"/>
      </a:majorFont>
      <a:minorFont>
        <a:latin typeface="Vazirmatn" pitchFamily="0" charset="1"/>
        <a:ea typeface="Vazirmatn" pitchFamily="0" charset="1"/>
        <a:cs typeface="Vazirmatn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Vazirmatn" pitchFamily="0" charset="1"/>
        <a:ea typeface=""/>
        <a:cs typeface=""/>
      </a:majorFont>
      <a:minorFont>
        <a:latin typeface="Vazirmat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2026-10-15T11:59:32Z</dcterms:created>
  <dc:creator>Walnut Exporter</dc:creator>
  <dc:description/>
  <dc:language>en-US</dc:language>
  <cp:lastModifiedBy/>
  <dcterms:modified xsi:type="dcterms:W3CDTF">2026-10-17T21:00:30Z</dcterms:modified>
  <cp:revision>11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