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Relationship Id="rId53" Type="http://schemas.openxmlformats.org/officeDocument/2006/relationships/slide" Target="slides/slide34.xml"/><Relationship Id="rId54" Type="http://schemas.openxmlformats.org/officeDocument/2006/relationships/slide" Target="slides/slide35.xml"/><Relationship Id="rId55" Type="http://schemas.openxmlformats.org/officeDocument/2006/relationships/slide" Target="slides/slide36.xml"/><Relationship Id="rId56" Type="http://schemas.openxmlformats.org/officeDocument/2006/relationships/slide" Target="slides/slide37.xml"/><Relationship Id="rId57" Type="http://schemas.openxmlformats.org/officeDocument/2006/relationships/slide" Target="slides/slide38.xml"/><Relationship Id="rId58" Type="http://schemas.openxmlformats.org/officeDocument/2006/relationships/slide" Target="slides/slide39.xml"/><Relationship Id="rId5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2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۳۵٫۶۳٪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۳۲٫۶۷٪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۳۰٫۰۱٪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معمولی</c:v>
                </c:pt>
                <c:pt idx="1">
                  <c:v>فقط نویز</c:v>
                </c:pt>
                <c:pt idx="2">
                  <c:v>pMCT</c:v>
                </c:pt>
                <c:pt idx="3">
                  <c:v>چندشرایطی
مخابراتی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4"/>
                <c:pt idx="0">
                  <c:v>0.3563</c:v>
                </c:pt>
                <c:pt idx="1">
                  <c:v>0.3267</c:v>
                </c:pt>
                <c:pt idx="2">
                  <c:v>0.3001</c:v>
                </c:pt>
                <c:pt idx="3">
                  <c:v>0.258</c:v>
                </c:pt>
              </c:numCache>
            </c:numRef>
          </c:val>
        </c:ser>
        <c:gapWidth val="100"/>
        <c:overlap val="0"/>
        <c:axId val="3841653"/>
        <c:axId val="90030775"/>
      </c:barChart>
      <c:catAx>
        <c:axId val="384165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72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90030775"/>
        <c:crosses val="autoZero"/>
        <c:auto val="1"/>
        <c:lblAlgn val="ctr"/>
        <c:lblOffset val="100"/>
        <c:noMultiLvlLbl val="0"/>
      </c:catAx>
      <c:valAx>
        <c:axId val="90030775"/>
        <c:scaling>
          <c:orientation val="minMax"/>
          <c:max val="0.4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3841653"/>
        <c:crossBetween val="between"/>
        <c:majorUnit val="0.10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۱۷٫۸۳٪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۱۷٫۷۴٪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۱۷٫۶۴٪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0.1783</c:v>
                </c:pt>
                <c:pt idx="1">
                  <c:v>0.1774</c:v>
                </c:pt>
                <c:pt idx="2">
                  <c:v>0.1764</c:v>
                </c:pt>
              </c:numCache>
            </c:numRef>
          </c:val>
        </c:ser>
        <c:gapWidth val="90"/>
        <c:overlap val="0"/>
        <c:axId val="77510319"/>
        <c:axId val="71738067"/>
      </c:barChart>
      <c:catAx>
        <c:axId val="7751031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71738067"/>
        <c:crosses val="autoZero"/>
        <c:auto val="1"/>
        <c:lblAlgn val="ctr"/>
        <c:lblOffset val="100"/>
        <c:noMultiLvlLbl val="0"/>
      </c:catAx>
      <c:valAx>
        <c:axId val="71738067"/>
        <c:scaling>
          <c:orientation val="minMax"/>
          <c:max val="0.2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77510319"/>
        <c:crossBetween val="between"/>
        <c:majorUnit val="0.05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۲۵٫۳۷٪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0.258</c:v>
                </c:pt>
                <c:pt idx="1">
                  <c:v>0.2584</c:v>
                </c:pt>
                <c:pt idx="2">
                  <c:v>0.2537</c:v>
                </c:pt>
              </c:numCache>
            </c:numRef>
          </c:val>
        </c:ser>
        <c:gapWidth val="90"/>
        <c:overlap val="0"/>
        <c:axId val="37489833"/>
        <c:axId val="30107813"/>
      </c:barChart>
      <c:catAx>
        <c:axId val="374898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30107813"/>
        <c:crosses val="autoZero"/>
        <c:auto val="1"/>
        <c:lblAlgn val="ctr"/>
        <c:lblOffset val="100"/>
        <c:noMultiLvlLbl val="0"/>
      </c:catAx>
      <c:valAx>
        <c:axId val="30107813"/>
        <c:scaling>
          <c:orientation val="minMax"/>
          <c:max val="0.3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37489833"/>
        <c:crossBetween val="between"/>
        <c:majorUnit val="0.08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3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4"/>
            <c:spPr>
              <a:solidFill>
                <a:srgbClr val="bdc7cb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۶۳٫۵۰٪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۶۵٫۸۸٪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۶۹٫۲۳٪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۶۹٫۶۹٪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۷۶٫۸۵٪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همجوشی
دوسویه</c:v>
                </c:pt>
                <c:pt idx="1">
                  <c:v>فقط دروازه</c:v>
                </c:pt>
                <c:pt idx="2">
                  <c:v>فقط بازنمایی
اصلی¹</c:v>
                </c:pt>
                <c:pt idx="3">
                  <c:v>فقط بازنمایی
بهسازی‌شده¹</c:v>
                </c:pt>
                <c:pt idx="4">
                  <c:v>خط مبنای
چندشرایطی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5"/>
                <c:pt idx="0">
                  <c:v>0.635</c:v>
                </c:pt>
                <c:pt idx="1">
                  <c:v>0.6588</c:v>
                </c:pt>
                <c:pt idx="2">
                  <c:v>0.6923</c:v>
                </c:pt>
                <c:pt idx="3">
                  <c:v>0.6969</c:v>
                </c:pt>
                <c:pt idx="4">
                  <c:v>0.7685</c:v>
                </c:pt>
              </c:numCache>
            </c:numRef>
          </c:val>
        </c:ser>
        <c:gapWidth val="90"/>
        <c:overlap val="0"/>
        <c:axId val="70594981"/>
        <c:axId val="58933483"/>
      </c:barChart>
      <c:catAx>
        <c:axId val="7059498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58933483"/>
        <c:crosses val="autoZero"/>
        <c:auto val="1"/>
        <c:lblAlgn val="ctr"/>
        <c:lblOffset val="100"/>
        <c:noMultiLvlLbl val="0"/>
      </c:catAx>
      <c:valAx>
        <c:axId val="58933483"/>
        <c:scaling>
          <c:orientation val="minMax"/>
          <c:max val="0.83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70594981"/>
        <c:crossBetween val="between"/>
        <c:majorUnit val="0.207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7b879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\+0.00;\-0.00;0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+۰٫۸۶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+۰٫۳۵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−۶٫۰۴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−۸٫۳۹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−۵٫۰۳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AGFarsdat</c:v>
                </c:pt>
                <c:pt idx="1">
                  <c:v>Common Voice</c:v>
                </c:pt>
                <c:pt idx="2">
                  <c:v>FLEURS</c:v>
                </c:pt>
                <c:pt idx="3">
                  <c:v>PersianSpeech¹</c:v>
                </c:pt>
                <c:pt idx="4">
                  <c:v>Persian Speech
Corpus</c:v>
                </c:pt>
              </c:strCache>
            </c:strRef>
          </c:cat>
          <c:val>
            <c:numRef>
              <c:f>0</c:f>
              <c:numCache>
                <c:formatCode>\+0.00;\-0.00;0</c:formatCode>
                <c:ptCount val="5"/>
                <c:pt idx="0">
                  <c:v>0.86</c:v>
                </c:pt>
                <c:pt idx="1">
                  <c:v>0.35</c:v>
                </c:pt>
                <c:pt idx="2">
                  <c:v>-6.04</c:v>
                </c:pt>
                <c:pt idx="3">
                  <c:v>-8.39</c:v>
                </c:pt>
                <c:pt idx="4">
                  <c:v>-5.03</c:v>
                </c:pt>
              </c:numCache>
            </c:numRef>
          </c:val>
        </c:ser>
        <c:gapWidth val="120"/>
        <c:overlap val="0"/>
        <c:axId val="98375351"/>
        <c:axId val="34982454"/>
      </c:barChart>
      <c:catAx>
        <c:axId val="9837535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7280">
            <a:solidFill>
              <a:srgbClr val="153d42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34982454"/>
        <c:crosses val="autoZero"/>
        <c:auto val="1"/>
        <c:lblAlgn val="ctr"/>
        <c:lblOffset val="100"/>
        <c:noMultiLvlLbl val="0"/>
      </c:catAx>
      <c:valAx>
        <c:axId val="34982454"/>
        <c:scaling>
          <c:orientation val="minMax"/>
          <c:max val="2"/>
          <c:min val="-10"/>
        </c:scaling>
        <c:delete val="0"/>
        <c:axPos val="l"/>
        <c:majorGridlines>
          <c:spPr>
            <a:ln w="6840">
              <a:solidFill>
                <a:srgbClr val="d5dcdd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98375351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3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6" name="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8" name="۱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685800" y="476280"/>
            <a:ext cx="1254600" cy="1254600"/>
          </a:xfrm>
          <a:prstGeom prst="rect">
            <a:avLst/>
          </a:prstGeom>
          <a:ln w="0">
            <a:noFill/>
          </a:ln>
        </p:spPr>
      </p:pic>
      <p:sp>
        <p:nvSpPr>
          <p:cNvPr id="20" name="دانشگاه صنعتی شریف"/>
          <p:cNvSpPr/>
          <p:nvPr/>
        </p:nvSpPr>
        <p:spPr>
          <a:xfrm>
            <a:off x="4762440" y="504720"/>
            <a:ext cx="67410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دانشگاه صنعتی شریف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دانشکده مهندسی کامپیوتر"/>
          <p:cNvSpPr/>
          <p:nvPr/>
        </p:nvSpPr>
        <p:spPr>
          <a:xfrm>
            <a:off x="4762440" y="1009800"/>
            <a:ext cx="67410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دانشکده مهندسی کامپیوتر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571480" y="1733400"/>
            <a:ext cx="893448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" name="بازشناسی مقاوم گفتار"/>
          <p:cNvSpPr/>
          <p:nvPr/>
        </p:nvSpPr>
        <p:spPr>
          <a:xfrm>
            <a:off x="2190600" y="2324160"/>
            <a:ext cx="9312480" cy="10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بازشناسی مقاوم گفتار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در زبان فارسی"/>
          <p:cNvSpPr/>
          <p:nvPr/>
        </p:nvSpPr>
        <p:spPr>
          <a:xfrm>
            <a:off x="2190600" y="3476520"/>
            <a:ext cx="9312480" cy="10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در زبان فارسی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پویا فلاح سیچانی"/>
          <p:cNvSpPr/>
          <p:nvPr/>
        </p:nvSpPr>
        <p:spPr>
          <a:xfrm>
            <a:off x="6191280" y="5238720"/>
            <a:ext cx="5312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پویا فلاح سیچانی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استاد راهنما: دکتر حسین صامتی"/>
          <p:cNvSpPr/>
          <p:nvPr/>
        </p:nvSpPr>
        <p:spPr>
          <a:xfrm>
            <a:off x="6191280" y="5762520"/>
            <a:ext cx="531216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استاد راهنما: دکتر حسین صامتی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دفاع پایان‌نامه کارشناسی ارشد"/>
          <p:cNvSpPr/>
          <p:nvPr/>
        </p:nvSpPr>
        <p:spPr>
          <a:xfrm>
            <a:off x="685800" y="5381640"/>
            <a:ext cx="418824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دفاع پایان‌نامه کارشناسی ارشد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مسئله پژوهش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مسئله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شکاف میان گفتار آموزشی و تماس واقع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شکاف میان گفتار آموزشی و تماس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31" name="۲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گفتار در دسترس"/>
          <p:cNvSpPr/>
          <p:nvPr/>
        </p:nvSpPr>
        <p:spPr>
          <a:xfrm>
            <a:off x="6667560" y="2095560"/>
            <a:ext cx="483588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در دسترس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پیکره‌های عمومی فارسی&#10;قطعه‌های عمدتاً کوتاه&#10;سبک‌ها و شرایط ضبط متنوع"/>
          <p:cNvSpPr/>
          <p:nvPr/>
        </p:nvSpPr>
        <p:spPr>
          <a:xfrm>
            <a:off x="6667560" y="2905200"/>
            <a:ext cx="4835880" cy="19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پیکره‌های عمومی فارسی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قطعه‌های عمدتاً کوتاه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سبک‌ها و شرایط ضبط متنوع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85800" y="1952640"/>
            <a:ext cx="5254920" cy="3235680"/>
          </a:xfrm>
          <a:prstGeom prst="rect">
            <a:avLst/>
          </a:prstGeom>
          <a:solidFill>
            <a:srgbClr val="153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5" name="شرایط تماس"/>
          <p:cNvSpPr/>
          <p:nvPr/>
        </p:nvSpPr>
        <p:spPr>
          <a:xfrm>
            <a:off x="990720" y="2143080"/>
            <a:ext cx="460728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f7f6f2"/>
                </a:solidFill>
                <a:latin typeface="Vazirmatn"/>
                <a:cs typeface="Vazirmatn"/>
              </a:rPr>
              <a:t>شرایط تماس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نویز و پهنای‌باند محدود&#10;اعوجاج کدک و افت بسته&#10;تلفن و تماس اینترنتی"/>
          <p:cNvSpPr/>
          <p:nvPr/>
        </p:nvSpPr>
        <p:spPr>
          <a:xfrm>
            <a:off x="990720" y="2952720"/>
            <a:ext cx="4607280" cy="19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نویز و پهنای‌باند محدود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اعوجاج کدک و افت بسته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هدف: کاهش خطای تماس واقعی با داده‌های موجود"/>
          <p:cNvSpPr/>
          <p:nvPr/>
        </p:nvSpPr>
        <p:spPr>
          <a:xfrm>
            <a:off x="685800" y="5391000"/>
            <a:ext cx="1081764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هدف: کاهش خطای تماس واقعی با داده‌های موجود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گردآوری تماس رونویسی‌شده پرهزینه و حساس به حریم خصوصی است"/>
          <p:cNvSpPr/>
          <p:nvPr/>
        </p:nvSpPr>
        <p:spPr>
          <a:xfrm>
            <a:off x="685800" y="601992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گردآوری تماس رونویسی‌شده پرهزینه و حساس به حریم خصوصی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مرور روش‌های نوین بازشناسی گفتار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آموزش، سازگارسازی و اصلاح خروج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آموزش، سازگارسازی و اصلاح خروجی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42" name="۳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3" name=""/>
          <p:cNvGraphicFramePr/>
          <p:nvPr/>
        </p:nvGraphicFramePr>
        <p:xfrm>
          <a:off x="685800" y="1866960"/>
          <a:ext cx="10819800" cy="382824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 (2022)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Acoustic-aware Aug. (2025*)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با نویز و تخریب کانال،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همراه با تنوع آکوستیکی هدفمند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آموزش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داده‌افزایی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MCAT–LoRA (2025) / SPS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Neyshekar (2026*)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ریزتنظیم کامل یا کم‌پارامتر،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 داده متناسب با زبان و دامنه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انطباق مدل‌های پایه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Bhogale et al.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Cross-lingual (2025) / DASH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پیش‌آموزش با صوت بی‌برچسب،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خودتقطیر و پالایش شبه‌برچسب‌ها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یادگیری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نیمه‌نظارتی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ClozeGER / Listen Again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Conservative Filtering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اصلاح فرضیه‌های بازشناس با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مدل زبانی و شواهد صوتی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اصلاح با مدل زبانی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4" name="ارزیابی‌های جدید"/>
          <p:cNvSpPr/>
          <p:nvPr/>
        </p:nvSpPr>
        <p:spPr>
          <a:xfrm>
            <a:off x="9010800" y="5810400"/>
            <a:ext cx="2492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580" spc="-1" strike="noStrike">
                <a:solidFill>
                  <a:srgbClr val="153d42"/>
                </a:solidFill>
                <a:latin typeface="Vazirmatn"/>
                <a:cs typeface="Vazirmatn"/>
              </a:rPr>
              <a:t>ارزیابی‌های جدید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peech Robust Bench (2025)   URGENT (2025)   PSRB (2025*)"/>
          <p:cNvSpPr/>
          <p:nvPr/>
        </p:nvSpPr>
        <p:spPr>
          <a:xfrm>
            <a:off x="685800" y="5810400"/>
            <a:ext cx="80935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Speech Robust Bench (2025)   URGENT (2025)   PSRB (2025)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مرور روش‌های نوین بازشناسی گفتار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بهسازی گفتار و ادغام نماها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بهسازی گفتار و ادغام نماها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49" name="۴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"/>
          <p:cNvGraphicFramePr/>
          <p:nvPr/>
        </p:nvGraphicFramePr>
        <p:xfrm>
          <a:off x="685800" y="1866960"/>
          <a:ext cx="10819800" cy="413352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Schrödinger Bridge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Decoupled SE–ASR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بازسازی گفتار با بهساز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پیش‌بینی‌گر یا مولد پیش از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پیش 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Dissen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SSL-MSE / Sato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بهساز با زیان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یا بازنمایی‌های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وظیفه‌محور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FAT-HuBERT (2023)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Wav2code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تعامل و ترکیب ویژگی‌های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بازنمایی اصلی و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همجوشی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فضای بازنمایی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Adaptive Bridge (2024, 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Conf-OA / Rethink-and-Refine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آمیختن تطبیقی دو موج با پل،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اطمینان بازشناس یا پالایش قطعه‌ای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ترکیب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سطح موج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1" name="افزایش کیفیت شنیداری الزاماً به کاهش خطای بازشناسی منجر نمی‌شود"/>
          <p:cNvSpPr/>
          <p:nvPr/>
        </p:nvSpPr>
        <p:spPr>
          <a:xfrm>
            <a:off x="685800" y="6114960"/>
            <a:ext cx="10817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افزایش کیفیت شنیداری الزاماً به کاهش خطای بازشناسی منجر نمی‌شود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"/>
          <p:cNvCxnSpPr>
            <a:stCxn id="53" idx="1"/>
            <a:endCxn id="54" idx="3"/>
          </p:cNvCxnSpPr>
          <p:nvPr/>
        </p:nvCxnSpPr>
        <p:spPr>
          <a:xfrm flipV="1" rot="10800000">
            <a:off x="3711960" y="3760920"/>
            <a:ext cx="1955880" cy="1333800"/>
          </a:xfrm>
          <a:prstGeom prst="bentConnector3">
            <a:avLst>
              <a:gd name="adj1" fmla="val 49889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55" name=""/>
          <p:cNvCxnSpPr>
            <a:stCxn id="53" idx="1"/>
            <a:endCxn id="56" idx="3"/>
          </p:cNvCxnSpPr>
          <p:nvPr/>
        </p:nvCxnSpPr>
        <p:spPr>
          <a:xfrm flipH="1">
            <a:off x="3711960" y="3760920"/>
            <a:ext cx="1955880" cy="28800"/>
          </a:xfrm>
          <a:prstGeom prst="straightConnector1">
            <a:avLst/>
          </a:prstGeom>
          <a:ln w="16193">
            <a:solidFill>
              <a:srgbClr val="52606d"/>
            </a:solidFill>
            <a:prstDash val="dash"/>
            <a:round/>
            <a:tailEnd len="sm" type="triangle" w="sm"/>
          </a:ln>
        </p:spPr>
      </p:cxnSp>
      <p:cxnSp>
        <p:nvCxnSpPr>
          <p:cNvPr id="57" name=""/>
          <p:cNvCxnSpPr>
            <a:stCxn id="53" idx="1"/>
            <a:endCxn id="58" idx="3"/>
          </p:cNvCxnSpPr>
          <p:nvPr/>
        </p:nvCxnSpPr>
        <p:spPr>
          <a:xfrm rot="10800000">
            <a:off x="3711960" y="2484360"/>
            <a:ext cx="1955880" cy="1276560"/>
          </a:xfrm>
          <a:prstGeom prst="bentConnector3">
            <a:avLst>
              <a:gd name="adj1" fmla="val 49889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59" name=""/>
          <p:cNvCxnSpPr>
            <a:stCxn id="60" idx="1"/>
            <a:endCxn id="53" idx="3"/>
          </p:cNvCxnSpPr>
          <p:nvPr/>
        </p:nvCxnSpPr>
        <p:spPr>
          <a:xfrm flipH="1">
            <a:off x="8379360" y="3760920"/>
            <a:ext cx="745920" cy="360"/>
          </a:xfrm>
          <a:prstGeom prst="straightConnector1">
            <a:avLst/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sp>
        <p:nvSpPr>
          <p:cNvPr id="61" name="طرح پژوهش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طرح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ساختار آزمایش‌ها و خط مبنا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ساختار آزمایش‌ها و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64" name="۵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ویسپر کوچک معمولی&#10;گفتار پایه و نمونه‌های بلند"/>
          <p:cNvSpPr/>
          <p:nvPr/>
        </p:nvSpPr>
        <p:spPr>
          <a:xfrm>
            <a:off x="9124920" y="3191040"/>
            <a:ext cx="2378520" cy="114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ویسپر کوچک معمولی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گفتار پایه و نمونه‌های بلند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ویسپر کوچک&#10;چندشرایطی"/>
          <p:cNvSpPr/>
          <p:nvPr/>
        </p:nvSpPr>
        <p:spPr>
          <a:xfrm>
            <a:off x="5667480" y="3191040"/>
            <a:ext cx="2711880" cy="1140120"/>
          </a:xfrm>
          <a:prstGeom prst="roundRect">
            <a:avLst>
              <a:gd name="adj" fmla="val 6667"/>
            </a:avLst>
          </a:prstGeom>
          <a:solidFill>
            <a:srgbClr val="e8f3f6"/>
          </a:solidFill>
          <a:ln w="19050">
            <a:solidFill>
              <a:srgbClr val="1d6f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ویسپر کوچک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چندشرایطی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افزودن گفتار تخریب‌شده"/>
          <p:cNvSpPr/>
          <p:nvPr/>
        </p:nvSpPr>
        <p:spPr>
          <a:xfrm>
            <a:off x="5667480" y="4467240"/>
            <a:ext cx="27118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افزودن گفتار تخریب‌شده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بهسازی و همجوشی"/>
          <p:cNvSpPr/>
          <p:nvPr/>
        </p:nvSpPr>
        <p:spPr>
          <a:xfrm>
            <a:off x="857160" y="2048040"/>
            <a:ext cx="2854800" cy="873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بهسازی و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پل تطبیقی&#10;روش مقایسه‌ای همجوشی"/>
          <p:cNvSpPr/>
          <p:nvPr/>
        </p:nvSpPr>
        <p:spPr>
          <a:xfrm>
            <a:off x="857160" y="3352680"/>
            <a:ext cx="2854800" cy="873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پل تطبیقی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روش مقایسه‌ای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افزودن ایران‌صدا&#10;حفظ ترکیب کامل داده‌ها"/>
          <p:cNvSpPr/>
          <p:nvPr/>
        </p:nvSpPr>
        <p:spPr>
          <a:xfrm>
            <a:off x="857160" y="4657680"/>
            <a:ext cx="2854800" cy="873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افزودن ایران‌صدا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حفظ ترکیب کامل داده‌ها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همجوشی و ایران‌صدا دو مسیر مستقل‌اند. سامانه ترکیبی آن‌ها ارزیابی نشده است"/>
          <p:cNvSpPr/>
          <p:nvPr/>
        </p:nvSpPr>
        <p:spPr>
          <a:xfrm>
            <a:off x="685800" y="5905440"/>
            <a:ext cx="1081764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همجوشی و ایران‌صدا دو مسیر مستقل‌اند. سامانه ترکیبی آن‌ها ارزیابی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داده و ارزیاب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داده‌های آموزش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داده‌های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0" name="۶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گفتار پایه فارسی"/>
          <p:cNvSpPr/>
          <p:nvPr/>
        </p:nvSpPr>
        <p:spPr>
          <a:xfrm>
            <a:off x="6572160" y="1952640"/>
            <a:ext cx="4930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0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پایه فارسی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۲ تا ۴"/>
          <p:cNvSpPr/>
          <p:nvPr/>
        </p:nvSpPr>
        <p:spPr>
          <a:xfrm>
            <a:off x="685800" y="1952640"/>
            <a:ext cx="4797720" cy="11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5850" spc="-1" strike="noStrike">
                <a:solidFill>
                  <a:srgbClr val="1d6f8a"/>
                </a:solidFill>
                <a:latin typeface="Vazirmatn"/>
                <a:ea typeface="Vazirmatn"/>
              </a:rPr>
              <a:t> تا </a:t>
            </a: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قطعه برای ساخت هر نمونه بلند"/>
          <p:cNvSpPr/>
          <p:nvPr/>
        </p:nvSpPr>
        <p:spPr>
          <a:xfrm>
            <a:off x="685800" y="3152880"/>
            <a:ext cx="479772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برای ساخت هر نمونه بلند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اتصال درون همان بخش داده&#10;بیش از ۵ و حداکثر ۲۰ ثانیه&#10;حضور در خط مبنای معمولی"/>
          <p:cNvSpPr/>
          <p:nvPr/>
        </p:nvSpPr>
        <p:spPr>
          <a:xfrm>
            <a:off x="685800" y="3990960"/>
            <a:ext cx="479772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اتصال درون همان گروه داده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حداقل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و حداکثر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حضور در تمام آزمایش‌ها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5" name=""/>
          <p:cNvGraphicFramePr/>
          <p:nvPr/>
        </p:nvGraphicFramePr>
        <p:xfrm>
          <a:off x="6134040" y="2685960"/>
          <a:ext cx="5371200" cy="2864880"/>
        </p:xfrm>
        <a:graphic>
          <a:graphicData uri="http://schemas.openxmlformats.org/drawingml/2006/table">
            <a:tbl>
              <a:tblPr/>
              <a:tblGrid>
                <a:gridCol w="1199880"/>
                <a:gridCol w="1314360"/>
                <a:gridCol w="2857320"/>
              </a:tblGrid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۱۰٬۰۰۶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۲۹۹٬۴۳۰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۶٬۰۴۴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۶۰۰٬۶۷۲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FarsSpon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۳٬۰۱۹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۱۶٬۴۱۲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۹۰۳٬۱۲۱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مجموع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</a:tr>
            </a:tbl>
          </a:graphicData>
        </a:graphic>
      </p:graphicFrame>
      <p:sp>
        <p:nvSpPr>
          <p:cNvPr id="76" name="dataset-caption-6"/>
          <p:cNvSpPr/>
          <p:nvPr/>
        </p:nvSpPr>
        <p:spPr>
          <a:xfrm>
            <a:off x="685800" y="5781600"/>
            <a:ext cx="10818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تعدادها برای پیکره پایه‌اند، پیش از ساخت گونه‌های بلند و تخریب‌شده و افزودن ایران‌صدا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صوت تک‌کاناله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کیلوهرتزی و نرمال‌سازی مشترک متن فارسی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داده و ارزیاب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ارزیابی روی تماس واقعی و گفتار عموم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ارزیابی روی تماس واقعی و گفتار عمومی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80" name="۷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۱۰٬۰۴۴"/>
          <p:cNvSpPr/>
          <p:nvPr/>
        </p:nvSpPr>
        <p:spPr>
          <a:xfrm>
            <a:off x="6381720" y="1828800"/>
            <a:ext cx="5121720" cy="13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۱۰٬۰۴۴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نمونه تماس واقعی در AGFarsdat"/>
          <p:cNvSpPr/>
          <p:nvPr/>
        </p:nvSpPr>
        <p:spPr>
          <a:xfrm>
            <a:off x="6381720" y="3238560"/>
            <a:ext cx="512172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نمونه تماس واقعی در </a:t>
            </a:r>
            <a:r>
              <a:rPr b="1" lang="en-US" sz="217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آزمون‌های گفتار عمومی"/>
          <p:cNvSpPr/>
          <p:nvPr/>
        </p:nvSpPr>
        <p:spPr>
          <a:xfrm>
            <a:off x="685800" y="2057400"/>
            <a:ext cx="4759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آزمون‌های گفتار عمومی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85800" y="51433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85" name="نرخ خطای واژه"/>
          <p:cNvSpPr/>
          <p:nvPr/>
        </p:nvSpPr>
        <p:spPr>
          <a:xfrm>
            <a:off x="8096400" y="5257800"/>
            <a:ext cx="34070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WER = (S + D + I) / N"/>
          <p:cNvSpPr/>
          <p:nvPr/>
        </p:nvSpPr>
        <p:spPr>
          <a:xfrm>
            <a:off x="685800" y="5257800"/>
            <a:ext cx="647424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53d42"/>
                </a:solidFill>
                <a:latin typeface="Vazirmatn"/>
                <a:ea typeface="Vazirmatn"/>
              </a:rPr>
              <a:t>WER = (S + D + I) / N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CER بر پایه نویسه است. تجمیع با جمع شمارش خطاها و واحدهای مرجع انجام می‌شود"/>
          <p:cNvSpPr/>
          <p:nvPr/>
        </p:nvSpPr>
        <p:spPr>
          <a:xfrm>
            <a:off x="685800" y="579132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بر پایه نویسه است. تجمیع با جمع شمارش خطاها و واحدهای مرجع انجام می‌شود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8" name=""/>
          <p:cNvGraphicFramePr/>
          <p:nvPr/>
        </p:nvGraphicFramePr>
        <p:xfrm>
          <a:off x="685800" y="2752560"/>
          <a:ext cx="4952520" cy="1875600"/>
        </p:xfrm>
        <a:graphic>
          <a:graphicData uri="http://schemas.openxmlformats.org/drawingml/2006/table">
            <a:tbl>
              <a:tblPr/>
              <a:tblGrid>
                <a:gridCol w="1523880"/>
                <a:gridCol w="34290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</a:rPr>
                        <a:t> </a:t>
                      </a: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۱۰٬۵۱۸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Persian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۸۷۱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PersianSpeech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۳۹۱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 Speech Corpus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9" name="dataset-public-total-7"/>
          <p:cNvSpPr/>
          <p:nvPr/>
        </p:nvSpPr>
        <p:spPr>
          <a:xfrm>
            <a:off x="685800" y="4695840"/>
            <a:ext cx="495036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در مجموع، حدود </a:t>
            </a: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۱۱٬۸۰۰</a:t>
            </a:r>
            <a:r>
              <a:rPr b="1" lang="en-US" sz="1580" spc="-1" strike="noStrike">
                <a:solidFill>
                  <a:srgbClr val="1d6f8a"/>
                </a:solidFill>
                <a:latin typeface="Vazirmatn"/>
                <a:ea typeface="Vazirmatn"/>
              </a:rPr>
              <a:t> نمونه گفتار عمومی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dataset-call-details-7"/>
          <p:cNvSpPr/>
          <p:nvPr/>
        </p:nvSpPr>
        <p:spPr>
          <a:xfrm>
            <a:off x="6381720" y="3886200"/>
            <a:ext cx="512208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مستقل از آموزش و انتخاب مدل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dataset-caption-7"/>
          <p:cNvSpPr/>
          <p:nvPr/>
        </p:nvSpPr>
        <p:spPr>
          <a:xfrm>
            <a:off x="685800" y="6105600"/>
            <a:ext cx="1081800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 نمونه‌های واجدشرایط در بعضی سامانه‌ها متفاوت است. رمزگشایی حریصانه مشترک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مقاوم‌سازی با داده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داده‌افزایی مخابراتیِ بازتولیدپذیر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داده‌افزایی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95" name="۸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ساخت جفت‌های پاک و تخریب‌شده با رونویسی مشترک"/>
          <p:cNvSpPr/>
          <p:nvPr/>
        </p:nvSpPr>
        <p:spPr>
          <a:xfrm>
            <a:off x="685800" y="1657440"/>
            <a:ext cx="1081764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52606d"/>
                </a:solidFill>
                <a:latin typeface="Vazirmatn"/>
                <a:cs typeface="Vazirmatn"/>
              </a:rPr>
              <a:t>ساخت جفت‌های پاک و تخریب‌شده با رونویسی مشترک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685800" y="2324160"/>
            <a:ext cx="10817640" cy="2161080"/>
          </a:xfrm>
          <a:prstGeom prst="rect">
            <a:avLst/>
          </a:prstGeom>
          <a:ln w="0">
            <a:noFill/>
          </a:ln>
        </p:spPr>
      </p:pic>
      <p:sp>
        <p:nvSpPr>
          <p:cNvPr id="98" name="نویز و تغییر بهره"/>
          <p:cNvSpPr/>
          <p:nvPr/>
        </p:nvSpPr>
        <p:spPr>
          <a:xfrm>
            <a:off x="6762600" y="4629240"/>
            <a:ext cx="4740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نویز و تغییر بهره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DEMAND     SNR: −5 … 15 dB     Gain: ±6 dB"/>
          <p:cNvSpPr/>
          <p:nvPr/>
        </p:nvSpPr>
        <p:spPr>
          <a:xfrm>
            <a:off x="6191280" y="5248440"/>
            <a:ext cx="53121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729" spc="-1" strike="noStrike">
                <a:solidFill>
                  <a:srgbClr val="1f2933"/>
                </a:solidFill>
                <a:latin typeface="Vazirmatn"/>
                <a:ea typeface="Vazirmatn"/>
              </a:rPr>
              <a:t>DEMAND     SNR: −5 … 15 dB     Gain: ±6 dB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مقاوم‌سازی با داده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مسیرهای کدک و جفت‌های هم‌تراز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مسیرهای کدک و جفت‌های هم‌تراز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03" name="۹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162080" y="1581120"/>
            <a:ext cx="9855360" cy="4284720"/>
          </a:xfrm>
          <a:prstGeom prst="rect">
            <a:avLst/>
          </a:prstGeom>
          <a:ln w="0">
            <a:noFill/>
          </a:ln>
        </p:spPr>
      </p:pic>
      <p:sp>
        <p:nvSpPr>
          <p:cNvPr id="105" name="G.711، GSM، AMR-NB، AMR-WB و Opus. هدف پاک، پهنای‌باند متناظر با کانال را حفظ می‌کند"/>
          <p:cNvSpPr/>
          <p:nvPr/>
        </p:nvSpPr>
        <p:spPr>
          <a:xfrm>
            <a:off x="685800" y="5924520"/>
            <a:ext cx="10817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G.711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GSM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AMR-NB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AMR-WB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. هدف پاک، پهنای‌باند متناظر با کانال را حفظ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Opus بومی افت بسته و پنهان‌سازی خطا را مدل می‌کند. در مسیرهای دیگر، حذف موج یک تقریب است"/>
          <p:cNvSpPr/>
          <p:nvPr/>
        </p:nvSpPr>
        <p:spPr>
          <a:xfrm>
            <a:off x="685800" y="6172200"/>
            <a:ext cx="108176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بومی افت بسته و پنهان‌سازی خطا را مدل می‌کند. در مسیرهای دیگر، حذف موج یک تقریب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نتیجه داده‌افزایی مخابرات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داده‌افزایی مخابراتی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انتقال بهبود به تماس‌های واقع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انتقال بهبود به تماس‌های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10" name="۱۰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نرخ خطای واژه در AGFarsdat"/>
          <p:cNvSpPr/>
          <p:nvPr/>
        </p:nvSpPr>
        <p:spPr>
          <a:xfrm>
            <a:off x="4286160" y="1657440"/>
            <a:ext cx="7216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2" name="Chart"/>
          <p:cNvGraphicFramePr/>
          <p:nvPr/>
        </p:nvGraphicFramePr>
        <p:xfrm>
          <a:off x="4191120" y="2286000"/>
          <a:ext cx="7312320" cy="323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3" name="۹٫۸۳"/>
          <p:cNvSpPr/>
          <p:nvPr/>
        </p:nvSpPr>
        <p:spPr>
          <a:xfrm>
            <a:off x="685800" y="2114640"/>
            <a:ext cx="2949840" cy="12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۹٫۸۳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واحد درصد کاهش خطا&#10;در تماس‌های واقعی"/>
          <p:cNvSpPr/>
          <p:nvPr/>
        </p:nvSpPr>
        <p:spPr>
          <a:xfrm>
            <a:off x="685800" y="3467160"/>
            <a:ext cx="294984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واحد درصد کاهش خطا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در تماس‌های واقعی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۲۷٫۶٪ کاهش نسبی"/>
          <p:cNvSpPr/>
          <p:nvPr/>
        </p:nvSpPr>
        <p:spPr>
          <a:xfrm>
            <a:off x="685800" y="4791240"/>
            <a:ext cx="29498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52606d"/>
                </a:solidFill>
                <a:latin typeface="Vazirmatn"/>
                <a:cs typeface="Vazirmatn"/>
              </a:rPr>
              <a:t>۲۷٫۶٪</a:t>
            </a:r>
            <a:r>
              <a:rPr b="0" lang="en-US" sz="1950" spc="-1" strike="noStrike">
                <a:solidFill>
                  <a:srgbClr val="52606d"/>
                </a:solidFill>
                <a:latin typeface="Vazirmatn"/>
                <a:ea typeface="Vazirmatn"/>
              </a:rPr>
              <a:t> کاهش نسبی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WER تجمیعی نیز از ۲۳٫۲۷٪ به ۱۷٫۸۳٪ کاهش یافت. مقدار کمتر بهتر است"/>
          <p:cNvSpPr/>
          <p:nvPr/>
        </p:nvSpPr>
        <p:spPr>
          <a:xfrm>
            <a:off x="685800" y="5762520"/>
            <a:ext cx="1081764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نیز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۲۳٫۲۷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کاهش یافت. مقدار کمتر بهتر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اثر جداگانه کدک و اختلال شبکه در آزمایش حذفی سنجیده نشده است"/>
          <p:cNvSpPr/>
          <p:nvPr/>
        </p:nvSpPr>
        <p:spPr>
          <a:xfrm>
            <a:off x="685800" y="6124680"/>
            <a:ext cx="10817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اثر جداگانه کدک و اختلال شبکه در آزمایش حذفی سنجیده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بهسازی و همجوش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معماری بهسازی و همجوشی دوجریانه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معماری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21" name="۱۱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حفظ نمای اصلی در کنار نمای بهسازی‌شده"/>
          <p:cNvSpPr/>
          <p:nvPr/>
        </p:nvSpPr>
        <p:spPr>
          <a:xfrm>
            <a:off x="685800" y="1549800"/>
            <a:ext cx="108176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52606d"/>
                </a:solidFill>
                <a:latin typeface="Vazirmatn"/>
                <a:cs typeface="Vazirmatn"/>
              </a:rPr>
              <a:t>حفظ بازنمایی اصلی در کنار بازنمایی بهسازی‌شده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685800" y="2009880"/>
            <a:ext cx="10817280" cy="3804120"/>
          </a:xfrm>
          <a:prstGeom prst="rect">
            <a:avLst/>
          </a:prstGeom>
          <a:ln w="0">
            <a:noFill/>
          </a:ln>
        </p:spPr>
      </p:pic>
      <p:sp>
        <p:nvSpPr>
          <p:cNvPr id="124" name="شروع از ویسپر کوچک چندشرایطی است. بهساز در حوزه لاگ‌مل کار می‌کند و موج صوتی بازسازی نمی‌کند"/>
          <p:cNvSpPr/>
          <p:nvPr/>
        </p:nvSpPr>
        <p:spPr>
          <a:xfrm>
            <a:off x="685800" y="5905440"/>
            <a:ext cx="1081764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شروع از ویسپر کوچک چندشرایطی است. بهساز در حوزه لاگ‌مل کار می‌کند و موج صوتی بازسازی نمی‌کند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ection"/>
          <p:cNvSpPr/>
          <p:nvPr/>
        </p:nvSpPr>
        <p:spPr>
          <a:xfrm>
            <a:off x="4191120" y="285840"/>
            <a:ext cx="7314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itle"/>
          <p:cNvSpPr/>
          <p:nvPr/>
        </p:nvSpPr>
        <p:spPr>
          <a:xfrm>
            <a:off x="685800" y="714240"/>
            <a:ext cx="10820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روابط مدل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enh-label"/>
          <p:cNvSpPr/>
          <p:nvPr/>
        </p:nvSpPr>
        <p:spPr>
          <a:xfrm>
            <a:off x="685800" y="1609560"/>
            <a:ext cx="502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بهسازی باقیمانده و زیان بازسازی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enc-label"/>
          <p:cNvSpPr/>
          <p:nvPr/>
        </p:nvSpPr>
        <p:spPr>
          <a:xfrm>
            <a:off x="6286680" y="1609560"/>
            <a:ext cx="5219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رمزگذار مشترک ویسپر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eq-me"/>
          <p:cNvSpPr/>
          <p:nvPr/>
        </p:nvSpPr>
        <p:spPr>
          <a:xfrm>
            <a:off x="685800" y="1971720"/>
            <a:ext cx="5028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E(M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eq-loss"/>
          <p:cNvSpPr/>
          <p:nvPr/>
        </p:nvSpPr>
        <p:spPr>
          <a:xfrm>
            <a:off x="685800" y="2390760"/>
            <a:ext cx="50288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ℒ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enh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‖M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−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c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‖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eq-hn"/>
          <p:cNvSpPr/>
          <p:nvPr/>
        </p:nvSpPr>
        <p:spPr>
          <a:xfrm>
            <a:off x="6286680" y="1971720"/>
            <a:ext cx="5219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eq-he"/>
          <p:cNvSpPr/>
          <p:nvPr/>
        </p:nvSpPr>
        <p:spPr>
          <a:xfrm>
            <a:off x="6286680" y="2390760"/>
            <a:ext cx="5219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cross-label"/>
          <p:cNvSpPr/>
          <p:nvPr/>
        </p:nvSpPr>
        <p:spPr>
          <a:xfrm>
            <a:off x="685800" y="2800440"/>
            <a:ext cx="10820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توجه متقاطع دوسویه: هر نما از نمای مقابل اطلاعات می‌گیرد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eq-n"/>
          <p:cNvSpPr/>
          <p:nvPr/>
        </p:nvSpPr>
        <p:spPr>
          <a:xfrm>
            <a:off x="685800" y="3209760"/>
            <a:ext cx="52192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n-explain"/>
          <p:cNvSpPr/>
          <p:nvPr/>
        </p:nvSpPr>
        <p:spPr>
          <a:xfrm>
            <a:off x="685800" y="3600360"/>
            <a:ext cx="5219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اصلی،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بهسازی‌شده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eq-e"/>
          <p:cNvSpPr/>
          <p:nvPr/>
        </p:nvSpPr>
        <p:spPr>
          <a:xfrm>
            <a:off x="685800" y="4010040"/>
            <a:ext cx="52192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e-explain"/>
          <p:cNvSpPr/>
          <p:nvPr/>
        </p:nvSpPr>
        <p:spPr>
          <a:xfrm>
            <a:off x="685800" y="4400640"/>
            <a:ext cx="5219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بهسازی‌شده،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: بازنمایی اصلی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block-label"/>
          <p:cNvSpPr/>
          <p:nvPr/>
        </p:nvSpPr>
        <p:spPr>
          <a:xfrm>
            <a:off x="6286680" y="3181320"/>
            <a:ext cx="52192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430" spc="-1" strike="noStrike">
                <a:solidFill>
                  <a:srgbClr val="153d42"/>
                </a:solidFill>
                <a:latin typeface="Vazirmatn"/>
                <a:cs typeface="Vazirmatn"/>
              </a:rPr>
              <a:t>تعریف مشترک بلوک 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B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 با ورودی‌های 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X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 و </a:t>
            </a:r>
            <a:r>
              <a:rPr b="1" lang="en-US" sz="1430" spc="-1" strike="noStrike">
                <a:solidFill>
                  <a:srgbClr val="153d42"/>
                </a:solidFill>
                <a:latin typeface="Vazirmatn"/>
                <a:ea typeface="Vazirmatn"/>
              </a:rPr>
              <a:t>Y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eq-qkv"/>
          <p:cNvSpPr/>
          <p:nvPr/>
        </p:nvSpPr>
        <p:spPr>
          <a:xfrm>
            <a:off x="6286680" y="3524400"/>
            <a:ext cx="5219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Q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q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(X), K = V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kv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eq-residual"/>
          <p:cNvSpPr/>
          <p:nvPr/>
        </p:nvSpPr>
        <p:spPr>
          <a:xfrm>
            <a:off x="6286680" y="3924360"/>
            <a:ext cx="5219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Z = X + MHA(Q,K,V)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eq-block"/>
          <p:cNvSpPr/>
          <p:nvPr/>
        </p:nvSpPr>
        <p:spPr>
          <a:xfrm>
            <a:off x="6286680" y="4324320"/>
            <a:ext cx="5219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B(X,Y) = Z + FFN(LN(Z))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eq-head"/>
          <p:cNvSpPr/>
          <p:nvPr/>
        </p:nvSpPr>
        <p:spPr>
          <a:xfrm>
            <a:off x="685800" y="4829040"/>
            <a:ext cx="7238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Attn(q,k,v) = softmax(qk</a:t>
            </a:r>
            <a:r>
              <a:rPr b="0" lang="en-US" sz="1350" spc="-1" strike="noStrike" baseline="30000">
                <a:solidFill>
                  <a:srgbClr val="1f2933"/>
                </a:solidFill>
                <a:latin typeface="Vazirmatn"/>
                <a:ea typeface="Vazirmatn"/>
              </a:rPr>
              <a:t>T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/ √d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)v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head-note"/>
          <p:cNvSpPr/>
          <p:nvPr/>
        </p:nvSpPr>
        <p:spPr>
          <a:xfrm>
            <a:off x="8077320" y="4829040"/>
            <a:ext cx="3428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280" spc="-1" strike="noStrike">
                <a:solidFill>
                  <a:srgbClr val="52606d"/>
                </a:solidFill>
                <a:latin typeface="Vazirmatn"/>
                <a:cs typeface="Vazirmatn"/>
              </a:rPr>
              <a:t>در هر سر،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پس از نگاشت خطی‌اند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ate-label"/>
          <p:cNvSpPr/>
          <p:nvPr/>
        </p:nvSpPr>
        <p:spPr>
          <a:xfrm>
            <a:off x="685800" y="5219640"/>
            <a:ext cx="108201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دروازه و ترکیب بازنمایی‌های اصلاح‌شده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eq-gate"/>
          <p:cNvSpPr/>
          <p:nvPr/>
        </p:nvSpPr>
        <p:spPr>
          <a:xfrm>
            <a:off x="685800" y="5562720"/>
            <a:ext cx="52192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g = σ(W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2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GELU(W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[H′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;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]))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eq-fused"/>
          <p:cNvSpPr/>
          <p:nvPr/>
        </p:nvSpPr>
        <p:spPr>
          <a:xfrm>
            <a:off x="6286680" y="5562720"/>
            <a:ext cx="52192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f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g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(1 − g)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block-note"/>
          <p:cNvSpPr/>
          <p:nvPr/>
        </p:nvSpPr>
        <p:spPr>
          <a:xfrm>
            <a:off x="685800" y="6000840"/>
            <a:ext cx="10820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350" spc="-1" strike="noStrike">
                <a:solidFill>
                  <a:srgbClr val="52606d"/>
                </a:solidFill>
                <a:latin typeface="Vazirmatn"/>
                <a:cs typeface="Vazirmatn"/>
              </a:rPr>
              <a:t>دو بلوک </a:t>
            </a: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B</a:t>
            </a: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 وزن‌های مستقل دارند و هم‌زمان از ورودی‌های پیش از به‌روزرسانی استفاده می‌کنند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ettings"/>
          <p:cNvSpPr/>
          <p:nvPr/>
        </p:nvSpPr>
        <p:spPr>
          <a:xfrm>
            <a:off x="2381400" y="6267600"/>
            <a:ext cx="9124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52606d"/>
                </a:solidFill>
                <a:latin typeface="Vazirmatn"/>
                <a:ea typeface="Vazirmatn"/>
              </a:rPr>
              <a:t>LN: Layer Normalization    FFN: Feed-Forward Network    Heads: 4    FFN hidden dimension: 2D    Initial gate: 0.5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folio"/>
          <p:cNvSpPr/>
          <p:nvPr/>
        </p:nvSpPr>
        <p:spPr>
          <a:xfrm>
            <a:off x="685800" y="6486480"/>
            <a:ext cx="95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بهسازی و همجوش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آموزش سه‌مرحله‌ای همجوش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سه‌مرحله‌ای همجوشی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53" name="۱۲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685800" y="2095560"/>
            <a:ext cx="10817640" cy="1643760"/>
          </a:xfrm>
          <a:prstGeom prst="rect">
            <a:avLst/>
          </a:prstGeom>
          <a:ln w="0">
            <a:noFill/>
          </a:ln>
        </p:spPr>
      </p:pic>
      <p:sp>
        <p:nvSpPr>
          <p:cNvPr id="155" name="مرحله سوم: آموزش همه اجزا، شامل ویسپر"/>
          <p:cNvSpPr/>
          <p:nvPr/>
        </p:nvSpPr>
        <p:spPr>
          <a:xfrm>
            <a:off x="685800" y="3952800"/>
            <a:ext cx="108176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مرحله سوم: آموزش همه اجزا، شامل ویسپر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هر مرحله یک دوره کامل"/>
          <p:cNvSpPr/>
          <p:nvPr/>
        </p:nvSpPr>
        <p:spPr>
          <a:xfrm>
            <a:off x="6762600" y="4629240"/>
            <a:ext cx="47404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هر مرحله یک دوره کامل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نرخ نهایی: ماژول‌های جدید ⁦1e-4⁩&#10;ویسپر ⁦5e-6⁩"/>
          <p:cNvSpPr/>
          <p:nvPr/>
        </p:nvSpPr>
        <p:spPr>
          <a:xfrm>
            <a:off x="6762600" y="5162400"/>
            <a:ext cx="474048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نرخ نهایی: ماژول‌های جدید ⁦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1e-4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ویسپر ⁦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5e-6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داده مرحله نهایی"/>
          <p:cNvSpPr/>
          <p:nvPr/>
        </p:nvSpPr>
        <p:spPr>
          <a:xfrm>
            <a:off x="685800" y="4629240"/>
            <a:ext cx="49500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داده مرحله نهایی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نمونه‌های تخریب‌شده و بلند&#10;زیرمجموعه تصادفی ۲۵٪ از گفتار پاک"/>
          <p:cNvSpPr/>
          <p:nvPr/>
        </p:nvSpPr>
        <p:spPr>
          <a:xfrm>
            <a:off x="685800" y="5162400"/>
            <a:ext cx="495000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نمونه‌های تخریب‌شده و بلند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زیرمجموعه تصادفی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٪ از گفتار پاک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این آزمایش هم معماری و هم برنامه آموزش بازشناس را تغییر می‌دهد"/>
          <p:cNvSpPr/>
          <p:nvPr/>
        </p:nvSpPr>
        <p:spPr>
          <a:xfrm>
            <a:off x="685800" y="604836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این آزمایش هم معماری و هم برنامه آموزش بازشناس را تغییر می‌دهد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روش مقایسه‌ا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روش مقایسه‌ای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پل تطبیقی پیش از بازشناس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پل تطبیقی پیش از بازشناسی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64" name="۱۳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685800" y="2117520"/>
            <a:ext cx="7483680" cy="3448800"/>
          </a:xfrm>
          <a:prstGeom prst="rect">
            <a:avLst/>
          </a:prstGeom>
          <a:ln w="0">
            <a:noFill/>
          </a:ln>
        </p:spPr>
      </p:pic>
      <p:sp>
        <p:nvSpPr>
          <p:cNvPr id="166" name="پیاده‌سازی این پایان‌نامه"/>
          <p:cNvSpPr/>
          <p:nvPr/>
        </p:nvSpPr>
        <p:spPr>
          <a:xfrm>
            <a:off x="8648640" y="1981080"/>
            <a:ext cx="2854800" cy="61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بهساز FRCRN ثابت&#10;بازشناس ویسپر ثابت&#10;آموزش فقط ماژول پل"/>
          <p:cNvSpPr/>
          <p:nvPr/>
        </p:nvSpPr>
        <p:spPr>
          <a:xfrm>
            <a:off x="8648640" y="2828880"/>
            <a:ext cx="285480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FRCRN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بازشناس ویسپر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آموزش فقط ماژول پل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یک ضریب ترکیب&#10;برای هر گفتار"/>
          <p:cNvSpPr/>
          <p:nvPr/>
        </p:nvSpPr>
        <p:spPr>
          <a:xfrm>
            <a:off x="8648640" y="4695840"/>
            <a:ext cx="2854800" cy="9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یک ضریب ترکیب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برای هر گفتار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Cui et al., ICASSP 2025, Fig. 1 (CC BY 4.0)"/>
          <p:cNvSpPr/>
          <p:nvPr/>
        </p:nvSpPr>
        <p:spPr>
          <a:xfrm>
            <a:off x="685800" y="5638680"/>
            <a:ext cx="7483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Cui et al., ICASSP 2025, Fig. 1 (CC BY 4.0)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اجرای مستقل فارسی است. تفاوت بهساز و برنامه آموزش، انتساب اثر به محل ادغام را محدود می‌کند"/>
          <p:cNvSpPr/>
          <p:nvPr/>
        </p:nvSpPr>
        <p:spPr>
          <a:xfrm>
            <a:off x="685800" y="6048360"/>
            <a:ext cx="1081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تفاوت بهساز و برنامه آموزش، انتساب اثر به محل ادغام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نتایج بهسازی و همجوش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نتایج 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سود افزوده همجوشی و پل تطبیق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سود افزوده همجوشی و پل تطبیقی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74" name="۱۴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نرخ خطای واژه تجمیعی"/>
          <p:cNvSpPr/>
          <p:nvPr/>
        </p:nvSpPr>
        <p:spPr>
          <a:xfrm>
            <a:off x="685800" y="1685880"/>
            <a:ext cx="504540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تجمیعی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نرخ خطای واژه تماس واقعی"/>
          <p:cNvSpPr/>
          <p:nvPr/>
        </p:nvSpPr>
        <p:spPr>
          <a:xfrm>
            <a:off x="6458040" y="1685880"/>
            <a:ext cx="504540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تماس واقعی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7" name="Chart"/>
          <p:cNvGraphicFramePr/>
          <p:nvPr/>
        </p:nvGraphicFramePr>
        <p:xfrm>
          <a:off x="685800" y="2324160"/>
          <a:ext cx="5045400" cy="2949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78" name="Chart"/>
          <p:cNvGraphicFramePr/>
          <p:nvPr/>
        </p:nvGraphicFramePr>
        <p:xfrm>
          <a:off x="6458040" y="2324160"/>
          <a:ext cx="5045400" cy="2949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9" name="کاهش WER با همجوشی: ۰٫۱۹ واحد درصد تجمیعی و ۰٫۴۳ واحد درصد در تماس واقعی"/>
          <p:cNvSpPr/>
          <p:nvPr/>
        </p:nvSpPr>
        <p:spPr>
          <a:xfrm>
            <a:off x="685800" y="5477040"/>
            <a:ext cx="1081764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با همجوشی: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۰٫۱۹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تجمیعی و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۰٫۴۳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در تماس واقعی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CER تجمیعی به همین ترتیب: ۷٫۹۳٪، ۸٫۰۰٪ و ۷٫۸۵٪. اختلاف‌ها فاصله اطمینان ندارند"/>
          <p:cNvSpPr/>
          <p:nvPr/>
        </p:nvSpPr>
        <p:spPr>
          <a:xfrm>
            <a:off x="685800" y="601020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به همین ترتیب: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۸٫۰۰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۷٫۸۵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٪.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مطالعه مؤلفه‌های همجوش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مطالعه مؤلفه‌های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آزمایش حذفیِ دو بازنمایی و توجه متقاطع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حذفیِ دو بازنمایی و توجه متقاطع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84" name="۱۵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آزمایش مستقل&#10;ویسپر بسیار کوچک"/>
          <p:cNvSpPr/>
          <p:nvPr/>
        </p:nvSpPr>
        <p:spPr>
          <a:xfrm>
            <a:off x="685800" y="2028960"/>
            <a:ext cx="2806920" cy="11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مستقل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بسیار کوچک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آموزش فقط با کامن‌وویس"/>
          <p:cNvSpPr/>
          <p:nvPr/>
        </p:nvSpPr>
        <p:spPr>
          <a:xfrm>
            <a:off x="685800" y="3295800"/>
            <a:ext cx="280692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فقط با کامن‌وویس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خط مبنای چندشرایطی: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کامن‌وویس: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۷۴٫۹۲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WER کامن‌وویس&#10;به ترتیب نمودار"/>
          <p:cNvSpPr/>
          <p:nvPr/>
        </p:nvSpPr>
        <p:spPr>
          <a:xfrm>
            <a:off x="685800" y="4248000"/>
            <a:ext cx="28069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 کامن‌وویس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hi-IN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چهار مدل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۵۷٫۸۲، ۶۲٫۳۵،&#10;۶۴٫۱۰، ۶۳٫۸۱ درصد"/>
          <p:cNvSpPr/>
          <p:nvPr/>
        </p:nvSpPr>
        <p:spPr>
          <a:xfrm>
            <a:off x="685800" y="5076720"/>
            <a:ext cx="280692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۵۷٫۸۲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۶۲٫۳۵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۶۴٫۱۰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۶۳٫۸۱</a:t>
            </a:r>
            <a:r>
              <a:rPr b="0" lang="en-US" sz="1729" spc="-1" strike="noStrike">
                <a:solidFill>
                  <a:srgbClr val="1d6f8a"/>
                </a:solidFill>
                <a:latin typeface="Vazirmatn"/>
                <a:ea typeface="Vazirmatn"/>
              </a:rPr>
              <a:t> درصد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نرخ خطای واژه در AGFarsdat"/>
          <p:cNvSpPr/>
          <p:nvPr/>
        </p:nvSpPr>
        <p:spPr>
          <a:xfrm>
            <a:off x="3962520" y="1657440"/>
            <a:ext cx="7540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0" name="Chart"/>
          <p:cNvGraphicFramePr/>
          <p:nvPr/>
        </p:nvGraphicFramePr>
        <p:xfrm>
          <a:off x="3886200" y="2343240"/>
          <a:ext cx="7617240" cy="325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1" name="¹ حذف بازنمایی در زمان استنتاج از مدل همجوشی آموزش‌دیده، نه آموزش مستقل یک مدل تک‌جریانه"/>
          <p:cNvSpPr/>
          <p:nvPr/>
        </p:nvSpPr>
        <p:spPr>
          <a:xfrm>
            <a:off x="685800" y="584820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بازنمایی در زمان استنتاج از مدل همجوشی آموزش‌دیده، نه آموزش مستقل یک مدل تک‌جریانه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بودجه آموزش و تعداد پارامترهای نابرابر، تعیین سهم مستقل مؤلفه‌ها را محدود می‌کند"/>
          <p:cNvSpPr/>
          <p:nvPr/>
        </p:nvSpPr>
        <p:spPr>
          <a:xfrm>
            <a:off x="685800" y="6153120"/>
            <a:ext cx="108176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بودجه آموزش و تعداد پارامترهای نابرابر، تعیین سهم مستقل مؤلفه‌ها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افزایش داده فارس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گردآوری و قطعه‌بندی ایران‌صدا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گردآوری و قطعه‌بندی ایران‌صدا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96" name="۱۶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685800" y="1724040"/>
            <a:ext cx="3521520" cy="4156560"/>
          </a:xfrm>
          <a:prstGeom prst="rect">
            <a:avLst/>
          </a:prstGeom>
          <a:ln w="0">
            <a:noFill/>
          </a:ln>
        </p:spPr>
      </p:pic>
      <p:sp>
        <p:nvSpPr>
          <p:cNvPr id="198" name="۳٬۷۷۷ کتاب صوتی"/>
          <p:cNvSpPr/>
          <p:nvPr/>
        </p:nvSpPr>
        <p:spPr>
          <a:xfrm>
            <a:off x="4952880" y="2000160"/>
            <a:ext cx="655020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53d42"/>
                </a:solidFill>
                <a:latin typeface="Vazirmatn"/>
                <a:cs typeface="Vazirmatn"/>
              </a:rPr>
              <a:t>۳٬۷۷۷</a:t>
            </a:r>
            <a:r>
              <a:rPr b="1" lang="en-US" sz="3300" spc="-1" strike="noStrike">
                <a:solidFill>
                  <a:srgbClr val="153d42"/>
                </a:solidFill>
                <a:latin typeface="Vazirmatn"/>
                <a:ea typeface="Vazirmatn"/>
              </a:rPr>
              <a:t> کتاب صوتی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حدود ۶٬۳۰۰ ساعت صوت خام دریافت‌شده"/>
          <p:cNvSpPr/>
          <p:nvPr/>
        </p:nvSpPr>
        <p:spPr>
          <a:xfrm>
            <a:off x="4952880" y="2933640"/>
            <a:ext cx="6550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حدود </a:t>
            </a: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۶٬۳۰۰</a:t>
            </a:r>
            <a:r>
              <a:rPr b="0" lang="en-US" sz="21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 خام دریافت‌شده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۲۵۰ ساعت منتخب"/>
          <p:cNvSpPr/>
          <p:nvPr/>
        </p:nvSpPr>
        <p:spPr>
          <a:xfrm>
            <a:off x="4952880" y="3762360"/>
            <a:ext cx="655020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d6f8a"/>
                </a:solidFill>
                <a:latin typeface="Vazirmatn"/>
                <a:cs typeface="Vazirmatn"/>
              </a:rPr>
              <a:t>۲۵۰</a:t>
            </a:r>
            <a:r>
              <a:rPr b="1" lang="en-US" sz="3300" spc="-1" strike="noStrike">
                <a:solidFill>
                  <a:srgbClr val="1d6f8a"/>
                </a:solidFill>
                <a:latin typeface="Vazirmatn"/>
                <a:ea typeface="Vazirmatn"/>
              </a:rPr>
              <a:t> ساعت منتخب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طول هدف قطعه‌ها ۲۰ ثانیه است&#10;بازه ترجیحی ۱۵ تا ۲۵، سقف سخت ۲۸ ثانیه"/>
          <p:cNvSpPr/>
          <p:nvPr/>
        </p:nvSpPr>
        <p:spPr>
          <a:xfrm>
            <a:off x="4952880" y="4714920"/>
            <a:ext cx="6550200" cy="9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طول هدف قطعه‌ها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 است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بازه ترجیحی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۱۵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تا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، سقف سخت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مجموعه گردآوری‌شده از زیرمجموعه انتخاب‌شده برای آموزش بزرگ‌تر است"/>
          <p:cNvSpPr/>
          <p:nvPr/>
        </p:nvSpPr>
        <p:spPr>
          <a:xfrm>
            <a:off x="685800" y="5905440"/>
            <a:ext cx="1081764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مجموعه گردآوری‌شده از زیرمجموعه انتخاب‌شده برای آموزش بزرگ‌تر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افزایش داده فارس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رونویسی معلم، پالایش و آموزش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رونویسی معلم، پالایش و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06" name="۱۷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۱. رونویسی معلم"/>
          <p:cNvSpPr/>
          <p:nvPr/>
        </p:nvSpPr>
        <p:spPr>
          <a:xfrm>
            <a:off x="685800" y="1714680"/>
            <a:ext cx="49500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رونویسی معلم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" descr=""/>
          <p:cNvPicPr/>
          <p:nvPr/>
        </p:nvPicPr>
        <p:blipFill>
          <a:blip r:embed="rId1"/>
          <a:stretch/>
        </p:blipFill>
        <p:spPr>
          <a:xfrm>
            <a:off x="1262160" y="2143080"/>
            <a:ext cx="3797640" cy="1501920"/>
          </a:xfrm>
          <a:prstGeom prst="rect">
            <a:avLst/>
          </a:prstGeom>
          <a:ln w="0">
            <a:noFill/>
          </a:ln>
        </p:spPr>
      </p:pic>
      <p:sp>
        <p:nvSpPr>
          <p:cNvPr id="209" name="۲. نرمال‌سازی فارسی"/>
          <p:cNvSpPr/>
          <p:nvPr/>
        </p:nvSpPr>
        <p:spPr>
          <a:xfrm>
            <a:off x="6553080" y="1714680"/>
            <a:ext cx="49500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نرمال‌سازی فارسی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2"/>
          <a:stretch/>
        </p:blipFill>
        <p:spPr>
          <a:xfrm>
            <a:off x="7129440" y="2143080"/>
            <a:ext cx="3797640" cy="1501920"/>
          </a:xfrm>
          <a:prstGeom prst="rect">
            <a:avLst/>
          </a:prstGeom>
          <a:ln w="0">
            <a:noFill/>
          </a:ln>
        </p:spPr>
      </p:pic>
      <p:sp>
        <p:nvSpPr>
          <p:cNvPr id="211" name="۳. اصلاح با Qwen"/>
          <p:cNvSpPr/>
          <p:nvPr/>
        </p:nvSpPr>
        <p:spPr>
          <a:xfrm>
            <a:off x="685800" y="3657600"/>
            <a:ext cx="49500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اصلاح با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Qwen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3"/>
          <a:stretch/>
        </p:blipFill>
        <p:spPr>
          <a:xfrm>
            <a:off x="1262160" y="4086360"/>
            <a:ext cx="3797640" cy="1501920"/>
          </a:xfrm>
          <a:prstGeom prst="rect">
            <a:avLst/>
          </a:prstGeom>
          <a:ln w="0">
            <a:noFill/>
          </a:ln>
        </p:spPr>
      </p:pic>
      <p:sp>
        <p:nvSpPr>
          <p:cNvPr id="213" name="۴. پالایش کیفیت"/>
          <p:cNvSpPr/>
          <p:nvPr/>
        </p:nvSpPr>
        <p:spPr>
          <a:xfrm>
            <a:off x="6553080" y="3657600"/>
            <a:ext cx="49500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پالایش کیفیت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4"/>
          <a:stretch/>
        </p:blipFill>
        <p:spPr>
          <a:xfrm>
            <a:off x="7427880" y="4086360"/>
            <a:ext cx="3200400" cy="1501920"/>
          </a:xfrm>
          <a:prstGeom prst="rect">
            <a:avLst/>
          </a:prstGeom>
          <a:ln w="0">
            <a:noFill/>
          </a:ln>
        </p:spPr>
      </p:pic>
      <p:sp>
        <p:nvSpPr>
          <p:cNvPr id="215" name="افزودن داده پذیرفته‌شده به ترکیب کامل گفتار معمولی، بلند و تخریب‌شده"/>
          <p:cNvSpPr/>
          <p:nvPr/>
        </p:nvSpPr>
        <p:spPr>
          <a:xfrm>
            <a:off x="685800" y="5743440"/>
            <a:ext cx="1081764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53d42"/>
                </a:solidFill>
                <a:latin typeface="Vazirmatn"/>
                <a:cs typeface="Vazirmatn"/>
              </a:rPr>
              <a:t>افزودن داده پذیرفته‌شده به ترکیب کامل گفتار معمولی، بلند و تخریب‌شده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معماری ویسپر کوچک، تنظیمات اصلی و تعداد گام‌های آموزش ثابت‌اند"/>
          <p:cNvSpPr/>
          <p:nvPr/>
        </p:nvSpPr>
        <p:spPr>
          <a:xfrm>
            <a:off x="685800" y="6153120"/>
            <a:ext cx="108176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معماری ویسپر کوچک، تنظیمات اصلی و تعداد گام‌های آموزش ثابت‌اند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افزایش داده فارس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پالایش رونویسی و داده پذیرفته‌شده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پالایش رونویسی و داده پذیرفته‌شده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0" name="۱۸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۳۹٬۴۵۴"/>
          <p:cNvSpPr/>
          <p:nvPr/>
        </p:nvSpPr>
        <p:spPr>
          <a:xfrm>
            <a:off x="7238880" y="1838160"/>
            <a:ext cx="426420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۳۹٬۴۵۴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قطعه پذیرفته‌شده برای آموزش"/>
          <p:cNvSpPr/>
          <p:nvPr/>
        </p:nvSpPr>
        <p:spPr>
          <a:xfrm>
            <a:off x="7238880" y="3057480"/>
            <a:ext cx="4264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پذیرفته‌شده برای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۲۱۸٫۵۶۴ ساعت"/>
          <p:cNvSpPr/>
          <p:nvPr/>
        </p:nvSpPr>
        <p:spPr>
          <a:xfrm>
            <a:off x="6667560" y="3772080"/>
            <a:ext cx="4835880" cy="8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230" spc="-1" strike="noStrike">
                <a:solidFill>
                  <a:srgbClr val="153d42"/>
                </a:solidFill>
                <a:latin typeface="Vazirmatn"/>
                <a:cs typeface="Vazirmatn"/>
              </a:rPr>
              <a:t>۲۱۸٫۵۶۴</a:t>
            </a:r>
            <a:r>
              <a:rPr b="1" lang="en-US" sz="3230" spc="-1" strike="noStrike">
                <a:solidFill>
                  <a:srgbClr val="153d42"/>
                </a:solidFill>
                <a:latin typeface="Vazirmatn"/>
                <a:ea typeface="Vazirmatn"/>
              </a:rPr>
              <a:t> ساعت</a:t>
            </a:r>
            <a:endParaRPr b="0" lang="en-US" sz="3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۴۴٬۸۲۰ قطعه بررسی و ۵٬۳۶۶ قطعه رد شد&#10;۱۳۶ فایل منبع، با تفکیک در سطح کتاب"/>
          <p:cNvSpPr/>
          <p:nvPr/>
        </p:nvSpPr>
        <p:spPr>
          <a:xfrm>
            <a:off x="6667560" y="4838760"/>
            <a:ext cx="483588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۴۴٬۸۲۰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بررسی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۵٬۳۶۶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رد شد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۱۳۶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فایل منبع، با تفکیک در سطح کتاب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اصلاح محافظه‌کارانه با Qwen"/>
          <p:cNvSpPr/>
          <p:nvPr/>
        </p:nvSpPr>
        <p:spPr>
          <a:xfrm>
            <a:off x="685800" y="1952640"/>
            <a:ext cx="529308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اصلاح محافظه‌کارانه با مدل زبانی </a:t>
            </a:r>
            <a:r>
              <a:rPr b="0" lang="en-US" sz="1800" spc="-1" strike="noStrike">
                <a:solidFill>
                  <a:srgbClr val="52606d"/>
                </a:solidFill>
                <a:latin typeface="Vazirmatn"/>
                <a:ea typeface="Vazirmatn"/>
              </a:rPr>
              <a:t>Qwen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اصلاح املا، نیم‌فاصله و نشانه‌گذاری&#10;رفع خطاهای آشکار واژگانی با کمک بافت&#10;حفظ اعداد و پرهیز از افزودن محتوا"/>
          <p:cNvSpPr/>
          <p:nvPr/>
        </p:nvSpPr>
        <p:spPr>
          <a:xfrm>
            <a:off x="685800" y="2657520"/>
            <a:ext cx="529308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اصلاح املا، نیم‌فاصله و نشانه‌گذاری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رفع خطاهای آشکار واژگانی با کمک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حفظ اعداد و پرهیز از افزودن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ورودی فقط متن قطعه و بافت قبل و بعد آن&#10;رد خروجی‌های نامطمئن یا دارای تغییر زیاد&#10;ذخیره متن اولیه در کنار نسخه اصلاح‌شده"/>
          <p:cNvSpPr/>
          <p:nvPr/>
        </p:nvSpPr>
        <p:spPr>
          <a:xfrm>
            <a:off x="685800" y="4543560"/>
            <a:ext cx="5293080" cy="11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ورودی فقط متن قطعه و بافت قبل و بعد آن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رد خروجی‌های نامطمئن یا دارای تغییر زیاد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ذخیره متن اولیه در کنار نسخه اصلاح‌شده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نتیجه افزایش داده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افزایش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اثر ایران‌صدا به دامنه گفتار وابسته است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اثر ایران‌صدا به دامنه گفتار وابسته است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1" name="۱۹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تغییر WER نسبت به مدل چندشرایطی، بر حسب واحد درصد"/>
          <p:cNvSpPr/>
          <p:nvPr/>
        </p:nvSpPr>
        <p:spPr>
          <a:xfrm>
            <a:off x="685800" y="1619280"/>
            <a:ext cx="1081764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تغییر 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نسبت به مدل چندشرایطی، بر حسب درصد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3" name="Chart"/>
          <p:cNvGraphicFramePr/>
          <p:nvPr/>
        </p:nvGraphicFramePr>
        <p:xfrm>
          <a:off x="685800" y="2276640"/>
          <a:ext cx="10817640" cy="3206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4" name="مقدار منفی یعنی بهبود. تغییر = با ایران‌صدا منهای خط مبنای چندشرایطی"/>
          <p:cNvSpPr/>
          <p:nvPr/>
        </p:nvSpPr>
        <p:spPr>
          <a:xfrm>
            <a:off x="685800" y="5505480"/>
            <a:ext cx="108176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d6f8a"/>
                </a:solidFill>
                <a:latin typeface="Vazirmatn"/>
                <a:cs typeface="Vazirmatn"/>
              </a:rPr>
              <a:t>مقدار منفی یعنی بهبود. تغییر = با ایران‌صدا منهای خط مبنای چندشرایطی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تجمیعی: WER از ۱۷٫۸۳٪ به ۱۷٫۲۲٪ و CER از ۷٫۹۳٪ به ۷٫۷۰٪ رسید"/>
          <p:cNvSpPr/>
          <p:nvPr/>
        </p:nvSpPr>
        <p:spPr>
          <a:xfrm>
            <a:off x="685800" y="5952960"/>
            <a:ext cx="108176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تجمیعی: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۱۷٫۲۲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۷٫۷۰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رسید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جمع‌بندی شواهد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جمع‌بندی شواهد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نتیجه آزمایش‌های اصلی ویسپر کوچک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نتیجه آزمایش‌های اصلی ویسپر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9" name="۲۰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0" name=""/>
          <p:cNvGraphicFramePr/>
          <p:nvPr/>
        </p:nvGraphicFramePr>
        <p:xfrm>
          <a:off x="685800" y="2143080"/>
          <a:ext cx="10819800" cy="29520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تماس واقعی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80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تجمیعی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 ویسپر کوچک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۲۳٫۲۷٪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۱۷٫۸۳٪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۱۷٫۶۴٪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پیشنهادی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۱۷٫۲۲٪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41" name="کمترین خطای تماس واقعی: همجوشی"/>
          <p:cNvSpPr/>
          <p:nvPr/>
        </p:nvSpPr>
        <p:spPr>
          <a:xfrm>
            <a:off x="685800" y="5381640"/>
            <a:ext cx="5188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تماس واقعی: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کمترین خطای تجمیعی: ایران‌صدا"/>
          <p:cNvSpPr/>
          <p:nvPr/>
        </p:nvSpPr>
        <p:spPr>
          <a:xfrm>
            <a:off x="6315120" y="5381640"/>
            <a:ext cx="51883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تجمیعی: ایران‌صدا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ویسپر متوسط: ۱۴٫۳۶٪ تجمیعی و ۲۱٫۹۹٪ تماس واقعی، با ظرفیت و آموزش متفاوت"/>
          <p:cNvSpPr/>
          <p:nvPr/>
        </p:nvSpPr>
        <p:spPr>
          <a:xfrm>
            <a:off x="685800" y="6067440"/>
            <a:ext cx="1081764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ویسپر متوسط: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۱۴٫۳۶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تجمیعی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۲۱٫۹۹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تماس واقعی، با ظرفیت و آموزش متفاوت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بحث و ادامه پژوهش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بحث و ادامه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محدودیت‌ها و آزمایش‌های بعد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محدودیت‌ها و آزمایش‌های بعدی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47" name="۲۱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۱"/>
          <p:cNvSpPr/>
          <p:nvPr/>
        </p:nvSpPr>
        <p:spPr>
          <a:xfrm>
            <a:off x="10839600" y="1952640"/>
            <a:ext cx="66384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سهم مستقل تخریب‌ها"/>
          <p:cNvSpPr/>
          <p:nvPr/>
        </p:nvSpPr>
        <p:spPr>
          <a:xfrm>
            <a:off x="7095960" y="1952640"/>
            <a:ext cx="335952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مستقل تخریب‌ها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اثر جداگانه نویز، کدک و افت بسته سنجیده نشده است&#10;آزمایش حذفی هر تخریب با تنظیمات آموزش یکسان"/>
          <p:cNvSpPr/>
          <p:nvPr/>
        </p:nvSpPr>
        <p:spPr>
          <a:xfrm>
            <a:off x="685800" y="1952640"/>
            <a:ext cx="595980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اثر جداگانه نویز، کدک و افت بسته سنجیده نشده است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حذفی هر تخریب با تنظیمات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85800" y="280980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52" name="۲"/>
          <p:cNvSpPr/>
          <p:nvPr/>
        </p:nvSpPr>
        <p:spPr>
          <a:xfrm>
            <a:off x="10839600" y="2943360"/>
            <a:ext cx="66384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اثر معماری و برنامه آموزش"/>
          <p:cNvSpPr/>
          <p:nvPr/>
        </p:nvSpPr>
        <p:spPr>
          <a:xfrm>
            <a:off x="7095960" y="2943360"/>
            <a:ext cx="335952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اثر معماری و برنامه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معماری و برنامه آموزش هم‌زمان تغییر کرده‌اند&#10;مقایسه همجوشی با خط مبنا تحت آموزش یکسان"/>
          <p:cNvSpPr/>
          <p:nvPr/>
        </p:nvSpPr>
        <p:spPr>
          <a:xfrm>
            <a:off x="685800" y="2943360"/>
            <a:ext cx="595980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معماری و برنامه آموزش هم‌زمان تغییر کرده‌اند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مقایسه همجوشی با خط مبنا تحت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685800" y="380016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56" name="۳"/>
          <p:cNvSpPr/>
          <p:nvPr/>
        </p:nvSpPr>
        <p:spPr>
          <a:xfrm>
            <a:off x="10839600" y="3933720"/>
            <a:ext cx="66384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کیفیت و تناسب داده"/>
          <p:cNvSpPr/>
          <p:nvPr/>
        </p:nvSpPr>
        <p:spPr>
          <a:xfrm>
            <a:off x="7095960" y="3933720"/>
            <a:ext cx="335952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کیفیت و تناسب داده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ممیزی انسانی متن معلم و اصلاح‌های مدل زبانی&#10;آزمایش نسبت داده و گفتار نزدیک به تماس"/>
          <p:cNvSpPr/>
          <p:nvPr/>
        </p:nvSpPr>
        <p:spPr>
          <a:xfrm>
            <a:off x="685800" y="3933720"/>
            <a:ext cx="595980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ممیزی انسانی متن معلم و اصلاح‌های مدل زبانی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نسبت داده و گفتار نزدیک به تماس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پوشش محدود شبیه‌ساز و خصوصی‌بودن آزمون تماس واقعی نیز دامنه شواهد را محدود می‌کنند"/>
          <p:cNvSpPr/>
          <p:nvPr/>
        </p:nvSpPr>
        <p:spPr>
          <a:xfrm>
            <a:off x="685800" y="6048360"/>
            <a:ext cx="1081764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پوشش محدود شبیه‌ساز و خصوصی‌بودن آزمون تماس واقعی نیز دامنه شواهد را محدود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685800" y="479088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1" name="۴"/>
          <p:cNvSpPr/>
          <p:nvPr/>
        </p:nvSpPr>
        <p:spPr>
          <a:xfrm>
            <a:off x="10839600" y="4924440"/>
            <a:ext cx="66384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ترکیب روش‌های پیشنهادی"/>
          <p:cNvSpPr/>
          <p:nvPr/>
        </p:nvSpPr>
        <p:spPr>
          <a:xfrm>
            <a:off x="7095960" y="4924440"/>
            <a:ext cx="335952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ترکیب روش‌های پیشنهادی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همجوشی و ایران‌صدا جداگانه ارزیابی شده‌اند&#10;آزمون ترکیب آن‌ها و سنجش سود احتمالی"/>
          <p:cNvSpPr/>
          <p:nvPr/>
        </p:nvSpPr>
        <p:spPr>
          <a:xfrm>
            <a:off x="685800" y="4924440"/>
            <a:ext cx="5959800" cy="7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همجوشی و ایران‌صدا جداگانه ارزیابی شده‌اند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آزمون ترکیب آن‌ها و سنجش سود احتمالی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پایان ارائه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پایان ارائه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جمع‌بند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f7f6f2"/>
                </a:solidFill>
                <a:latin typeface="Vazirmatn"/>
                <a:cs typeface="Vazirmatn"/>
              </a:rPr>
              <a:t>جمع‌بندی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267" name="۲۲ از ۲۲"/>
          <p:cNvSpPr/>
          <p:nvPr/>
        </p:nvSpPr>
        <p:spPr>
          <a:xfrm>
            <a:off x="685800" y="6486480"/>
            <a:ext cx="9496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۲۳</a:t>
            </a:r>
            <a:r>
              <a:rPr b="0" lang="en-US" sz="1200" spc="-1" strike="noStrike">
                <a:solidFill>
                  <a:srgbClr val="b8d8db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بیشترین بهبود با آموزش متناسب با کانال"/>
          <p:cNvSpPr/>
          <p:nvPr/>
        </p:nvSpPr>
        <p:spPr>
          <a:xfrm>
            <a:off x="685800" y="1590840"/>
            <a:ext cx="1081764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620" spc="-1" strike="noStrike">
                <a:solidFill>
                  <a:srgbClr val="f7f6f2"/>
                </a:solidFill>
                <a:latin typeface="Vazirmatn"/>
                <a:cs typeface="Vazirmatn"/>
              </a:rPr>
              <a:t>بیشترین بهبود با آموزش متناسب با کانال</a:t>
            </a:r>
            <a:endParaRPr b="0" lang="en-US" sz="2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۳۵٫۶۳٪"/>
          <p:cNvSpPr/>
          <p:nvPr/>
        </p:nvSpPr>
        <p:spPr>
          <a:xfrm>
            <a:off x="7896240" y="2467080"/>
            <a:ext cx="360720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550" spc="-1" strike="noStrike">
                <a:solidFill>
                  <a:srgbClr val="b8d8db"/>
                </a:solidFill>
                <a:latin typeface="Vazirmatn"/>
                <a:cs typeface="Vazirmatn"/>
              </a:rPr>
              <a:t>۳۵٫۶۳٪</a:t>
            </a:r>
            <a:endParaRPr b="0" lang="en-US" sz="5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به"/>
          <p:cNvSpPr/>
          <p:nvPr/>
        </p:nvSpPr>
        <p:spPr>
          <a:xfrm>
            <a:off x="7000920" y="2647800"/>
            <a:ext cx="56880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2400" spc="-1" strike="noStrike">
                <a:solidFill>
                  <a:srgbClr val="f7f6f2"/>
                </a:solidFill>
                <a:latin typeface="Vazirmatn"/>
                <a:cs typeface="Vazirmatn"/>
              </a:rPr>
              <a:t>به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۲۵٫۸۰٪"/>
          <p:cNvSpPr/>
          <p:nvPr/>
        </p:nvSpPr>
        <p:spPr>
          <a:xfrm>
            <a:off x="3067200" y="2467080"/>
            <a:ext cx="360720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550" spc="-1" strike="noStrike">
                <a:solidFill>
                  <a:srgbClr val="f7f6f2"/>
                </a:solidFill>
                <a:latin typeface="Vazirmatn"/>
                <a:cs typeface="Vazirmatn"/>
              </a:rPr>
              <a:t>۲۵٫۸۰٪</a:t>
            </a:r>
            <a:endParaRPr b="0" lang="en-US" sz="5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نرخ خطای واژه در تماس‌های واقعی مستقل"/>
          <p:cNvSpPr/>
          <p:nvPr/>
        </p:nvSpPr>
        <p:spPr>
          <a:xfrm>
            <a:off x="3067200" y="3724200"/>
            <a:ext cx="8436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b8d8db"/>
                </a:solidFill>
                <a:latin typeface="Vazirmatn"/>
                <a:cs typeface="Vazirmatn"/>
              </a:rPr>
              <a:t>نرخ خطای واژه در تماس‌های واقعی مستقل</a:t>
            </a:r>
            <a:endParaRPr b="0" lang="en-US" sz="2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3066840" y="4514760"/>
            <a:ext cx="843912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274" name="همجوشی"/>
          <p:cNvSpPr/>
          <p:nvPr/>
        </p:nvSpPr>
        <p:spPr>
          <a:xfrm>
            <a:off x="8153280" y="4676760"/>
            <a:ext cx="33498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f7f6f2"/>
                </a:solidFill>
                <a:latin typeface="Vazirmatn"/>
                <a:cs typeface="Vazirmatn"/>
              </a:rPr>
              <a:t>همجوشی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۲۵٫۳۷٪ خطای تماس واقعی&#10;بهبود عددی کوچک"/>
          <p:cNvSpPr/>
          <p:nvPr/>
        </p:nvSpPr>
        <p:spPr>
          <a:xfrm>
            <a:off x="8153280" y="5238720"/>
            <a:ext cx="3349800" cy="7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۲۵٫۳۷٪</a:t>
            </a:r>
            <a:r>
              <a:rPr b="0" lang="en-US" sz="1800" spc="-1" strike="noStrike">
                <a:solidFill>
                  <a:srgbClr val="b8d8db"/>
                </a:solidFill>
                <a:latin typeface="Vazirmatn"/>
                <a:ea typeface="Vazirmatn"/>
              </a:rPr>
              <a:t> خطای تماس واقعی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بهبود عددی کوچک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داده کتاب صوتی"/>
          <p:cNvSpPr/>
          <p:nvPr/>
        </p:nvSpPr>
        <p:spPr>
          <a:xfrm>
            <a:off x="3581280" y="4676760"/>
            <a:ext cx="3902400" cy="4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f7f6f2"/>
                </a:solidFill>
                <a:latin typeface="Vazirmatn"/>
                <a:cs typeface="Vazirmatn"/>
              </a:rPr>
              <a:t>داده کتاب صوتی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۱۷٫۲۲٪ خطای تجمیعی&#10;سود وابسته به دامنه"/>
          <p:cNvSpPr/>
          <p:nvPr/>
        </p:nvSpPr>
        <p:spPr>
          <a:xfrm>
            <a:off x="3581280" y="5238720"/>
            <a:ext cx="3902400" cy="7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۱۷٫۲۲٪</a:t>
            </a:r>
            <a:r>
              <a:rPr b="0" lang="en-US" sz="1800" spc="-1" strike="noStrike">
                <a:solidFill>
                  <a:srgbClr val="b8d8db"/>
                </a:solidFill>
                <a:latin typeface="Vazirmatn"/>
                <a:ea typeface="Vazirmatn"/>
              </a:rPr>
              <a:t> خطای تجمیعی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b8d8db"/>
                </a:solidFill>
                <a:latin typeface="Vazirmatn"/>
                <a:cs typeface="Vazirmatn"/>
              </a:rPr>
              <a:t>سود وابسته به دامنه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سپاسگزارم&#10;پرسش‌ها"/>
          <p:cNvSpPr/>
          <p:nvPr/>
        </p:nvSpPr>
        <p:spPr>
          <a:xfrm>
            <a:off x="685800" y="5067360"/>
            <a:ext cx="2035440" cy="9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f7f6f2"/>
                </a:solidFill>
                <a:latin typeface="Vazirmatn"/>
                <a:cs typeface="Vazirmatn"/>
              </a:rPr>
              <a:t>سپاسگزارم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  <a:p>
            <a:pPr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f7f6f2"/>
                </a:solidFill>
                <a:latin typeface="Vazirmatn"/>
                <a:cs typeface="Vazirmatn"/>
              </a:rPr>
              <a:t>پرسش‌ها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685800" y="714240"/>
            <a:ext cx="108198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85800" y="16192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[1] P. Peso Parada et al., “pMCT: Patched Multi-Condition Training for Robust Speech Recognition,” Interspeech, pp. 3779–3783, 2022.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685800" y="25812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10.21437/Interspeech.2022-117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685800" y="28288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[2] D. Liu et al., “Towards Pretraining Robust ASR Foundation Model with Acoustic-Aware Data Augmentation,” arXiv:2505.20606,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685800" y="37908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10.48550/arXiv.2505.20606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685800" y="40384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[3] T. Niu et al., “Parameter-Efficient Adaptation with Multi-Channel Adversarial Training for Far-Field Speech Recognition,” EURASIP JASMP,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85800" y="50007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10.1186/s13636-025-00406-5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685800" y="524844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[4] B. Namdarzadeh et al., “Fine-tuning Whisper with Spontaneous Persian Speech (SPS),” SIGUL, pp. 263–269,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85800" y="62103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10.63317/2ca2yoj8fzgd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286680" y="16192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[5] A. Amirivojdan et al., “Neyshekar: An Open Persian Read-Speech Corpus for Automatic Speech Recognition,” arXiv:2609.14542,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6286680" y="25812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10.48550/arXiv.2609.14542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286680" y="28288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[6] K. S. Bhogale et al., “Empowering Low-Resource Language ASR via Large-Scale Pseudo Labeling,” Interspeech, pp. 2519–2523,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286680" y="37908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10.21437/Interspeech.2024-2396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286680" y="40384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[7] S. Bandarupalli et al., “Efficient ASR for Low-Resource Languages: Leveraging Cross-Lingual Unlabeled Data,” Findings of IJCNLP-AACL, pp. 1611–1617,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286680" y="50007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10.18653/v1/2025.findings-ijcnlp.99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286680" y="524844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[8] J. Baik et al., “DASH: Dual-View Self-Distillation with Multi-Layer Hidden Representations for Robust Speech Recognition,” Interspeech, pp. 3116–3121,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286680" y="62103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ISCA Archive, Interspeech 2026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85800" y="714240"/>
            <a:ext cx="108198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85800" y="16192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[9] Y. Hu et al., “Listen Again and Choose the Right Answer: A New Paradigm for Automatic Speech Recognition with Large Language Models,” Findings of ACL, pp. 666–679,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85800" y="25812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10.18653/v1/2024.findings-acl.37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85800" y="28288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[10] T. Udagawa et al., “Robust ASR Error Correction with Conservative Data Filtering,” EMNLP Industry, pp. 256–266,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685800" y="37908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10.18653/v1/2024.emnlp-industry.20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685800" y="40384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[11] M. A. Shah et al., “Speech Robust Bench: A Robustness Benchmark for Speech Recognition,” ICLR, pp. 38625–38651,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85800" y="50007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ICLR 2025 proceedings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85800" y="524844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[12] K. Saijo et al., “Interspeech 2025 URGENT Speech Enhancement Challenge,” Interspeech, pp. 858–862,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85800" y="62103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10.21437/Interspeech.2025-1363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286680" y="16192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[13] N. Sedghiyeh et al., “PSRB: A Comprehensive Benchmark for Evaluating Persian ASR Systems,” arXiv:2505.21230,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286680" y="25812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10.48550/arXiv.2505.21230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286680" y="28288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[14] R. Nasretdinov et al., “Robust Speech Recognition with Schrödinger Bridge-Based Speech Enhancement,”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286680" y="37908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10.1109/ICASSP49660.2025.10890638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286680" y="40384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[15] Y. Yang et al., “Towards Decoupling Frontend Enhancement and Backend Recognition in Monaural Robust ASR,” Comput. Speech Lang., vol. 95, Art. 101821,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286680" y="50007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10.1016/j.csl.2025.101821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286680" y="524844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[16] Y. Dissen et al., “A Front-End Adaptation Network for Improving Speech Recognition Performance in Packet Loss and Noisy Environments,” IEEE TASLPRO, vol. 33, pp. 2175–2188,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286680" y="62103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10.1109/TASLPRO.2025.3574840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85800" y="714240"/>
            <a:ext cx="108198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85800" y="16192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[17] H. Sato et al., “Generic Speech Enhancement with Self-Supervised Representation Space Loss,” Front. Signal Process., vol. 5, Art. 1587969,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85800" y="25812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10.3389/frsip.2025.1587969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85800" y="28288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[18] D. Yang et al., “FAT-HuBERT: Front-End Adaptive Training of Hidden-Unit BERT for Distortion-Invariant Robust Speech Recognition,” ASRU, pp. 1–8, 2023.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85800" y="37908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10.1109/ASRU57964.2023.10389685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85800" y="40384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[19] Y. Hu et al., “Wav2code: Restore Clean Speech Representations via Codebook Lookup for Noise-Robust ASR,” IEEE/ACM TASLP, vol. 32, pp. 1145–1156,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85800" y="50007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10.1109/TASLP.2023.3332545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685800" y="524844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[20] K. Wang et al., “Bridging the Gap: Integrating Pre-Trained Speech Enhancement and Recognition Models for Robust Speech Recognition,” EUSIPCO, pp. 426–430,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685800" y="62103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10.23919/EUSIPCO63174.2024.10715447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286680" y="16192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[21] Z. Cui et al., “Reducing the Gap Between Pretrained Speech Enhancement and Recognition Models Using a Real Speech-Trained Bridging Module,”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6286680" y="25812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10.1109/ICASSP49660.2025.10889737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286680" y="28288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[22] H. Li et al., “Training-Free Intelligibility-Guided Observation Addition for Noisy ASR,” Interspeech, pp. 3138–3143,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286680" y="379080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10.21437/Interspeech.2026-1096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286680" y="4038480"/>
            <a:ext cx="521892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[23] M. Qu et al., “Mitigating Over-Suppression in Speech Enhancement via Inference-Time Rethink-and-Refine Correction Module,” IEEE MLSP,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286680" y="5000760"/>
            <a:ext cx="521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10.48550/arXiv.2608.07781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پیوست پژوهش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پیوست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3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34" name="مطالب تکمیلی"/>
          <p:cNvSpPr/>
          <p:nvPr/>
        </p:nvSpPr>
        <p:spPr>
          <a:xfrm>
            <a:off x="685800" y="2171880"/>
            <a:ext cx="10817640" cy="11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250" spc="-1" strike="noStrike">
                <a:solidFill>
                  <a:srgbClr val="f7f6f2"/>
                </a:solidFill>
                <a:latin typeface="Vazirmatn"/>
                <a:cs typeface="Vazirmatn"/>
              </a:rPr>
              <a:t>مطالب تکمیلی</a:t>
            </a:r>
            <a:endParaRPr b="0" lang="en-US" sz="5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جزئیات داده‌ها و نتایج پژوهش"/>
          <p:cNvSpPr/>
          <p:nvPr/>
        </p:nvSpPr>
        <p:spPr>
          <a:xfrm>
            <a:off x="685800" y="3495600"/>
            <a:ext cx="108176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470" spc="-1" strike="noStrike">
                <a:solidFill>
                  <a:srgbClr val="b8d8db"/>
                </a:solidFill>
                <a:latin typeface="Vazirmatn"/>
                <a:cs typeface="Vazirmatn"/>
              </a:rPr>
              <a:t>جزئیات داده‌ها و نتایج پژوهش</a:t>
            </a:r>
            <a:endParaRPr b="0" lang="en-US" sz="24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مقایسه مدل‌ها روی زیرمجموعه مشترک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مقایسه مدل‌ها روی زیرمجموعه مشترک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39" name=""/>
          <p:cNvGraphicFramePr/>
          <p:nvPr/>
        </p:nvGraphicFramePr>
        <p:xfrm>
          <a:off x="685800" y="1657440"/>
          <a:ext cx="10819080" cy="4658040"/>
        </p:xfrm>
        <a:graphic>
          <a:graphicData uri="http://schemas.openxmlformats.org/drawingml/2006/table">
            <a:tbl>
              <a:tblPr/>
              <a:tblGrid>
                <a:gridCol w="2000160"/>
                <a:gridCol w="1761840"/>
                <a:gridCol w="1761840"/>
                <a:gridCol w="5295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مدل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۲۲٫۹۴٪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۵٫۱۴٪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۱۶٫۴۴٪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Chirp 3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۴۸٫۶۲٪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۱۸٫۵۵٪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GPT-4o Transcribe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کوچک: 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۱۰٫۹۷٪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۲۴٫۷۷٪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۱۱٫۲۴٪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۲۳٫۱۳٪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Voxtral Small 24B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۳۶٫۶۶٪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Qwen3-ASR 1.7B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۶۷٫۸۹٪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۴۰٫۸۸٪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Grok STT 1.0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۱۰۴٫۵۹٪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۸۰٫۸۶٪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۹۸٫۷۰٪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Nemotron 3.5 ASR 0.6B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40" name="۱۰۰ نمونه ثابت، ۲۰ نمونه از هر مجموعه. این مقایسه جایگزین ارزیابی کامل نیست"/>
          <p:cNvSpPr/>
          <p:nvPr/>
        </p:nvSpPr>
        <p:spPr>
          <a:xfrm>
            <a:off x="686160" y="6505560"/>
            <a:ext cx="108176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ثابت،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از هر مجموعه. این مقایسه جایگزین ارزیابی کامل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نرخ خطای واژه به تفکیک مجموعه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به تفکیک مجموعه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44" name=""/>
          <p:cNvGraphicFramePr/>
          <p:nvPr/>
        </p:nvGraphicFramePr>
        <p:xfrm>
          <a:off x="685800" y="1752480"/>
          <a:ext cx="10819440" cy="4344120"/>
        </p:xfrm>
        <a:graphic>
          <a:graphicData uri="http://schemas.openxmlformats.org/drawingml/2006/table">
            <a:tbl>
              <a:tblPr/>
              <a:tblGrid>
                <a:gridCol w="1476360"/>
                <a:gridCol w="1523880"/>
                <a:gridCol w="1333440"/>
                <a:gridCol w="1476360"/>
                <a:gridCol w="1523880"/>
                <a:gridCol w="348588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گفتار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فارسی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فلورز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کامن‌وویس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۲۱٫۰۵٪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۱۱٫۵۲٪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۱۹٫۲۶٪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داده‌افزایی نویزی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۲۰٫۲۳٪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۳۰٫۹۰٪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۳۲٫۳۲٪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 تطبیقی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۱۷٫۱۴٪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۲۱٫۹۹٪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۲۵٫۸۷٪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۲۶٫۸۶٪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۱۳٫۷۸٪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۸٫۱۹٪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45" name="همه اعداد WER و درصد هستند. ¹ فقط ۲۴ نمونه. تعداد واجدشرایط پیکره گفتار فارسی تغییر می‌کند"/>
          <p:cNvSpPr/>
          <p:nvPr/>
        </p:nvSpPr>
        <p:spPr>
          <a:xfrm>
            <a:off x="685800" y="6076800"/>
            <a:ext cx="108176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همه اعداد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درصد هستند.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فقط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۲۴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نمونه. تعداد واجدشرایط پیکره گفتار فارسی تغییر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آزمایش کامل مؤلفه‌ها در ویسپر بسیار کوچک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کامل مؤلفه‌ها در ویسپر بسیار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49" name=""/>
          <p:cNvGraphicFramePr/>
          <p:nvPr/>
        </p:nvGraphicFramePr>
        <p:xfrm>
          <a:off x="685800" y="1657440"/>
          <a:ext cx="10819440" cy="46580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پیکربندی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۳۸٫۰۳٪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خط مبنای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۲۸٫۴۲٪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۶۲٫۳۵٪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فقط دروازه‌ای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۶۰٫۲۶٪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توجه متقاطع باقیمانده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۳۰٫۳۹٪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۶۹٫۲۳٪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۳۳٫۲۱٪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۶۴٫۱۰٪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اصلی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۶۹٫۶۹٪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۳۳٫۰۵٪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بهسازی‌شده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۲۷٫۰۲٪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۳۰٫۵۷٪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۵۷٫۸۲٪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دوسویه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۳۴٫۸۳٪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۷۶٫۶۳٪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۳۵٫۵۳٪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۷۷٫۶۷٪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۳۸٫۷۹٪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۷۵٫۹۰٪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صوت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 + RI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0" name="¹ حذف مسیر در استنتاج. آموزش فقط با کامن‌وویس است. بودجه آموزش و ظرفیت گونه‌ها برابر نیست"/>
          <p:cNvSpPr/>
          <p:nvPr/>
        </p:nvSpPr>
        <p:spPr>
          <a:xfrm>
            <a:off x="685800" y="6172200"/>
            <a:ext cx="108176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مسیر در استنتاج. آموزش فقط با کامن‌وویس است. بودجه آموزش و ظرفیت گونه‌ها برابر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توزیع نمایه‌های تخریب مخابراتی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نمایه‌های تخریب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54" name=""/>
          <p:cNvGraphicFramePr/>
          <p:nvPr/>
        </p:nvGraphicFramePr>
        <p:xfrm>
          <a:off x="685800" y="1809720"/>
          <a:ext cx="10819440" cy="2837520"/>
        </p:xfrm>
        <a:graphic>
          <a:graphicData uri="http://schemas.openxmlformats.org/drawingml/2006/table">
            <a:tbl>
              <a:tblPr/>
              <a:tblGrid>
                <a:gridCol w="2647800"/>
                <a:gridCol w="2647800"/>
                <a:gridCol w="1904760"/>
                <a:gridCol w="3619440"/>
              </a:tblGrid>
              <a:tr h="5522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اختلال شبکه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افزودن نویز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انتخاب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telephone_clean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telephone_noisy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5" name="احتمال کلی افزودن نویز: ۳۷٫۵٪"/>
          <p:cNvSpPr/>
          <p:nvPr/>
        </p:nvSpPr>
        <p:spPr>
          <a:xfrm>
            <a:off x="6191280" y="4886280"/>
            <a:ext cx="5312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افزودن نویز: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۳۷٫۵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احتمال کلی اختلال شبکه: ۳۴٫۵٪"/>
          <p:cNvSpPr/>
          <p:nvPr/>
        </p:nvSpPr>
        <p:spPr>
          <a:xfrm>
            <a:off x="685800" y="4886280"/>
            <a:ext cx="53128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اختلال شبکه: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۳۴٫۵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ابتدا نمایه انتخاب می‌شود، سپس احتمال‌های همان نمایه روی نمونه اعمال می‌شوند"/>
          <p:cNvSpPr/>
          <p:nvPr/>
        </p:nvSpPr>
        <p:spPr>
          <a:xfrm>
            <a:off x="685800" y="5438880"/>
            <a:ext cx="10818360" cy="41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ابتدا نمایه انتخاب می‌شود، سپس احتمال‌های همان نمایه روی نمونه اعمال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وزن‌ها طراحی آموزشی‌اند. درصدها احتمال نمونه‌برداری‌اند و شمارش واقعی داده نیستند"/>
          <p:cNvSpPr/>
          <p:nvPr/>
        </p:nvSpPr>
        <p:spPr>
          <a:xfrm>
            <a:off x="685800" y="601020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وزن‌ها طراحی آموزشی‌اند. درصدها احتمال نمونه‌برداری‌اند و شمارش واقعی داده نیستند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توزیع کدک در هر نمایه و در کل داده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کدک در هر نمایه و در کل 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2" name=""/>
          <p:cNvGraphicFramePr/>
          <p:nvPr/>
        </p:nvGraphicFramePr>
        <p:xfrm>
          <a:off x="685800" y="1657440"/>
          <a:ext cx="10819440" cy="4199400"/>
        </p:xfrm>
        <a:graphic>
          <a:graphicData uri="http://schemas.openxmlformats.org/drawingml/2006/table">
            <a:tbl>
              <a:tblPr/>
              <a:tblGrid>
                <a:gridCol w="1523880"/>
                <a:gridCol w="1523880"/>
                <a:gridCol w="1523880"/>
                <a:gridCol w="1523880"/>
                <a:gridCol w="1523880"/>
                <a:gridCol w="320040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همراه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8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VoIP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 افت بسته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نویزی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بدون نویز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کدک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۱۹٫۲۵٪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A-law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μ-law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GSM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۱۵٫۲۵٪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AMR-NB (12.2k)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AMR-WB (12.65k)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۷٫۵۰٪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pass_through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3" name="سهم کل کدک = مجموعِ «سهم نمایه × احتمال کدک در همان نمایه»"/>
          <p:cNvSpPr/>
          <p:nvPr/>
        </p:nvSpPr>
        <p:spPr>
          <a:xfrm>
            <a:off x="685800" y="5638680"/>
            <a:ext cx="108183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کل کدک = مجموعِ «سهم نمایه × احتمال کدک در همان نمایه»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جمع هر ستون ۱۰۰٪ است. انتخاب نمایه، توزیع کدک سراسری را بازنویسی می‌کند"/>
          <p:cNvSpPr/>
          <p:nvPr/>
        </p:nvSpPr>
        <p:spPr>
          <a:xfrm>
            <a:off x="685800" y="6058080"/>
            <a:ext cx="108183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جمع هر ستون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است. انتخاب نمایه، توزیع کدک سراسری را بازنویسی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توزیع نویز، SNR و تغییر بهره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نویز،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 و تغییر بهره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8" name=""/>
          <p:cNvGraphicFramePr/>
          <p:nvPr/>
        </p:nvGraphicFramePr>
        <p:xfrm>
          <a:off x="685800" y="1676520"/>
          <a:ext cx="10819440" cy="22950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در نمونه نویزی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SNR (dB)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−</a:t>
                      </a: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 to 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10 to 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9" name="انتخاب بازه هم‌احتمال است. SNR داخل بازه، توزیع یکنواخت پیوسته دارد"/>
          <p:cNvSpPr/>
          <p:nvPr/>
        </p:nvSpPr>
        <p:spPr>
          <a:xfrm>
            <a:off x="685800" y="3971880"/>
            <a:ext cx="108183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انتخاب بازه هم‌احتمال است.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داخل بازه، توزیع یکنواخت پیوسته دارد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در نمونه‌های نویزی: یک فایل ۹۰٪، دو فایل ۱۰٪ با انتخاب مستقل از DEMAND"/>
          <p:cNvSpPr/>
          <p:nvPr/>
        </p:nvSpPr>
        <p:spPr>
          <a:xfrm>
            <a:off x="685800" y="4429080"/>
            <a:ext cx="108183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در نمونه‌های نویزی: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۹۰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 با انتخاب مستقل از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DEMAND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از کل داده: بدون نویز ۶۲٫۵٪، یک فایل ۳۳٫۷۵٪، دو فایل ۳٫۷۵٪"/>
          <p:cNvSpPr/>
          <p:nvPr/>
        </p:nvSpPr>
        <p:spPr>
          <a:xfrm>
            <a:off x="685800" y="4838760"/>
            <a:ext cx="108183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از کل داده: بدون نویز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۶۲٫۵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انتخاب فایل در فهرست یکنواخت است. سهم هر محیط به تعداد فایل‌های آن بستگی دارد"/>
          <p:cNvSpPr/>
          <p:nvPr/>
        </p:nvSpPr>
        <p:spPr>
          <a:xfrm>
            <a:off x="685800" y="5248440"/>
            <a:ext cx="108183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انتخاب فایل در فهرست یکنواخت است. سهم هر محیط به تعداد فایل‌های آن بستگی دارد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بهره روی کل مخلوط: یکنواخت از ۶− تا ۶+ دسی‌بل، بدون تغییر SNR"/>
          <p:cNvSpPr/>
          <p:nvPr/>
        </p:nvSpPr>
        <p:spPr>
          <a:xfrm>
            <a:off x="685800" y="5657760"/>
            <a:ext cx="108183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بهره روی کل مخلوط: یکنواخت از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− تا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+ دسی‌بل، بدون تغییر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SNR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درصدهای نویز، وجود فهرست معتبر DEMAND را فرض می‌کنند"/>
          <p:cNvSpPr/>
          <p:nvPr/>
        </p:nvSpPr>
        <p:spPr>
          <a:xfrm>
            <a:off x="685800" y="6076800"/>
            <a:ext cx="108183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درصدهای نویز، وجود فهرست معتبر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DEMAND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را فرض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پهنای‌باند کانال و پارامترهای Opus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پهنای‌باند کانال و پارامترهای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78" name=""/>
          <p:cNvGraphicFramePr/>
          <p:nvPr/>
        </p:nvGraphicFramePr>
        <p:xfrm>
          <a:off x="685800" y="1657440"/>
          <a:ext cx="10819440" cy="1357200"/>
        </p:xfrm>
        <a:graphic>
          <a:graphicData uri="http://schemas.openxmlformats.org/drawingml/2006/table">
            <a:tbl>
              <a:tblPr/>
              <a:tblGrid>
                <a:gridCol w="1714320"/>
                <a:gridCol w="3238200"/>
                <a:gridCol w="2286000"/>
                <a:gridCol w="358128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فرکانسی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Hz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کانال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مسیر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300–3400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8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باریک‌باند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50–7000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79" name="عبور مستقیم: ۳٪ کل داده، با انتخاب ۵۰٪ باریک‌باند و ۵۰٪ پهن‌باند"/>
          <p:cNvSpPr/>
          <p:nvPr/>
        </p:nvSpPr>
        <p:spPr>
          <a:xfrm>
            <a:off x="685800" y="3057480"/>
            <a:ext cx="108183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عبور مستقیم: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۳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کل داده، با انتخاب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باریک‌باند و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پهن‌باند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0" name=""/>
          <p:cNvGraphicFramePr/>
          <p:nvPr/>
        </p:nvGraphicFramePr>
        <p:xfrm>
          <a:off x="685800" y="3581280"/>
          <a:ext cx="10819800" cy="18288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طول قاب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ms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بیت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kb/s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 و کدک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 / 60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12 / 16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1" name="گزینه‌های هر خانه هم‌احتمال‌اند. نرخ بیت و طول قاب مستقل انتخاب می‌شوند"/>
          <p:cNvSpPr/>
          <p:nvPr/>
        </p:nvSpPr>
        <p:spPr>
          <a:xfrm>
            <a:off x="685800" y="5562720"/>
            <a:ext cx="108183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گزینه‌های هر خانه هم‌احتمال‌اند. نرخ بیت و طول قاب مستقل انتخاب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خروجی همه مسیرها: تک‌کاناله و ۱۶ کیلوهرتز، با حفظ محدودیت پهنای‌باند"/>
          <p:cNvSpPr/>
          <p:nvPr/>
        </p:nvSpPr>
        <p:spPr>
          <a:xfrm>
            <a:off x="685800" y="601992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خروجی همه مسیرها: تک‌کاناله و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کیلوهرتز، با حفظ محدودیت پهنای‌باند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توزیع شدت افت و مدل اختلال شبکه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شدت افت و مدل اختلال شبکه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86" name=""/>
          <p:cNvGraphicFramePr/>
          <p:nvPr/>
        </p:nvGraphicFramePr>
        <p:xfrm>
          <a:off x="685800" y="1657440"/>
          <a:ext cx="10819440" cy="18666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پس از فعال‌شدن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نرخ افت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0.3% to 2%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2% to 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5% to 10%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7" name="نرخ افت داخل بازه یکنواخت است. طول متوسط جهش از ۱ تا ۵ قاب انتخاب می‌شود"/>
          <p:cNvSpPr/>
          <p:nvPr/>
        </p:nvSpPr>
        <p:spPr>
          <a:xfrm>
            <a:off x="685800" y="3724200"/>
            <a:ext cx="108183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نرخ افت داخل بازه یکنواخت است. طول متوسط جهش از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تا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۵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قاب انتخاب می‌شود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مدل دوحالته خوب/بد با شروع از توزیع پایا، برای ایجاد افت‌های متوالی"/>
          <p:cNvSpPr/>
          <p:nvPr/>
        </p:nvSpPr>
        <p:spPr>
          <a:xfrm>
            <a:off x="685800" y="4162320"/>
            <a:ext cx="108183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مدل دوحالته خوب/بد با شروع از توزیع پایا، برای ایجاد افت‌های متوالی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Opus: حذف بسته پیش از رمزگشایی و پنهان‌سازی افت با PLC"/>
          <p:cNvSpPr/>
          <p:nvPr/>
        </p:nvSpPr>
        <p:spPr>
          <a:xfrm>
            <a:off x="685800" y="4600440"/>
            <a:ext cx="108183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Opus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: حذف بسته پیش از رمزگشایی و پنهان‌سازی افت با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PLC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سایر مسیرها: صفرکردن قاب‌های موج پس از رمزگشایی، با قاب ۲۰ میلی‌ثانیه"/>
          <p:cNvSpPr/>
          <p:nvPr/>
        </p:nvSpPr>
        <p:spPr>
          <a:xfrm>
            <a:off x="685800" y="5038560"/>
            <a:ext cx="108183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سایر مسیرها: صفرکردن قاب‌های موج پس از رمزگشایی، با قاب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میلی‌ثانیه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سهم موردانتظار از کل: Opus با PLC برابر ۲۱٫۸٪، حذف موج برابر ۱۲٫۷٪"/>
          <p:cNvSpPr/>
          <p:nvPr/>
        </p:nvSpPr>
        <p:spPr>
          <a:xfrm>
            <a:off x="685800" y="5477040"/>
            <a:ext cx="108183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موردانتظار از کل: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با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PLC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۲۱٫۸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٪، حذف موج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۱۲٫۷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نرخ افتِ هدف با نرخ افتِ مشاهده‌شده در قطعه‌های کوتاه یکسان نیست"/>
          <p:cNvSpPr/>
          <p:nvPr/>
        </p:nvSpPr>
        <p:spPr>
          <a:xfrm>
            <a:off x="685800" y="601992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نرخ افتِ هدف با نرخ افتِ مشاهده‌شده در قطعه‌های کوتاه یکسان نیست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مطالب تکمیلی"/>
          <p:cNvSpPr/>
          <p:nvPr/>
        </p:nvSpPr>
        <p:spPr>
          <a:xfrm>
            <a:off x="4191120" y="285840"/>
            <a:ext cx="7313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ساخت جفت‌های هم‌تراز و ثبت فراداده"/>
          <p:cNvSpPr/>
          <p:nvPr/>
        </p:nvSpPr>
        <p:spPr>
          <a:xfrm>
            <a:off x="685800" y="714240"/>
            <a:ext cx="1081836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 جفت‌های هم‌تراز و ثبت فراداده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96" name=""/>
          <p:cNvGraphicFramePr/>
          <p:nvPr/>
        </p:nvGraphicFramePr>
        <p:xfrm>
          <a:off x="685800" y="1657440"/>
          <a:ext cx="10819800" cy="3219120"/>
        </p:xfrm>
        <a:graphic>
          <a:graphicData uri="http://schemas.openxmlformats.org/drawingml/2006/table">
            <a:tbl>
              <a:tblPr/>
              <a:tblGrid>
                <a:gridCol w="6534000"/>
                <a:gridCol w="428616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تنظیم اجرا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جزء خط لوله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گونه برای هر قطعه در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train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و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dev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تولید داده مخابراتی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ffmpeg</a:t>
                      </a: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، یا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Opus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بومی در شاخه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PLC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اجرای رمزگذاری و رمزگشایی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هم‌بستگی متقاطع و جبران تأخیر کدک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هم‌ترازی زمانی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همان محدودیت پهنای‌باند، طول و نرخ نمونه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هدف پاک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ضریب مشترک و سقف دامنه </a:t>
                      </a: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۰٫۹۹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کنترل دامنه جفت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غیرفعال در پیکربندی حاضر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کلیپینگ مصنوعی و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97" name="JSONL: نمایه، بذر، کدک، SNR، مسیر کانال، افت واقعی و ضریب نرمال‌سازی"/>
          <p:cNvSpPr/>
          <p:nvPr/>
        </p:nvSpPr>
        <p:spPr>
          <a:xfrm>
            <a:off x="685800" y="5505480"/>
            <a:ext cx="1081836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JSONL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: نمایه، بذر، کدک، 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، مسیر کانال، افت واقعی و ضریب نرمال‌سازی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نویز، بهره، فیلتر و کدک به این شبیه‌سازی تعلق دارند. پژواک و نوسان تأخیر مدل نشده‌اند"/>
          <p:cNvSpPr/>
          <p:nvPr/>
        </p:nvSpPr>
        <p:spPr>
          <a:xfrm>
            <a:off x="685800" y="6019920"/>
            <a:ext cx="108183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نویز، بهره، فیلتر و کدک به این شبیه‌سازی تعلق دارند. پژواک و نوسان تأخیر مدل نشده‌اند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اندازه پیکره‌ها و تنظیمات خط مبنا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اندازه پیکره‌ها و تنظیمات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02" name=""/>
          <p:cNvGraphicFramePr/>
          <p:nvPr/>
        </p:nvGraphicFramePr>
        <p:xfrm>
          <a:off x="685800" y="1809720"/>
          <a:ext cx="10819440" cy="2418840"/>
        </p:xfrm>
        <a:graphic>
          <a:graphicData uri="http://schemas.openxmlformats.org/drawingml/2006/table">
            <a:tbl>
              <a:tblPr/>
              <a:tblGrid>
                <a:gridCol w="3809880"/>
                <a:gridCol w="1857240"/>
                <a:gridCol w="1857240"/>
                <a:gridCol w="3295440"/>
              </a:tblGrid>
              <a:tr h="5331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نقش در 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پایه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عمومی و تولید تخریب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۱۰۰۰۶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۲۹۹۴۳۰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بداهه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۶۰۴۴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۶۰۰۶۷۲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فارس‌اسپان (محدود)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تنوع دامنه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۳۰۱۹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03" name="ویسپر کوچک تک‌جریانه"/>
          <p:cNvSpPr/>
          <p:nvPr/>
        </p:nvSpPr>
        <p:spPr>
          <a:xfrm>
            <a:off x="7048440" y="4476600"/>
            <a:ext cx="44550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کوچک تک‌جریانه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یک دوره، نرخ یادگیری ⁦1e-5⁩&#10;دسته ۴ و انباشت ۸ گام: ۳۲ نمونه"/>
          <p:cNvSpPr/>
          <p:nvPr/>
        </p:nvSpPr>
        <p:spPr>
          <a:xfrm>
            <a:off x="7048440" y="4981680"/>
            <a:ext cx="4455000" cy="7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یک دوره، نرخ یادگیری ⁦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1e-5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⁩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دسته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و انباشت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گام: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۳۲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جزئیات آزمون AGFarsdat"/>
          <p:cNvSpPr/>
          <p:nvPr/>
        </p:nvSpPr>
        <p:spPr>
          <a:xfrm>
            <a:off x="685800" y="4476600"/>
            <a:ext cx="571212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جزئیات آزمون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۵۸۵ گوینده و ۴۹٫۹ ساعت&#10;صوت منبع: تک‌کاناله، ۸ کیلوهرتز، ۱۶ بیت"/>
          <p:cNvSpPr/>
          <p:nvPr/>
        </p:nvSpPr>
        <p:spPr>
          <a:xfrm>
            <a:off x="685800" y="4981680"/>
            <a:ext cx="5712120" cy="7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صوت منبع: تک‌کاناله،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کیلوهرتز،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بیت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تعدادها مربوط به پیکره پایه‌اند. گونه‌های بلند، تخریب‌شده و ایران‌صدا در این جدول نیستند"/>
          <p:cNvSpPr/>
          <p:nvPr/>
        </p:nvSpPr>
        <p:spPr>
          <a:xfrm>
            <a:off x="685800" y="6019920"/>
            <a:ext cx="1081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تعدادها مربوط به پیکره پایه‌اند. گونه‌های بلند، تخریب‌شده و ایران‌صدا در این جدول نیستند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آموزش چندشرایطی در فست کانفورمر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چندشرایطی در فست کانفورمر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11" name=""/>
          <p:cNvGraphicFramePr/>
          <p:nvPr/>
        </p:nvGraphicFramePr>
        <p:xfrm>
          <a:off x="685800" y="1809720"/>
          <a:ext cx="10819440" cy="37724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مجموعه آزمون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۱۴٫۷۹٪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۲۲٫۷۳٪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۳۱٫۰۷٪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7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۱۶٫۴۶٪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۲۹٫۴۰٪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۹٫۹۴٪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۳۱٫۴۱٪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۳۳٫۶۹٪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پیکره گفتار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12" name="کاهش WER تجمیعی: ۰٫۹۲ واحد درصد، حدود ۴٪ کاهش نسبی"/>
          <p:cNvSpPr/>
          <p:nvPr/>
        </p:nvSpPr>
        <p:spPr>
          <a:xfrm>
            <a:off x="685800" y="5638680"/>
            <a:ext cx="10817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تجمیعی: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۰٫۹۲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درصد، حدود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٪ کاهش نسبی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مقایسه درون فست کانفورمر است. تفاوت پیش‌آموزش و آموزش، انتساب فاصله با ویسپر را محدود می‌کند"/>
          <p:cNvSpPr/>
          <p:nvPr/>
        </p:nvSpPr>
        <p:spPr>
          <a:xfrm>
            <a:off x="685800" y="6105600"/>
            <a:ext cx="108176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مقایسه درون فست کانفورمر است. تفاوت پیش‌آموزش و آموزش، انتساب فاصله با ویسپر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685800" y="714240"/>
            <a:ext cx="108198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پرامپت اصلاح رونویسی با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Qwen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685800" y="1390680"/>
            <a:ext cx="108198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80" spc="-1" strike="noStrike">
                <a:solidFill>
                  <a:srgbClr val="1d6f8a"/>
                </a:solidFill>
                <a:latin typeface="Vazirmatn"/>
                <a:ea typeface="Vazirmatn"/>
              </a:rPr>
              <a:t>cyankiwi/Qwen3.6-27B-AWQ-INT4   ·   temperature = 0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685800" y="1752480"/>
            <a:ext cx="5218920" cy="47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Refine one Persian ASR segment conservatively. Modify only the TARGET WHISPER TEXT.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Allowed corrections: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Persian orthography and spelling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spacing and </a:t>
            </a:r>
            <a:r>
              <a:rPr b="0" lang="hi-IN" sz="1470" spc="-1" strike="noStrike">
                <a:solidFill>
                  <a:srgbClr val="1f2933"/>
                </a:solidFill>
                <a:latin typeface="Vazirmatn"/>
                <a:cs typeface="Vazirmatn"/>
              </a:rPr>
              <a:t>نیم‌فاصله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punctuation when clearly justified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obvious ASR word substitutions when the intended spoken word is strongly supported by the target and context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the meaning and wording of the spoken target as closely as possible.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Use surrounding context only to disambiguate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copy words or phrases from the context into the target unless they clearly correct an ASR error already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complete an incomplete phrase at a segment boundary.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add, infer, summarize, or rewrite speech that is not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Do not remove valid spoken words merely to improve fluency.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286680" y="1752480"/>
            <a:ext cx="5218920" cy="47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 (continued):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every numeric token exactly as written, including digits, signs, separators, and formatting.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When a correction is not sufficiently certain, keep the original text and set uncertain=true.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Set uncertain=false only when all applied corrections are high-confidence.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Return only the required JSON object with no explanation or Markdown.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TITLE]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title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DESCRIPTION]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description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[REFINED PRECEDING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previously accepted refined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[TARGET WHISPER 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&lt;normalized target transcription&gt;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[FOLLOWING WHISPER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following normalized Whisper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2026-10-15T11:59:32Z</dcterms:created>
  <dc:creator>Walnut Exporter</dc:creator>
  <dc:description/>
  <dc:language>en-US</dc:language>
  <cp:lastModifiedBy/>
  <dcterms:modified xsi:type="dcterms:W3CDTF">2026-10-17T21:49:53Z</dcterms:modified>
  <cp:revision>15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