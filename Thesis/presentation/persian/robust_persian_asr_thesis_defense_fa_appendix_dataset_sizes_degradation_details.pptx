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9.png" ContentType="image/png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28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degradation_slideMaster1.xml" ContentType="application/vnd.openxmlformats-officedocument.presentationml.slideMaster+xml"/>
  <Override PartName="/ppt/slideMasters/theme/degradation_theme2.xml" ContentType="application/vnd.openxmlformats-officedocument.theme+xml"/>
  <Override PartName="/ppt/slideLayouts/degradation_slideLayout1.xml" ContentType="application/vnd.openxmlformats-officedocument.presentationml.slideLayout+xml"/>
  <Override PartName="/ppt/slideLayouts/degradation_slideLayout2.xml" ContentType="application/vnd.openxmlformats-officedocument.presentationml.slideLayout+xml"/>
  <Override PartName="/ppt/slideLayouts/degradation_slideLayout3.xml" ContentType="application/vnd.openxmlformats-officedocument.presentationml.slideLayout+xml"/>
  <Override PartName="/ppt/slideLayouts/degradation_slideLayout4.xml" ContentType="application/vnd.openxmlformats-officedocument.presentationml.slideLayout+xml"/>
  <Override PartName="/ppt/slideLayouts/degradation_slideLayout5.xml" ContentType="application/vnd.openxmlformats-officedocument.presentationml.slideLayout+xml"/>
  <Override PartName="/ppt/slideLayouts/degradation_slideLayout6.xml" ContentType="application/vnd.openxmlformats-officedocument.presentationml.slideLayout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Default Extension="xlsx" ContentType="application/vnd.openxmlformats-officedocument.spreadsheetml.sheet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r:id="rIdDegradation1" id="2147483659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84" r:id="rIdDegradation3"/>
    <p:sldId id="285" r:id="rIdDegradation4"/>
    <p:sldId id="286" r:id="rIdDegradation5"/>
    <p:sldId id="287" r:id="rIdDegradation6"/>
    <p:sldId id="288" r:id="rIdDegradation7"/>
    <p:sldId id="289" r:id="rIdDegradation8"/>
    <p:sldId id="279" r:id="rId32"/>
    <p:sldId id="280" r:id="rId33"/>
    <p:sldId id="281" r:id="rId34"/>
    <p:sldId id="282" r:id="rId35"/>
    <p:sldId id="283" r:id="rId3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presProps" Target="presProps.xml"/>
<Relationship Id="rIdDegradation1" Type="http://schemas.openxmlformats.org/officeDocument/2006/relationships/slideMaster" Target="slideMasters/degradation_slideMaster1.xml"/><Relationship Id="rIdDegradation3" Type="http://schemas.openxmlformats.org/officeDocument/2006/relationships/slide" Target="slides/slide29.xml"/><Relationship Id="rIdDegradation4" Type="http://schemas.openxmlformats.org/officeDocument/2006/relationships/slide" Target="slides/slide30.xml"/><Relationship Id="rIdDegradation5" Type="http://schemas.openxmlformats.org/officeDocument/2006/relationships/slide" Target="slides/slide31.xml"/><Relationship Id="rIdDegradation6" Type="http://schemas.openxmlformats.org/officeDocument/2006/relationships/slide" Target="slides/slide32.xml"/><Relationship Id="rIdDegradation7" Type="http://schemas.openxmlformats.org/officeDocument/2006/relationships/slide" Target="slides/slide33.xml"/><Relationship Id="rIdDegradation8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RestoredWorkbook" Type="http://schemas.openxmlformats.org/officeDocument/2006/relationships/package" Target="../embeddings/chart-data-snapshot-001.xlsx"/></Relationships>
</file>

<file path=ppt/charts/_rels/chart2.xml.rels><?xml version='1.0' encoding='UTF-8' standalone='yes'?>
<Relationships xmlns="http://schemas.openxmlformats.org/package/2006/relationships"><Relationship Id="rIdRestoredWorkbook" Type="http://schemas.openxmlformats.org/officeDocument/2006/relationships/package" Target="../embeddings/chart-data-snapshot-002.xlsx"/></Relationships>
</file>

<file path=ppt/charts/_rels/chart3.xml.rels><?xml version='1.0' encoding='UTF-8' standalone='yes'?>
<Relationships xmlns="http://schemas.openxmlformats.org/package/2006/relationships"><Relationship Id="rIdRestoredWorkbook" Type="http://schemas.openxmlformats.org/officeDocument/2006/relationships/package" Target="../embeddings/chart-data-snapshot-003.xlsx"/></Relationships>
</file>

<file path=ppt/charts/_rels/chart4.xml.rels><?xml version='1.0' encoding='UTF-8' standalone='yes'?>
<Relationships xmlns="http://schemas.openxmlformats.org/package/2006/relationships"><Relationship Id="rIdRestoredWorkbook" Type="http://schemas.openxmlformats.org/officeDocument/2006/relationships/package" Target="../embeddings/chart-data-snapshot-004.xlsx"/></Relationships>
</file>

<file path=ppt/charts/_rels/chart5.xml.rels><?xml version='1.0' encoding='UTF-8' standalone='yes'?>
<Relationships xmlns="http://schemas.openxmlformats.org/package/2006/relationships"><Relationship Id="rIdRestoredWorkbook" Type="http://schemas.openxmlformats.org/officeDocument/2006/relationships/package" Target="../embeddings/chart-data-snapshot-00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barChart>
        <c:barDir val="col"/>
        <c:grouping val="clustered"/>
        <c:varyColors val="1"/>
        <c:ser>
          <c:idx val="0"/>
          <c:order val="0"/>
          <c:tx>
            <c:v>نرخ خطای واژه</c:v>
          </c:tx>
          <c:spPr>
            <a:solidFill>
              <a:srgbClr val="1d6f8a"/>
            </a:solidFill>
            <a:ln w="0">
              <a:noFill/>
            </a:ln>
          </c:spPr>
          <c:invertIfNegative val="0"/>
          <c:dPt>
            <c:idx val="0"/>
            <c:spPr>
              <a:solidFill>
                <a:srgbClr val="aab6bb"/>
              </a:solidFill>
              <a:ln w="0">
                <a:noFill/>
              </a:ln>
            </c:spPr>
          </c:dPt>
          <c:dPt>
            <c:idx val="1"/>
            <c:spPr>
              <a:solidFill>
                <a:srgbClr val="8da1a9"/>
              </a:solidFill>
              <a:ln w="0">
                <a:noFill/>
              </a:ln>
            </c:spPr>
          </c:dPt>
          <c:dPt>
            <c:idx val="2"/>
            <c:spPr>
              <a:solidFill>
                <a:srgbClr val="63828e"/>
              </a:solidFill>
              <a:ln w="0">
                <a:noFill/>
              </a:ln>
            </c:spPr>
          </c:dPt>
          <c:dPt>
            <c:idx val="3"/>
            <c:spPr>
              <a:solidFill>
                <a:srgbClr val="1d6f8a"/>
              </a:solidFill>
              <a:ln w="0">
                <a:noFill/>
              </a:ln>
            </c:spPr>
          </c:dPt>
          <c:dLbls>
            <c:numFmt formatCode="0.00%" sourceLinked="0"/>
            <c:dLbl>
              <c:idx val="0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</a:rPr>
                      <a:t>۳۵٫۶۳٪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</a:rPr>
                      <a:t>۳۲٫۶۷٪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2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</a:rPr>
                      <a:t>۳۰٫۰۱٪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3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</a:rPr>
                      <a:t>۲۵٫۸۰٪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Vazirmatn"/>
                  </a:defRPr>
                </a:pPr>
              </a:p>
            </c:txPr>
            <c:dLblPos val="outEnd"/>
            <c:showLegendKey val="0"/>
            <c:showVal val="1"/>
            <c:showCatName val="1"/>
            <c:showSerName val="1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'Chart Data'!$A$2:$A$5</c:f>
              <c:strCache>
                <c:ptCount val="4"/>
                <c:pt idx="0">
                  <c:v>معمولی</c:v>
                </c:pt>
                <c:pt idx="1">
                  <c:v>فقط نویز</c:v>
                </c:pt>
                <c:pt idx="2">
                  <c:v>pMCT</c:v>
                </c:pt>
                <c:pt idx="3">
                  <c:v>چندشرایطی
مخابراتی</c:v>
                </c:pt>
              </c:strCache>
            </c:strRef>
          </c:cat>
          <c:val>
            <c:numRef>
              <c:f>'Chart Data'!$B$2:$B$5</c:f>
              <c:numCache>
                <c:formatCode>0.00%</c:formatCode>
                <c:ptCount val="4"/>
                <c:pt idx="0">
                  <c:v>0.3563</c:v>
                </c:pt>
                <c:pt idx="1">
                  <c:v>0.3267</c:v>
                </c:pt>
                <c:pt idx="2">
                  <c:v>0.3001</c:v>
                </c:pt>
                <c:pt idx="3">
                  <c:v>0.258</c:v>
                </c:pt>
              </c:numCache>
            </c:numRef>
          </c:val>
        </c:ser>
        <c:gapWidth val="100"/>
        <c:overlap val="0"/>
        <c:axId val="36868342"/>
        <c:axId val="37427884"/>
      </c:barChart>
      <c:catAx>
        <c:axId val="36868342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360">
            <a:solidFill>
              <a:srgbClr val="d5dcdd"/>
            </a:solidFill>
            <a:round/>
          </a:ln>
        </c:spPr>
        <c:txPr>
          <a:bodyPr/>
          <a:lstStyle/>
          <a:p>
            <a:pPr>
              <a:defRPr b="0" sz="1725" spc="-1" strike="noStrike">
                <a:solidFill>
                  <a:srgbClr val="153d42"/>
                </a:solidFill>
                <a:latin typeface="Vazirmatn"/>
                <a:ea typeface="Vazirmatn"/>
              </a:defRPr>
            </a:pPr>
          </a:p>
        </c:txPr>
        <c:crossAx val="37427884"/>
        <c:crosses val="autoZero"/>
        <c:auto val="1"/>
        <c:lblAlgn val="ctr"/>
        <c:lblOffset val="100"/>
        <c:noMultiLvlLbl val="0"/>
      </c:catAx>
      <c:valAx>
        <c:axId val="37427884"/>
        <c:scaling>
          <c:orientation val="minMax"/>
          <c:max val="0.42"/>
          <c:min val="0"/>
        </c:scaling>
        <c:delete val="1"/>
        <c:axPos val="l"/>
        <c:numFmt formatCode="0.00%" sourceLinked="1"/>
        <c:majorTickMark val="none"/>
        <c:minorTickMark val="none"/>
        <c:tickLblPos val="nextTo"/>
        <c:spPr>
          <a:ln w="0">
            <a:noFill/>
          </a:ln>
        </c:spPr>
        <c:txPr>
          <a:bodyPr/>
          <a:lstStyle/>
          <a:p>
            <a:pPr>
              <a:defRPr b="0" sz="1350" spc="-1" strike="noStrike">
                <a:solidFill>
                  <a:srgbClr val="52606d"/>
                </a:solidFill>
                <a:latin typeface="Vazirmatn"/>
                <a:ea typeface="Vazirmatn"/>
              </a:defRPr>
            </a:pPr>
          </a:p>
        </c:txPr>
        <c:crossAx val="36868342"/>
        <c:crossBetween val="between"/>
        <c:majorUnit val="0.105"/>
      </c:valAx>
      <c:spPr>
        <a:noFill/>
        <a:ln w="0">
          <a:noFill/>
        </a:ln>
      </c:spPr>
    </c:plotArea>
    <c:plotVisOnly val="1"/>
    <c:dispBlanksAs val="zero"/>
  </c:chart>
  <c:spPr>
    <a:noFill/>
    <a:ln w="0">
      <a:noFill/>
    </a:ln>
  </c:spPr>
  <c:externalData r:id="rIdRestoredWorkbook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barChart>
        <c:barDir val="col"/>
        <c:grouping val="clustered"/>
        <c:varyColors val="1"/>
        <c:ser>
          <c:idx val="0"/>
          <c:order val="0"/>
          <c:tx>
            <c:v>نرخ خطای واژه</c:v>
          </c:tx>
          <c:spPr>
            <a:solidFill>
              <a:srgbClr val="1d6f8a"/>
            </a:solidFill>
            <a:ln w="0">
              <a:noFill/>
            </a:ln>
          </c:spPr>
          <c:invertIfNegative val="0"/>
          <c:dPt>
            <c:idx val="0"/>
            <c:spPr>
              <a:solidFill>
                <a:srgbClr val="aab6bb"/>
              </a:solidFill>
              <a:ln w="0">
                <a:noFill/>
              </a:ln>
            </c:spPr>
          </c:dPt>
          <c:dPt>
            <c:idx val="1"/>
            <c:spPr>
              <a:solidFill>
                <a:srgbClr val="63828e"/>
              </a:solidFill>
              <a:ln w="0">
                <a:noFill/>
              </a:ln>
            </c:spPr>
          </c:dPt>
          <c:dPt>
            <c:idx val="2"/>
            <c:spPr>
              <a:solidFill>
                <a:srgbClr val="1d6f8a"/>
              </a:solidFill>
              <a:ln w="0">
                <a:noFill/>
              </a:ln>
            </c:spPr>
          </c:dPt>
          <c:dLbls>
            <c:numFmt formatCode="0.00%" sourceLinked="0"/>
            <c:dLbl>
              <c:idx val="0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</a:rPr>
                      <a:t>۱۷٫۸۳٪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</a:rPr>
                      <a:t>۱۷٫۷۴٪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2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</a:rPr>
                      <a:t>۱۷٫۶۴٪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Vazirmatn"/>
                  </a:defRPr>
                </a:pPr>
              </a:p>
            </c:txPr>
            <c:dLblPos val="outEnd"/>
            <c:showLegendKey val="0"/>
            <c:showVal val="1"/>
            <c:showCatName val="1"/>
            <c:showSerName val="1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'Chart Data'!$A$2:$A$4</c:f>
              <c:strCache>
                <c:ptCount val="3"/>
                <c:pt idx="0">
                  <c:v>چندشرایطی</c:v>
                </c:pt>
                <c:pt idx="1">
                  <c:v>پل تطبیقی</c:v>
                </c:pt>
                <c:pt idx="2">
                  <c:v>همجوشی</c:v>
                </c:pt>
              </c:strCache>
            </c:strRef>
          </c:cat>
          <c:val>
            <c:numRef>
              <c:f>'Chart Data'!$B$2:$B$4</c:f>
              <c:numCache>
                <c:formatCode>0.00%</c:formatCode>
                <c:ptCount val="3"/>
                <c:pt idx="0">
                  <c:v>0.1783</c:v>
                </c:pt>
                <c:pt idx="1">
                  <c:v>0.1774</c:v>
                </c:pt>
                <c:pt idx="2">
                  <c:v>0.1764</c:v>
                </c:pt>
              </c:numCache>
            </c:numRef>
          </c:val>
        </c:ser>
        <c:gapWidth val="90"/>
        <c:overlap val="0"/>
        <c:axId val="20158685"/>
        <c:axId val="54350268"/>
      </c:barChart>
      <c:catAx>
        <c:axId val="20158685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360">
            <a:solidFill>
              <a:srgbClr val="d5dcdd"/>
            </a:solidFill>
            <a:round/>
          </a:ln>
        </c:spPr>
        <c:txPr>
          <a:bodyPr/>
          <a:lstStyle/>
          <a:p>
            <a:pPr>
              <a:defRPr b="0" sz="1650" spc="-1" strike="noStrike">
                <a:solidFill>
                  <a:srgbClr val="153d42"/>
                </a:solidFill>
                <a:latin typeface="Vazirmatn"/>
                <a:ea typeface="Vazirmatn"/>
              </a:defRPr>
            </a:pPr>
          </a:p>
        </c:txPr>
        <c:crossAx val="54350268"/>
        <c:crosses val="autoZero"/>
        <c:auto val="1"/>
        <c:lblAlgn val="ctr"/>
        <c:lblOffset val="100"/>
        <c:noMultiLvlLbl val="0"/>
      </c:catAx>
      <c:valAx>
        <c:axId val="54350268"/>
        <c:scaling>
          <c:orientation val="minMax"/>
          <c:max val="0.22"/>
          <c:min val="0"/>
        </c:scaling>
        <c:delete val="1"/>
        <c:axPos val="l"/>
        <c:numFmt formatCode="0.00%" sourceLinked="1"/>
        <c:majorTickMark val="none"/>
        <c:minorTickMark val="none"/>
        <c:tickLblPos val="nextTo"/>
        <c:spPr>
          <a:ln w="0">
            <a:noFill/>
          </a:ln>
        </c:spPr>
        <c:txPr>
          <a:bodyPr/>
          <a:lstStyle/>
          <a:p>
            <a:pPr>
              <a:defRPr b="0" sz="1350" spc="-1" strike="noStrike">
                <a:solidFill>
                  <a:srgbClr val="52606d"/>
                </a:solidFill>
                <a:latin typeface="Vazirmatn"/>
                <a:ea typeface="Vazirmatn"/>
              </a:defRPr>
            </a:pPr>
          </a:p>
        </c:txPr>
        <c:crossAx val="20158685"/>
        <c:crossBetween val="between"/>
        <c:majorUnit val="0.055"/>
      </c:valAx>
      <c:spPr>
        <a:noFill/>
        <a:ln w="0">
          <a:noFill/>
        </a:ln>
      </c:spPr>
    </c:plotArea>
    <c:plotVisOnly val="1"/>
    <c:dispBlanksAs val="zero"/>
  </c:chart>
  <c:spPr>
    <a:noFill/>
    <a:ln w="0">
      <a:noFill/>
    </a:ln>
  </c:spPr>
  <c:externalData r:id="rIdRestoredWorkbook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barChart>
        <c:barDir val="col"/>
        <c:grouping val="clustered"/>
        <c:varyColors val="1"/>
        <c:ser>
          <c:idx val="0"/>
          <c:order val="0"/>
          <c:tx>
            <c:v>نرخ خطای واژه</c:v>
          </c:tx>
          <c:spPr>
            <a:solidFill>
              <a:srgbClr val="1d6f8a"/>
            </a:solidFill>
            <a:ln w="0">
              <a:noFill/>
            </a:ln>
          </c:spPr>
          <c:invertIfNegative val="0"/>
          <c:dPt>
            <c:idx val="0"/>
            <c:spPr>
              <a:solidFill>
                <a:srgbClr val="aab6bb"/>
              </a:solidFill>
              <a:ln w="0">
                <a:noFill/>
              </a:ln>
            </c:spPr>
          </c:dPt>
          <c:dPt>
            <c:idx val="1"/>
            <c:spPr>
              <a:solidFill>
                <a:srgbClr val="63828e"/>
              </a:solidFill>
              <a:ln w="0">
                <a:noFill/>
              </a:ln>
            </c:spPr>
          </c:dPt>
          <c:dPt>
            <c:idx val="2"/>
            <c:spPr>
              <a:solidFill>
                <a:srgbClr val="1d6f8a"/>
              </a:solidFill>
              <a:ln w="0">
                <a:noFill/>
              </a:ln>
            </c:spPr>
          </c:dPt>
          <c:dLbls>
            <c:numFmt formatCode="0.00%" sourceLinked="0"/>
            <c:dLbl>
              <c:idx val="0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</a:rPr>
                      <a:t>۲۵٫۸۰٪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</a:rPr>
                      <a:t>۲۵٫۸۴٪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2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</a:rPr>
                      <a:t>۲۵٫۳۷٪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Vazirmatn"/>
                  </a:defRPr>
                </a:pPr>
              </a:p>
            </c:txPr>
            <c:dLblPos val="outEnd"/>
            <c:showLegendKey val="0"/>
            <c:showVal val="1"/>
            <c:showCatName val="1"/>
            <c:showSerName val="1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'Chart Data'!$A$2:$A$4</c:f>
              <c:strCache>
                <c:ptCount val="3"/>
                <c:pt idx="0">
                  <c:v>چندشرایطی</c:v>
                </c:pt>
                <c:pt idx="1">
                  <c:v>پل تطبیقی</c:v>
                </c:pt>
                <c:pt idx="2">
                  <c:v>همجوشی</c:v>
                </c:pt>
              </c:strCache>
            </c:strRef>
          </c:cat>
          <c:val>
            <c:numRef>
              <c:f>'Chart Data'!$B$2:$B$4</c:f>
              <c:numCache>
                <c:formatCode>0.00%</c:formatCode>
                <c:ptCount val="3"/>
                <c:pt idx="0">
                  <c:v>0.258</c:v>
                </c:pt>
                <c:pt idx="1">
                  <c:v>0.2584</c:v>
                </c:pt>
                <c:pt idx="2">
                  <c:v>0.2537</c:v>
                </c:pt>
              </c:numCache>
            </c:numRef>
          </c:val>
        </c:ser>
        <c:gapWidth val="90"/>
        <c:overlap val="0"/>
        <c:axId val="87531662"/>
        <c:axId val="4950623"/>
      </c:barChart>
      <c:catAx>
        <c:axId val="87531662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360">
            <a:solidFill>
              <a:srgbClr val="d5dcdd"/>
            </a:solidFill>
            <a:round/>
          </a:ln>
        </c:spPr>
        <c:txPr>
          <a:bodyPr/>
          <a:lstStyle/>
          <a:p>
            <a:pPr>
              <a:defRPr b="0" sz="1650" spc="-1" strike="noStrike">
                <a:solidFill>
                  <a:srgbClr val="153d42"/>
                </a:solidFill>
                <a:latin typeface="Vazirmatn"/>
                <a:ea typeface="Vazirmatn"/>
              </a:defRPr>
            </a:pPr>
          </a:p>
        </c:txPr>
        <c:crossAx val="4950623"/>
        <c:crosses val="autoZero"/>
        <c:auto val="1"/>
        <c:lblAlgn val="ctr"/>
        <c:lblOffset val="100"/>
        <c:noMultiLvlLbl val="0"/>
      </c:catAx>
      <c:valAx>
        <c:axId val="4950623"/>
        <c:scaling>
          <c:orientation val="minMax"/>
          <c:max val="0.32"/>
          <c:min val="0"/>
        </c:scaling>
        <c:delete val="1"/>
        <c:axPos val="l"/>
        <c:numFmt formatCode="0.00%" sourceLinked="1"/>
        <c:majorTickMark val="none"/>
        <c:minorTickMark val="none"/>
        <c:tickLblPos val="nextTo"/>
        <c:spPr>
          <a:ln w="0">
            <a:noFill/>
          </a:ln>
        </c:spPr>
        <c:txPr>
          <a:bodyPr/>
          <a:lstStyle/>
          <a:p>
            <a:pPr>
              <a:defRPr b="0" sz="1350" spc="-1" strike="noStrike">
                <a:solidFill>
                  <a:srgbClr val="52606d"/>
                </a:solidFill>
                <a:latin typeface="Vazirmatn"/>
                <a:ea typeface="Vazirmatn"/>
              </a:defRPr>
            </a:pPr>
          </a:p>
        </c:txPr>
        <c:crossAx val="87531662"/>
        <c:crossBetween val="between"/>
        <c:majorUnit val="0.08"/>
      </c:valAx>
      <c:spPr>
        <a:noFill/>
        <a:ln w="0">
          <a:noFill/>
        </a:ln>
      </c:spPr>
    </c:plotArea>
    <c:plotVisOnly val="1"/>
    <c:dispBlanksAs val="zero"/>
  </c:chart>
  <c:spPr>
    <a:noFill/>
    <a:ln w="0">
      <a:noFill/>
    </a:ln>
  </c:spPr>
  <c:externalData r:id="rIdRestoredWorkbook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barChart>
        <c:barDir val="col"/>
        <c:grouping val="clustered"/>
        <c:varyColors val="1"/>
        <c:ser>
          <c:idx val="0"/>
          <c:order val="0"/>
          <c:tx>
            <c:v>نرخ خطای واژه</c:v>
          </c:tx>
          <c:spPr>
            <a:solidFill>
              <a:srgbClr val="1d6f8a"/>
            </a:solidFill>
            <a:ln w="0">
              <a:noFill/>
            </a:ln>
          </c:spPr>
          <c:invertIfNegative val="0"/>
          <c:dPt>
            <c:idx val="0"/>
            <c:spPr>
              <a:solidFill>
                <a:srgbClr val="1d6f8a"/>
              </a:solidFill>
              <a:ln w="0">
                <a:noFill/>
              </a:ln>
            </c:spPr>
          </c:dPt>
          <c:dPt>
            <c:idx val="1"/>
            <c:spPr>
              <a:solidFill>
                <a:srgbClr val="63828e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da1a9"/>
              </a:solidFill>
              <a:ln w="0">
                <a:noFill/>
              </a:ln>
            </c:spPr>
          </c:dPt>
          <c:dPt>
            <c:idx val="3"/>
            <c:spPr>
              <a:solidFill>
                <a:srgbClr val="aab6bb"/>
              </a:solidFill>
              <a:ln w="0">
                <a:noFill/>
              </a:ln>
            </c:spPr>
          </c:dPt>
          <c:dLbls>
            <c:numFmt formatCode="0.00%" sourceLinked="0"/>
            <c:dLbl>
              <c:idx val="0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</a:rPr>
                      <a:t>۶۳٫۵۰٪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</a:rPr>
                      <a:t>۶۵٫۸۸٪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2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</a:rPr>
                      <a:t>۶۹٫۲۳٪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3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</a:rPr>
                      <a:t>۶۹٫۶۹٪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Vazirmatn"/>
                  </a:defRPr>
                </a:pPr>
              </a:p>
            </c:txPr>
            <c:dLblPos val="outEnd"/>
            <c:showLegendKey val="0"/>
            <c:showVal val="1"/>
            <c:showCatName val="1"/>
            <c:showSerName val="1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'Chart Data'!$A$2:$A$5</c:f>
              <c:strCache>
                <c:ptCount val="4"/>
                <c:pt idx="0">
                  <c:v>همجوشی
دوسویه</c:v>
                </c:pt>
                <c:pt idx="1">
                  <c:v>فقط دروازه</c:v>
                </c:pt>
                <c:pt idx="2">
                  <c:v>فقط نمای
اصلی¹</c:v>
                </c:pt>
                <c:pt idx="3">
                  <c:v>فقط نمای
بهسازی‌شده¹</c:v>
                </c:pt>
              </c:strCache>
            </c:strRef>
          </c:cat>
          <c:val>
            <c:numRef>
              <c:f>'Chart Data'!$B$2:$B$5</c:f>
              <c:numCache>
                <c:formatCode>0.00%</c:formatCode>
                <c:ptCount val="4"/>
                <c:pt idx="0">
                  <c:v>0.635</c:v>
                </c:pt>
                <c:pt idx="1">
                  <c:v>0.6588</c:v>
                </c:pt>
                <c:pt idx="2">
                  <c:v>0.6923</c:v>
                </c:pt>
                <c:pt idx="3">
                  <c:v>0.6969</c:v>
                </c:pt>
              </c:numCache>
            </c:numRef>
          </c:val>
        </c:ser>
        <c:gapWidth val="90"/>
        <c:overlap val="0"/>
        <c:axId val="72192328"/>
        <c:axId val="55194487"/>
      </c:barChart>
      <c:catAx>
        <c:axId val="72192328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360">
            <a:solidFill>
              <a:srgbClr val="d5dcdd"/>
            </a:solidFill>
            <a:round/>
          </a:ln>
        </c:spPr>
        <c:txPr>
          <a:bodyPr/>
          <a:lstStyle/>
          <a:p>
            <a:pPr>
              <a:defRPr b="0" sz="1575" spc="-1" strike="noStrike">
                <a:solidFill>
                  <a:srgbClr val="153d42"/>
                </a:solidFill>
                <a:latin typeface="Vazirmatn"/>
                <a:ea typeface="Vazirmatn"/>
              </a:defRPr>
            </a:pPr>
          </a:p>
        </c:txPr>
        <c:crossAx val="55194487"/>
        <c:crosses val="autoZero"/>
        <c:auto val="1"/>
        <c:lblAlgn val="ctr"/>
        <c:lblOffset val="100"/>
        <c:noMultiLvlLbl val="0"/>
      </c:catAx>
      <c:valAx>
        <c:axId val="55194487"/>
        <c:scaling>
          <c:orientation val="minMax"/>
          <c:max val="0.83"/>
          <c:min val="0"/>
        </c:scaling>
        <c:delete val="1"/>
        <c:axPos val="l"/>
        <c:numFmt formatCode="0.00%" sourceLinked="1"/>
        <c:majorTickMark val="none"/>
        <c:minorTickMark val="none"/>
        <c:tickLblPos val="nextTo"/>
        <c:spPr>
          <a:ln w="0">
            <a:noFill/>
          </a:ln>
        </c:spPr>
        <c:txPr>
          <a:bodyPr/>
          <a:lstStyle/>
          <a:p>
            <a:pPr>
              <a:defRPr b="0" sz="1350" spc="-1" strike="noStrike">
                <a:solidFill>
                  <a:srgbClr val="52606d"/>
                </a:solidFill>
                <a:latin typeface="Vazirmatn"/>
                <a:ea typeface="Vazirmatn"/>
              </a:defRPr>
            </a:pPr>
          </a:p>
        </c:txPr>
        <c:crossAx val="72192328"/>
        <c:crossBetween val="between"/>
        <c:majorUnit val="0.2075"/>
      </c:valAx>
      <c:spPr>
        <a:noFill/>
        <a:ln w="0">
          <a:noFill/>
        </a:ln>
      </c:spPr>
    </c:plotArea>
    <c:plotVisOnly val="1"/>
    <c:dispBlanksAs val="zero"/>
  </c:chart>
  <c:spPr>
    <a:noFill/>
    <a:ln w="0">
      <a:noFill/>
    </a:ln>
  </c:spPr>
  <c:externalData r:id="rIdRestoredWorkbook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barChart>
        <c:barDir val="col"/>
        <c:grouping val="clustered"/>
        <c:varyColors val="1"/>
        <c:ser>
          <c:idx val="0"/>
          <c:order val="0"/>
          <c:tx>
            <c:v>تغییر نرخ خطای واژه</c:v>
          </c:tx>
          <c:spPr>
            <a:solidFill>
              <a:srgbClr val="1d6f8a"/>
            </a:solidFill>
            <a:ln w="0">
              <a:noFill/>
            </a:ln>
          </c:spPr>
          <c:invertIfNegative val="0"/>
          <c:dPt>
            <c:idx val="0"/>
            <c:spPr>
              <a:solidFill>
                <a:srgbClr val="7b8794"/>
              </a:solidFill>
              <a:ln w="0">
                <a:noFill/>
              </a:ln>
            </c:spPr>
          </c:dPt>
          <c:dPt>
            <c:idx val="1"/>
            <c:spPr>
              <a:solidFill>
                <a:srgbClr val="aab6bb"/>
              </a:solidFill>
              <a:ln w="0">
                <a:noFill/>
              </a:ln>
            </c:spPr>
          </c:dPt>
          <c:dPt>
            <c:idx val="2"/>
            <c:spPr>
              <a:solidFill>
                <a:srgbClr val="1d6f8a"/>
              </a:solidFill>
              <a:ln w="0">
                <a:noFill/>
              </a:ln>
            </c:spPr>
          </c:dPt>
          <c:dPt>
            <c:idx val="3"/>
            <c:spPr>
              <a:solidFill>
                <a:srgbClr val="1d6f8a"/>
              </a:solidFill>
              <a:ln w="0">
                <a:noFill/>
              </a:ln>
            </c:spPr>
          </c:dPt>
          <c:dPt>
            <c:idx val="4"/>
            <c:spPr>
              <a:solidFill>
                <a:srgbClr val="1d6f8a"/>
              </a:solidFill>
              <a:ln w="0">
                <a:noFill/>
              </a:ln>
            </c:spPr>
          </c:dPt>
          <c:dLbls>
            <c:numFmt formatCode="\+0.00;\-0.00;0" sourceLinked="0"/>
            <c:dLbl>
              <c:idx val="0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</a:rPr>
                      <a:t>+۰٫۸۶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</a:rPr>
                      <a:t>+۰٫۳۵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2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</a:rPr>
                      <a:t>−۶٫۰۴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3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</a:rPr>
                      <a:t>−۸٫۳۹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4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</a:rPr>
                      <a:t>−۵٫۰۳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Vazirmatn"/>
                  </a:defRPr>
                </a:pPr>
              </a:p>
            </c:txPr>
            <c:dLblPos val="outEnd"/>
            <c:showLegendKey val="0"/>
            <c:showVal val="1"/>
            <c:showCatName val="1"/>
            <c:showSerName val="1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'Chart Data'!$A$2:$A$6</c:f>
              <c:strCache>
                <c:ptCount val="5"/>
                <c:pt idx="0">
                  <c:v>AGFarsdat</c:v>
                </c:pt>
                <c:pt idx="1">
                  <c:v>Common Voice</c:v>
                </c:pt>
                <c:pt idx="2">
                  <c:v>FLEURS</c:v>
                </c:pt>
                <c:pt idx="3">
                  <c:v>PersianSpeech¹</c:v>
                </c:pt>
                <c:pt idx="4">
                  <c:v>Persian Speech
Corpus</c:v>
                </c:pt>
              </c:strCache>
            </c:strRef>
          </c:cat>
          <c:val>
            <c:numRef>
              <c:f>'Chart Data'!$B$2:$B$6</c:f>
              <c:numCache>
                <c:formatCode>\+0.00;\-0.00;0</c:formatCode>
                <c:ptCount val="5"/>
                <c:pt idx="0">
                  <c:v>0.86</c:v>
                </c:pt>
                <c:pt idx="1">
                  <c:v>0.35</c:v>
                </c:pt>
                <c:pt idx="2">
                  <c:v>-6.04</c:v>
                </c:pt>
                <c:pt idx="3">
                  <c:v>-8.39</c:v>
                </c:pt>
                <c:pt idx="4">
                  <c:v>-5.03</c:v>
                </c:pt>
              </c:numCache>
            </c:numRef>
          </c:val>
        </c:ser>
        <c:gapWidth val="120"/>
        <c:overlap val="0"/>
        <c:axId val="24953309"/>
        <c:axId val="39360245"/>
      </c:barChart>
      <c:catAx>
        <c:axId val="24953309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17280">
            <a:solidFill>
              <a:srgbClr val="153d42"/>
            </a:solidFill>
            <a:round/>
          </a:ln>
        </c:spPr>
        <c:txPr>
          <a:bodyPr/>
          <a:lstStyle/>
          <a:p>
            <a:pPr>
              <a:defRPr b="0" sz="1575" spc="-1" strike="noStrike">
                <a:solidFill>
                  <a:srgbClr val="153d42"/>
                </a:solidFill>
                <a:latin typeface="Vazirmatn"/>
                <a:ea typeface="Vazirmatn"/>
              </a:defRPr>
            </a:pPr>
          </a:p>
        </c:txPr>
        <c:crossAx val="39360245"/>
        <c:crosses val="autoZero"/>
        <c:auto val="1"/>
        <c:lblAlgn val="ctr"/>
        <c:lblOffset val="100"/>
        <c:noMultiLvlLbl val="0"/>
      </c:catAx>
      <c:valAx>
        <c:axId val="39360245"/>
        <c:scaling>
          <c:orientation val="minMax"/>
          <c:max val="2"/>
          <c:min val="-10"/>
        </c:scaling>
        <c:delete val="0"/>
        <c:axPos val="l"/>
        <c:majorGridlines>
          <c:spPr>
            <a:ln w="6840">
              <a:solidFill>
                <a:srgbClr val="d5dcdd"/>
              </a:solidFill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0">
            <a:noFill/>
          </a:ln>
        </c:spPr>
        <c:txPr>
          <a:bodyPr/>
          <a:lstStyle/>
          <a:p>
            <a:pPr>
              <a:defRPr b="0" sz="1350" spc="-1" strike="noStrike">
                <a:solidFill>
                  <a:srgbClr val="52606d"/>
                </a:solidFill>
                <a:latin typeface="Vazirmatn"/>
                <a:ea typeface="Vazirmatn"/>
              </a:defRPr>
            </a:pPr>
          </a:p>
        </c:txPr>
        <c:crossAx val="24953309"/>
        <c:crosses val="autoZero"/>
        <c:crossBetween val="between"/>
        <c:majorUnit val="2"/>
      </c:valAx>
      <c:spPr>
        <a:noFill/>
        <a:ln w="0">
          <a:noFill/>
        </a:ln>
      </c:spPr>
    </c:plotArea>
    <c:plotVisOnly val="1"/>
    <c:dispBlanksAs val="zero"/>
  </c:chart>
  <c:spPr>
    <a:noFill/>
    <a:ln w="0">
      <a:noFill/>
    </a:ln>
  </c:spPr>
  <c:externalData r:id="rIdRestoredWorkbook">
    <c:autoUpdate val="0"/>
  </c:externalData>
</c:chartSpace>
</file>

<file path=ppt/slideLayouts/_rels/degradation_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degradation_slideMaster1.xml" Id="R0552513c132048fd"/></Relationships>
</file>

<file path=ppt/slideLayouts/_rels/degradation_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degradation_slideMaster1.xml" Id="R7e8e8e1e2d8e42db"/></Relationships>
</file>

<file path=ppt/slideLayouts/_rels/degradation_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degradation_slideMaster1.xml" Id="R0c63e36fd6b54a96"/></Relationships>
</file>

<file path=ppt/slideLayouts/_rels/degradation_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degradation_slideMaster1.xml" Id="R5afb89d55c5c4add"/></Relationships>
</file>

<file path=ppt/slideLayouts/_rels/degradation_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degradation_slideMaster1.xml" Id="R0e50c7d6cbbf4b13"/></Relationships>
</file>

<file path=ppt/slideLayouts/_rels/degradation_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degradation_slideMaster1.xml" Id="Ra4557bdc95274e48"/>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degradation_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C4C3A06-C04A-4E09-BE03-725551F6C5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>
            <a:pPr rtl="0"/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BA6252B-78D9-452C-B5AA-DF159E4C59B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>
            <a:pPr rtl="0"/>
          </a:p>
        </p:txBody>
      </p:sp>
    </p:spTree>
  </p:cSld>
</p:sldLayout>
</file>

<file path=ppt/slideLayouts/degradation_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73D81B5-04AE-4D57-A991-5ECD13E0BD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>
            <a:pPr rtl="0"/>
          </a:p>
        </p:txBody>
      </p:sp>
    </p:spTree>
  </p:cSld>
</p:sldLayout>
</file>

<file path=ppt/slideLayouts/degradation_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B9E53D1-0BB8-4C52-AF13-7B938F11F3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>
            <a:pPr rtl="0"/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A2EA9DC-EB6E-46C5-99B4-15D9478E8D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>
            <a:pPr rtl="0"/>
          </a:p>
        </p:txBody>
      </p:sp>
    </p:spTree>
  </p:cSld>
</p:sldLayout>
</file>

<file path=ppt/slideLayouts/degradation_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0E736BC-3A69-4F08-B0B2-42B49F7694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>
            <a:pPr rtl="0"/>
          </a:p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08C355E-503F-4748-A49A-57C35769C5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>
            <a:pPr rtl="0"/>
          </a:p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34D59AE-DE08-486D-B062-6A1F6817F04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>
            <a:pPr rtl="0"/>
          </a:p>
        </p:txBody>
      </p:sp>
    </p:spTree>
  </p:cSld>
</p:sldLayout>
</file>

<file path=ppt/slideLayouts/degradation_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ED0F736-4A50-4B73-BA5C-5F5E0BD985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>
            <a:pPr rtl="0"/>
          </a:p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B5CD637-C264-433F-B861-EBC1A9C8CD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>
            <a:pPr rtl="0"/>
          </a:p>
        </p:txBody>
      </p:sp>
    </p:spTree>
  </p:cSld>
</p:sldLayout>
</file>

<file path=ppt/slideLayouts/degradation_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degradation_slideMaster1.xml.rels><?xml version='1.0' encoding='UTF-8' standalone='yes'?>
<Relationships xmlns="http://schemas.openxmlformats.org/package/2006/relationships"><Relationship Type="http://schemas.openxmlformats.org/officeDocument/2006/relationships/theme" Target="theme/degradation_theme2.xml" Id="R1a4b2883bdc64a31"/><Relationship Type="http://schemas.openxmlformats.org/officeDocument/2006/relationships/slideLayout" Target="../slideLayouts/degradation_slideLayout1.xml" Id="R4f64259f7e7d434d"/><Relationship Type="http://schemas.openxmlformats.org/officeDocument/2006/relationships/slideLayout" Target="../slideLayouts/degradation_slideLayout2.xml" Id="Rdf013f3b3cd942d3"/><Relationship Type="http://schemas.openxmlformats.org/officeDocument/2006/relationships/slideLayout" Target="../slideLayouts/degradation_slideLayout3.xml" Id="Rd9eda17b8f1e4a87"/><Relationship Type="http://schemas.openxmlformats.org/officeDocument/2006/relationships/slideLayout" Target="../slideLayouts/degradation_slideLayout4.xml" Id="Rf4cece704cee4d68"/><Relationship Type="http://schemas.openxmlformats.org/officeDocument/2006/relationships/slideLayout" Target="../slideLayouts/degradation_slideLayout5.xml" Id="R97c45d61f75c44d6"/><Relationship Type="http://schemas.openxmlformats.org/officeDocument/2006/relationships/slideLayout" Target="../slideLayouts/degradation_slideLayout6.xml" Id="R9c223d0c68c74aa6"/></Relationships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degradation_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64259f7e7d434d"/>
    <p:sldLayoutId xmlns:r="http://schemas.openxmlformats.org/officeDocument/2006/relationships" id="2147483650" r:id="Rdf013f3b3cd942d3"/>
    <p:sldLayoutId xmlns:r="http://schemas.openxmlformats.org/officeDocument/2006/relationships" id="2147483651" r:id="Rd9eda17b8f1e4a87"/>
    <p:sldLayoutId xmlns:r="http://schemas.openxmlformats.org/officeDocument/2006/relationships" id="2147483652" r:id="Rf4cece704cee4d68"/>
    <p:sldLayoutId xmlns:r="http://schemas.openxmlformats.org/officeDocument/2006/relationships" id="2147483653" r:id="R97c45d61f75c44d6"/>
    <p:sldLayoutId xmlns:r="http://schemas.openxmlformats.org/officeDocument/2006/relationships" id="2147483654" r:id="R9c223d0c68c74a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theme/degradation_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/>
        <a:ea typeface=""/>
        <a:cs typeface=""/>
      </a:majorFont>
      <a:minorFont>
        <a:latin typeface="Vazirmatn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chart" Target="../charts/chart3.xml"/><Relationship Id="rId3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Type="http://schemas.openxmlformats.org/officeDocument/2006/relationships/slideLayout" Target="../slideLayouts/degradation_slideLayout6.xml" Id="R488e17056791411a"/></Relationships>
</file>

<file path=ppt/slides/_rels/slide30.xml.rels><?xml version='1.0' encoding='UTF-8' standalone='yes'?>
<Relationships xmlns="http://schemas.openxmlformats.org/package/2006/relationships"><Relationship Type="http://schemas.openxmlformats.org/officeDocument/2006/relationships/slideLayout" Target="../slideLayouts/degradation_slideLayout6.xml" Id="R1a45fed6718340a7"/></Relationships>
</file>

<file path=ppt/slides/_rels/slide31.xml.rels><?xml version='1.0' encoding='UTF-8' standalone='yes'?>
<Relationships xmlns="http://schemas.openxmlformats.org/package/2006/relationships"><Relationship Type="http://schemas.openxmlformats.org/officeDocument/2006/relationships/slideLayout" Target="../slideLayouts/degradation_slideLayout6.xml" Id="Rf5350cce0b3f4fb7"/></Relationships>
</file>

<file path=ppt/slides/_rels/slide32.xml.rels><?xml version='1.0' encoding='UTF-8' standalone='yes'?>
<Relationships xmlns="http://schemas.openxmlformats.org/package/2006/relationships"><Relationship Type="http://schemas.openxmlformats.org/officeDocument/2006/relationships/slideLayout" Target="../slideLayouts/degradation_slideLayout6.xml" Id="R8364fa07c95743ff"/></Relationships>
</file>

<file path=ppt/slides/_rels/slide33.xml.rels><?xml version='1.0' encoding='UTF-8' standalone='yes'?>
<Relationships xmlns="http://schemas.openxmlformats.org/package/2006/relationships"><Relationship Type="http://schemas.openxmlformats.org/officeDocument/2006/relationships/slideLayout" Target="../slideLayouts/degradation_slideLayout6.xml" Id="R036af7959fd743f8"/></Relationships>
</file>

<file path=ppt/slides/_rels/slide34.xml.rels><?xml version='1.0' encoding='UTF-8' standalone='yes'?>
<Relationships xmlns="http://schemas.openxmlformats.org/package/2006/relationships"><Relationship Type="http://schemas.openxmlformats.org/officeDocument/2006/relationships/slideLayout" Target="../slideLayouts/degradation_slideLayout6.xml" Id="R35b4aa81bedd4de5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۱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 از ۳۴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" name="" descr=""/>
          <p:cNvPicPr/>
          <p:nvPr/>
        </p:nvPicPr>
        <p:blipFill>
          <a:blip r:embed="rId1"/>
          <a:stretch/>
        </p:blipFill>
        <p:spPr>
          <a:xfrm>
            <a:off x="685800" y="476280"/>
            <a:ext cx="1256760" cy="1256760"/>
          </a:xfrm>
          <a:prstGeom prst="rect">
            <a:avLst/>
          </a:prstGeom>
          <a:ln w="0">
            <a:noFill/>
          </a:ln>
        </p:spPr>
      </p:pic>
      <p:sp>
        <p:nvSpPr>
          <p:cNvPr id="16" name="دانشگاه صنعتی شریف"/>
          <p:cNvSpPr/>
          <p:nvPr/>
        </p:nvSpPr>
        <p:spPr>
          <a:xfrm>
            <a:off x="4762440" y="504720"/>
            <a:ext cx="674316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دانشگاه صنعتی شریف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دانشکده مهندسی کامپیوتر"/>
          <p:cNvSpPr/>
          <p:nvPr/>
        </p:nvSpPr>
        <p:spPr>
          <a:xfrm>
            <a:off x="4762440" y="1009800"/>
            <a:ext cx="674316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650" spc="-1" strike="noStrike">
                <a:solidFill>
                  <a:srgbClr val="52606d"/>
                </a:solidFill>
                <a:latin typeface="Vazirmatn"/>
                <a:cs typeface="Vazirmatn"/>
              </a:rPr>
              <a:t>دانشکده مهندسی کامپیوتر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2571480" y="1733400"/>
            <a:ext cx="893448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بازشناسی مقاوم گفتار"/>
          <p:cNvSpPr/>
          <p:nvPr/>
        </p:nvSpPr>
        <p:spPr>
          <a:xfrm>
            <a:off x="2190600" y="2324160"/>
            <a:ext cx="9314640" cy="10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4800" spc="-1" strike="noStrike">
                <a:solidFill>
                  <a:srgbClr val="153d42"/>
                </a:solidFill>
                <a:latin typeface="Vazirmatn"/>
                <a:cs typeface="Vazirmatn"/>
              </a:rPr>
              <a:t>بازشناسی مقاوم گفتار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در زبان فارسی"/>
          <p:cNvSpPr/>
          <p:nvPr/>
        </p:nvSpPr>
        <p:spPr>
          <a:xfrm>
            <a:off x="2190600" y="3476520"/>
            <a:ext cx="9314640" cy="10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4800" spc="-1" strike="noStrike">
                <a:solidFill>
                  <a:srgbClr val="153d42"/>
                </a:solidFill>
                <a:latin typeface="Vazirmatn"/>
                <a:cs typeface="Vazirmatn"/>
              </a:rPr>
              <a:t>در زبان فارسی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پویا فلاح سیچانی"/>
          <p:cNvSpPr/>
          <p:nvPr/>
        </p:nvSpPr>
        <p:spPr>
          <a:xfrm>
            <a:off x="6191280" y="5238720"/>
            <a:ext cx="5314320" cy="5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پویا فلاح سیچانی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استاد راهنما: دکتر حسین صامتی"/>
          <p:cNvSpPr/>
          <p:nvPr/>
        </p:nvSpPr>
        <p:spPr>
          <a:xfrm>
            <a:off x="6191280" y="5762520"/>
            <a:ext cx="531432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52606d"/>
                </a:solidFill>
                <a:latin typeface="Vazirmatn"/>
                <a:cs typeface="Vazirmatn"/>
              </a:rPr>
              <a:t>استاد راهنما: دکتر حسین صامتی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دفاع پایان‌نامه کارشناسی ارشد"/>
          <p:cNvSpPr/>
          <p:nvPr/>
        </p:nvSpPr>
        <p:spPr>
          <a:xfrm>
            <a:off x="685800" y="5381640"/>
            <a:ext cx="419040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52606d"/>
                </a:solidFill>
                <a:latin typeface="Vazirmatn"/>
                <a:cs typeface="Vazirmatn"/>
              </a:rPr>
              <a:t>دفاع پایان‌نامه کارشناسی ارشد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مسئله پژوهش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مسئله پژوهش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شکاف میان گفتار آموزشی و تماس واقعی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شکاف میان گفتار آموزشی و تماس واقعی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۲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 از ۳۴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گفتار در دسترس"/>
          <p:cNvSpPr/>
          <p:nvPr/>
        </p:nvSpPr>
        <p:spPr>
          <a:xfrm>
            <a:off x="6667560" y="2095560"/>
            <a:ext cx="483804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470" spc="-1" strike="noStrike">
                <a:solidFill>
                  <a:srgbClr val="153d42"/>
                </a:solidFill>
                <a:latin typeface="Vazirmatn"/>
                <a:cs typeface="Vazirmatn"/>
              </a:rPr>
              <a:t>گفتار در دسترس</a:t>
            </a:r>
            <a:endParaRPr b="0" lang="en-US" sz="24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پیکره‌های عمومی فارسی&#10;قطعه‌های عمدتاً کوتاه&#10;سبک‌ها و شرایط ضبط متنوع"/>
          <p:cNvSpPr/>
          <p:nvPr/>
        </p:nvSpPr>
        <p:spPr>
          <a:xfrm>
            <a:off x="6667560" y="2905200"/>
            <a:ext cx="4838040" cy="19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2170" spc="-1" strike="noStrike">
                <a:solidFill>
                  <a:srgbClr val="1f2933"/>
                </a:solidFill>
                <a:latin typeface="Vazirmatn"/>
                <a:cs typeface="Vazirmatn"/>
              </a:rPr>
              <a:t>پیکره‌های عمومی فارسی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2170" spc="-1" strike="noStrike">
                <a:solidFill>
                  <a:srgbClr val="1f2933"/>
                </a:solidFill>
                <a:latin typeface="Vazirmatn"/>
                <a:cs typeface="Vazirmatn"/>
              </a:rPr>
              <a:t>قطعه‌های عمدتاً کوتاه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2170" spc="-1" strike="noStrike">
                <a:solidFill>
                  <a:srgbClr val="1f2933"/>
                </a:solidFill>
                <a:latin typeface="Vazirmatn"/>
                <a:cs typeface="Vazirmatn"/>
              </a:rPr>
              <a:t>سبک‌ها و شرایط ضبط متنوع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685800" y="1952640"/>
            <a:ext cx="5257080" cy="3237840"/>
          </a:xfrm>
          <a:prstGeom prst="rect">
            <a:avLst/>
          </a:prstGeom>
          <a:solidFill>
            <a:srgbClr val="153d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شرایط تماس"/>
          <p:cNvSpPr/>
          <p:nvPr/>
        </p:nvSpPr>
        <p:spPr>
          <a:xfrm>
            <a:off x="990720" y="2143080"/>
            <a:ext cx="460944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470" spc="-1" strike="noStrike">
                <a:solidFill>
                  <a:srgbClr val="f7f6f2"/>
                </a:solidFill>
                <a:latin typeface="Vazirmatn"/>
                <a:cs typeface="Vazirmatn"/>
              </a:rPr>
              <a:t>شرایط تماس</a:t>
            </a:r>
            <a:endParaRPr b="0" lang="en-US" sz="24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نویز و پهنای‌باند محدود&#10;اعوجاج کدک و افت بسته&#10;تلفن و تماس اینترنتی"/>
          <p:cNvSpPr/>
          <p:nvPr/>
        </p:nvSpPr>
        <p:spPr>
          <a:xfrm>
            <a:off x="990720" y="2952720"/>
            <a:ext cx="4609440" cy="19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2170" spc="-1" strike="noStrike">
                <a:solidFill>
                  <a:srgbClr val="f7f6f2"/>
                </a:solidFill>
                <a:latin typeface="Vazirmatn"/>
                <a:cs typeface="Vazirmatn"/>
              </a:rPr>
              <a:t>نویز و پهنای‌باند محدود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2170" spc="-1" strike="noStrike">
                <a:solidFill>
                  <a:srgbClr val="f7f6f2"/>
                </a:solidFill>
                <a:latin typeface="Vazirmatn"/>
                <a:cs typeface="Vazirmatn"/>
              </a:rPr>
              <a:t>اعوجاج کدک و افت بسته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2170" spc="-1" strike="noStrike">
                <a:solidFill>
                  <a:srgbClr val="f7f6f2"/>
                </a:solidFill>
                <a:latin typeface="Vazirmatn"/>
                <a:cs typeface="Vazirmatn"/>
              </a:rPr>
              <a:t>تلفن و تماس اینترنتی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هدف: کاهش خطای تماس واقعی با داده‌های موجود"/>
          <p:cNvSpPr/>
          <p:nvPr/>
        </p:nvSpPr>
        <p:spPr>
          <a:xfrm>
            <a:off x="685800" y="5391000"/>
            <a:ext cx="1081980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d6f8a"/>
                </a:solidFill>
                <a:latin typeface="Vazirmatn"/>
                <a:cs typeface="Vazirmatn"/>
              </a:rPr>
              <a:t>هدف: کاهش خطای تماس واقعی با داده‌های موجود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گردآوری تماس رونویسی‌شده پرهزینه و حساس به حریم خصوصی است"/>
          <p:cNvSpPr/>
          <p:nvPr/>
        </p:nvSpPr>
        <p:spPr>
          <a:xfrm>
            <a:off x="685800" y="6019920"/>
            <a:ext cx="1081980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گردآوری تماس رونویسی‌شده پرهزینه و حساس به حریم خصوصی است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مرور روش‌های نوین بازشناسی گفتار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مرور روش‌های نوین بازشناسی گفتار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آموزش، سازگارسازی و اصلاح خروجی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آموزش، سازگارسازی و اصلاح خروجی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۳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۳ از ۳۴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9" name=""/>
          <p:cNvGraphicFramePr/>
          <p:nvPr/>
        </p:nvGraphicFramePr>
        <p:xfrm>
          <a:off x="685800" y="1866960"/>
          <a:ext cx="10819800" cy="3828240"/>
        </p:xfrm>
        <a:graphic>
          <a:graphicData uri="http://schemas.openxmlformats.org/drawingml/2006/table">
            <a:tbl>
              <a:tblPr/>
              <a:tblGrid>
                <a:gridCol w="4000320"/>
                <a:gridCol w="4114800"/>
                <a:gridCol w="2705040"/>
              </a:tblGrid>
              <a:tr h="475920"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نمونه پژوهش‌ها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ایده اصلی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خانواده روش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8380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pMCT (2022)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Acoustic-aware Aug. (2025*)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آموزش با نویز و تخریب کانال،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همراه با تنوع آکوستیکی هدفمند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آموزش چندشرایطی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و داده‌افزایی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8380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MCAT–LoRA (2025) / SPS (2026)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Neyshekar (2026*)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ریزتنظیم کامل یا کم‌پارامتر،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با داده متناسب با زبان و دامنه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انطباق مدل‌های پایه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8380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Bhogale et al. (2024)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Cross-lingual (2025) / DASH (2026)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پیش‌آموزش با صوت بی‌برچسب،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خودتقطیر و پالایش شبه‌برچسب‌ها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یادگیری خودنظارتی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و نیمه‌نظارتی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8380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ClozeGER / Listen Again (2024)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Conservative Filtering (2024)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اصلاح فرضیه‌های بازشناس با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مدل زبانی و شواهد صوتی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اصلاح با مدل زبانی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40" name="ارزیابی‌های جدید"/>
          <p:cNvSpPr/>
          <p:nvPr/>
        </p:nvSpPr>
        <p:spPr>
          <a:xfrm>
            <a:off x="9010800" y="5810400"/>
            <a:ext cx="24948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580" spc="-1" strike="noStrike">
                <a:solidFill>
                  <a:srgbClr val="153d42"/>
                </a:solidFill>
                <a:latin typeface="Vazirmatn"/>
                <a:cs typeface="Vazirmatn"/>
              </a:rPr>
              <a:t>ارزیابی‌های جدید</a:t>
            </a:r>
            <a:endParaRPr b="0" lang="en-US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Speech Robust Bench (2025)   URGENT (2025)   PSRB (2025*)"/>
          <p:cNvSpPr/>
          <p:nvPr/>
        </p:nvSpPr>
        <p:spPr>
          <a:xfrm>
            <a:off x="685800" y="5810400"/>
            <a:ext cx="80956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Speech Robust Bench (2025)   URGENT (2025)   PSRB (2025)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مرور روش‌های نوین بازشناسی گفتار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مرور روش‌های نوین بازشناسی گفتار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بهسازی گفتار و ادغام نماها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بهسازی گفتار و ادغام نماها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۴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۴ از ۳۴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46" name=""/>
          <p:cNvGraphicFramePr/>
          <p:nvPr/>
        </p:nvGraphicFramePr>
        <p:xfrm>
          <a:off x="685800" y="1866960"/>
          <a:ext cx="10819800" cy="4133520"/>
        </p:xfrm>
        <a:graphic>
          <a:graphicData uri="http://schemas.openxmlformats.org/drawingml/2006/table">
            <a:tbl>
              <a:tblPr/>
              <a:tblGrid>
                <a:gridCol w="4000320"/>
                <a:gridCol w="4114800"/>
                <a:gridCol w="2705040"/>
              </a:tblGrid>
              <a:tr h="475920"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نمونه پژوهش‌ها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ایده اصلی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خانواده روش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91440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Schrödinger Bridge (2025)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Decoupled SE–ASR (2026)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بازسازی گفتار با بهساز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پیش‌بینی‌گر یا مولد پیش از بازشناسی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بهسازی پیش از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بازشناسی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91440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Dissen et al. (2025)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SSL-MSE / Sato et al. (2025)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آموزش بهساز با زیان بازشناسی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یا بازنمایی‌های خودنظارتی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بهسازی وظیفه‌محور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91440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FAT-HuBERT (2023)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Wav2code (2024)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تعامل و ترکیب ویژگی‌های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بازنمایی اصلی و بهسازی‌شده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همجوشی در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فضای بازنمایی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91440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Adaptive Bridge (2024, 2025)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Conf-OA / Rethink-and-Refine (2026)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آمیختن تطبیقی دو موج با پل،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اطمینان بازشناس یا پالایش قطعه‌ای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ترکیب در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سطح موج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47" name="افزایش کیفیت شنیداری الزاماً به کاهش خطای بازشناسی منجر نمی‌شود"/>
          <p:cNvSpPr/>
          <p:nvPr/>
        </p:nvSpPr>
        <p:spPr>
          <a:xfrm>
            <a:off x="685800" y="6114960"/>
            <a:ext cx="108198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افزایش کیفیت شنیداری الزاماً به کاهش خطای بازشناسی منجر نمی‌شود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8" name=""/>
          <p:cNvCxnSpPr>
            <a:stCxn id="49" idx="1"/>
            <a:endCxn id="50" idx="3"/>
          </p:cNvCxnSpPr>
          <p:nvPr/>
        </p:nvCxnSpPr>
        <p:spPr>
          <a:xfrm flipV="1" rot="10800000">
            <a:off x="3714120" y="3762000"/>
            <a:ext cx="1953720" cy="1333800"/>
          </a:xfrm>
          <a:prstGeom prst="bentConnector3">
            <a:avLst>
              <a:gd name="adj1" fmla="val 50000"/>
            </a:avLst>
          </a:prstGeom>
          <a:ln w="16193">
            <a:solidFill>
              <a:srgbClr val="52606d"/>
            </a:solidFill>
            <a:round/>
            <a:tailEnd len="sm" type="triangle" w="sm"/>
          </a:ln>
        </p:spPr>
      </p:cxnSp>
      <p:cxnSp>
        <p:nvCxnSpPr>
          <p:cNvPr id="51" name=""/>
          <p:cNvCxnSpPr>
            <a:stCxn id="49" idx="1"/>
            <a:endCxn id="52" idx="3"/>
          </p:cNvCxnSpPr>
          <p:nvPr/>
        </p:nvCxnSpPr>
        <p:spPr>
          <a:xfrm flipH="1">
            <a:off x="3714120" y="3762000"/>
            <a:ext cx="1953720" cy="28800"/>
          </a:xfrm>
          <a:prstGeom prst="straightConnector1">
            <a:avLst/>
          </a:prstGeom>
          <a:ln w="16193">
            <a:solidFill>
              <a:srgbClr val="52606d"/>
            </a:solidFill>
            <a:prstDash val="dash"/>
            <a:round/>
            <a:tailEnd len="sm" type="triangle" w="sm"/>
          </a:ln>
        </p:spPr>
      </p:cxnSp>
      <p:cxnSp>
        <p:nvCxnSpPr>
          <p:cNvPr id="53" name=""/>
          <p:cNvCxnSpPr>
            <a:stCxn id="49" idx="1"/>
            <a:endCxn id="54" idx="3"/>
          </p:cNvCxnSpPr>
          <p:nvPr/>
        </p:nvCxnSpPr>
        <p:spPr>
          <a:xfrm rot="10800000">
            <a:off x="3714120" y="2485440"/>
            <a:ext cx="1953720" cy="1276560"/>
          </a:xfrm>
          <a:prstGeom prst="bentConnector3">
            <a:avLst>
              <a:gd name="adj1" fmla="val 50000"/>
            </a:avLst>
          </a:prstGeom>
          <a:ln w="16193">
            <a:solidFill>
              <a:srgbClr val="52606d"/>
            </a:solidFill>
            <a:round/>
            <a:tailEnd len="sm" type="triangle" w="sm"/>
          </a:ln>
        </p:spPr>
      </p:cxnSp>
      <p:cxnSp>
        <p:nvCxnSpPr>
          <p:cNvPr id="55" name=""/>
          <p:cNvCxnSpPr>
            <a:stCxn id="56" idx="1"/>
            <a:endCxn id="49" idx="3"/>
          </p:cNvCxnSpPr>
          <p:nvPr/>
        </p:nvCxnSpPr>
        <p:spPr>
          <a:xfrm flipH="1">
            <a:off x="8381520" y="3762000"/>
            <a:ext cx="743760" cy="360"/>
          </a:xfrm>
          <a:prstGeom prst="straightConnector1">
            <a:avLst/>
          </a:prstGeom>
          <a:ln w="16193">
            <a:solidFill>
              <a:srgbClr val="52606d"/>
            </a:solidFill>
            <a:round/>
            <a:tailEnd len="sm" type="triangle" w="sm"/>
          </a:ln>
        </p:spPr>
      </p:cxnSp>
      <p:sp>
        <p:nvSpPr>
          <p:cNvPr id="57" name="طرح پژوهش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طرح پژوهش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ساختار آزمایش‌ها و خط مبنا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ساختار آزمایش‌ها و خط مبنا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۵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۵ از ۳۴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ویسپر کوچک معمولی&#10;گفتار پایه و نمونه‌های بلند"/>
          <p:cNvSpPr/>
          <p:nvPr/>
        </p:nvSpPr>
        <p:spPr>
          <a:xfrm>
            <a:off x="9124920" y="3191040"/>
            <a:ext cx="2380680" cy="1142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4480" rIns="114480" tIns="114480" bIns="114480" anchor="ctr">
            <a:noAutofit/>
          </a:bodyPr>
          <a:p>
            <a:pPr algn="ct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f2933"/>
                </a:solidFill>
                <a:latin typeface="Vazirmatn"/>
                <a:cs typeface="Vazirmatn"/>
              </a:rPr>
              <a:t>ویسپر کوچک معمولی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  <a:p>
            <a:pPr algn="ct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f2933"/>
                </a:solidFill>
                <a:latin typeface="Vazirmatn"/>
                <a:cs typeface="Vazirmatn"/>
              </a:rPr>
              <a:t>گفتار پایه و نمونه‌های بلند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ویسپر کوچک&#10;چندشرایطی"/>
          <p:cNvSpPr/>
          <p:nvPr/>
        </p:nvSpPr>
        <p:spPr>
          <a:xfrm>
            <a:off x="5667480" y="3191040"/>
            <a:ext cx="2714040" cy="1142280"/>
          </a:xfrm>
          <a:prstGeom prst="roundRect">
            <a:avLst>
              <a:gd name="adj" fmla="val 6667"/>
            </a:avLst>
          </a:prstGeom>
          <a:solidFill>
            <a:srgbClr val="e8f3f6"/>
          </a:solidFill>
          <a:ln w="19050">
            <a:solidFill>
              <a:srgbClr val="1d6f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4480" rIns="114480" tIns="114480" bIns="114480" anchor="ctr">
            <a:noAutofit/>
          </a:bodyPr>
          <a:p>
            <a:pPr algn="ct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d6f8a"/>
                </a:solidFill>
                <a:latin typeface="Vazirmatn"/>
                <a:cs typeface="Vazirmatn"/>
              </a:rPr>
              <a:t>ویسپر کوچک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  <a:p>
            <a:pPr algn="ct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d6f8a"/>
                </a:solidFill>
                <a:latin typeface="Vazirmatn"/>
                <a:cs typeface="Vazirmatn"/>
              </a:rPr>
              <a:t>چندشرایطی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افزودن گفتار تخریب‌شده"/>
          <p:cNvSpPr/>
          <p:nvPr/>
        </p:nvSpPr>
        <p:spPr>
          <a:xfrm>
            <a:off x="5667480" y="4467240"/>
            <a:ext cx="2714040" cy="52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rtl="1">
              <a:lnSpc>
                <a:spcPct val="100000"/>
              </a:lnSpc>
            </a:pPr>
            <a:r>
              <a:rPr b="0" lang="fa-IR" sz="1650" spc="-1" strike="noStrike">
                <a:solidFill>
                  <a:srgbClr val="52606d"/>
                </a:solidFill>
                <a:latin typeface="Vazirmatn"/>
                <a:cs typeface="Vazirmatn"/>
              </a:rPr>
              <a:t>افزودن گفتار تخریب‌شده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بهسازی و همجوشی"/>
          <p:cNvSpPr/>
          <p:nvPr/>
        </p:nvSpPr>
        <p:spPr>
          <a:xfrm>
            <a:off x="857160" y="2048040"/>
            <a:ext cx="2856960" cy="8755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4480" rIns="114480" tIns="114480" bIns="114480" anchor="ctr">
            <a:noAutofit/>
          </a:bodyPr>
          <a:p>
            <a:pPr algn="ct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بهسازی و همجوشی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پل تطبیقی&#10;روش مقایسه‌ای همجوشی"/>
          <p:cNvSpPr/>
          <p:nvPr/>
        </p:nvSpPr>
        <p:spPr>
          <a:xfrm>
            <a:off x="857160" y="3352680"/>
            <a:ext cx="2856960" cy="8755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4480" rIns="114480" tIns="114480" bIns="114480" anchor="ctr">
            <a:noAutofit/>
          </a:bodyPr>
          <a:p>
            <a:pPr algn="ct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f2933"/>
                </a:solidFill>
                <a:latin typeface="Vazirmatn"/>
                <a:cs typeface="Vazirmatn"/>
              </a:rPr>
              <a:t>پل تطبیقی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  <a:p>
            <a:pPr algn="ct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f2933"/>
                </a:solidFill>
                <a:latin typeface="Vazirmatn"/>
                <a:cs typeface="Vazirmatn"/>
              </a:rPr>
              <a:t>روش مقایسه‌ای همجوشی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افزودن ایران‌صدا&#10;حفظ ترکیب کامل داده‌ها"/>
          <p:cNvSpPr/>
          <p:nvPr/>
        </p:nvSpPr>
        <p:spPr>
          <a:xfrm>
            <a:off x="857160" y="4657680"/>
            <a:ext cx="2856960" cy="8755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4480" rIns="114480" tIns="114480" bIns="114480" anchor="ctr">
            <a:noAutofit/>
          </a:bodyPr>
          <a:p>
            <a:pPr algn="ct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f2933"/>
                </a:solidFill>
                <a:latin typeface="Vazirmatn"/>
                <a:cs typeface="Vazirmatn"/>
              </a:rPr>
              <a:t>افزودن ایران‌صدا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  <a:p>
            <a:pPr algn="ct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f2933"/>
                </a:solidFill>
                <a:latin typeface="Vazirmatn"/>
                <a:cs typeface="Vazirmatn"/>
              </a:rPr>
              <a:t>حفظ ترکیب کامل داده‌ها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همجوشی و ایران‌صدا دو مسیر مستقل‌اند. سامانه ترکیبی آن‌ها ارزیابی نشده است"/>
          <p:cNvSpPr/>
          <p:nvPr/>
        </p:nvSpPr>
        <p:spPr>
          <a:xfrm>
            <a:off x="685800" y="5905440"/>
            <a:ext cx="1081980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همجوشی و ایران‌صدا دو مسیر مستقل‌اند. سامانه ترکیبی آن‌ها ارزیابی نشده است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داده و ارزیابی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داده و ارزیابی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داده‌های آموزش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داده‌های آموزش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۶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۶ از ۳۴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گفتار پایه فارسی"/>
          <p:cNvSpPr/>
          <p:nvPr/>
        </p:nvSpPr>
        <p:spPr>
          <a:xfrm>
            <a:off x="6572160" y="1952640"/>
            <a:ext cx="4933080" cy="52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400" spc="-1" strike="noStrike">
                <a:solidFill>
                  <a:srgbClr val="153d42"/>
                </a:solidFill>
                <a:latin typeface="Vazirmatn"/>
                <a:cs typeface="Vazirmatn"/>
              </a:rPr>
              <a:t>گفتار پایه فارسی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۲ تا ۴"/>
          <p:cNvSpPr/>
          <p:nvPr/>
        </p:nvSpPr>
        <p:spPr>
          <a:xfrm>
            <a:off x="685800" y="1952640"/>
            <a:ext cx="4799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5850" spc="-1" strike="noStrike">
                <a:solidFill>
                  <a:srgbClr val="1d6f8a"/>
                </a:solidFill>
                <a:latin typeface="Vazirmatn"/>
                <a:cs typeface="Vazirmatn"/>
              </a:rPr>
              <a:t>۲</a:t>
            </a:r>
            <a:r>
              <a:rPr b="1" lang="en-US" sz="5850" spc="-1" strike="noStrike">
                <a:solidFill>
                  <a:srgbClr val="1d6f8a"/>
                </a:solidFill>
                <a:latin typeface="Vazirmatn"/>
                <a:ea typeface="Vazirmatn"/>
              </a:rPr>
              <a:t> تا </a:t>
            </a:r>
            <a:r>
              <a:rPr b="1" lang="fa-IR" sz="5850" spc="-1" strike="noStrike">
                <a:solidFill>
                  <a:srgbClr val="1d6f8a"/>
                </a:solidFill>
                <a:latin typeface="Vazirmatn"/>
                <a:cs typeface="Vazirmatn"/>
              </a:rPr>
              <a:t>۴</a:t>
            </a:r>
            <a:endParaRPr b="0" lang="en-US" sz="5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قطعه برای ساخت هر نمونه بلند"/>
          <p:cNvSpPr/>
          <p:nvPr/>
        </p:nvSpPr>
        <p:spPr>
          <a:xfrm>
            <a:off x="685800" y="3152880"/>
            <a:ext cx="4799880" cy="66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00" spc="-1" strike="noStrike">
                <a:solidFill>
                  <a:srgbClr val="153d42"/>
                </a:solidFill>
                <a:latin typeface="Vazirmatn"/>
                <a:cs typeface="Vazirmatn"/>
              </a:rPr>
              <a:t>قطعه برای ساخت هر نمونه بلند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اتصال درون همان بخش داده&#10;بیش از ۵ و حداکثر ۲۰ ثانیه&#10;حضور در خط مبنای معمولی"/>
          <p:cNvSpPr/>
          <p:nvPr/>
        </p:nvSpPr>
        <p:spPr>
          <a:xfrm>
            <a:off x="685800" y="3990960"/>
            <a:ext cx="4799880" cy="152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اتصال درون همان گروه داده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حداقل </a:t>
            </a: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۵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 و حداکثر </a:t>
            </a: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۲۰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 ثانیه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حضور در تمام آزمایش‌ها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71" name=""/>
          <p:cNvGraphicFramePr/>
          <p:nvPr/>
        </p:nvGraphicFramePr>
        <p:xfrm>
          <a:off x="6134040" y="2685960"/>
          <a:ext cx="5371920" cy="2864880"/>
        </p:xfrm>
        <a:graphic>
          <a:graphicData uri="http://schemas.openxmlformats.org/drawingml/2006/table">
            <a:tbl>
              <a:tblPr/>
              <a:tblGrid>
                <a:gridCol w="1199880"/>
                <a:gridCol w="1314360"/>
                <a:gridCol w="2857320"/>
              </a:tblGrid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اعتبارسنجی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آموزش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پیکره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55224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a-IR" sz="195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۱۰٬۰۰۶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a-IR" sz="195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۲۹۹٬۴۳۰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Common Voice 25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66672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a-IR" sz="195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۶٬۰۴۴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a-IR" sz="195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۶۰۰٬۶۷۲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FarsSpon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زیرمجموعه محدود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5224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a-IR" sz="195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۳۶۲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a-IR" sz="195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۳٬۰۱۹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FLEURS Persian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3316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fa-IR" sz="195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۱۶٬۴۱۲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e7efe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fa-IR" sz="195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۹۰۳٬۱۲۱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e7efe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مجموع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e7efee"/>
                    </a:solidFill>
                  </a:tcPr>
                </a:tc>
              </a:tr>
            </a:tbl>
          </a:graphicData>
        </a:graphic>
      </p:graphicFrame>
      <p:sp>
        <p:nvSpPr>
          <p:cNvPr id="72" name="dataset-caption-6"/>
          <p:cNvSpPr/>
          <p:nvPr/>
        </p:nvSpPr>
        <p:spPr>
          <a:xfrm>
            <a:off x="685800" y="5781600"/>
            <a:ext cx="1082016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تعدادها برای پیکره پایه‌اند، پیش از ساخت گونه‌های بلند و تخریب‌شده و افزودن ایران‌صدا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صوت تک‌کاناله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۱۶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کیلوهرتزی و نرمال‌سازی مشترک متن فارسی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داده و ارزیابی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داده و ارزیابی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ارزیابی روی تماس واقعی و گفتار عمومی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ارزیابی روی تماس واقعی و گفتار عمومی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۷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۷ از ۳۴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۱۰٬۰۴۴"/>
          <p:cNvSpPr/>
          <p:nvPr/>
        </p:nvSpPr>
        <p:spPr>
          <a:xfrm>
            <a:off x="6381720" y="1828800"/>
            <a:ext cx="5123880" cy="133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6600" spc="-1" strike="noStrike">
                <a:solidFill>
                  <a:srgbClr val="1d6f8a"/>
                </a:solidFill>
                <a:latin typeface="Vazirmatn"/>
                <a:cs typeface="Vazirmatn"/>
              </a:rPr>
              <a:t>۱۰٬۰۴۴</a:t>
            </a:r>
            <a:endParaRPr b="0" lang="en-US" sz="6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نمونه تماس واقعی در AGFarsdat"/>
          <p:cNvSpPr/>
          <p:nvPr/>
        </p:nvSpPr>
        <p:spPr>
          <a:xfrm>
            <a:off x="6381720" y="3238560"/>
            <a:ext cx="512388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نمونه تماس واقعی در </a:t>
            </a:r>
            <a:r>
              <a:rPr b="1" lang="en-US" sz="2170" spc="-1" strike="noStrike">
                <a:solidFill>
                  <a:srgbClr val="153d42"/>
                </a:solidFill>
                <a:latin typeface="Vazirmatn"/>
                <a:ea typeface="Vazirmatn"/>
              </a:rPr>
              <a:t>AGFarsdat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آزمون‌های گفتار عمومی"/>
          <p:cNvSpPr/>
          <p:nvPr/>
        </p:nvSpPr>
        <p:spPr>
          <a:xfrm>
            <a:off x="685800" y="2057400"/>
            <a:ext cx="4761720" cy="52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آزمون‌های گفتار عمومی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685800" y="51433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نرخ خطای واژه"/>
          <p:cNvSpPr/>
          <p:nvPr/>
        </p:nvSpPr>
        <p:spPr>
          <a:xfrm>
            <a:off x="8096400" y="5257800"/>
            <a:ext cx="34092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950" spc="-1" strike="noStrike">
                <a:solidFill>
                  <a:srgbClr val="153d42"/>
                </a:solidFill>
                <a:latin typeface="Vazirmatn"/>
                <a:cs typeface="Vazirmatn"/>
              </a:rPr>
              <a:t>نرخ خطای واژه</a:t>
            </a:r>
            <a:endParaRPr b="0" lang="en-US" sz="1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WER = (S + D + I) / N"/>
          <p:cNvSpPr/>
          <p:nvPr/>
        </p:nvSpPr>
        <p:spPr>
          <a:xfrm>
            <a:off x="685800" y="5257800"/>
            <a:ext cx="64764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2250" spc="-1" strike="noStrike">
                <a:solidFill>
                  <a:srgbClr val="153d42"/>
                </a:solidFill>
                <a:latin typeface="Vazirmatn"/>
                <a:ea typeface="Vazirmatn"/>
              </a:rPr>
              <a:t>WER = (S + D + I) / N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CER بر پایه نویسه است. تجمیع با جمع شمارش خطاها و واحدهای مرجع انجام می‌شود"/>
          <p:cNvSpPr/>
          <p:nvPr/>
        </p:nvSpPr>
        <p:spPr>
          <a:xfrm>
            <a:off x="685800" y="5791320"/>
            <a:ext cx="1081980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CER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بر پایه نویسه است. تجمیع با جمع شمارش خطاها و واحدهای مرجع انجام می‌شود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84" name=""/>
          <p:cNvGraphicFramePr/>
          <p:nvPr/>
        </p:nvGraphicFramePr>
        <p:xfrm>
          <a:off x="685800" y="2752560"/>
          <a:ext cx="4952520" cy="1875600"/>
        </p:xfrm>
        <a:graphic>
          <a:graphicData uri="http://schemas.openxmlformats.org/drawingml/2006/table">
            <a:tbl>
              <a:tblPr/>
              <a:tblGrid>
                <a:gridCol w="1523880"/>
                <a:gridCol w="3429000"/>
              </a:tblGrid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حدود </a:t>
                      </a: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۱۰٬۵۱۸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Common Voice Persian 25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a-IR" sz="195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۸۷۱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FLEURS Persian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a-IR" sz="195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۲۴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PersianSpeech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۳۹۱–۳۹۶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Persian Speech Corpus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85" name="dataset-public-total-7"/>
          <p:cNvSpPr/>
          <p:nvPr/>
        </p:nvSpPr>
        <p:spPr>
          <a:xfrm>
            <a:off x="685800" y="4695840"/>
            <a:ext cx="495252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580" spc="-1" strike="noStrike">
                <a:solidFill>
                  <a:srgbClr val="1d6f8a"/>
                </a:solidFill>
                <a:latin typeface="Vazirmatn"/>
                <a:cs typeface="Vazirmatn"/>
              </a:rPr>
              <a:t>در مجموع، حدود </a:t>
            </a:r>
            <a:r>
              <a:rPr b="1" lang="fa-IR" sz="1580" spc="-1" strike="noStrike">
                <a:solidFill>
                  <a:srgbClr val="1d6f8a"/>
                </a:solidFill>
                <a:latin typeface="Vazirmatn"/>
                <a:cs typeface="Vazirmatn"/>
              </a:rPr>
              <a:t>۱۱٬۸۰۰</a:t>
            </a:r>
            <a:r>
              <a:rPr b="1" lang="en-US" sz="1580" spc="-1" strike="noStrike">
                <a:solidFill>
                  <a:srgbClr val="1d6f8a"/>
                </a:solidFill>
                <a:latin typeface="Vazirmatn"/>
                <a:ea typeface="Vazirmatn"/>
              </a:rPr>
              <a:t> نمونه گفتار عمومی</a:t>
            </a:r>
            <a:endParaRPr b="0" lang="en-US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dataset-call-details-7"/>
          <p:cNvSpPr/>
          <p:nvPr/>
        </p:nvSpPr>
        <p:spPr>
          <a:xfrm>
            <a:off x="6381720" y="3886200"/>
            <a:ext cx="5124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۵۸۵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 گوینده و </a:t>
            </a: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۴۹٫۹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 ساعت صوت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تلفن و تماس اینترنتی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مستقل از آموزش و انتخاب مدل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dataset-caption-7"/>
          <p:cNvSpPr/>
          <p:nvPr/>
        </p:nvSpPr>
        <p:spPr>
          <a:xfrm>
            <a:off x="685800" y="6105600"/>
            <a:ext cx="1082016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تعداد نمونه‌های واجدشرایط در بعضی سامانه‌ها متفاوت است. رمزگشایی حریصانه مشترک است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مقاوم‌سازی با داده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مقاوم‌سازی با داده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داده‌افزایی مخابراتیِ بازتولیدپذیر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داده‌افزایی مخابراتیِ بازتولیدپذیر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۸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۸ از ۳۴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ساخت جفت‌های پاک و تخریب‌شده با رونویسی مشترک"/>
          <p:cNvSpPr/>
          <p:nvPr/>
        </p:nvSpPr>
        <p:spPr>
          <a:xfrm>
            <a:off x="685800" y="1657440"/>
            <a:ext cx="1081980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2100" spc="-1" strike="noStrike">
                <a:solidFill>
                  <a:srgbClr val="52606d"/>
                </a:solidFill>
                <a:latin typeface="Vazirmatn"/>
                <a:cs typeface="Vazirmatn"/>
              </a:rPr>
              <a:t>ساخت جفت‌های پاک و تخریب‌شده با رونویسی مشترک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3" name="" descr=""/>
          <p:cNvPicPr/>
          <p:nvPr/>
        </p:nvPicPr>
        <p:blipFill>
          <a:blip r:embed="rId1"/>
          <a:stretch/>
        </p:blipFill>
        <p:spPr>
          <a:xfrm>
            <a:off x="685800" y="2324160"/>
            <a:ext cx="10819800" cy="2163240"/>
          </a:xfrm>
          <a:prstGeom prst="rect">
            <a:avLst/>
          </a:prstGeom>
          <a:ln w="0">
            <a:noFill/>
          </a:ln>
        </p:spPr>
      </p:pic>
      <p:sp>
        <p:nvSpPr>
          <p:cNvPr id="94" name="نویز و تغییر بهره"/>
          <p:cNvSpPr/>
          <p:nvPr/>
        </p:nvSpPr>
        <p:spPr>
          <a:xfrm>
            <a:off x="6762600" y="4629240"/>
            <a:ext cx="4742640" cy="5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نویز و تغییر بهره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DEMAND     SNR: −5 … 15 dB     Gain: ±6 dB"/>
          <p:cNvSpPr/>
          <p:nvPr/>
        </p:nvSpPr>
        <p:spPr>
          <a:xfrm>
            <a:off x="6191280" y="5248440"/>
            <a:ext cx="531432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r>
              <a:rPr b="0" lang="en-US" sz="1729" spc="-1" strike="noStrike">
                <a:solidFill>
                  <a:srgbClr val="1f2933"/>
                </a:solidFill>
                <a:latin typeface="Vazirmatn"/>
                <a:ea typeface="Vazirmatn"/>
              </a:rPr>
              <a:t>DEMAND     SNR: −5 … 15 dB     Gain: ±6 dB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مقاوم‌سازی با داده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مقاوم‌سازی با داده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مسیرهای کدک و جفت‌های هم‌تراز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مسیرهای کدک و جفت‌های هم‌تراز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۹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۹ از ۳۴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0" name="" descr=""/>
          <p:cNvPicPr/>
          <p:nvPr/>
        </p:nvPicPr>
        <p:blipFill>
          <a:blip r:embed="rId1"/>
          <a:stretch/>
        </p:blipFill>
        <p:spPr>
          <a:xfrm>
            <a:off x="1162080" y="1581120"/>
            <a:ext cx="9857520" cy="4286880"/>
          </a:xfrm>
          <a:prstGeom prst="rect">
            <a:avLst/>
          </a:prstGeom>
          <a:ln w="0">
            <a:noFill/>
          </a:ln>
        </p:spPr>
      </p:pic>
      <p:sp>
        <p:nvSpPr>
          <p:cNvPr id="101" name="G.711، GSM، AMR-NB، AMR-WB و Opus. هدف پاک، پهنای‌باند متناظر با کانال را حفظ می‌کند"/>
          <p:cNvSpPr/>
          <p:nvPr/>
        </p:nvSpPr>
        <p:spPr>
          <a:xfrm>
            <a:off x="685800" y="5924520"/>
            <a:ext cx="108198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G.711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، 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GSM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، 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AMR-NB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، 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AMR-WB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و 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Opus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. هدف پاک، پهنای‌باند متناظر با کانال را حفظ می‌کند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Opus بومی افت بسته و پنهان‌سازی خطا را مدل می‌کند. در مسیرهای دیگر، حذف موج یک تقریب است"/>
          <p:cNvSpPr/>
          <p:nvPr/>
        </p:nvSpPr>
        <p:spPr>
          <a:xfrm>
            <a:off x="685800" y="6172200"/>
            <a:ext cx="1081980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Opus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بومی افت بسته و پنهان‌سازی خطا را مدل می‌کند. در مسیرهای دیگر، حذف موج یک تقریب است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نتیجه داده‌افزایی مخابراتی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نتیجه داده‌افزایی مخابراتی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انتقال بهبود به تماس‌های واقعی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انتقال بهبود به تماس‌های واقعی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۱۰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۱۰ از ۳۴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نرخ خطای واژه در AGFarsdat"/>
          <p:cNvSpPr/>
          <p:nvPr/>
        </p:nvSpPr>
        <p:spPr>
          <a:xfrm>
            <a:off x="4286160" y="1657440"/>
            <a:ext cx="7219080" cy="52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53d42"/>
                </a:solidFill>
                <a:latin typeface="Vazirmatn"/>
                <a:cs typeface="Vazirmatn"/>
              </a:rPr>
              <a:t>نرخ خطای واژه در </a:t>
            </a:r>
            <a:r>
              <a:rPr b="1" lang="en-US" sz="2020" spc="-1" strike="noStrike">
                <a:solidFill>
                  <a:srgbClr val="153d42"/>
                </a:solidFill>
                <a:latin typeface="Vazirmatn"/>
                <a:ea typeface="Vazirmatn"/>
              </a:rPr>
              <a:t>AGFarsdat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08" name="Chart"/>
          <p:cNvGraphicFramePr/>
          <p:nvPr/>
        </p:nvGraphicFramePr>
        <p:xfrm>
          <a:off x="4191120" y="2286000"/>
          <a:ext cx="7314480" cy="3237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09" name="۹٫۸۳"/>
          <p:cNvSpPr/>
          <p:nvPr/>
        </p:nvSpPr>
        <p:spPr>
          <a:xfrm>
            <a:off x="685800" y="2114640"/>
            <a:ext cx="2952000" cy="12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6600" spc="-1" strike="noStrike">
                <a:solidFill>
                  <a:srgbClr val="1d6f8a"/>
                </a:solidFill>
                <a:latin typeface="Vazirmatn"/>
                <a:cs typeface="Vazirmatn"/>
              </a:rPr>
              <a:t>۹٫۸۳</a:t>
            </a:r>
            <a:endParaRPr b="0" lang="en-US" sz="6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واحد درصد کاهش خطا&#10;در تماس‌های واقعی"/>
          <p:cNvSpPr/>
          <p:nvPr/>
        </p:nvSpPr>
        <p:spPr>
          <a:xfrm>
            <a:off x="685800" y="3467160"/>
            <a:ext cx="2952000" cy="10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واحد درصد کاهش خطا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در تماس‌های واقعی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۲۷٫۶٪ کاهش نسبی"/>
          <p:cNvSpPr/>
          <p:nvPr/>
        </p:nvSpPr>
        <p:spPr>
          <a:xfrm>
            <a:off x="685800" y="4791240"/>
            <a:ext cx="2952000" cy="52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950" spc="-1" strike="noStrike">
                <a:solidFill>
                  <a:srgbClr val="52606d"/>
                </a:solidFill>
                <a:latin typeface="Vazirmatn"/>
                <a:cs typeface="Vazirmatn"/>
              </a:rPr>
              <a:t>۲۷٫۶٪</a:t>
            </a:r>
            <a:r>
              <a:rPr b="0" lang="en-US" sz="1950" spc="-1" strike="noStrike">
                <a:solidFill>
                  <a:srgbClr val="52606d"/>
                </a:solidFill>
                <a:latin typeface="Vazirmatn"/>
                <a:ea typeface="Vazirmatn"/>
              </a:rPr>
              <a:t> کاهش نسبی</a:t>
            </a:r>
            <a:endParaRPr b="0" lang="en-US" sz="1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WER تجمیعی نیز از ۲۳٫۲۷٪ به ۱۷٫۸۳٪ کاهش یافت. مقدار کمتر بهتر است"/>
          <p:cNvSpPr/>
          <p:nvPr/>
        </p:nvSpPr>
        <p:spPr>
          <a:xfrm>
            <a:off x="685800" y="5762520"/>
            <a:ext cx="1081980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WER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تجمیعی نیز از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۲۳٫۲۷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به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۱۷٫۸۳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کاهش یافت. مقدار کمتر بهتر است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اثر جداگانه کدک و اختلال شبکه در آزمایش حذفی سنجیده نشده است"/>
          <p:cNvSpPr/>
          <p:nvPr/>
        </p:nvSpPr>
        <p:spPr>
          <a:xfrm>
            <a:off x="685800" y="6124680"/>
            <a:ext cx="108198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اثر جداگانه کدک و اختلال شبکه در آزمایش حذفی سنجیده نشده است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بهسازی و همجوشی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بهسازی و همجوشی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معماری بهسازی و همجوشی دوجریانه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معماری بهسازی و همجوشی دوجریانه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۱۱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۱۱ از ۳۴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حفظ نمای اصلی در کنار نمای بهسازی‌شده"/>
          <p:cNvSpPr/>
          <p:nvPr/>
        </p:nvSpPr>
        <p:spPr>
          <a:xfrm>
            <a:off x="685800" y="1609560"/>
            <a:ext cx="10819800" cy="52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2100" spc="-1" strike="noStrike">
                <a:solidFill>
                  <a:srgbClr val="52606d"/>
                </a:solidFill>
                <a:latin typeface="Vazirmatn"/>
                <a:cs typeface="Vazirmatn"/>
              </a:rPr>
              <a:t>حفظ نمای اصلی در کنار نمای بهسازی‌شده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9" name="" descr=""/>
          <p:cNvPicPr/>
          <p:nvPr/>
        </p:nvPicPr>
        <p:blipFill>
          <a:blip r:embed="rId1"/>
          <a:stretch/>
        </p:blipFill>
        <p:spPr>
          <a:xfrm>
            <a:off x="685800" y="2009880"/>
            <a:ext cx="10819440" cy="3806280"/>
          </a:xfrm>
          <a:prstGeom prst="rect">
            <a:avLst/>
          </a:prstGeom>
          <a:ln w="0">
            <a:noFill/>
          </a:ln>
        </p:spPr>
      </p:pic>
      <p:sp>
        <p:nvSpPr>
          <p:cNvPr id="120" name="شروع از ویسپر کوچک چندشرایطی است. بهساز در حوزه لاگ‌مل کار می‌کند و موج صوتی بازسازی نمی‌کند"/>
          <p:cNvSpPr/>
          <p:nvPr/>
        </p:nvSpPr>
        <p:spPr>
          <a:xfrm>
            <a:off x="685800" y="5905440"/>
            <a:ext cx="1081980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شروع از ویسپر کوچک چندشرایطی است. بهساز در حوزه لاگ‌مل کار می‌کند و موج صوتی بازسازی نمی‌کند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بهسازی و همجوشی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بهسازی و همجوشی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آموزش سه‌مرحله‌ای همجوشی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آموزش سه‌مرحله‌ای همجوشی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۱۲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۱۲ از ۳۴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5" name="" descr=""/>
          <p:cNvPicPr/>
          <p:nvPr/>
        </p:nvPicPr>
        <p:blipFill>
          <a:blip r:embed="rId1"/>
          <a:stretch/>
        </p:blipFill>
        <p:spPr>
          <a:xfrm>
            <a:off x="685800" y="2095560"/>
            <a:ext cx="10819800" cy="1645920"/>
          </a:xfrm>
          <a:prstGeom prst="rect">
            <a:avLst/>
          </a:prstGeom>
          <a:ln w="0">
            <a:noFill/>
          </a:ln>
        </p:spPr>
      </p:pic>
      <p:sp>
        <p:nvSpPr>
          <p:cNvPr id="126" name="مرحله سوم: آموزش همه اجزا، شامل ویسپر"/>
          <p:cNvSpPr/>
          <p:nvPr/>
        </p:nvSpPr>
        <p:spPr>
          <a:xfrm>
            <a:off x="685800" y="3952800"/>
            <a:ext cx="10819800" cy="52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d6f8a"/>
                </a:solidFill>
                <a:latin typeface="Vazirmatn"/>
                <a:cs typeface="Vazirmatn"/>
              </a:rPr>
              <a:t>مرحله سوم: آموزش همه اجزا، شامل ویسپر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هر مرحله یک دوره کامل"/>
          <p:cNvSpPr/>
          <p:nvPr/>
        </p:nvSpPr>
        <p:spPr>
          <a:xfrm>
            <a:off x="6762600" y="4629240"/>
            <a:ext cx="474264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53d42"/>
                </a:solidFill>
                <a:latin typeface="Vazirmatn"/>
                <a:cs typeface="Vazirmatn"/>
              </a:rPr>
              <a:t>هر مرحله یک دوره کامل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نرخ نهایی: ماژول‌های جدید ⁦1e-4⁩&#10;ویسپر ⁦5e-6⁩"/>
          <p:cNvSpPr/>
          <p:nvPr/>
        </p:nvSpPr>
        <p:spPr>
          <a:xfrm>
            <a:off x="6762600" y="5162400"/>
            <a:ext cx="4742640" cy="66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نرخ نهایی: ماژول‌های جدید ⁦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1e-4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⁩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ویسپر ⁦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5e-6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⁩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داده مرحله نهایی"/>
          <p:cNvSpPr/>
          <p:nvPr/>
        </p:nvSpPr>
        <p:spPr>
          <a:xfrm>
            <a:off x="685800" y="4629240"/>
            <a:ext cx="495216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53d42"/>
                </a:solidFill>
                <a:latin typeface="Vazirmatn"/>
                <a:cs typeface="Vazirmatn"/>
              </a:rPr>
              <a:t>داده مرحله نهایی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نمونه‌های تخریب‌شده و بلند&#10;زیرمجموعه تصادفی ۲۵٪ از گفتار پاک"/>
          <p:cNvSpPr/>
          <p:nvPr/>
        </p:nvSpPr>
        <p:spPr>
          <a:xfrm>
            <a:off x="685800" y="5162400"/>
            <a:ext cx="4952160" cy="66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نمونه‌های تخریب‌شده و بلند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زیرمجموعه تصادفی </a:t>
            </a: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۲۵</a:t>
            </a: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٪ از گفتار پاک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این آزمایش هم معماری و هم برنامه آموزش بازشناس را تغییر می‌دهد"/>
          <p:cNvSpPr/>
          <p:nvPr/>
        </p:nvSpPr>
        <p:spPr>
          <a:xfrm>
            <a:off x="685800" y="6048360"/>
            <a:ext cx="1081980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این آزمایش هم معماری و هم برنامه آموزش بازشناس را تغییر می‌دهد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روش مقایسه‌ای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روش مقایسه‌ای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پل تطبیقی پیش از بازشناسی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پل تطبیقی پیش از بازشناسی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۱۳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۱۳ از ۳۴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6" name="" descr=""/>
          <p:cNvPicPr/>
          <p:nvPr/>
        </p:nvPicPr>
        <p:blipFill>
          <a:blip r:embed="rId1"/>
          <a:stretch/>
        </p:blipFill>
        <p:spPr>
          <a:xfrm>
            <a:off x="685800" y="2117520"/>
            <a:ext cx="7485840" cy="3450960"/>
          </a:xfrm>
          <a:prstGeom prst="rect">
            <a:avLst/>
          </a:prstGeom>
          <a:ln w="0">
            <a:noFill/>
          </a:ln>
        </p:spPr>
      </p:pic>
      <p:sp>
        <p:nvSpPr>
          <p:cNvPr id="137" name="پیاده‌سازی این پایان‌نامه"/>
          <p:cNvSpPr/>
          <p:nvPr/>
        </p:nvSpPr>
        <p:spPr>
          <a:xfrm>
            <a:off x="8648640" y="1981080"/>
            <a:ext cx="2856960" cy="61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53d42"/>
                </a:solidFill>
                <a:latin typeface="Vazirmatn"/>
                <a:cs typeface="Vazirmatn"/>
              </a:rPr>
              <a:t>پیاده‌سازی این پایان‌نامه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بهساز FRCRN ثابت&#10;بازشناس ویسپر ثابت&#10;آموزش فقط ماژول پل"/>
          <p:cNvSpPr/>
          <p:nvPr/>
        </p:nvSpPr>
        <p:spPr>
          <a:xfrm>
            <a:off x="8648640" y="2828880"/>
            <a:ext cx="2856960" cy="166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بهساز 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FRCRN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 ثابت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بازشناس ویسپر ثابت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آموزش فقط ماژول پل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یک ضریب ترکیب&#10;برای هر گفتار"/>
          <p:cNvSpPr/>
          <p:nvPr/>
        </p:nvSpPr>
        <p:spPr>
          <a:xfrm>
            <a:off x="8648640" y="4695840"/>
            <a:ext cx="285696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d6f8a"/>
                </a:solidFill>
                <a:latin typeface="Vazirmatn"/>
                <a:cs typeface="Vazirmatn"/>
              </a:rPr>
              <a:t>یک ضریب ترکیب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d6f8a"/>
                </a:solidFill>
                <a:latin typeface="Vazirmatn"/>
                <a:cs typeface="Vazirmatn"/>
              </a:rPr>
              <a:t>برای هر گفتار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Cui et al., ICASSP 2025, Fig. 1 (CC BY 4.0)"/>
          <p:cNvSpPr/>
          <p:nvPr/>
        </p:nvSpPr>
        <p:spPr>
          <a:xfrm>
            <a:off x="685800" y="5638680"/>
            <a:ext cx="74858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1350" spc="-1" strike="noStrike">
                <a:solidFill>
                  <a:srgbClr val="52606d"/>
                </a:solidFill>
                <a:latin typeface="Vazirmatn"/>
                <a:ea typeface="Vazirmatn"/>
              </a:rPr>
              <a:t>Cui et al., ICASSP 2025, Fig. 1 (CC BY 4.0)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اجرای مستقل فارسی است. تفاوت بهساز و برنامه آموزش، انتساب اثر به محل ادغام را محدود می‌کند"/>
          <p:cNvSpPr/>
          <p:nvPr/>
        </p:nvSpPr>
        <p:spPr>
          <a:xfrm>
            <a:off x="685800" y="6048360"/>
            <a:ext cx="108198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اجرای مستقل فارسی است. تفاوت بهساز و برنامه آموزش، انتساب اثر به محل ادغام را محدود می‌کند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نتایج بهسازی و همجوشی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نتایج بهسازی و همجوشی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سود افزوده همجوشی و پل تطبیقی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سود افزوده همجوشی و پل تطبیقی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۱۴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۱۴ از ۳۴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نرخ خطای واژه تجمیعی"/>
          <p:cNvSpPr/>
          <p:nvPr/>
        </p:nvSpPr>
        <p:spPr>
          <a:xfrm>
            <a:off x="685800" y="1685880"/>
            <a:ext cx="504756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نرخ خطای واژه تجمیعی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نرخ خطای واژه تماس واقعی"/>
          <p:cNvSpPr/>
          <p:nvPr/>
        </p:nvSpPr>
        <p:spPr>
          <a:xfrm>
            <a:off x="6458040" y="1685880"/>
            <a:ext cx="504756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نرخ خطای واژه تماس واقعی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48" name="Chart"/>
          <p:cNvGraphicFramePr/>
          <p:nvPr/>
        </p:nvGraphicFramePr>
        <p:xfrm>
          <a:off x="685800" y="2324160"/>
          <a:ext cx="5047560" cy="295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49" name="Chart"/>
          <p:cNvGraphicFramePr/>
          <p:nvPr/>
        </p:nvGraphicFramePr>
        <p:xfrm>
          <a:off x="6458040" y="2324160"/>
          <a:ext cx="5047560" cy="295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50" name="کاهش WER با همجوشی: ۰٫۱۹ واحد درصد تجمیعی و ۰٫۴۳ واحد درصد در تماس واقعی"/>
          <p:cNvSpPr/>
          <p:nvPr/>
        </p:nvSpPr>
        <p:spPr>
          <a:xfrm>
            <a:off x="685800" y="5477040"/>
            <a:ext cx="1081980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کاهش 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WER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 با همجوشی: </a:t>
            </a: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۰٫۱۹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 واحد درصد تجمیعی و </a:t>
            </a: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۰٫۴۳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 واحد درصد در تماس واقعی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CER تجمیعی به همین ترتیب: ۷٫۹۳٪، ۸٫۰۰٪ و ۷٫۸۵٪. اختلاف‌ها فاصله اطمینان ندارند"/>
          <p:cNvSpPr/>
          <p:nvPr/>
        </p:nvSpPr>
        <p:spPr>
          <a:xfrm>
            <a:off x="685800" y="6010200"/>
            <a:ext cx="1081980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CER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تجمیعی به همین ترتیب: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۷٫۹۳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٪،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۸٫۰۰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و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۷٫۸۵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٪. اختلاف‌ها فاصله اطمینان ندارند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مطالعه مؤلفه‌های همجوشی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مطالعه مؤلفه‌های همجوشی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آزمایش حذفیِ دو نما و توجه متقاطع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آزمایش حذفیِ دو نما و توجه متقاطع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۱۵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۱۵ از ۳۴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آزمایش مستقل&#10;ویسپر بسیار کوچک"/>
          <p:cNvSpPr/>
          <p:nvPr/>
        </p:nvSpPr>
        <p:spPr>
          <a:xfrm>
            <a:off x="685800" y="2028960"/>
            <a:ext cx="28090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250" spc="-1" strike="noStrike">
                <a:solidFill>
                  <a:srgbClr val="153d42"/>
                </a:solidFill>
                <a:latin typeface="Vazirmatn"/>
                <a:cs typeface="Vazirmatn"/>
              </a:rPr>
              <a:t>آزمایش مستقل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1" lang="fa-IR" sz="2250" spc="-1" strike="noStrike">
                <a:solidFill>
                  <a:srgbClr val="153d42"/>
                </a:solidFill>
                <a:latin typeface="Vazirmatn"/>
                <a:cs typeface="Vazirmatn"/>
              </a:rPr>
              <a:t>ویسپر بسیار کوچک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آموزش فقط با کامن‌وویس"/>
          <p:cNvSpPr/>
          <p:nvPr/>
        </p:nvSpPr>
        <p:spPr>
          <a:xfrm>
            <a:off x="685800" y="3295800"/>
            <a:ext cx="280908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52606d"/>
                </a:solidFill>
                <a:latin typeface="Vazirmatn"/>
                <a:cs typeface="Vazirmatn"/>
              </a:rPr>
              <a:t>آموزش فقط با کامن‌وویس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WER کامن‌وویس&#10;به ترتیب نمودار"/>
          <p:cNvSpPr/>
          <p:nvPr/>
        </p:nvSpPr>
        <p:spPr>
          <a:xfrm>
            <a:off x="685800" y="4248000"/>
            <a:ext cx="2809080" cy="7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en-US" sz="1729" spc="-1" strike="noStrike">
                <a:solidFill>
                  <a:srgbClr val="153d42"/>
                </a:solidFill>
                <a:latin typeface="Vazirmatn"/>
                <a:ea typeface="Vazirmatn"/>
              </a:rPr>
              <a:t>WER</a:t>
            </a:r>
            <a:r>
              <a:rPr b="1" lang="en-US" sz="1729" spc="-1" strike="noStrike">
                <a:solidFill>
                  <a:srgbClr val="153d42"/>
                </a:solidFill>
                <a:latin typeface="Vazirmatn"/>
                <a:ea typeface="Vazirmatn"/>
              </a:rPr>
              <a:t> کامن‌وویس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1" lang="fa-IR" sz="1729" spc="-1" strike="noStrike">
                <a:solidFill>
                  <a:srgbClr val="153d42"/>
                </a:solidFill>
                <a:latin typeface="Vazirmatn"/>
                <a:cs typeface="Vazirmatn"/>
              </a:rPr>
              <a:t>به ترتیب نمودار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۵۷٫۸۲، ۶۲٫۳۵،&#10;۶۴٫۱۰، ۶۳٫۸۱ درصد"/>
          <p:cNvSpPr/>
          <p:nvPr/>
        </p:nvSpPr>
        <p:spPr>
          <a:xfrm>
            <a:off x="685800" y="5076720"/>
            <a:ext cx="2809080" cy="66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d6f8a"/>
                </a:solidFill>
                <a:latin typeface="Vazirmatn"/>
                <a:cs typeface="Vazirmatn"/>
              </a:rPr>
              <a:t>۵۷٫۸۲</a:t>
            </a:r>
            <a:r>
              <a:rPr b="0" lang="fa-IR" sz="1729" spc="-1" strike="noStrike">
                <a:solidFill>
                  <a:srgbClr val="1d6f8a"/>
                </a:solidFill>
                <a:latin typeface="Vazirmatn"/>
                <a:cs typeface="Vazirmatn"/>
              </a:rPr>
              <a:t>، </a:t>
            </a:r>
            <a:r>
              <a:rPr b="0" lang="fa-IR" sz="1729" spc="-1" strike="noStrike">
                <a:solidFill>
                  <a:srgbClr val="1d6f8a"/>
                </a:solidFill>
                <a:latin typeface="Vazirmatn"/>
                <a:cs typeface="Vazirmatn"/>
              </a:rPr>
              <a:t>۶۲٫۳۵</a:t>
            </a:r>
            <a:r>
              <a:rPr b="0" lang="fa-IR" sz="1729" spc="-1" strike="noStrike">
                <a:solidFill>
                  <a:srgbClr val="1d6f8a"/>
                </a:solidFill>
                <a:latin typeface="Vazirmatn"/>
                <a:cs typeface="Vazirmatn"/>
              </a:rPr>
              <a:t>،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d6f8a"/>
                </a:solidFill>
                <a:latin typeface="Vazirmatn"/>
                <a:cs typeface="Vazirmatn"/>
              </a:rPr>
              <a:t>۶۴٫۱۰</a:t>
            </a:r>
            <a:r>
              <a:rPr b="0" lang="fa-IR" sz="1729" spc="-1" strike="noStrike">
                <a:solidFill>
                  <a:srgbClr val="1d6f8a"/>
                </a:solidFill>
                <a:latin typeface="Vazirmatn"/>
                <a:cs typeface="Vazirmatn"/>
              </a:rPr>
              <a:t>، </a:t>
            </a:r>
            <a:r>
              <a:rPr b="0" lang="fa-IR" sz="1729" spc="-1" strike="noStrike">
                <a:solidFill>
                  <a:srgbClr val="1d6f8a"/>
                </a:solidFill>
                <a:latin typeface="Vazirmatn"/>
                <a:cs typeface="Vazirmatn"/>
              </a:rPr>
              <a:t>۶۳٫۸۱</a:t>
            </a:r>
            <a:r>
              <a:rPr b="0" lang="en-US" sz="1729" spc="-1" strike="noStrike">
                <a:solidFill>
                  <a:srgbClr val="1d6f8a"/>
                </a:solidFill>
                <a:latin typeface="Vazirmatn"/>
                <a:ea typeface="Vazirmatn"/>
              </a:rPr>
              <a:t> درصد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نرخ خطای واژه در AGFarsdat"/>
          <p:cNvSpPr/>
          <p:nvPr/>
        </p:nvSpPr>
        <p:spPr>
          <a:xfrm>
            <a:off x="3962520" y="1657440"/>
            <a:ext cx="7543080" cy="52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53d42"/>
                </a:solidFill>
                <a:latin typeface="Vazirmatn"/>
                <a:cs typeface="Vazirmatn"/>
              </a:rPr>
              <a:t>نرخ خطای واژه در </a:t>
            </a:r>
            <a:r>
              <a:rPr b="1" lang="en-US" sz="2020" spc="-1" strike="noStrike">
                <a:solidFill>
                  <a:srgbClr val="153d42"/>
                </a:solidFill>
                <a:latin typeface="Vazirmatn"/>
                <a:ea typeface="Vazirmatn"/>
              </a:rPr>
              <a:t>AGFarsdat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61" name="Chart"/>
          <p:cNvGraphicFramePr/>
          <p:nvPr/>
        </p:nvGraphicFramePr>
        <p:xfrm>
          <a:off x="3886200" y="2343240"/>
          <a:ext cx="7619400" cy="3256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62" name="¹ حذف نما در زمان استنتاج از مدل همجوشی آموزش‌دیده، نه آموزش مستقل یک مدل تک‌جریانه"/>
          <p:cNvSpPr/>
          <p:nvPr/>
        </p:nvSpPr>
        <p:spPr>
          <a:xfrm>
            <a:off x="685800" y="5848200"/>
            <a:ext cx="1081980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¹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حذف نما در زمان استنتاج از مدل همجوشی آموزش‌دیده، نه آموزش مستقل یک مدل تک‌جریانه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بودجه آموزش و تعداد پارامترهای نابرابر، تعیین سهم مستقل مؤلفه‌ها را محدود می‌کند"/>
          <p:cNvSpPr/>
          <p:nvPr/>
        </p:nvSpPr>
        <p:spPr>
          <a:xfrm>
            <a:off x="685800" y="6153120"/>
            <a:ext cx="10819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بودجه آموزش و تعداد پارامترهای نابرابر، تعیین سهم مستقل مؤلفه‌ها را محدود می‌کند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افزایش داده فارسی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افزایش داده فارسی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گردآوری و قطعه‌بندی ایران‌صدا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گردآوری و قطعه‌بندی ایران‌صدا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۱۶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۱۶ از ۳۴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8" name="" descr=""/>
          <p:cNvPicPr/>
          <p:nvPr/>
        </p:nvPicPr>
        <p:blipFill>
          <a:blip r:embed="rId1"/>
          <a:stretch/>
        </p:blipFill>
        <p:spPr>
          <a:xfrm>
            <a:off x="685800" y="1724040"/>
            <a:ext cx="3523680" cy="4158720"/>
          </a:xfrm>
          <a:prstGeom prst="rect">
            <a:avLst/>
          </a:prstGeom>
          <a:ln w="0">
            <a:noFill/>
          </a:ln>
        </p:spPr>
      </p:pic>
      <p:sp>
        <p:nvSpPr>
          <p:cNvPr id="169" name="۳٬۷۷۷ کتاب صوتی"/>
          <p:cNvSpPr/>
          <p:nvPr/>
        </p:nvSpPr>
        <p:spPr>
          <a:xfrm>
            <a:off x="4952880" y="2000160"/>
            <a:ext cx="6552360" cy="7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300" spc="-1" strike="noStrike">
                <a:solidFill>
                  <a:srgbClr val="153d42"/>
                </a:solidFill>
                <a:latin typeface="Vazirmatn"/>
                <a:cs typeface="Vazirmatn"/>
              </a:rPr>
              <a:t>۳٬۷۷۷</a:t>
            </a:r>
            <a:r>
              <a:rPr b="1" lang="en-US" sz="3300" spc="-1" strike="noStrike">
                <a:solidFill>
                  <a:srgbClr val="153d42"/>
                </a:solidFill>
                <a:latin typeface="Vazirmatn"/>
                <a:ea typeface="Vazirmatn"/>
              </a:rPr>
              <a:t> کتاب صوتی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حدود ۶٬۳۰۰ ساعت صوت خام دریافت‌شده"/>
          <p:cNvSpPr/>
          <p:nvPr/>
        </p:nvSpPr>
        <p:spPr>
          <a:xfrm>
            <a:off x="4952880" y="2933640"/>
            <a:ext cx="6552360" cy="52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2100" spc="-1" strike="noStrike">
                <a:solidFill>
                  <a:srgbClr val="1f2933"/>
                </a:solidFill>
                <a:latin typeface="Vazirmatn"/>
                <a:cs typeface="Vazirmatn"/>
              </a:rPr>
              <a:t>حدود </a:t>
            </a:r>
            <a:r>
              <a:rPr b="0" lang="fa-IR" sz="2100" spc="-1" strike="noStrike">
                <a:solidFill>
                  <a:srgbClr val="1f2933"/>
                </a:solidFill>
                <a:latin typeface="Vazirmatn"/>
                <a:cs typeface="Vazirmatn"/>
              </a:rPr>
              <a:t>۶٬۳۰۰</a:t>
            </a:r>
            <a:r>
              <a:rPr b="0" lang="en-US" sz="2100" spc="-1" strike="noStrike">
                <a:solidFill>
                  <a:srgbClr val="1f2933"/>
                </a:solidFill>
                <a:latin typeface="Vazirmatn"/>
                <a:ea typeface="Vazirmatn"/>
              </a:rPr>
              <a:t> ساعت صوت خام دریافت‌شده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۲۵۰ ساعت منتخب"/>
          <p:cNvSpPr/>
          <p:nvPr/>
        </p:nvSpPr>
        <p:spPr>
          <a:xfrm>
            <a:off x="4952880" y="3762360"/>
            <a:ext cx="6552360" cy="7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300" spc="-1" strike="noStrike">
                <a:solidFill>
                  <a:srgbClr val="1d6f8a"/>
                </a:solidFill>
                <a:latin typeface="Vazirmatn"/>
                <a:cs typeface="Vazirmatn"/>
              </a:rPr>
              <a:t>۲۵۰</a:t>
            </a:r>
            <a:r>
              <a:rPr b="1" lang="en-US" sz="3300" spc="-1" strike="noStrike">
                <a:solidFill>
                  <a:srgbClr val="1d6f8a"/>
                </a:solidFill>
                <a:latin typeface="Vazirmatn"/>
                <a:ea typeface="Vazirmatn"/>
              </a:rPr>
              <a:t> ساعت منتخب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طول هدف قطعه‌ها ۲۰ ثانیه است&#10;بازه ترجیحی ۱۵ تا ۲۵، سقف سخت ۲۸ ثانیه"/>
          <p:cNvSpPr/>
          <p:nvPr/>
        </p:nvSpPr>
        <p:spPr>
          <a:xfrm>
            <a:off x="4952880" y="4714920"/>
            <a:ext cx="655236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2020" spc="-1" strike="noStrike">
                <a:solidFill>
                  <a:srgbClr val="1f2933"/>
                </a:solidFill>
                <a:latin typeface="Vazirmatn"/>
                <a:cs typeface="Vazirmatn"/>
              </a:rPr>
              <a:t>طول هدف قطعه‌ها </a:t>
            </a:r>
            <a:r>
              <a:rPr b="0" lang="fa-IR" sz="2020" spc="-1" strike="noStrike">
                <a:solidFill>
                  <a:srgbClr val="1f2933"/>
                </a:solidFill>
                <a:latin typeface="Vazirmatn"/>
                <a:cs typeface="Vazirmatn"/>
              </a:rPr>
              <a:t>۲۰</a:t>
            </a: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 ثانیه است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2020" spc="-1" strike="noStrike">
                <a:solidFill>
                  <a:srgbClr val="1f2933"/>
                </a:solidFill>
                <a:latin typeface="Vazirmatn"/>
                <a:cs typeface="Vazirmatn"/>
              </a:rPr>
              <a:t>بازه ترجیحی </a:t>
            </a:r>
            <a:r>
              <a:rPr b="0" lang="fa-IR" sz="2020" spc="-1" strike="noStrike">
                <a:solidFill>
                  <a:srgbClr val="1f2933"/>
                </a:solidFill>
                <a:latin typeface="Vazirmatn"/>
                <a:cs typeface="Vazirmatn"/>
              </a:rPr>
              <a:t>۱۵</a:t>
            </a: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 تا </a:t>
            </a:r>
            <a:r>
              <a:rPr b="0" lang="fa-IR" sz="2020" spc="-1" strike="noStrike">
                <a:solidFill>
                  <a:srgbClr val="1f2933"/>
                </a:solidFill>
                <a:latin typeface="Vazirmatn"/>
                <a:cs typeface="Vazirmatn"/>
              </a:rPr>
              <a:t>۲۵</a:t>
            </a:r>
            <a:r>
              <a:rPr b="0" lang="fa-IR" sz="2020" spc="-1" strike="noStrike">
                <a:solidFill>
                  <a:srgbClr val="1f2933"/>
                </a:solidFill>
                <a:latin typeface="Vazirmatn"/>
                <a:cs typeface="Vazirmatn"/>
              </a:rPr>
              <a:t>، سقف سخت </a:t>
            </a:r>
            <a:r>
              <a:rPr b="0" lang="fa-IR" sz="2020" spc="-1" strike="noStrike">
                <a:solidFill>
                  <a:srgbClr val="1f2933"/>
                </a:solidFill>
                <a:latin typeface="Vazirmatn"/>
                <a:cs typeface="Vazirmatn"/>
              </a:rPr>
              <a:t>۲۸</a:t>
            </a: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 ثانیه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مجموعه گردآوری‌شده از زیرمجموعه انتخاب‌شده برای آموزش بزرگ‌تر است"/>
          <p:cNvSpPr/>
          <p:nvPr/>
        </p:nvSpPr>
        <p:spPr>
          <a:xfrm>
            <a:off x="685800" y="5905440"/>
            <a:ext cx="1081980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مجموعه گردآوری‌شده از زیرمجموعه انتخاب‌شده برای آموزش بزرگ‌تر است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افزایش داده فارسی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افزایش داده فارسی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رونویسی معلم، پالایش و آموزش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رونویسی معلم، پالایش و آموزش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۱۷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۱۷ از ۳۴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۱. رونویسی معلم"/>
          <p:cNvSpPr/>
          <p:nvPr/>
        </p:nvSpPr>
        <p:spPr>
          <a:xfrm>
            <a:off x="685800" y="1714680"/>
            <a:ext cx="495216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۱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. رونویسی معلم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9" name="" descr=""/>
          <p:cNvPicPr/>
          <p:nvPr/>
        </p:nvPicPr>
        <p:blipFill>
          <a:blip r:embed="rId1"/>
          <a:stretch/>
        </p:blipFill>
        <p:spPr>
          <a:xfrm>
            <a:off x="1262160" y="2143080"/>
            <a:ext cx="3799800" cy="1504080"/>
          </a:xfrm>
          <a:prstGeom prst="rect">
            <a:avLst/>
          </a:prstGeom>
          <a:ln w="0">
            <a:noFill/>
          </a:ln>
        </p:spPr>
      </p:pic>
      <p:sp>
        <p:nvSpPr>
          <p:cNvPr id="180" name="۲. نرمال‌سازی فارسی"/>
          <p:cNvSpPr/>
          <p:nvPr/>
        </p:nvSpPr>
        <p:spPr>
          <a:xfrm>
            <a:off x="6553080" y="1714680"/>
            <a:ext cx="495216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۲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. نرمال‌سازی فارسی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1" name="" descr=""/>
          <p:cNvPicPr/>
          <p:nvPr/>
        </p:nvPicPr>
        <p:blipFill>
          <a:blip r:embed="rId2"/>
          <a:stretch/>
        </p:blipFill>
        <p:spPr>
          <a:xfrm>
            <a:off x="7129440" y="2143080"/>
            <a:ext cx="3799800" cy="1504080"/>
          </a:xfrm>
          <a:prstGeom prst="rect">
            <a:avLst/>
          </a:prstGeom>
          <a:ln w="0">
            <a:noFill/>
          </a:ln>
        </p:spPr>
      </p:pic>
      <p:sp>
        <p:nvSpPr>
          <p:cNvPr id="182" name="۳. اصلاح با Qwen"/>
          <p:cNvSpPr/>
          <p:nvPr/>
        </p:nvSpPr>
        <p:spPr>
          <a:xfrm>
            <a:off x="685800" y="3657600"/>
            <a:ext cx="495216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۳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. اصلاح با 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Qwen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3" name="" descr=""/>
          <p:cNvPicPr/>
          <p:nvPr/>
        </p:nvPicPr>
        <p:blipFill>
          <a:blip r:embed="rId3"/>
          <a:stretch/>
        </p:blipFill>
        <p:spPr>
          <a:xfrm>
            <a:off x="1262160" y="4086360"/>
            <a:ext cx="3799800" cy="1504080"/>
          </a:xfrm>
          <a:prstGeom prst="rect">
            <a:avLst/>
          </a:prstGeom>
          <a:ln w="0">
            <a:noFill/>
          </a:ln>
        </p:spPr>
      </p:pic>
      <p:sp>
        <p:nvSpPr>
          <p:cNvPr id="184" name="۴. پالایش کیفیت"/>
          <p:cNvSpPr/>
          <p:nvPr/>
        </p:nvSpPr>
        <p:spPr>
          <a:xfrm>
            <a:off x="6553080" y="3657600"/>
            <a:ext cx="495216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۴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. پالایش کیفیت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5" name="" descr=""/>
          <p:cNvPicPr/>
          <p:nvPr/>
        </p:nvPicPr>
        <p:blipFill>
          <a:blip r:embed="rId4"/>
          <a:stretch/>
        </p:blipFill>
        <p:spPr>
          <a:xfrm>
            <a:off x="7427880" y="4086360"/>
            <a:ext cx="3202560" cy="1504080"/>
          </a:xfrm>
          <a:prstGeom prst="rect">
            <a:avLst/>
          </a:prstGeom>
          <a:ln w="0">
            <a:noFill/>
          </a:ln>
        </p:spPr>
      </p:pic>
      <p:sp>
        <p:nvSpPr>
          <p:cNvPr id="186" name="افزودن داده پذیرفته‌شده به ترکیب کامل گفتار معمولی، بلند و تخریب‌شده"/>
          <p:cNvSpPr/>
          <p:nvPr/>
        </p:nvSpPr>
        <p:spPr>
          <a:xfrm>
            <a:off x="685800" y="5743440"/>
            <a:ext cx="1081980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70" spc="-1" strike="noStrike">
                <a:solidFill>
                  <a:srgbClr val="153d42"/>
                </a:solidFill>
                <a:latin typeface="Vazirmatn"/>
                <a:cs typeface="Vazirmatn"/>
              </a:rPr>
              <a:t>افزودن داده پذیرفته‌شده به ترکیب کامل گفتار معمولی، بلند و تخریب‌شده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معماری ویسپر کوچک، تنظیمات اصلی و تعداد گام‌های آموزش ثابت‌اند"/>
          <p:cNvSpPr/>
          <p:nvPr/>
        </p:nvSpPr>
        <p:spPr>
          <a:xfrm>
            <a:off x="685800" y="6153120"/>
            <a:ext cx="10819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معماری ویسپر کوچک، تنظیمات اصلی و تعداد گام‌های آموزش ثابت‌اند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افزایش داده فارسی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افزایش داده فارسی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داده پذیرفته‌شده و ملاحظات برچسب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داده پذیرفته‌شده و ملاحظات برچسب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۱۸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۱۸ از ۳۴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۳۹٬۴۵۴"/>
          <p:cNvSpPr/>
          <p:nvPr/>
        </p:nvSpPr>
        <p:spPr>
          <a:xfrm>
            <a:off x="7238880" y="1838160"/>
            <a:ext cx="4266360" cy="11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5850" spc="-1" strike="noStrike">
                <a:solidFill>
                  <a:srgbClr val="1d6f8a"/>
                </a:solidFill>
                <a:latin typeface="Vazirmatn"/>
                <a:cs typeface="Vazirmatn"/>
              </a:rPr>
              <a:t>۳۹٬۴۵۴</a:t>
            </a:r>
            <a:endParaRPr b="0" lang="en-US" sz="5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قطعه پذیرفته‌شده"/>
          <p:cNvSpPr/>
          <p:nvPr/>
        </p:nvSpPr>
        <p:spPr>
          <a:xfrm>
            <a:off x="7238880" y="3057480"/>
            <a:ext cx="4266360" cy="52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قطعه پذیرفته‌شده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۲۱۸٫۵۶۴ ساعت"/>
          <p:cNvSpPr/>
          <p:nvPr/>
        </p:nvSpPr>
        <p:spPr>
          <a:xfrm>
            <a:off x="6667560" y="3772080"/>
            <a:ext cx="4838040" cy="81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230" spc="-1" strike="noStrike">
                <a:solidFill>
                  <a:srgbClr val="153d42"/>
                </a:solidFill>
                <a:latin typeface="Vazirmatn"/>
                <a:cs typeface="Vazirmatn"/>
              </a:rPr>
              <a:t>۲۱۸٫۵۶۴</a:t>
            </a:r>
            <a:r>
              <a:rPr b="1" lang="en-US" sz="3230" spc="-1" strike="noStrike">
                <a:solidFill>
                  <a:srgbClr val="153d42"/>
                </a:solidFill>
                <a:latin typeface="Vazirmatn"/>
                <a:ea typeface="Vazirmatn"/>
              </a:rPr>
              <a:t> ساعت</a:t>
            </a:r>
            <a:endParaRPr b="0" lang="en-US" sz="32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۴۴٬۸۲۰ بررسی‌شده، ۵٬۳۶۶ ردشده&#10;۱۳۶ فایل منبع، تفکیک در سطح کتاب"/>
          <p:cNvSpPr/>
          <p:nvPr/>
        </p:nvSpPr>
        <p:spPr>
          <a:xfrm>
            <a:off x="6667560" y="4838760"/>
            <a:ext cx="4838040" cy="80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۴۴٬۸۲۰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بررسی‌شده،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۵٬۳۶۶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ردشده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۱۳۶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فایل منبع، تفکیک در سطح کتاب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ترجمه بخشی از دستور پالایش"/>
          <p:cNvSpPr/>
          <p:nvPr/>
        </p:nvSpPr>
        <p:spPr>
          <a:xfrm>
            <a:off x="685800" y="1952640"/>
            <a:ext cx="529524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52606d"/>
                </a:solidFill>
                <a:latin typeface="Vazirmatn"/>
                <a:cs typeface="Vazirmatn"/>
              </a:rPr>
              <a:t>ترجمه بخشی از دستور پالایش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«همه نشانه‌های عددی را دقیقاً&#10;با همان رقم‌ها، علامت‌ها،&#10;جداکننده‌ها و قالب حفظ کن.»"/>
          <p:cNvSpPr/>
          <p:nvPr/>
        </p:nvSpPr>
        <p:spPr>
          <a:xfrm>
            <a:off x="685800" y="2657520"/>
            <a:ext cx="5295240" cy="164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en-US" sz="2250" spc="-1" strike="noStrike">
                <a:solidFill>
                  <a:srgbClr val="153d42"/>
                </a:solidFill>
                <a:latin typeface="Vazirmatn"/>
                <a:ea typeface="Vazirmatn"/>
              </a:rPr>
              <a:t>«همه نشانه‌های عددی را دقیقاً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1" lang="fa-IR" sz="2250" spc="-1" strike="noStrike">
                <a:solidFill>
                  <a:srgbClr val="153d42"/>
                </a:solidFill>
                <a:latin typeface="Vazirmatn"/>
                <a:cs typeface="Vazirmatn"/>
              </a:rPr>
              <a:t>با همان رقم‌ها، علامت‌ها،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1" lang="fa-IR" sz="2250" spc="-1" strike="noStrike">
                <a:solidFill>
                  <a:srgbClr val="153d42"/>
                </a:solidFill>
                <a:latin typeface="Vazirmatn"/>
                <a:cs typeface="Vazirmatn"/>
              </a:rPr>
              <a:t>جداکننده‌ها و قالب حفظ کن.»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Qwen فقط متن و بافت را دریافت می‌کند&#10;رد موارد نامطمئن یا تغییرات بیش از حد&#10;حفظ متن خام در کنار نسخه اصلاح‌شده"/>
          <p:cNvSpPr/>
          <p:nvPr/>
        </p:nvSpPr>
        <p:spPr>
          <a:xfrm>
            <a:off x="685800" y="4543560"/>
            <a:ext cx="5295240" cy="11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Qwen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فقط متن و بافت را دریافت می‌کند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رد موارد نامطمئن یا تغییرات بیش از حد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حفظ متن خام در کنار نسخه اصلاح‌شده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ممیزی انسانی کمّی برای دقت رونویسی انجام نشده است. ۴۰ شکست عملیاتی جداگانه ثبت شده‌اند"/>
          <p:cNvSpPr/>
          <p:nvPr/>
        </p:nvSpPr>
        <p:spPr>
          <a:xfrm>
            <a:off x="685800" y="6019920"/>
            <a:ext cx="108198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ممیزی انسانی کمّی برای دقت رونویسی انجام نشده است.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۴۰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شکست عملیاتی جداگانه ثبت شده‌اند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نتیجه افزایش داده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نتیجه افزایش داده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اثر ایران‌صدا به دامنه گفتار وابسته است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اثر ایران‌صدا به دامنه گفتار وابسته است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۱۹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۱۹ از ۳۴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تغییر WER نسبت به مدل چندشرایطی، بر حسب واحد درصد"/>
          <p:cNvSpPr/>
          <p:nvPr/>
        </p:nvSpPr>
        <p:spPr>
          <a:xfrm>
            <a:off x="685800" y="1619280"/>
            <a:ext cx="1081980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950" spc="-1" strike="noStrike">
                <a:solidFill>
                  <a:srgbClr val="153d42"/>
                </a:solidFill>
                <a:latin typeface="Vazirmatn"/>
                <a:cs typeface="Vazirmatn"/>
              </a:rPr>
              <a:t>تغییر </a:t>
            </a:r>
            <a:r>
              <a:rPr b="0" lang="en-US" sz="1950" spc="-1" strike="noStrike">
                <a:solidFill>
                  <a:srgbClr val="153d42"/>
                </a:solidFill>
                <a:latin typeface="Vazirmatn"/>
                <a:ea typeface="Vazirmatn"/>
              </a:rPr>
              <a:t>WER</a:t>
            </a:r>
            <a:r>
              <a:rPr b="0" lang="en-US" sz="1950" spc="-1" strike="noStrike">
                <a:solidFill>
                  <a:srgbClr val="153d42"/>
                </a:solidFill>
                <a:latin typeface="Vazirmatn"/>
                <a:ea typeface="Vazirmatn"/>
              </a:rPr>
              <a:t> نسبت به مدل چندشرایطی، بر حسب واحد درصد</a:t>
            </a:r>
            <a:endParaRPr b="0" lang="en-US" sz="195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05" name="Chart"/>
          <p:cNvGraphicFramePr/>
          <p:nvPr/>
        </p:nvGraphicFramePr>
        <p:xfrm>
          <a:off x="685800" y="2276640"/>
          <a:ext cx="10819800" cy="320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06" name="مقدار منفی یعنی بهبود. تغییر = با ایران‌صدا منهای خط مبنای چندشرایطی"/>
          <p:cNvSpPr/>
          <p:nvPr/>
        </p:nvSpPr>
        <p:spPr>
          <a:xfrm>
            <a:off x="685800" y="5505480"/>
            <a:ext cx="1081980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00" spc="-1" strike="noStrike">
                <a:solidFill>
                  <a:srgbClr val="1d6f8a"/>
                </a:solidFill>
                <a:latin typeface="Vazirmatn"/>
                <a:cs typeface="Vazirmatn"/>
              </a:rPr>
              <a:t>مقدار منفی یعنی بهبود. تغییر = با ایران‌صدا منهای خط مبنای چندشرایطی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تجمیعی: WER از ۱۷٫۸۳٪ به ۱۷٫۲۲٪ و CER از ۷٫۹۳٪ به ۷٫۷۰٪ رسید"/>
          <p:cNvSpPr/>
          <p:nvPr/>
        </p:nvSpPr>
        <p:spPr>
          <a:xfrm>
            <a:off x="685800" y="5952960"/>
            <a:ext cx="1081980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تجمیعی: 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WER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از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۱۷٫۸۳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به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۱۷٫۲۲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و 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CER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از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۷٫۹۳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به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۷٫۷۰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رسید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¹ فقط ۲۴ نمونه. اثر سبک، کانال، کیفیت برچسب و نسبت نمونه‌برداری از هم جدا نشده است"/>
          <p:cNvSpPr/>
          <p:nvPr/>
        </p:nvSpPr>
        <p:spPr>
          <a:xfrm>
            <a:off x="685800" y="6191280"/>
            <a:ext cx="1081980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¹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فقط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۲۴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نمونه. اثر سبک، کانال، کیفیت برچسب و نسبت نمونه‌برداری از هم جدا نشده است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جمع‌بندی شواهد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جمع‌بندی شواهد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نتیجه آزمایش‌های اصلی ویسپر کوچک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نتیجه آزمایش‌های اصلی ویسپر کوچک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۲۰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۲۰ از ۳۴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13" name=""/>
          <p:cNvGraphicFramePr/>
          <p:nvPr/>
        </p:nvGraphicFramePr>
        <p:xfrm>
          <a:off x="685800" y="2143080"/>
          <a:ext cx="10819800" cy="2952000"/>
        </p:xfrm>
        <a:graphic>
          <a:graphicData uri="http://schemas.openxmlformats.org/drawingml/2006/table">
            <a:tbl>
              <a:tblPr/>
              <a:tblGrid>
                <a:gridCol w="2952720"/>
                <a:gridCol w="2952720"/>
                <a:gridCol w="4914720"/>
              </a:tblGrid>
              <a:tr h="5904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WER</a:t>
                      </a:r>
                      <a:r>
                        <a:rPr b="1" lang="en-US" sz="180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 تماس واقعی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WER</a:t>
                      </a:r>
                      <a:r>
                        <a:rPr b="1" lang="en-US" sz="180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 تجمیعی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سامانه ویسپر کوچک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5904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۳۵٫۶۳٪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۲۳٫۲۷٪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معمولی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904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۲۵٫۸۰٪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۱۷٫۸۳٪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چندشرایطی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904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217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۲۵٫۳۷٪</a:t>
                      </a:r>
                      <a:endParaRPr b="0" lang="en-US" sz="21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e8f3f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۱۷٫۶۴٪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همجوشی پیشنهادی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904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۲۶٫۶۶٪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217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۱۷٫۲۲٪</a:t>
                      </a:r>
                      <a:endParaRPr b="0" lang="en-US" sz="21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e8f3f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چندشرایطی و ایران‌صدا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214" name="کمترین خطای تماس واقعی: همجوشی"/>
          <p:cNvSpPr/>
          <p:nvPr/>
        </p:nvSpPr>
        <p:spPr>
          <a:xfrm>
            <a:off x="685800" y="5381640"/>
            <a:ext cx="5190480" cy="52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کمترین خطای تماس واقعی: همجوشی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کمترین خطای تجمیعی: ایران‌صدا"/>
          <p:cNvSpPr/>
          <p:nvPr/>
        </p:nvSpPr>
        <p:spPr>
          <a:xfrm>
            <a:off x="6315120" y="5381640"/>
            <a:ext cx="5190480" cy="52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کمترین خطای تجمیعی: ایران‌صدا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ویسپر متوسط: ۱۴٫۳۶٪ تجمیعی و ۲۱٫۹۹٪ تماس واقعی، با ظرفیت و آموزش متفاوت"/>
          <p:cNvSpPr/>
          <p:nvPr/>
        </p:nvSpPr>
        <p:spPr>
          <a:xfrm>
            <a:off x="685800" y="6067440"/>
            <a:ext cx="1081980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ویسپر متوسط: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۱۴٫۳۶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تجمیعی و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۲۱٫۹۹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تماس واقعی، با ظرفیت و آموزش متفاوت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بحث و ادامه پژوهش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بحث و ادامه پژوهش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محدودیت‌ها و آزمایش‌های بعدی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محدودیت‌ها و آزمایش‌های بعدی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۲۱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۲۱ از ۳۴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۱"/>
          <p:cNvSpPr/>
          <p:nvPr/>
        </p:nvSpPr>
        <p:spPr>
          <a:xfrm>
            <a:off x="10839600" y="2200320"/>
            <a:ext cx="666000" cy="7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670" spc="-1" strike="noStrike">
                <a:solidFill>
                  <a:srgbClr val="1d6f8a"/>
                </a:solidFill>
                <a:latin typeface="Vazirmatn"/>
                <a:cs typeface="Vazirmatn"/>
              </a:rPr>
              <a:t>۱</a:t>
            </a:r>
            <a:endParaRPr b="0" lang="en-US" sz="36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اعتمادپذیری نتایج"/>
          <p:cNvSpPr/>
          <p:nvPr/>
        </p:nvSpPr>
        <p:spPr>
          <a:xfrm>
            <a:off x="7095960" y="2200320"/>
            <a:ext cx="3361680" cy="7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اعتمادپذیری نتایج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اجرای چندبذری و نمونه‌های مشترک دقیق&#10;برآورد فاصله اطمینان برای اختلاف‌های کوچک"/>
          <p:cNvSpPr/>
          <p:nvPr/>
        </p:nvSpPr>
        <p:spPr>
          <a:xfrm>
            <a:off x="685800" y="2200320"/>
            <a:ext cx="596196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اجرای چندبذری و نمونه‌های مشترک دقیق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برآورد فاصله اطمینان برای اختلاف‌های کوچک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"/>
          <p:cNvSpPr/>
          <p:nvPr/>
        </p:nvSpPr>
        <p:spPr>
          <a:xfrm>
            <a:off x="685800" y="325728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۲"/>
          <p:cNvSpPr/>
          <p:nvPr/>
        </p:nvSpPr>
        <p:spPr>
          <a:xfrm>
            <a:off x="10839600" y="3495600"/>
            <a:ext cx="666000" cy="7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670" spc="-1" strike="noStrike">
                <a:solidFill>
                  <a:srgbClr val="1d6f8a"/>
                </a:solidFill>
                <a:latin typeface="Vazirmatn"/>
                <a:cs typeface="Vazirmatn"/>
              </a:rPr>
              <a:t>۲</a:t>
            </a:r>
            <a:endParaRPr b="0" lang="en-US" sz="36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سهم و هزینه همجوشی"/>
          <p:cNvSpPr/>
          <p:nvPr/>
        </p:nvSpPr>
        <p:spPr>
          <a:xfrm>
            <a:off x="7095960" y="3495600"/>
            <a:ext cx="3361680" cy="7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سهم و هزینه همجوشی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کنترل با بودجه آموزش برابر و آزمایش حذفی در Small&#10;اندازه‌گیری زمان اجرا و حافظه"/>
          <p:cNvSpPr/>
          <p:nvPr/>
        </p:nvSpPr>
        <p:spPr>
          <a:xfrm>
            <a:off x="685800" y="3495600"/>
            <a:ext cx="596196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کنترل با بودجه آموزش برابر و آزمایش حذفی در 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Small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اندازه‌گیری زمان اجرا و حافظه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"/>
          <p:cNvSpPr/>
          <p:nvPr/>
        </p:nvSpPr>
        <p:spPr>
          <a:xfrm>
            <a:off x="685800" y="45529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۳"/>
          <p:cNvSpPr/>
          <p:nvPr/>
        </p:nvSpPr>
        <p:spPr>
          <a:xfrm>
            <a:off x="10839600" y="4791240"/>
            <a:ext cx="666000" cy="7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670" spc="-1" strike="noStrike">
                <a:solidFill>
                  <a:srgbClr val="1d6f8a"/>
                </a:solidFill>
                <a:latin typeface="Vazirmatn"/>
                <a:cs typeface="Vazirmatn"/>
              </a:rPr>
              <a:t>۳</a:t>
            </a:r>
            <a:endParaRPr b="0" lang="en-US" sz="36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کیفیت و تناسب داده"/>
          <p:cNvSpPr/>
          <p:nvPr/>
        </p:nvSpPr>
        <p:spPr>
          <a:xfrm>
            <a:off x="7095960" y="4791240"/>
            <a:ext cx="3361680" cy="7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کیفیت و تناسب داده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ممیزی انسانی متن معلم و اصلاح‌های مدل زبانی&#10;آزمایش نسبت داده و گفتار نزدیک به تماس"/>
          <p:cNvSpPr/>
          <p:nvPr/>
        </p:nvSpPr>
        <p:spPr>
          <a:xfrm>
            <a:off x="685800" y="4791240"/>
            <a:ext cx="596196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ممیزی انسانی متن معلم و اصلاح‌های مدل زبانی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آزمایش نسبت داده و گفتار نزدیک به تماس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پوشش محدود شبیه‌ساز و خصوصی‌بودن آزمون تماس واقعی نیز دامنه شواهد را محدود می‌کنند"/>
          <p:cNvSpPr/>
          <p:nvPr/>
        </p:nvSpPr>
        <p:spPr>
          <a:xfrm>
            <a:off x="685800" y="6048360"/>
            <a:ext cx="1081980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پوشش محدود شبیه‌ساز و خصوصی‌بودن آزمون تماس واقعی نیز دامنه شواهد را محدود می‌کنند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پایان ارائه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b8d8db"/>
                </a:solidFill>
                <a:latin typeface="Vazirmatn"/>
                <a:cs typeface="Vazirmatn"/>
              </a:rPr>
              <a:t>پایان ارائه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جمع‌بندی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f7f6f2"/>
                </a:solidFill>
                <a:latin typeface="Vazirmatn"/>
                <a:cs typeface="Vazirmatn"/>
              </a:rPr>
              <a:t>جمع‌بندی</a:t>
            </a:r>
            <a:endParaRPr b="0" lang="en-US" sz="3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4362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۲۲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b8d8db"/>
                </a:solidFill>
                <a:latin typeface="Vazirmatn"/>
                <a:cs typeface="Vazirmatn"/>
              </a:rPr>
              <a:t>۲۲ از ۳۴</a:t>
            </a:r>
            <a:r>
              <a:rPr b="0" lang="en-US" sz="1200" spc="-1" strike="noStrike">
                <a:solidFill>
                  <a:srgbClr val="b8d8db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b8d8db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بیشترین بهبود با آموزش متناسب با کانال"/>
          <p:cNvSpPr/>
          <p:nvPr/>
        </p:nvSpPr>
        <p:spPr>
          <a:xfrm>
            <a:off x="685800" y="1590840"/>
            <a:ext cx="10819800" cy="66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620" spc="-1" strike="noStrike">
                <a:solidFill>
                  <a:srgbClr val="f7f6f2"/>
                </a:solidFill>
                <a:latin typeface="Vazirmatn"/>
                <a:cs typeface="Vazirmatn"/>
              </a:rPr>
              <a:t>بیشترین بهبود با آموزش متناسب با کانال</a:t>
            </a:r>
            <a:endParaRPr b="0" lang="en-US" sz="26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۳۵٫۶۳٪"/>
          <p:cNvSpPr/>
          <p:nvPr/>
        </p:nvSpPr>
        <p:spPr>
          <a:xfrm>
            <a:off x="7896240" y="2467080"/>
            <a:ext cx="3609360" cy="11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5550" spc="-1" strike="noStrike">
                <a:solidFill>
                  <a:srgbClr val="b8d8db"/>
                </a:solidFill>
                <a:latin typeface="Vazirmatn"/>
                <a:cs typeface="Vazirmatn"/>
              </a:rPr>
              <a:t>۳۵٫۶۳٪</a:t>
            </a:r>
            <a:endParaRPr b="0" lang="en-US" sz="5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به"/>
          <p:cNvSpPr/>
          <p:nvPr/>
        </p:nvSpPr>
        <p:spPr>
          <a:xfrm>
            <a:off x="7000920" y="2647800"/>
            <a:ext cx="570960" cy="85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rtl="1">
              <a:lnSpc>
                <a:spcPct val="100000"/>
              </a:lnSpc>
            </a:pPr>
            <a:r>
              <a:rPr b="0" lang="fa-IR" sz="2400" spc="-1" strike="noStrike">
                <a:solidFill>
                  <a:srgbClr val="f7f6f2"/>
                </a:solidFill>
                <a:latin typeface="Vazirmatn"/>
                <a:cs typeface="Vazirmatn"/>
              </a:rPr>
              <a:t>به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۲۵٫۸۰٪"/>
          <p:cNvSpPr/>
          <p:nvPr/>
        </p:nvSpPr>
        <p:spPr>
          <a:xfrm>
            <a:off x="3067200" y="2467080"/>
            <a:ext cx="3609360" cy="11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5550" spc="-1" strike="noStrike">
                <a:solidFill>
                  <a:srgbClr val="f7f6f2"/>
                </a:solidFill>
                <a:latin typeface="Vazirmatn"/>
                <a:cs typeface="Vazirmatn"/>
              </a:rPr>
              <a:t>۲۵٫۸۰٪</a:t>
            </a:r>
            <a:endParaRPr b="0" lang="en-US" sz="5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نرخ خطای واژه در تماس‌های واقعی مستقل"/>
          <p:cNvSpPr/>
          <p:nvPr/>
        </p:nvSpPr>
        <p:spPr>
          <a:xfrm>
            <a:off x="3067200" y="3724200"/>
            <a:ext cx="8438400" cy="52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2020" spc="-1" strike="noStrike">
                <a:solidFill>
                  <a:srgbClr val="b8d8db"/>
                </a:solidFill>
                <a:latin typeface="Vazirmatn"/>
                <a:cs typeface="Vazirmatn"/>
              </a:rPr>
              <a:t>نرخ خطای واژه در تماس‌های واقعی مستقل</a:t>
            </a:r>
            <a:endParaRPr b="0" lang="en-US" sz="20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"/>
          <p:cNvSpPr/>
          <p:nvPr/>
        </p:nvSpPr>
        <p:spPr>
          <a:xfrm>
            <a:off x="3066840" y="4514760"/>
            <a:ext cx="8439120" cy="360"/>
          </a:xfrm>
          <a:prstGeom prst="line">
            <a:avLst/>
          </a:prstGeom>
          <a:ln w="9525">
            <a:solidFill>
              <a:srgbClr val="4362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همجوشی"/>
          <p:cNvSpPr/>
          <p:nvPr/>
        </p:nvSpPr>
        <p:spPr>
          <a:xfrm>
            <a:off x="8153280" y="4676760"/>
            <a:ext cx="3351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00" spc="-1" strike="noStrike">
                <a:solidFill>
                  <a:srgbClr val="f7f6f2"/>
                </a:solidFill>
                <a:latin typeface="Vazirmatn"/>
                <a:cs typeface="Vazirmatn"/>
              </a:rPr>
              <a:t>همجوشی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۲۵٫۳۷٪ خطای تماس واقعی&#10;بهبود عددی کوچک"/>
          <p:cNvSpPr/>
          <p:nvPr/>
        </p:nvSpPr>
        <p:spPr>
          <a:xfrm>
            <a:off x="8153280" y="5238720"/>
            <a:ext cx="3351960" cy="78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b8d8db"/>
                </a:solidFill>
                <a:latin typeface="Vazirmatn"/>
                <a:cs typeface="Vazirmatn"/>
              </a:rPr>
              <a:t>۲۵٫۳۷٪</a:t>
            </a:r>
            <a:r>
              <a:rPr b="0" lang="en-US" sz="1800" spc="-1" strike="noStrike">
                <a:solidFill>
                  <a:srgbClr val="b8d8db"/>
                </a:solidFill>
                <a:latin typeface="Vazirmatn"/>
                <a:ea typeface="Vazirmatn"/>
              </a:rPr>
              <a:t> خطای تماس واقعی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b8d8db"/>
                </a:solidFill>
                <a:latin typeface="Vazirmatn"/>
                <a:cs typeface="Vazirmatn"/>
              </a:rPr>
              <a:t>بهبود عددی کوچک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داده کتاب صوتی"/>
          <p:cNvSpPr/>
          <p:nvPr/>
        </p:nvSpPr>
        <p:spPr>
          <a:xfrm>
            <a:off x="3581280" y="4676760"/>
            <a:ext cx="39045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00" spc="-1" strike="noStrike">
                <a:solidFill>
                  <a:srgbClr val="f7f6f2"/>
                </a:solidFill>
                <a:latin typeface="Vazirmatn"/>
                <a:cs typeface="Vazirmatn"/>
              </a:rPr>
              <a:t>داده کتاب صوتی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۱۷٫۲۲٪ خطای تجمیعی&#10;سود وابسته به دامنه"/>
          <p:cNvSpPr/>
          <p:nvPr/>
        </p:nvSpPr>
        <p:spPr>
          <a:xfrm>
            <a:off x="3581280" y="5238720"/>
            <a:ext cx="3904560" cy="78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b8d8db"/>
                </a:solidFill>
                <a:latin typeface="Vazirmatn"/>
                <a:cs typeface="Vazirmatn"/>
              </a:rPr>
              <a:t>۱۷٫۲۲٪</a:t>
            </a:r>
            <a:r>
              <a:rPr b="0" lang="en-US" sz="1800" spc="-1" strike="noStrike">
                <a:solidFill>
                  <a:srgbClr val="b8d8db"/>
                </a:solidFill>
                <a:latin typeface="Vazirmatn"/>
                <a:ea typeface="Vazirmatn"/>
              </a:rPr>
              <a:t> خطای تجمیعی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b8d8db"/>
                </a:solidFill>
                <a:latin typeface="Vazirmatn"/>
                <a:cs typeface="Vazirmatn"/>
              </a:rPr>
              <a:t>سود وابسته به دامنه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سپاسگزارم&#10;پرسش‌ها"/>
          <p:cNvSpPr/>
          <p:nvPr/>
        </p:nvSpPr>
        <p:spPr>
          <a:xfrm>
            <a:off x="685800" y="5067360"/>
            <a:ext cx="2037600" cy="90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1" lang="fa-IR" sz="2250" spc="-1" strike="noStrike">
                <a:solidFill>
                  <a:srgbClr val="f7f6f2"/>
                </a:solidFill>
                <a:latin typeface="Vazirmatn"/>
                <a:cs typeface="Vazirmatn"/>
              </a:rPr>
              <a:t>سپاسگزارم</a:t>
            </a:r>
            <a:endParaRPr b="0" lang="en-US" sz="2250" spc="-1" strike="noStrike">
              <a:solidFill>
                <a:srgbClr val="ffffff"/>
              </a:solidFill>
              <a:latin typeface="Arial"/>
            </a:endParaRPr>
          </a:p>
          <a:p>
            <a:pPr rtl="1">
              <a:lnSpc>
                <a:spcPct val="100000"/>
              </a:lnSpc>
            </a:pPr>
            <a:r>
              <a:rPr b="1" lang="fa-IR" sz="2250" spc="-1" strike="noStrike">
                <a:solidFill>
                  <a:srgbClr val="f7f6f2"/>
                </a:solidFill>
                <a:latin typeface="Vazirmatn"/>
                <a:cs typeface="Vazirmatn"/>
              </a:rPr>
              <a:t>پرسش‌ها</a:t>
            </a:r>
            <a:endParaRPr b="0" lang="en-US" sz="2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پیوست پژوهش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b8d8db"/>
                </a:solidFill>
                <a:latin typeface="Vazirmatn"/>
                <a:cs typeface="Vazirmatn"/>
              </a:rPr>
              <a:t>پیوست پژوهش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endParaRPr b="0" lang="en-US" sz="3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4362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۲۳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b8d8db"/>
                </a:solidFill>
                <a:latin typeface="Vazirmatn"/>
                <a:cs typeface="Vazirmatn"/>
              </a:rPr>
              <a:t>۲۳ از ۳۴</a:t>
            </a:r>
            <a:r>
              <a:rPr b="0" lang="en-US" sz="1200" spc="-1" strike="noStrike">
                <a:solidFill>
                  <a:srgbClr val="b8d8db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b8d8db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مطالب تکمیلی"/>
          <p:cNvSpPr/>
          <p:nvPr/>
        </p:nvSpPr>
        <p:spPr>
          <a:xfrm>
            <a:off x="685800" y="2171880"/>
            <a:ext cx="10819800" cy="11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5250" spc="-1" strike="noStrike">
                <a:solidFill>
                  <a:srgbClr val="f7f6f2"/>
                </a:solidFill>
                <a:latin typeface="Vazirmatn"/>
                <a:cs typeface="Vazirmatn"/>
              </a:rPr>
              <a:t>مطالب تکمیلی</a:t>
            </a:r>
            <a:endParaRPr b="0" lang="en-US" sz="5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جزئیات داده‌ها و نتایج پژوهش"/>
          <p:cNvSpPr/>
          <p:nvPr/>
        </p:nvSpPr>
        <p:spPr>
          <a:xfrm>
            <a:off x="685800" y="3495600"/>
            <a:ext cx="1081980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2470" spc="-1" strike="noStrike">
                <a:solidFill>
                  <a:srgbClr val="b8d8db"/>
                </a:solidFill>
                <a:latin typeface="Vazirmatn"/>
                <a:cs typeface="Vazirmatn"/>
              </a:rPr>
              <a:t>جزئیات داده‌ها و نتایج پژوهش</a:t>
            </a:r>
            <a:endParaRPr b="0" lang="en-US" sz="247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مطالب تکمیلی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اندازه پیکره‌ها و تنظیمات خط مبنا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اندازه پیکره‌ها و تنظیمات خط مبنا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۲۴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۳۰ از ۳۴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58" name=""/>
          <p:cNvGraphicFramePr/>
          <p:nvPr/>
        </p:nvGraphicFramePr>
        <p:xfrm>
          <a:off x="685800" y="1809720"/>
          <a:ext cx="10819440" cy="2418840"/>
        </p:xfrm>
        <a:graphic>
          <a:graphicData uri="http://schemas.openxmlformats.org/drawingml/2006/table">
            <a:tbl>
              <a:tblPr/>
              <a:tblGrid>
                <a:gridCol w="3809880"/>
                <a:gridCol w="1857240"/>
                <a:gridCol w="1857240"/>
                <a:gridCol w="3295440"/>
              </a:tblGrid>
              <a:tr h="53316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نقش در آموزش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اعتبارسنجی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آموزش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پیکره پایه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62856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گفتار عمومی و تولید تخریب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۱۰۰۰۶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۲۹۹۴۳۰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کامن‌وویس فارسی </a:t>
                      </a: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62856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گفتار بداهه فارسی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۶۰۴۴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۶۰۰۶۷۲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فارس‌اسپان (محدود)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62856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تنوع دامنه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۳۶۲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۳۰۱۹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فلورز فارسی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259" name="ویسپر کوچک تک‌جریانه"/>
          <p:cNvSpPr/>
          <p:nvPr/>
        </p:nvSpPr>
        <p:spPr>
          <a:xfrm>
            <a:off x="7048440" y="4476600"/>
            <a:ext cx="445716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53d42"/>
                </a:solidFill>
                <a:latin typeface="Vazirmatn"/>
                <a:cs typeface="Vazirmatn"/>
              </a:rPr>
              <a:t>ویسپر کوچک تک‌جریانه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یک دوره، نرخ یادگیری ⁦1e-5⁩&#10;دسته ۴ و انباشت ۸ گام: ۳۲ نمونه"/>
          <p:cNvSpPr/>
          <p:nvPr/>
        </p:nvSpPr>
        <p:spPr>
          <a:xfrm>
            <a:off x="7048440" y="4981680"/>
            <a:ext cx="445716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یک دوره، نرخ یادگیری ⁦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1e-5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⁩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دسته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۴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و انباشت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۸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گام: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۳۲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نمونه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جزئیات آزمون AGFarsdat"/>
          <p:cNvSpPr/>
          <p:nvPr/>
        </p:nvSpPr>
        <p:spPr>
          <a:xfrm>
            <a:off x="685800" y="4476600"/>
            <a:ext cx="571428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53d42"/>
                </a:solidFill>
                <a:latin typeface="Vazirmatn"/>
                <a:cs typeface="Vazirmatn"/>
              </a:rPr>
              <a:t>جزئیات آزمون </a:t>
            </a:r>
            <a:r>
              <a:rPr b="1" lang="en-US" sz="2020" spc="-1" strike="noStrike">
                <a:solidFill>
                  <a:srgbClr val="153d42"/>
                </a:solidFill>
                <a:latin typeface="Vazirmatn"/>
                <a:ea typeface="Vazirmatn"/>
              </a:rPr>
              <a:t>AGFarsdat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۵۸۵ گوینده و ۴۹٫۹ ساعت&#10;صوت منبع: تک‌کاناله، ۸ کیلوهرتز، ۱۶ بیت"/>
          <p:cNvSpPr/>
          <p:nvPr/>
        </p:nvSpPr>
        <p:spPr>
          <a:xfrm>
            <a:off x="685800" y="4981680"/>
            <a:ext cx="571428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۵۸۵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گوینده و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۴۹٫۹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ساعت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صوت منبع: تک‌کاناله،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۸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کیلوهرتز،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۱۶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بیت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تعدادها مربوط به پیکره پایه‌اند. گونه‌های بلند، تخریب‌شده و ایران‌صدا در این جدول نیستند"/>
          <p:cNvSpPr/>
          <p:nvPr/>
        </p:nvSpPr>
        <p:spPr>
          <a:xfrm>
            <a:off x="685800" y="6019920"/>
            <a:ext cx="108198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تعدادها مربوط به پیکره پایه‌اند. گونه‌های بلند، تخریب‌شده و ایران‌صدا در این جدول نیستند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مطالب تکمیلی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نرخ خطای واژه به تفکیک مجموعه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نرخ خطای واژه به تفکیک مجموعه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۲۵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۳۱ از ۳۴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68" name=""/>
          <p:cNvGraphicFramePr/>
          <p:nvPr/>
        </p:nvGraphicFramePr>
        <p:xfrm>
          <a:off x="685800" y="1752480"/>
          <a:ext cx="10819440" cy="4344120"/>
        </p:xfrm>
        <a:graphic>
          <a:graphicData uri="http://schemas.openxmlformats.org/drawingml/2006/table">
            <a:tbl>
              <a:tblPr/>
              <a:tblGrid>
                <a:gridCol w="1476360"/>
                <a:gridCol w="1523880"/>
                <a:gridCol w="1333440"/>
                <a:gridCol w="1476360"/>
                <a:gridCol w="1523880"/>
                <a:gridCol w="3485880"/>
              </a:tblGrid>
              <a:tr h="6667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پیکره گفتار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فارسی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پرشین‌اسپیچ</a:t>
                      </a: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¹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فلورز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کامن‌وویس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۲۵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AGFarsdat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سامانه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381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۳۰٫۱۷٪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۳۴٫۵۳٪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۲۱٫۰۵٪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۱۱٫۵۲٪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۳۵٫۶۳٪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معمولی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381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۳۰٫۴۷٪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۳۳٫۵۷٪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۱۹٫۲۶٪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۷٫۸۶٪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۳۲٫۶۷٪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داده‌افزایی نویزی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381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۳۰٫۵۰٪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۳۱٫۶۵٪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۲۰٫۲۳٪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۷٫۲۵٪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۳۰٫۰۱٪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pMCT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381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۳۰٫۹۰٪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۳۵٫۲۵٪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۱۹٫۸۲٪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۷٫۸۴٪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۲۵٫۸۰٪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چندشرایطی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381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۳۳٫۸۲٪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۳۱٫۸۱٪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۱۹٫۶۷٪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۷٫۵۳٪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۲۵٫۳۷٪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همجوشی دوجریانه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381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۳۲٫۳۲٪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۳۵٫۰۹٪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۱۹٫۷۳٪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۷٫۶۳٪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۲۵٫۸۴٪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پل تطبیقی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381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۳۱٫۱۷٪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۳۱٫۶۵٪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۱۷٫۱۴٪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۳٫۸۴٪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۲۱٫۹۹٪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ویسپر متوسط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381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۲۵٫۸۷٪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۲۶٫۸۶٪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۱۳٫۷۸٪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۸٫۱۹٪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۲۶٫۶۶٪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چندشرایطی و ایران‌صدا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269" name="همه اعداد WER و درصد هستند. ¹ فقط ۲۴ نمونه. تعداد واجدشرایط پیکره گفتار فارسی تغییر می‌کند"/>
          <p:cNvSpPr/>
          <p:nvPr/>
        </p:nvSpPr>
        <p:spPr>
          <a:xfrm>
            <a:off x="685800" y="6076800"/>
            <a:ext cx="1081980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همه اعداد 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WER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و درصد هستند. 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¹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فقط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۲۴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نمونه. تعداد واجدشرایط پیکره گفتار فارسی تغییر می‌کند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مطالب تکمیلی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آموزش چندشرایطی در فست کانفورمر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آموزش چندشرایطی در فست کانفورمر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۲۶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۳۲ از ۳۴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74" name=""/>
          <p:cNvGraphicFramePr/>
          <p:nvPr/>
        </p:nvGraphicFramePr>
        <p:xfrm>
          <a:off x="685800" y="1809720"/>
          <a:ext cx="10819440" cy="3772440"/>
        </p:xfrm>
        <a:graphic>
          <a:graphicData uri="http://schemas.openxmlformats.org/drawingml/2006/table">
            <a:tbl>
              <a:tblPr/>
              <a:tblGrid>
                <a:gridCol w="1666800"/>
                <a:gridCol w="1666800"/>
                <a:gridCol w="1666800"/>
                <a:gridCol w="1666800"/>
                <a:gridCol w="4152600"/>
              </a:tblGrid>
              <a:tr h="66672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CER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چندشرایطی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WER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چندشرایطی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CER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معمولی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WER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معمولی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مجموعه آزمون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5047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۱۴٫۴۵٪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۲۱٫۸۱٪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۱۴٫۷۹٪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۲۲٫۷۳٪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تجمیعی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047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۱۴٫۰۹٪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۳۰٫۴۸٪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۱۴٫۸۱٪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۳۱٫۰۷٪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7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AGFarsdat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047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۱۶٫۱۰٪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۱۰٫۰۱٪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۱۶٫۴۶٪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۱۱٫۶۸٪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کامن‌وویس فارسی </a:t>
                      </a: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047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۱۰٫۲۲٪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۲۹٫۴۰٪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۹٫۹۴٪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۲۹٫۲۲٪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فلورز فارسی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047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۱۳٫۵۶٪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۳۱٫۴۱٪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۱۳٫۵۰٪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۳۰٫۷۰٪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پرشین‌اسپیچ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047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۱۲٫۶۸٪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۳۳٫۵۹٪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۱۲٫۲۲٪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۳۳٫۶۹٪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پیکره گفتار فارسی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275" name="کاهش WER تجمیعی: ۰٫۹۲ واحد درصد، حدود ۴٪ کاهش نسبی"/>
          <p:cNvSpPr/>
          <p:nvPr/>
        </p:nvSpPr>
        <p:spPr>
          <a:xfrm>
            <a:off x="685800" y="5638680"/>
            <a:ext cx="1081980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d6f8a"/>
                </a:solidFill>
                <a:latin typeface="Vazirmatn"/>
                <a:cs typeface="Vazirmatn"/>
              </a:rPr>
              <a:t>کاهش </a:t>
            </a:r>
            <a:r>
              <a:rPr b="1" lang="en-US" sz="2020" spc="-1" strike="noStrike">
                <a:solidFill>
                  <a:srgbClr val="1d6f8a"/>
                </a:solidFill>
                <a:latin typeface="Vazirmatn"/>
                <a:ea typeface="Vazirmatn"/>
              </a:rPr>
              <a:t>WER</a:t>
            </a:r>
            <a:r>
              <a:rPr b="1" lang="en-US" sz="2020" spc="-1" strike="noStrike">
                <a:solidFill>
                  <a:srgbClr val="1d6f8a"/>
                </a:solidFill>
                <a:latin typeface="Vazirmatn"/>
                <a:ea typeface="Vazirmatn"/>
              </a:rPr>
              <a:t> تجمیعی: </a:t>
            </a:r>
            <a:r>
              <a:rPr b="1" lang="fa-IR" sz="2020" spc="-1" strike="noStrike">
                <a:solidFill>
                  <a:srgbClr val="1d6f8a"/>
                </a:solidFill>
                <a:latin typeface="Vazirmatn"/>
                <a:cs typeface="Vazirmatn"/>
              </a:rPr>
              <a:t>۰٫۹۲</a:t>
            </a:r>
            <a:r>
              <a:rPr b="1" lang="en-US" sz="2020" spc="-1" strike="noStrike">
                <a:solidFill>
                  <a:srgbClr val="1d6f8a"/>
                </a:solidFill>
                <a:latin typeface="Vazirmatn"/>
                <a:ea typeface="Vazirmatn"/>
              </a:rPr>
              <a:t> واحد درصد، حدود </a:t>
            </a:r>
            <a:r>
              <a:rPr b="1" lang="fa-IR" sz="2020" spc="-1" strike="noStrike">
                <a:solidFill>
                  <a:srgbClr val="1d6f8a"/>
                </a:solidFill>
                <a:latin typeface="Vazirmatn"/>
                <a:cs typeface="Vazirmatn"/>
              </a:rPr>
              <a:t>۴</a:t>
            </a:r>
            <a:r>
              <a:rPr b="1" lang="fa-IR" sz="2020" spc="-1" strike="noStrike">
                <a:solidFill>
                  <a:srgbClr val="1d6f8a"/>
                </a:solidFill>
                <a:latin typeface="Vazirmatn"/>
                <a:cs typeface="Vazirmatn"/>
              </a:rPr>
              <a:t>٪ کاهش نسبی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مقایسه درون فست کانفورمر است. تفاوت پیش‌آموزش و آموزش، انتساب فاصله با ویسپر را محدود می‌کند"/>
          <p:cNvSpPr/>
          <p:nvPr/>
        </p:nvSpPr>
        <p:spPr>
          <a:xfrm>
            <a:off x="685800" y="6105600"/>
            <a:ext cx="1081980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مقایسه درون فست کانفورمر است. تفاوت پیش‌آموزش و آموزش، انتساب فاصله با ویسپر را محدود می‌کند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مطالب تکمیلی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آزمایش کامل مؤلفه‌ها در ویسپر بسیار کوچک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آزمایش کامل مؤلفه‌ها در ویسپر بسیار کوچک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۲۷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۳۳ از ۳۴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81" name=""/>
          <p:cNvGraphicFramePr/>
          <p:nvPr/>
        </p:nvGraphicFramePr>
        <p:xfrm>
          <a:off x="685800" y="1657440"/>
          <a:ext cx="10819440" cy="4658040"/>
        </p:xfrm>
        <a:graphic>
          <a:graphicData uri="http://schemas.openxmlformats.org/drawingml/2006/table">
            <a:tbl>
              <a:tblPr/>
              <a:tblGrid>
                <a:gridCol w="1666800"/>
                <a:gridCol w="1666800"/>
                <a:gridCol w="1666800"/>
                <a:gridCol w="1666800"/>
                <a:gridCol w="4152600"/>
              </a:tblGrid>
              <a:tr h="66672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AGFarsdat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CER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AGFarsdat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WER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Common Voice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CER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Common Voice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WER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پیکربندی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۳۵٫۰۴٪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۷۶٫۸۵٪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۳۸٫۰۳٪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۷۴٫۹۲٪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خط مبنای چندشرایطی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۲۸٫۴۲٪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۶۵٫۸۸٪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۳۲٫۸۷٪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۶۲٫۳۵٪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همجوشی فقط دروازه‌ای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۲۸٫۳۵٪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۶۵٫۴۸٪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۳۱٫۹۰٪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۶۰٫۲۶٪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توجه متقاطع باقیمانده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۳۰٫۳۹٪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۶۹٫۲۳٪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۳۳٫۲۱٪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۶۴٫۱۰٪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فقط نمای اصلی</a:t>
                      </a: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¹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۳۰٫۷۳٪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۶۹٫۶۹٪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۳۳٫۰۵٪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۶۳٫۸۱٪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فقط نمای بهسازی‌شده</a:t>
                      </a: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¹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۲۷٫۰۲٪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۶۳٫۵۰٪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۳۰٫۵۷٪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۵۷٫۸۲٪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همجوشی دوسویه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۳۴٫۸۳٪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۷۶٫۶۳٪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۳۷٫۸۱٪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۷۴٫۴۸٪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پل: فقط </a:t>
                      </a: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PQ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۳۵٫۵۳٪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۷۷٫۶۷٪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۳۸٫۷۹٪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۷۵٫۹۰٪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پل: فقط صوت بهسازی‌شده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۳۴٫۹۴٪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۷۶٫۸۱٪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۳۷٫۸۱٪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۷۴٫۴۰٪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پل: </a:t>
                      </a: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PQ + RI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282" name="¹ حذف مسیر در استنتاج. آموزش فقط با کامن‌وویس است. بودجه آموزش و ظرفیت گونه‌ها برابر نیست"/>
          <p:cNvSpPr/>
          <p:nvPr/>
        </p:nvSpPr>
        <p:spPr>
          <a:xfrm>
            <a:off x="685800" y="6172200"/>
            <a:ext cx="10819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¹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حذف مسیر در استنتاج. آموزش فقط با کامن‌وویس است. بودجه آموزش و ظرفیت گونه‌ها برابر نیست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مطالب تکمیلی"/>
          <p:cNvSpPr/>
          <p:nvPr/>
        </p:nvSpPr>
        <p:spPr>
          <a:xfrm>
            <a:off x="4191120" y="285840"/>
            <a:ext cx="7314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مقایسه مدل‌ها روی زیرمجموعه مشترک"/>
          <p:cNvSpPr/>
          <p:nvPr/>
        </p:nvSpPr>
        <p:spPr>
          <a:xfrm>
            <a:off x="685800" y="714240"/>
            <a:ext cx="1081980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مقایسه مدل‌ها روی زیرمجموعه مشترک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۲۸ از ۲۸"/>
          <p:cNvSpPr/>
          <p:nvPr/>
        </p:nvSpPr>
        <p:spPr>
          <a:xfrm>
            <a:off x="685800" y="6486480"/>
            <a:ext cx="951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۳۴ از ۳۴</a:t>
            </a:r>
            <a:r>
              <a:rPr b="0" lang="en-US" sz="1200" spc="-1" strike="noStrike">
                <a:solidFill>
                  <a:srgbClr val="7b8794"/>
                </a:solidFill>
                <a:latin typeface="Vazirmatn"/>
                <a:ea typeface="Vazirmatn"/>
              </a:rPr>
              <a:t/>
            </a: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/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87" name=""/>
          <p:cNvGraphicFramePr/>
          <p:nvPr/>
        </p:nvGraphicFramePr>
        <p:xfrm>
          <a:off x="685800" y="1657440"/>
          <a:ext cx="10819080" cy="4658040"/>
        </p:xfrm>
        <a:graphic>
          <a:graphicData uri="http://schemas.openxmlformats.org/drawingml/2006/table">
            <a:tbl>
              <a:tblPr/>
              <a:tblGrid>
                <a:gridCol w="2000160"/>
                <a:gridCol w="1761840"/>
                <a:gridCol w="1761840"/>
                <a:gridCol w="5295600"/>
              </a:tblGrid>
              <a:tr h="66672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WER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تماس واقعی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CER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تجمیعی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WER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تجمیعی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مدل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۲۲٫۹۴٪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۵٫۱۴٪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۱۶٫۴۴٪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Chirp 3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۴۸٫۶۲٪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۶٫۹۴٪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۱۸٫۵۵٪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GPT-4o Transcribe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۲۶٫۶۱٪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۱۰٫۷۲٪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۲۰٫۷۲٪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کوچک: چندشرایطی و ایران‌صدا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۲۵٫۳۱٪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۱۰٫۹۷٪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۲۱٫۷۲٪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همجوشی دوجریانه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۲۴٫۷۷٪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۱۱٫۲۴٪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۲۳٫۱۳٪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ویسپر متوسط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۴۵٫۸۷٪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۱۰٫۷۵٪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۲۶٫۹۲٪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Voxtral Small 24B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۶۳٫۳۰٪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۱۵٫۶۸٪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۳۶٫۶۶٪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Qwen3-ASR 1.7B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۶۷٫۸۹٪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۲۳٫۶۸٪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۴۰٫۸۸٪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Grok STT 1.0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۱۰۴٫۵۹٪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۸۰٫۸۶٪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۹۸٫۷۰٪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Nemotron 3.5 ASR 0.6B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288" name="۱۰۰ نمونه ثابت، ۲۰ نمونه از هر مجموعه. این مقایسه جایگزین ارزیابی کامل نیست"/>
          <p:cNvSpPr/>
          <p:nvPr/>
        </p:nvSpPr>
        <p:spPr>
          <a:xfrm>
            <a:off x="685800" y="6172200"/>
            <a:ext cx="10819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۱۰۰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نمونه ثابت،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۲۰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نمونه از هر مجموعه. این مقایسه جایگزین ارزیابی کامل نیست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مطالب تکمیلی">
            <a:extLst xmlns:a="http://schemas.openxmlformats.org/drawingml/2006/main">
              <a:ext uri="{FF2B5EF4-FFF2-40B4-BE49-F238E27FC236}">
                <a16:creationId xmlns:a16="http://schemas.microsoft.com/office/drawing/2014/main" id="{71C33A9F-519C-4344-B54F-877D50F7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85750"/>
            <a:ext cx="731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350" b="1">
                <a:solidFill>
                  <a:srgbClr val="1D6F8A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350" b="1" lang="fa-IR">
                <a:solidFill>
                  <a:srgbClr val="1D6F8A"/>
                </a:solidFill>
                <a:latin typeface="Vazirmatn"/>
                <a:ea typeface="Vazirmatn"/>
                <a:cs typeface="Vazirmatn"/>
              </a:defRPr>
            </a:pPr>
            <a:r>
              <a:rPr sz="1350" b="1" lang="fa-IR">
                <a:solidFill>
                  <a:srgbClr val="1D6F8A"/>
                </a:solidFill>
                <a:latin typeface="Vazirmatn"/>
                <a:ea typeface="Vazirmatn"/>
                <a:cs typeface="Vazirmatn"/>
              </a:rPr>
              <a:t>مطالب تکمیلی</a:t>
            </a:r>
          </a:p>
        </p:txBody>
      </p:sp>
      <p:sp>
        <p:nvSpPr>
          <p:cNvPr id="2" name="توزیع نمایه‌های تخریب مخابراتی">
            <a:extLst xmlns:a="http://schemas.openxmlformats.org/drawingml/2006/main">
              <a:ext uri="{FF2B5EF4-FFF2-40B4-BE49-F238E27FC236}">
                <a16:creationId xmlns:a16="http://schemas.microsoft.com/office/drawing/2014/main" id="{0A301A77-4747-4896-B3F1-8282ED219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315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315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pPr>
            <a:r>
              <a:rPr sz="315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rPr>
              <a:t>توزیع نمایه‌های تخریب مخابراتی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0151DD-A3D5-41F7-91C1-215FE2FD9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DCDD"/>
            </a:solidFill>
          </a:ln>
        </p:spPr>
      </p:sp>
      <p:sp>
        <p:nvSpPr>
          <p:cNvPr id="4" name="pagination">
            <a:extLst xmlns:a="http://schemas.openxmlformats.org/drawingml/2006/main">
              <a:ext uri="{FF2B5EF4-FFF2-40B4-BE49-F238E27FC236}">
                <a16:creationId xmlns:a16="http://schemas.microsoft.com/office/drawing/2014/main" id="{101EF3EF-B50C-4F51-959B-204344711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7B8794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l" rtl="1">
              <a:defRPr sz="1200" b="0" lang="fa-IR">
                <a:solidFill>
                  <a:srgbClr val="7B8794"/>
                </a:solidFill>
                <a:latin typeface="Vazirmatn"/>
                <a:ea typeface="Vazirmatn"/>
                <a:cs typeface="Vazirmatn"/>
              </a:defRPr>
            </a:pPr>
            <a:r>
              <a:rPr sz="1200" b="0" lang="fa-IR">
                <a:solidFill>
                  <a:srgbClr val="7B8794"/>
                </a:solidFill>
                <a:latin typeface="Vazirmatn"/>
                <a:ea typeface="Vazirmatn"/>
                <a:cs typeface="Vazirmatn"/>
              </a:rPr>
              <a:t>۲۴ از ۳۴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7629F-58BE-4581-AB9F-D0F9947B127A}"/>
              </a:ext>
            </a:extLst>
          </p:cNvPr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2838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47950"/>
                <a:gridCol w="2647950"/>
                <a:gridCol w="1905000"/>
                <a:gridCol w="3619500"/>
              </a:tblGrid>
              <a:tr h="552450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احتمال اختلال شبکه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T w="7620">
                      <a:solidFill>
                        <a:srgbClr val="D5DCDD"/>
                      </a:solidFill>
                      <a:prstDash val="solid"/>
                    </a:lnT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احتمال افزودن نویز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T w="7620">
                      <a:solidFill>
                        <a:srgbClr val="D5DCDD"/>
                      </a:solidFill>
                      <a:prstDash val="solid"/>
                    </a:lnT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سهم انتخاب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T w="7620">
                      <a:solidFill>
                        <a:srgbClr val="D5DCDD"/>
                      </a:solidFill>
                      <a:prstDash val="solid"/>
                    </a:lnT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1"/>
                      <a:r>
                        <a:rPr sz="172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نمایه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T w="7620">
                      <a:solidFill>
                        <a:srgbClr val="D5DCDD"/>
                      </a:solidFill>
                      <a:prstDash val="solid"/>
                    </a:lnT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571500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۱۰٪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۰٪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۲۵٪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0"/>
                      <a:r>
                        <a:rPr sz="1800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telephone_clean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71500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۲۰٪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۷۰٪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۳۰٪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0"/>
                      <a:r>
                        <a:rPr sz="1800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telephone_noisy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71500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۸۰٪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۳۰٪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۲۵٪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0"/>
                      <a:r>
                        <a:rPr sz="1800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voip_lossy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71500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۳۰٪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۴۵٪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۲۰٪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0"/>
                      <a:r>
                        <a:rPr sz="1800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mobile_wideband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6" name="احتمال کلی افزودن نویز: ۳۷٫۵٪">
            <a:extLst xmlns:a="http://schemas.openxmlformats.org/drawingml/2006/main">
              <a:ext uri="{FF2B5EF4-FFF2-40B4-BE49-F238E27FC236}">
                <a16:creationId xmlns:a16="http://schemas.microsoft.com/office/drawing/2014/main" id="{195E86BA-C6DD-4E09-B1B0-73F13EE1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86325"/>
            <a:ext cx="5314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210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pPr>
            <a:r>
              <a:rPr sz="210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rPr>
              <a:t>احتمال کلی افزودن نویز: ۳۷٫۵٪</a:t>
            </a:r>
          </a:p>
        </p:txBody>
      </p:sp>
      <p:sp>
        <p:nvSpPr>
          <p:cNvPr id="7" name="احتمال کلی اختلال شبکه: ۳۴٫۵٪">
            <a:extLst xmlns:a="http://schemas.openxmlformats.org/drawingml/2006/main">
              <a:ext uri="{FF2B5EF4-FFF2-40B4-BE49-F238E27FC236}">
                <a16:creationId xmlns:a16="http://schemas.microsoft.com/office/drawing/2014/main" id="{C2914FE0-5FD3-44C0-A052-377E1BF41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86325"/>
            <a:ext cx="5314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210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pPr>
            <a:r>
              <a:rPr sz="210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rPr>
              <a:t>احتمال کلی اختلال شبکه: ۳۴٫۵٪</a:t>
            </a:r>
          </a:p>
        </p:txBody>
      </p:sp>
      <p:sp>
        <p:nvSpPr>
          <p:cNvPr id="8" name="ابتدا نمایه انتخاب می‌شود، سپس احتمال‌های همان نمایه روی نمونه اعمال می‌شوند">
            <a:extLst xmlns:a="http://schemas.openxmlformats.org/drawingml/2006/main">
              <a:ext uri="{FF2B5EF4-FFF2-40B4-BE49-F238E27FC236}">
                <a16:creationId xmlns:a16="http://schemas.microsoft.com/office/drawing/2014/main" id="{5B424DF1-BD55-4F4C-A084-0825B8580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38775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800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800" b="0" lang="fa-IR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pPr>
            <a:r>
              <a:rPr sz="1800" b="0" lang="fa-IR">
                <a:solidFill>
                  <a:srgbClr val="52606D"/>
                </a:solidFill>
                <a:latin typeface="Vazirmatn"/>
                <a:ea typeface="Vazirmatn"/>
                <a:cs typeface="Vazirmatn"/>
              </a:rPr>
              <a:t>ابتدا نمایه انتخاب می‌شود، سپس احتمال‌های همان نمایه روی نمونه اعمال می‌شوند</a:t>
            </a:r>
          </a:p>
        </p:txBody>
      </p:sp>
      <p:sp>
        <p:nvSpPr>
          <p:cNvPr id="9" name="وزن‌ها طراحی آموزشی‌اند. درصدها احتمال نمونه‌برداری‌اند و شمارش واقعی داده نیستند">
            <a:extLst xmlns:a="http://schemas.openxmlformats.org/drawingml/2006/main">
              <a:ext uri="{FF2B5EF4-FFF2-40B4-BE49-F238E27FC236}">
                <a16:creationId xmlns:a16="http://schemas.microsoft.com/office/drawing/2014/main" id="{252B5523-F948-4EBA-B3CD-2CE7510DE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0275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500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500" b="0" lang="fa-IR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pPr>
            <a:r>
              <a:rPr sz="1500" b="0" lang="fa-IR">
                <a:solidFill>
                  <a:srgbClr val="52606D"/>
                </a:solidFill>
                <a:latin typeface="Vazirmatn"/>
                <a:ea typeface="Vazirmatn"/>
                <a:cs typeface="Vazirmatn"/>
              </a:rPr>
              <a:t>وزن‌ها طراحی آموزشی‌اند. درصدها احتمال نمونه‌برداری‌اند و شمارش واقعی داده نیستند</a:t>
            </a:r>
          </a:p>
        </p:txBody>
      </p:sp>
    </p:spTree>
    <p:extLst>
      <p:ext uri="{BB962C8B-B14F-4D97-AF65-F5344CB8AC3E}">
        <p14:creationId xmlns:p14="http://schemas.microsoft.com/office/powerpoint/2010/main" val="160797174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مطالب تکمیلی">
            <a:extLst xmlns:a="http://schemas.openxmlformats.org/drawingml/2006/main">
              <a:ext uri="{FF2B5EF4-FFF2-40B4-BE49-F238E27FC236}">
                <a16:creationId xmlns:a16="http://schemas.microsoft.com/office/drawing/2014/main" id="{BB82CAD6-7000-40A2-AE73-EE6CE584F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85750"/>
            <a:ext cx="731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350" b="1">
                <a:solidFill>
                  <a:srgbClr val="1D6F8A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350" b="1" lang="fa-IR">
                <a:solidFill>
                  <a:srgbClr val="1D6F8A"/>
                </a:solidFill>
                <a:latin typeface="Vazirmatn"/>
                <a:ea typeface="Vazirmatn"/>
                <a:cs typeface="Vazirmatn"/>
              </a:defRPr>
            </a:pPr>
            <a:r>
              <a:rPr sz="1350" b="1" lang="fa-IR">
                <a:solidFill>
                  <a:srgbClr val="1D6F8A"/>
                </a:solidFill>
                <a:latin typeface="Vazirmatn"/>
                <a:ea typeface="Vazirmatn"/>
                <a:cs typeface="Vazirmatn"/>
              </a:rPr>
              <a:t>مطالب تکمیلی</a:t>
            </a:r>
          </a:p>
        </p:txBody>
      </p:sp>
      <p:sp>
        <p:nvSpPr>
          <p:cNvPr id="2" name="توزیع کدک در هر نمایه و در کل داده">
            <a:extLst xmlns:a="http://schemas.openxmlformats.org/drawingml/2006/main">
              <a:ext uri="{FF2B5EF4-FFF2-40B4-BE49-F238E27FC236}">
                <a16:creationId xmlns:a16="http://schemas.microsoft.com/office/drawing/2014/main" id="{46FA4E1D-10F9-42E4-B3DE-25A7B894E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315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315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pPr>
            <a:r>
              <a:rPr sz="315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rPr>
              <a:t>توزیع کدک در هر نمایه و در کل داده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D21EBE-8594-4A57-AA73-176FA10C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DCDD"/>
            </a:solidFill>
          </a:ln>
        </p:spPr>
      </p:sp>
      <p:sp>
        <p:nvSpPr>
          <p:cNvPr id="4" name="pagination">
            <a:extLst xmlns:a="http://schemas.openxmlformats.org/drawingml/2006/main">
              <a:ext uri="{FF2B5EF4-FFF2-40B4-BE49-F238E27FC236}">
                <a16:creationId xmlns:a16="http://schemas.microsoft.com/office/drawing/2014/main" id="{D1799D8E-979F-4F41-81B7-5DFB8E349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7B8794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l" rtl="1">
              <a:defRPr sz="1200" b="0" lang="fa-IR">
                <a:solidFill>
                  <a:srgbClr val="7B8794"/>
                </a:solidFill>
                <a:latin typeface="Vazirmatn"/>
                <a:ea typeface="Vazirmatn"/>
                <a:cs typeface="Vazirmatn"/>
              </a:defRPr>
            </a:pPr>
            <a:r>
              <a:rPr sz="1200" b="0" lang="fa-IR">
                <a:solidFill>
                  <a:srgbClr val="7B8794"/>
                </a:solidFill>
                <a:latin typeface="Vazirmatn"/>
                <a:ea typeface="Vazirmatn"/>
                <a:cs typeface="Vazirmatn"/>
              </a:rPr>
              <a:t>۲۵ از ۳۴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FF42F3-517E-4A94-8B69-2AF59CE3A99B}"/>
              </a:ext>
            </a:extLst>
          </p:cNvPr>
          <p:cNvGraphicFramePr/>
          <p:nvPr/>
        </p:nvGraphicFramePr>
        <p:xfrm>
          <a:off xmlns:a="http://schemas.openxmlformats.org/drawingml/2006/main" x="685800" y="1657350"/>
          <a:ext xmlns:a="http://schemas.openxmlformats.org/drawingml/2006/main" cx="10820400" cy="3867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1524000"/>
                <a:gridCol w="1524000"/>
                <a:gridCol w="1524000"/>
                <a:gridCol w="1524000"/>
                <a:gridCol w="3200400"/>
              </a:tblGrid>
              <a:tr h="590550"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57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سهم کل</a:t>
                      </a:r>
                    </a:p>
                  </a:txBody>
                  <a:tcPr marL="91440" marR="91440" marT="19050" marB="1905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T w="7620">
                      <a:solidFill>
                        <a:srgbClr val="D5DCDD"/>
                      </a:solidFill>
                      <a:prstDash val="solid"/>
                    </a:lnT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57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همراه</a:t>
                      </a:r>
                    </a:p>
                    <a:p>
                      <a:pPr algn="ctr" rtl="1"/>
                      <a:r>
                        <a:rPr sz="157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پهن‌باند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T w="7620">
                      <a:solidFill>
                        <a:srgbClr val="D5DCDD"/>
                      </a:solidFill>
                      <a:prstDash val="solid"/>
                    </a:lnT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0"/>
                      <a:r>
                        <a:rPr sz="1575" b="1" lang="en-US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VoIP</a:t>
                      </a:r>
                    </a:p>
                    <a:p>
                      <a:pPr algn="ctr" rtl="1"/>
                      <a:r>
                        <a:rPr sz="157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با افت بسته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T w="7620">
                      <a:solidFill>
                        <a:srgbClr val="D5DCDD"/>
                      </a:solidFill>
                      <a:prstDash val="solid"/>
                    </a:lnT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57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تلفن</a:t>
                      </a:r>
                    </a:p>
                    <a:p>
                      <a:pPr algn="ctr" rtl="1"/>
                      <a:r>
                        <a:rPr sz="157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نویزی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T w="7620">
                      <a:solidFill>
                        <a:srgbClr val="D5DCDD"/>
                      </a:solidFill>
                      <a:prstDash val="solid"/>
                    </a:lnT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57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تلفن</a:t>
                      </a:r>
                    </a:p>
                    <a:p>
                      <a:pPr algn="ctr" rtl="1"/>
                      <a:r>
                        <a:rPr sz="157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بدون نویز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T w="7620">
                      <a:solidFill>
                        <a:srgbClr val="D5DCDD"/>
                      </a:solidFill>
                      <a:prstDash val="solid"/>
                    </a:lnT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r" rtl="1"/>
                      <a:r>
                        <a:rPr sz="157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کدک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T w="7620">
                      <a:solidFill>
                        <a:srgbClr val="D5DCDD"/>
                      </a:solidFill>
                      <a:prstDash val="solid"/>
                    </a:lnT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09575"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۱۹٫۲۵٪</a:t>
                      </a:r>
                    </a:p>
                  </a:txBody>
                  <a:tcPr marL="91440" marR="91440" marT="19050" marB="1905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۰٪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۰٪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۳۵٪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۳۵٪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r" rtl="0"/>
                      <a:r>
                        <a:rPr sz="1725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G.711 A-law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575"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۹٫۵۰٪</a:t>
                      </a:r>
                    </a:p>
                  </a:txBody>
                  <a:tcPr marL="91440" marR="91440" marT="19050" marB="1905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۰٪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۰٪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۱۵٪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۲۰٪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r" rtl="0"/>
                      <a:r>
                        <a:rPr sz="1725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G.711 μ-law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575"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۱۱٫۰۰٪</a:t>
                      </a:r>
                    </a:p>
                  </a:txBody>
                  <a:tcPr marL="91440" marR="91440" marT="19050" marB="1905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۰٪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۰٪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۲۰٪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۲۰٪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r" rtl="0"/>
                      <a:r>
                        <a:rPr sz="1725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GSM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575"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۱۵٫۲۵٪</a:t>
                      </a:r>
                    </a:p>
                  </a:txBody>
                  <a:tcPr marL="91440" marR="91440" marT="19050" marB="1905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۰٪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۰٪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۳۰٪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۲۵٪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r" rtl="0"/>
                      <a:r>
                        <a:rPr sz="1725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AMR-NB (12.2k)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575"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۱۱٫۰۰٪</a:t>
                      </a:r>
                    </a:p>
                  </a:txBody>
                  <a:tcPr marL="91440" marR="91440" marT="19050" marB="1905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۵۵٪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۰٪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۰٪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۰٪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r" rtl="0"/>
                      <a:r>
                        <a:rPr sz="1725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AMR-WB (12.65k)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575"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۲۳٫۵۰٪</a:t>
                      </a:r>
                    </a:p>
                  </a:txBody>
                  <a:tcPr marL="91440" marR="91440" marT="19050" marB="1905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۳۰٪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۷۰٪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۰٪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۰٪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r" rtl="0"/>
                      <a:r>
                        <a:rPr sz="1725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Opus WB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575"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۷٫۵۰٪</a:t>
                      </a:r>
                    </a:p>
                  </a:txBody>
                  <a:tcPr marL="91440" marR="91440" marT="19050" marB="1905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۰٪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۳۰٪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۰٪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۰٪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r" rtl="0"/>
                      <a:r>
                        <a:rPr sz="1725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Opus NB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575"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۳٫۰۰٪</a:t>
                      </a:r>
                    </a:p>
                  </a:txBody>
                  <a:tcPr marL="91440" marR="91440" marT="19050" marB="1905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۱۵٪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۰٪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۰٪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ct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۰٪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0" rIns="66675" bIns="0">
                      <a:noAutofit/>
                    </a:bodyPr>
                    <a:lstStyle/>
                    <a:p>
                      <a:pPr algn="r" rtl="0"/>
                      <a:r>
                        <a:rPr sz="1725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pass_through</a:t>
                      </a:r>
                    </a:p>
                  </a:txBody>
                  <a:tcPr marL="91440" marR="91440" marT="19050" marB="1905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6" name="سهم کل کدک = مجموعِ «سهم نمایه × احتمال کدک در همان نمایه»">
            <a:extLst xmlns:a="http://schemas.openxmlformats.org/drawingml/2006/main">
              <a:ext uri="{FF2B5EF4-FFF2-40B4-BE49-F238E27FC236}">
                <a16:creationId xmlns:a16="http://schemas.microsoft.com/office/drawing/2014/main" id="{EC1B6C27-B5E6-4282-89C0-05EDA4337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80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80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pPr>
            <a:r>
              <a:rPr sz="180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rPr>
              <a:t>سهم کل کدک = مجموعِ «سهم نمایه × احتمال کدک در همان نمایه»</a:t>
            </a:r>
          </a:p>
        </p:txBody>
      </p:sp>
      <p:sp>
        <p:nvSpPr>
          <p:cNvPr id="7" name="جمع هر ستون ۱۰۰٪ است. انتخاب نمایه، توزیع کدک سراسری را بازنویسی می‌کند">
            <a:extLst xmlns:a="http://schemas.openxmlformats.org/drawingml/2006/main">
              <a:ext uri="{FF2B5EF4-FFF2-40B4-BE49-F238E27FC236}">
                <a16:creationId xmlns:a16="http://schemas.microsoft.com/office/drawing/2014/main" id="{C38B8971-C967-4110-8F50-7219DC63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500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500" b="0" lang="fa-IR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pPr>
            <a:r>
              <a:rPr sz="1500" b="0" lang="fa-IR">
                <a:solidFill>
                  <a:srgbClr val="52606D"/>
                </a:solidFill>
                <a:latin typeface="Vazirmatn"/>
                <a:ea typeface="Vazirmatn"/>
                <a:cs typeface="Vazirmatn"/>
              </a:rPr>
              <a:t>جمع هر ستون ۱۰۰٪ است. انتخاب نمایه، توزیع کدک سراسری را بازنویسی می‌کند</a:t>
            </a:r>
          </a:p>
        </p:txBody>
      </p:sp>
    </p:spTree>
    <p:extLst>
      <p:ext uri="{BB962C8B-B14F-4D97-AF65-F5344CB8AC3E}">
        <p14:creationId xmlns:p14="http://schemas.microsoft.com/office/powerpoint/2010/main" val="152964713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مطالب تکمیلی">
            <a:extLst xmlns:a="http://schemas.openxmlformats.org/drawingml/2006/main">
              <a:ext uri="{FF2B5EF4-FFF2-40B4-BE49-F238E27FC236}">
                <a16:creationId xmlns:a16="http://schemas.microsoft.com/office/drawing/2014/main" id="{FD2BBE04-25FA-44EB-852D-7BB00B78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85750"/>
            <a:ext cx="731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350" b="1">
                <a:solidFill>
                  <a:srgbClr val="1D6F8A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350" b="1" lang="fa-IR">
                <a:solidFill>
                  <a:srgbClr val="1D6F8A"/>
                </a:solidFill>
                <a:latin typeface="Vazirmatn"/>
                <a:ea typeface="Vazirmatn"/>
                <a:cs typeface="Vazirmatn"/>
              </a:defRPr>
            </a:pPr>
            <a:r>
              <a:rPr sz="1350" b="1" lang="fa-IR">
                <a:solidFill>
                  <a:srgbClr val="1D6F8A"/>
                </a:solidFill>
                <a:latin typeface="Vazirmatn"/>
                <a:ea typeface="Vazirmatn"/>
                <a:cs typeface="Vazirmatn"/>
              </a:rPr>
              <a:t>مطالب تکمیلی</a:t>
            </a:r>
          </a:p>
        </p:txBody>
      </p:sp>
      <p:sp>
        <p:nvSpPr>
          <p:cNvPr id="2" name="توزیع نویز، SNR و تغییر بهره">
            <a:extLst xmlns:a="http://schemas.openxmlformats.org/drawingml/2006/main">
              <a:ext uri="{FF2B5EF4-FFF2-40B4-BE49-F238E27FC236}">
                <a16:creationId xmlns:a16="http://schemas.microsoft.com/office/drawing/2014/main" id="{E5E0C83A-777B-47AB-9F6A-A6757F6C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315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315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pPr>
            <a:r>
              <a:rPr sz="315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rPr>
              <a:t>توزیع نویز، SNR و تغییر بهره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B0965A-462C-4D99-BB29-B47AD2DC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DCDD"/>
            </a:solidFill>
          </a:ln>
        </p:spPr>
      </p:sp>
      <p:sp>
        <p:nvSpPr>
          <p:cNvPr id="4" name="pagination">
            <a:extLst xmlns:a="http://schemas.openxmlformats.org/drawingml/2006/main">
              <a:ext uri="{FF2B5EF4-FFF2-40B4-BE49-F238E27FC236}">
                <a16:creationId xmlns:a16="http://schemas.microsoft.com/office/drawing/2014/main" id="{97DADD55-058E-4B5E-8032-6BFBDA9C9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7B8794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l" rtl="1">
              <a:defRPr sz="1200" b="0" lang="fa-IR">
                <a:solidFill>
                  <a:srgbClr val="7B8794"/>
                </a:solidFill>
                <a:latin typeface="Vazirmatn"/>
                <a:ea typeface="Vazirmatn"/>
                <a:cs typeface="Vazirmatn"/>
              </a:defRPr>
            </a:pPr>
            <a:r>
              <a:rPr sz="1200" b="0" lang="fa-IR">
                <a:solidFill>
                  <a:srgbClr val="7B8794"/>
                </a:solidFill>
                <a:latin typeface="Vazirmatn"/>
                <a:ea typeface="Vazirmatn"/>
                <a:cs typeface="Vazirmatn"/>
              </a:rPr>
              <a:t>۲۶ از ۳۴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722045-DE66-4E99-8363-33FFCF70D02C}"/>
              </a:ext>
            </a:extLst>
          </p:cNvPr>
          <p:cNvGraphicFramePr/>
          <p:nvPr/>
        </p:nvGraphicFramePr>
        <p:xfrm>
          <a:off xmlns:a="http://schemas.openxmlformats.org/drawingml/2006/main" x="685800" y="1676400"/>
          <a:ext xmlns:a="http://schemas.openxmlformats.org/drawingml/2006/main" cx="10820400" cy="2133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3810000"/>
                <a:gridCol w="3676650"/>
              </a:tblGrid>
              <a:tr h="495300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سهم از کل نمونه‌ها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T w="7620">
                      <a:solidFill>
                        <a:srgbClr val="D5DCDD"/>
                      </a:solidFill>
                      <a:prstDash val="solid"/>
                    </a:lnT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احتمال در نمونه نویزی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T w="7620">
                      <a:solidFill>
                        <a:srgbClr val="D5DCDD"/>
                      </a:solidFill>
                      <a:prstDash val="solid"/>
                    </a:lnT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1"/>
                      <a:r>
                        <a:rPr sz="172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بازه SNR (dB)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T w="7620">
                      <a:solidFill>
                        <a:srgbClr val="D5DCDD"/>
                      </a:solidFill>
                      <a:prstDash val="solid"/>
                    </a:lnT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09575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۹٫۳۷۵٪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۲۵٪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0"/>
                      <a:r>
                        <a:rPr sz="1800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−5 to 0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575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۹٫۳۷۵٪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۲۵٪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0"/>
                      <a:r>
                        <a:rPr sz="1800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0 to 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575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۹٫۳۷۵٪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۲۵٪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0"/>
                      <a:r>
                        <a:rPr sz="1800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5 to 10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575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۹٫۳۷۵٪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۲۵٪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0"/>
                      <a:r>
                        <a:rPr sz="1800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10 to 15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6" name="انتخاب بازه هم‌احتمال است. SNR داخل بازه، توزیع یکنواخت پیوسته دارد">
            <a:extLst xmlns:a="http://schemas.openxmlformats.org/drawingml/2006/main">
              <a:ext uri="{FF2B5EF4-FFF2-40B4-BE49-F238E27FC236}">
                <a16:creationId xmlns:a16="http://schemas.microsoft.com/office/drawing/2014/main" id="{A0D47D77-D75B-41C6-9CD0-4703A0CFB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719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80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80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pPr>
            <a:r>
              <a:rPr sz="180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rPr>
              <a:t>انتخاب بازه هم‌احتمال است. SNR داخل بازه، توزیع یکنواخت پیوسته دارد</a:t>
            </a:r>
          </a:p>
        </p:txBody>
      </p:sp>
      <p:sp>
        <p:nvSpPr>
          <p:cNvPr id="7" name="در نمونه‌های نویزی: یک فایل ۹۰٪، دو فایل ۱۰٪ با انتخاب مستقل از DEMAND">
            <a:extLst xmlns:a="http://schemas.openxmlformats.org/drawingml/2006/main">
              <a:ext uri="{FF2B5EF4-FFF2-40B4-BE49-F238E27FC236}">
                <a16:creationId xmlns:a16="http://schemas.microsoft.com/office/drawing/2014/main" id="{7AF885B4-4AA1-4C63-8CAD-D198C6A0A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29125"/>
            <a:ext cx="10820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80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800" b="0" lang="fa-IR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pPr>
            <a:r>
              <a:rPr sz="1800" b="0" lang="fa-IR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در نمونه‌های نویزی: یک فایل ۹۰٪، دو فایل ۱۰٪ با انتخاب مستقل از DEMAND</a:t>
            </a:r>
          </a:p>
        </p:txBody>
      </p:sp>
      <p:sp>
        <p:nvSpPr>
          <p:cNvPr id="8" name="از کل داده: بدون نویز ۶۲٫۵٪، یک فایل ۳۳٫۷۵٪، دو فایل ۳٫۷۵٪">
            <a:extLst xmlns:a="http://schemas.openxmlformats.org/drawingml/2006/main">
              <a:ext uri="{FF2B5EF4-FFF2-40B4-BE49-F238E27FC236}">
                <a16:creationId xmlns:a16="http://schemas.microsoft.com/office/drawing/2014/main" id="{75FD8939-7CC7-4674-9735-3B6301388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10820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80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800" b="0" lang="fa-IR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pPr>
            <a:r>
              <a:rPr sz="1800" b="0" lang="fa-IR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از کل داده: بدون نویز ۶۲٫۵٪، یک فایل ۳۳٫۷۵٪، دو فایل ۳٫۷۵٪</a:t>
            </a:r>
          </a:p>
        </p:txBody>
      </p:sp>
      <p:sp>
        <p:nvSpPr>
          <p:cNvPr id="9" name="انتخاب فایل در فهرست یکنواخت است. سهم هر محیط به تعداد فایل‌های آن بستگی دارد">
            <a:extLst xmlns:a="http://schemas.openxmlformats.org/drawingml/2006/main">
              <a:ext uri="{FF2B5EF4-FFF2-40B4-BE49-F238E27FC236}">
                <a16:creationId xmlns:a16="http://schemas.microsoft.com/office/drawing/2014/main" id="{02923484-2D69-4D1E-ABED-57438EC23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48275"/>
            <a:ext cx="10820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7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725" b="0" lang="fa-IR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pPr>
            <a:r>
              <a:rPr sz="1725" b="0" lang="fa-IR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انتخاب فایل در فهرست یکنواخت است. سهم هر محیط به تعداد فایل‌های آن بستگی دارد</a:t>
            </a:r>
          </a:p>
        </p:txBody>
      </p:sp>
      <p:sp>
        <p:nvSpPr>
          <p:cNvPr id="10" name="بهره روی کل مخلوط: یکنواخت از ۶− تا ۶+ دسی‌بل، بدون تغییر SNR">
            <a:extLst xmlns:a="http://schemas.openxmlformats.org/drawingml/2006/main">
              <a:ext uri="{FF2B5EF4-FFF2-40B4-BE49-F238E27FC236}">
                <a16:creationId xmlns:a16="http://schemas.microsoft.com/office/drawing/2014/main" id="{E8ABA947-329B-4561-9823-96F5905E7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820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80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800" b="0" lang="fa-IR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pPr>
            <a:r>
              <a:rPr sz="1800" b="0" lang="fa-IR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بهره روی کل مخلوط: یکنواخت از ۶− تا ۶+ دسی‌بل، بدون تغییر SNR</a:t>
            </a:r>
          </a:p>
        </p:txBody>
      </p:sp>
      <p:sp>
        <p:nvSpPr>
          <p:cNvPr id="11" name="درصدهای نویز، وجود فهرست معتبر DEMAND را فرض می‌کنند">
            <a:extLst xmlns:a="http://schemas.openxmlformats.org/drawingml/2006/main">
              <a:ext uri="{FF2B5EF4-FFF2-40B4-BE49-F238E27FC236}">
                <a16:creationId xmlns:a16="http://schemas.microsoft.com/office/drawing/2014/main" id="{C55E7540-2544-432F-A8AC-E3560CDC7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82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500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500" b="0" lang="fa-IR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pPr>
            <a:r>
              <a:rPr sz="1500" b="0" lang="fa-IR">
                <a:solidFill>
                  <a:srgbClr val="52606D"/>
                </a:solidFill>
                <a:latin typeface="Vazirmatn"/>
                <a:ea typeface="Vazirmatn"/>
                <a:cs typeface="Vazirmatn"/>
              </a:rPr>
              <a:t>درصدهای نویز، وجود فهرست معتبر DEMAND را فرض می‌کنند</a:t>
            </a:r>
          </a:p>
        </p:txBody>
      </p:sp>
    </p:spTree>
    <p:extLst>
      <p:ext uri="{BB962C8B-B14F-4D97-AF65-F5344CB8AC3E}">
        <p14:creationId xmlns:p14="http://schemas.microsoft.com/office/powerpoint/2010/main" val="126973112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مطالب تکمیلی">
            <a:extLst xmlns:a="http://schemas.openxmlformats.org/drawingml/2006/main">
              <a:ext uri="{FF2B5EF4-FFF2-40B4-BE49-F238E27FC236}">
                <a16:creationId xmlns:a16="http://schemas.microsoft.com/office/drawing/2014/main" id="{82189536-425A-4D09-9ECB-B70E80691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85750"/>
            <a:ext cx="731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350" b="1">
                <a:solidFill>
                  <a:srgbClr val="1D6F8A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350" b="1" lang="fa-IR">
                <a:solidFill>
                  <a:srgbClr val="1D6F8A"/>
                </a:solidFill>
                <a:latin typeface="Vazirmatn"/>
                <a:ea typeface="Vazirmatn"/>
                <a:cs typeface="Vazirmatn"/>
              </a:defRPr>
            </a:pPr>
            <a:r>
              <a:rPr sz="1350" b="1" lang="fa-IR">
                <a:solidFill>
                  <a:srgbClr val="1D6F8A"/>
                </a:solidFill>
                <a:latin typeface="Vazirmatn"/>
                <a:ea typeface="Vazirmatn"/>
                <a:cs typeface="Vazirmatn"/>
              </a:rPr>
              <a:t>مطالب تکمیلی</a:t>
            </a:r>
          </a:p>
        </p:txBody>
      </p:sp>
      <p:sp>
        <p:nvSpPr>
          <p:cNvPr id="2" name="پهنای‌باند کانال و پارامترهای Opus">
            <a:extLst xmlns:a="http://schemas.openxmlformats.org/drawingml/2006/main">
              <a:ext uri="{FF2B5EF4-FFF2-40B4-BE49-F238E27FC236}">
                <a16:creationId xmlns:a16="http://schemas.microsoft.com/office/drawing/2014/main" id="{3E339A55-3905-4937-A62C-AB60103A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315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315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pPr>
            <a:r>
              <a:rPr sz="315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rPr>
              <a:t>پهنای‌باند کانال و پارامترهای Opus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FEB059-C128-4A6B-88BD-B9BA10151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DCDD"/>
            </a:solidFill>
          </a:ln>
        </p:spPr>
      </p:sp>
      <p:sp>
        <p:nvSpPr>
          <p:cNvPr id="4" name="pagination">
            <a:extLst xmlns:a="http://schemas.openxmlformats.org/drawingml/2006/main">
              <a:ext uri="{FF2B5EF4-FFF2-40B4-BE49-F238E27FC236}">
                <a16:creationId xmlns:a16="http://schemas.microsoft.com/office/drawing/2014/main" id="{4CB0E84A-38C3-45C3-82A0-3C2CCD19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7B8794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l" rtl="1">
              <a:defRPr sz="1200" b="0" lang="fa-IR">
                <a:solidFill>
                  <a:srgbClr val="7B8794"/>
                </a:solidFill>
                <a:latin typeface="Vazirmatn"/>
                <a:ea typeface="Vazirmatn"/>
                <a:cs typeface="Vazirmatn"/>
              </a:defRPr>
            </a:pPr>
            <a:r>
              <a:rPr sz="1200" b="0" lang="fa-IR">
                <a:solidFill>
                  <a:srgbClr val="7B8794"/>
                </a:solidFill>
                <a:latin typeface="Vazirmatn"/>
                <a:ea typeface="Vazirmatn"/>
                <a:cs typeface="Vazirmatn"/>
              </a:rPr>
              <a:t>۲۷ از ۳۴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59AAEF-4B13-4160-9643-A21E11ACC967}"/>
              </a:ext>
            </a:extLst>
          </p:cNvPr>
          <p:cNvGraphicFramePr/>
          <p:nvPr/>
        </p:nvGraphicFramePr>
        <p:xfrm>
          <a:off xmlns:a="http://schemas.openxmlformats.org/drawingml/2006/main" x="685800" y="1657350"/>
          <a:ext xmlns:a="http://schemas.openxmlformats.org/drawingml/2006/main" cx="10820400" cy="1295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14500"/>
                <a:gridCol w="3238500"/>
                <a:gridCol w="2286000"/>
                <a:gridCol w="3581400"/>
              </a:tblGrid>
              <a:tr h="457200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سهم کل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T w="7620">
                      <a:solidFill>
                        <a:srgbClr val="D5DCDD"/>
                      </a:solidFill>
                      <a:prstDash val="solid"/>
                    </a:lnT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بازه فرکانسی (Hz)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T w="7620">
                      <a:solidFill>
                        <a:srgbClr val="D5DCDD"/>
                      </a:solidFill>
                      <a:prstDash val="solid"/>
                    </a:lnT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نرخ کانال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T w="7620">
                      <a:solidFill>
                        <a:srgbClr val="D5DCDD"/>
                      </a:solidFill>
                      <a:prstDash val="solid"/>
                    </a:lnT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1"/>
                      <a:r>
                        <a:rPr sz="172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مسیر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T w="7620">
                      <a:solidFill>
                        <a:srgbClr val="D5DCDD"/>
                      </a:solidFill>
                      <a:prstDash val="solid"/>
                    </a:lnT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19100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۶۴٪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0"/>
                      <a:r>
                        <a:rPr sz="1800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300–3400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0"/>
                      <a:r>
                        <a:rPr sz="1800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8 kHz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1"/>
                      <a:r>
                        <a:rPr sz="1800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باریک‌باند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100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۳۶٪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0"/>
                      <a:r>
                        <a:rPr sz="1800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50–7000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0"/>
                      <a:r>
                        <a:rPr sz="1800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16 kHz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1"/>
                      <a:r>
                        <a:rPr sz="1800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پهن‌باند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6" name="عبور مستقیم: ۳٪ کل داده، با انتخاب ۵۰٪ باریک‌باند و ۵۰٪ پهن‌باند">
            <a:extLst xmlns:a="http://schemas.openxmlformats.org/drawingml/2006/main">
              <a:ext uri="{FF2B5EF4-FFF2-40B4-BE49-F238E27FC236}">
                <a16:creationId xmlns:a16="http://schemas.microsoft.com/office/drawing/2014/main" id="{2654642A-37EE-4A8A-B8B0-140DC6E7E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575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800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800" b="0" lang="fa-IR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pPr>
            <a:r>
              <a:rPr sz="1800" b="0" lang="fa-IR">
                <a:solidFill>
                  <a:srgbClr val="52606D"/>
                </a:solidFill>
                <a:latin typeface="Vazirmatn"/>
                <a:ea typeface="Vazirmatn"/>
                <a:cs typeface="Vazirmatn"/>
              </a:rPr>
              <a:t>عبور مستقیم: ۳٪ کل داده، با انتخاب ۵۰٪ باریک‌باند و ۵۰٪ پهن‌باند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6F49CC-7D92-4082-8E40-CABEF818517B}"/>
              </a:ext>
            </a:extLst>
          </p:cNvPr>
          <p:cNvGraphicFramePr/>
          <p:nvPr/>
        </p:nvGraphicFramePr>
        <p:xfrm>
          <a:off xmlns:a="http://schemas.openxmlformats.org/drawingml/2006/main" x="685800" y="3581400"/>
          <a:ext xmlns:a="http://schemas.openxmlformats.org/drawingml/2006/main" cx="10820400" cy="1828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2952750"/>
                <a:gridCol w="4914900"/>
              </a:tblGrid>
              <a:tr h="457200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طول قاب (ms)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T w="7620">
                      <a:solidFill>
                        <a:srgbClr val="D5DCDD"/>
                      </a:solidFill>
                      <a:prstDash val="solid"/>
                    </a:lnT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نرخ بیت (kb/s)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T w="7620">
                      <a:solidFill>
                        <a:srgbClr val="D5DCDD"/>
                      </a:solidFill>
                      <a:prstDash val="solid"/>
                    </a:lnT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1"/>
                      <a:r>
                        <a:rPr sz="172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نمایه و کدک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T w="7620">
                      <a:solidFill>
                        <a:srgbClr val="D5DCDD"/>
                      </a:solidFill>
                      <a:prstDash val="solid"/>
                    </a:lnT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57200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0"/>
                      <a:r>
                        <a:rPr sz="1725" b="1" lang="en-US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20 / 40 / 60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0"/>
                      <a:r>
                        <a:rPr sz="1725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16 / 24 / 32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0"/>
                      <a:r>
                        <a:rPr sz="1725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voip_lossy: Opus WB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0"/>
                      <a:r>
                        <a:rPr sz="1725" b="1" lang="en-US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20 / 40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0"/>
                      <a:r>
                        <a:rPr sz="1725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12 / 16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0"/>
                      <a:r>
                        <a:rPr sz="1725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voip_lossy: Opus NB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0"/>
                      <a:r>
                        <a:rPr sz="1725" b="1" lang="en-US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20 / 40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0"/>
                      <a:r>
                        <a:rPr sz="1725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16 / 24 / 32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0"/>
                      <a:r>
                        <a:rPr sz="1725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mobile_wideband: Opus WB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8" name="گزینه‌های هر خانه هم‌احتمال‌اند. نرخ بیت و طول قاب مستقل انتخاب می‌شوند">
            <a:extLst xmlns:a="http://schemas.openxmlformats.org/drawingml/2006/main">
              <a:ext uri="{FF2B5EF4-FFF2-40B4-BE49-F238E27FC236}">
                <a16:creationId xmlns:a16="http://schemas.microsoft.com/office/drawing/2014/main" id="{2D8A15FE-537F-4BD7-B553-CA0844C10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80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80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pPr>
            <a:r>
              <a:rPr sz="180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rPr>
              <a:t>گزینه‌های هر خانه هم‌احتمال‌اند. نرخ بیت و طول قاب مستقل انتخاب می‌شوند</a:t>
            </a:r>
          </a:p>
        </p:txBody>
      </p:sp>
      <p:sp>
        <p:nvSpPr>
          <p:cNvPr id="9" name="خروجی همه مسیرها: تک‌کاناله و ۱۶ کیلوهرتز، با حفظ محدودیت پهنای‌باند">
            <a:extLst xmlns:a="http://schemas.openxmlformats.org/drawingml/2006/main">
              <a:ext uri="{FF2B5EF4-FFF2-40B4-BE49-F238E27FC236}">
                <a16:creationId xmlns:a16="http://schemas.microsoft.com/office/drawing/2014/main" id="{D08FE91B-0271-4891-BDC7-3F4547E42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575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575" b="0" lang="fa-IR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pPr>
            <a:r>
              <a:rPr sz="1575" b="0" lang="fa-IR">
                <a:solidFill>
                  <a:srgbClr val="52606D"/>
                </a:solidFill>
                <a:latin typeface="Vazirmatn"/>
                <a:ea typeface="Vazirmatn"/>
                <a:cs typeface="Vazirmatn"/>
              </a:rPr>
              <a:t>خروجی همه مسیرها: تک‌کاناله و ۱۶ کیلوهرتز، با حفظ محدودیت پهنای‌باند</a:t>
            </a:r>
          </a:p>
        </p:txBody>
      </p:sp>
    </p:spTree>
    <p:extLst>
      <p:ext uri="{BB962C8B-B14F-4D97-AF65-F5344CB8AC3E}">
        <p14:creationId xmlns:p14="http://schemas.microsoft.com/office/powerpoint/2010/main" val="64290878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مطالب تکمیلی">
            <a:extLst xmlns:a="http://schemas.openxmlformats.org/drawingml/2006/main">
              <a:ext uri="{FF2B5EF4-FFF2-40B4-BE49-F238E27FC236}">
                <a16:creationId xmlns:a16="http://schemas.microsoft.com/office/drawing/2014/main" id="{924DC5D6-C48B-4C69-B471-CC9E1DC4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85750"/>
            <a:ext cx="731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350" b="1">
                <a:solidFill>
                  <a:srgbClr val="1D6F8A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350" b="1" lang="fa-IR">
                <a:solidFill>
                  <a:srgbClr val="1D6F8A"/>
                </a:solidFill>
                <a:latin typeface="Vazirmatn"/>
                <a:ea typeface="Vazirmatn"/>
                <a:cs typeface="Vazirmatn"/>
              </a:defRPr>
            </a:pPr>
            <a:r>
              <a:rPr sz="1350" b="1" lang="fa-IR">
                <a:solidFill>
                  <a:srgbClr val="1D6F8A"/>
                </a:solidFill>
                <a:latin typeface="Vazirmatn"/>
                <a:ea typeface="Vazirmatn"/>
                <a:cs typeface="Vazirmatn"/>
              </a:rPr>
              <a:t>مطالب تکمیلی</a:t>
            </a:r>
          </a:p>
        </p:txBody>
      </p:sp>
      <p:sp>
        <p:nvSpPr>
          <p:cNvPr id="2" name="توزیع شدت افت و مدل اختلال شبکه">
            <a:extLst xmlns:a="http://schemas.openxmlformats.org/drawingml/2006/main">
              <a:ext uri="{FF2B5EF4-FFF2-40B4-BE49-F238E27FC236}">
                <a16:creationId xmlns:a16="http://schemas.microsoft.com/office/drawing/2014/main" id="{129D3E4F-7135-41D8-9838-9F1A870E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315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315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pPr>
            <a:r>
              <a:rPr sz="315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rPr>
              <a:t>توزیع شدت افت و مدل اختلال شبکه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DFB65D-FAD7-41B4-84C4-1CD4EFCC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DCDD"/>
            </a:solidFill>
          </a:ln>
        </p:spPr>
      </p:sp>
      <p:sp>
        <p:nvSpPr>
          <p:cNvPr id="4" name="pagination">
            <a:extLst xmlns:a="http://schemas.openxmlformats.org/drawingml/2006/main">
              <a:ext uri="{FF2B5EF4-FFF2-40B4-BE49-F238E27FC236}">
                <a16:creationId xmlns:a16="http://schemas.microsoft.com/office/drawing/2014/main" id="{953415FF-FB33-4A89-AE84-E409EF420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7B8794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l" rtl="1">
              <a:defRPr sz="1200" b="0" lang="fa-IR">
                <a:solidFill>
                  <a:srgbClr val="7B8794"/>
                </a:solidFill>
                <a:latin typeface="Vazirmatn"/>
                <a:ea typeface="Vazirmatn"/>
                <a:cs typeface="Vazirmatn"/>
              </a:defRPr>
            </a:pPr>
            <a:r>
              <a:rPr sz="1200" b="0" lang="fa-IR">
                <a:solidFill>
                  <a:srgbClr val="7B8794"/>
                </a:solidFill>
                <a:latin typeface="Vazirmatn"/>
                <a:ea typeface="Vazirmatn"/>
                <a:cs typeface="Vazirmatn"/>
              </a:rPr>
              <a:t>۲۸ از ۳۴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D3BF70-E259-4D8D-9C7A-E626C918BFC8}"/>
              </a:ext>
            </a:extLst>
          </p:cNvPr>
          <p:cNvGraphicFramePr/>
          <p:nvPr/>
        </p:nvGraphicFramePr>
        <p:xfrm>
          <a:off xmlns:a="http://schemas.openxmlformats.org/drawingml/2006/main" x="685800" y="1657350"/>
          <a:ext xmlns:a="http://schemas.openxmlformats.org/drawingml/2006/main" cx="10820400" cy="1866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3810000"/>
                <a:gridCol w="3676650"/>
              </a:tblGrid>
              <a:tr h="495300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سهم از کل نمونه‌ها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T w="7620">
                      <a:solidFill>
                        <a:srgbClr val="D5DCDD"/>
                      </a:solidFill>
                      <a:prstDash val="solid"/>
                    </a:lnT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احتمال پس از فعال‌شدن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T w="7620">
                      <a:solidFill>
                        <a:srgbClr val="D5DCDD"/>
                      </a:solidFill>
                      <a:prstDash val="solid"/>
                    </a:lnT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1"/>
                      <a:r>
                        <a:rPr sz="172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بازه نرخ افت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T w="7620">
                      <a:solidFill>
                        <a:srgbClr val="D5DCDD"/>
                      </a:solidFill>
                      <a:prstDash val="solid"/>
                    </a:lnT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57200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۱۱٫۵٪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۱/۳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0"/>
                      <a:r>
                        <a:rPr sz="1800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0.3% to 2%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۱۱٫۵٪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۱/۳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0"/>
                      <a:r>
                        <a:rPr sz="1800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2% to 5%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۱۱٫۵٪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800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۱/۳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0"/>
                      <a:r>
                        <a:rPr sz="1800" b="0" lang="en-US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5% to 10%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6" name="نرخ افت داخل بازه یکنواخت است. طول متوسط جهش از ۱ تا ۵ قاب انتخاب می‌شود">
            <a:extLst xmlns:a="http://schemas.openxmlformats.org/drawingml/2006/main">
              <a:ext uri="{FF2B5EF4-FFF2-40B4-BE49-F238E27FC236}">
                <a16:creationId xmlns:a16="http://schemas.microsoft.com/office/drawing/2014/main" id="{9496A6E1-850E-4101-AA26-5EBF4E051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80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80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pPr>
            <a:r>
              <a:rPr sz="180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rPr>
              <a:t>نرخ افت داخل بازه یکنواخت است. طول متوسط جهش از ۱ تا ۵ قاب انتخاب می‌شود</a:t>
            </a:r>
          </a:p>
        </p:txBody>
      </p:sp>
      <p:sp>
        <p:nvSpPr>
          <p:cNvPr id="7" name="مدل دوحالته خوب/بد با شروع از توزیع پایا، برای ایجاد افت‌های متوالی">
            <a:extLst xmlns:a="http://schemas.openxmlformats.org/drawingml/2006/main">
              <a:ext uri="{FF2B5EF4-FFF2-40B4-BE49-F238E27FC236}">
                <a16:creationId xmlns:a16="http://schemas.microsoft.com/office/drawing/2014/main" id="{D5E005ED-1957-4516-9495-3FFD3A0C0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24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80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800" b="0" lang="fa-IR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pPr>
            <a:r>
              <a:rPr sz="1800" b="0" lang="fa-IR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مدل دوحالته خوب/بد با شروع از توزیع پایا، برای ایجاد افت‌های متوالی</a:t>
            </a:r>
          </a:p>
        </p:txBody>
      </p:sp>
      <p:sp>
        <p:nvSpPr>
          <p:cNvPr id="8" name="Opus: حذف بسته پیش از رمزگشایی و پنهان‌سازی افت با PLC">
            <a:extLst xmlns:a="http://schemas.openxmlformats.org/drawingml/2006/main">
              <a:ext uri="{FF2B5EF4-FFF2-40B4-BE49-F238E27FC236}">
                <a16:creationId xmlns:a16="http://schemas.microsoft.com/office/drawing/2014/main" id="{887EE353-8756-4D2E-B936-4485B530B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87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875" b="0" lang="fa-IR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pPr>
            <a:r>
              <a:rPr sz="1875" b="0" lang="fa-IR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Opus: حذف بسته پیش از رمزگشایی و پنهان‌سازی افت با PLC</a:t>
            </a:r>
          </a:p>
        </p:txBody>
      </p:sp>
      <p:sp>
        <p:nvSpPr>
          <p:cNvPr id="9" name="سایر مسیرها: صفرکردن قاب‌های موج پس از رمزگشایی، با قاب ۲۰ میلی‌ثانیه">
            <a:extLst xmlns:a="http://schemas.openxmlformats.org/drawingml/2006/main">
              <a:ext uri="{FF2B5EF4-FFF2-40B4-BE49-F238E27FC236}">
                <a16:creationId xmlns:a16="http://schemas.microsoft.com/office/drawing/2014/main" id="{7BD039E2-E8EF-4AD2-BE55-30BE24837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387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80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800" b="0" lang="fa-IR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pPr>
            <a:r>
              <a:rPr sz="1800" b="0" lang="fa-IR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سایر مسیرها: صفرکردن قاب‌های موج پس از رمزگشایی، با قاب ۲۰ میلی‌ثانیه</a:t>
            </a:r>
          </a:p>
        </p:txBody>
      </p:sp>
      <p:sp>
        <p:nvSpPr>
          <p:cNvPr id="10" name="سهم موردانتظار از کل: Opus با PLC برابر ۲۱٫۸٪، حذف موج برابر ۱۲٫۷٪">
            <a:extLst xmlns:a="http://schemas.openxmlformats.org/drawingml/2006/main">
              <a:ext uri="{FF2B5EF4-FFF2-40B4-BE49-F238E27FC236}">
                <a16:creationId xmlns:a16="http://schemas.microsoft.com/office/drawing/2014/main" id="{A484B00B-BA2A-4E23-99EE-80CC19980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768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80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80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pPr>
            <a:r>
              <a:rPr sz="180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rPr>
              <a:t>سهم موردانتظار از کل: Opus با PLC برابر ۲۱٫۸٪، حذف موج برابر ۱۲٫۷٪</a:t>
            </a:r>
          </a:p>
        </p:txBody>
      </p:sp>
      <p:sp>
        <p:nvSpPr>
          <p:cNvPr id="11" name="نرخ افتِ هدف با نرخ افتِ مشاهده‌شده در قطعه‌های کوتاه یکسان نیست">
            <a:extLst xmlns:a="http://schemas.openxmlformats.org/drawingml/2006/main">
              <a:ext uri="{FF2B5EF4-FFF2-40B4-BE49-F238E27FC236}">
                <a16:creationId xmlns:a16="http://schemas.microsoft.com/office/drawing/2014/main" id="{5C5374A0-7393-40EB-B191-9219C6BB0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575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575" b="0" lang="fa-IR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pPr>
            <a:r>
              <a:rPr sz="1575" b="0" lang="fa-IR">
                <a:solidFill>
                  <a:srgbClr val="52606D"/>
                </a:solidFill>
                <a:latin typeface="Vazirmatn"/>
                <a:ea typeface="Vazirmatn"/>
                <a:cs typeface="Vazirmatn"/>
              </a:rPr>
              <a:t>نرخ افتِ هدف با نرخ افتِ مشاهده‌شده در قطعه‌های کوتاه یکسان نیست</a:t>
            </a:r>
          </a:p>
        </p:txBody>
      </p:sp>
    </p:spTree>
    <p:extLst>
      <p:ext uri="{BB962C8B-B14F-4D97-AF65-F5344CB8AC3E}">
        <p14:creationId xmlns:p14="http://schemas.microsoft.com/office/powerpoint/2010/main" val="1455137653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مطالب تکمیلی">
            <a:extLst xmlns:a="http://schemas.openxmlformats.org/drawingml/2006/main">
              <a:ext uri="{FF2B5EF4-FFF2-40B4-BE49-F238E27FC236}">
                <a16:creationId xmlns:a16="http://schemas.microsoft.com/office/drawing/2014/main" id="{6F3AC00C-FF7C-42DA-8925-137E142D8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85750"/>
            <a:ext cx="731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350" b="1">
                <a:solidFill>
                  <a:srgbClr val="1D6F8A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350" b="1" lang="fa-IR">
                <a:solidFill>
                  <a:srgbClr val="1D6F8A"/>
                </a:solidFill>
                <a:latin typeface="Vazirmatn"/>
                <a:ea typeface="Vazirmatn"/>
                <a:cs typeface="Vazirmatn"/>
              </a:defRPr>
            </a:pPr>
            <a:r>
              <a:rPr sz="1350" b="1" lang="fa-IR">
                <a:solidFill>
                  <a:srgbClr val="1D6F8A"/>
                </a:solidFill>
                <a:latin typeface="Vazirmatn"/>
                <a:ea typeface="Vazirmatn"/>
                <a:cs typeface="Vazirmatn"/>
              </a:rPr>
              <a:t>مطالب تکمیلی</a:t>
            </a:r>
          </a:p>
        </p:txBody>
      </p:sp>
      <p:sp>
        <p:nvSpPr>
          <p:cNvPr id="2" name="ساخت جفت‌های هم‌تراز و ثبت فراداده">
            <a:extLst xmlns:a="http://schemas.openxmlformats.org/drawingml/2006/main">
              <a:ext uri="{FF2B5EF4-FFF2-40B4-BE49-F238E27FC236}">
                <a16:creationId xmlns:a16="http://schemas.microsoft.com/office/drawing/2014/main" id="{997AA3C2-E3C8-4DD4-B534-9F036EEB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315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315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pPr>
            <a:r>
              <a:rPr sz="315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rPr>
              <a:t>ساخت جفت‌های هم‌تراز و ثبت فراداده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1552F7-FBFF-48F5-83D0-DA841D3C4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DCDD"/>
            </a:solidFill>
          </a:ln>
        </p:spPr>
      </p:sp>
      <p:sp>
        <p:nvSpPr>
          <p:cNvPr id="4" name="pagination">
            <a:extLst xmlns:a="http://schemas.openxmlformats.org/drawingml/2006/main">
              <a:ext uri="{FF2B5EF4-FFF2-40B4-BE49-F238E27FC236}">
                <a16:creationId xmlns:a16="http://schemas.microsoft.com/office/drawing/2014/main" id="{5E00AEB1-7BFD-4939-97E7-D57F16287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7B8794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l" rtl="1">
              <a:defRPr sz="1200" b="0" lang="fa-IR">
                <a:solidFill>
                  <a:srgbClr val="7B8794"/>
                </a:solidFill>
                <a:latin typeface="Vazirmatn"/>
                <a:ea typeface="Vazirmatn"/>
                <a:cs typeface="Vazirmatn"/>
              </a:defRPr>
            </a:pPr>
            <a:r>
              <a:rPr sz="1200" b="0" lang="fa-IR">
                <a:solidFill>
                  <a:srgbClr val="7B8794"/>
                </a:solidFill>
                <a:latin typeface="Vazirmatn"/>
                <a:ea typeface="Vazirmatn"/>
                <a:cs typeface="Vazirmatn"/>
              </a:rPr>
              <a:t>۲۹ از ۳۴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66B1B8-3885-47AE-99FA-E8322B82F4AE}"/>
              </a:ext>
            </a:extLst>
          </p:cNvPr>
          <p:cNvGraphicFramePr/>
          <p:nvPr/>
        </p:nvGraphicFramePr>
        <p:xfrm>
          <a:off xmlns:a="http://schemas.openxmlformats.org/drawingml/2006/main" x="685800" y="1657350"/>
          <a:ext xmlns:a="http://schemas.openxmlformats.org/drawingml/2006/main" cx="10820400" cy="36766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534150"/>
                <a:gridCol w="4286250"/>
              </a:tblGrid>
              <a:tr h="476250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تنظیم اجرا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T w="7620">
                      <a:solidFill>
                        <a:srgbClr val="D5DCDD"/>
                      </a:solidFill>
                      <a:prstDash val="solid"/>
                    </a:lnT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1"/>
                      <a:r>
                        <a:rPr sz="1725" b="1" lang="fa-IR">
                          <a:solidFill>
                            <a:srgbClr val="F7F6F2"/>
                          </a:solidFill>
                          <a:latin typeface="Vazirmatn"/>
                          <a:ea typeface="Vazirmatn"/>
                          <a:cs typeface="Vazirmatn"/>
                        </a:rPr>
                        <a:t>جزء خط لوله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T w="7620">
                      <a:solidFill>
                        <a:srgbClr val="D5DCDD"/>
                      </a:solidFill>
                      <a:prstDash val="solid"/>
                    </a:lnT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57200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۱۳۳۷، با بذر پایدار برای هر نمونه و گونه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بازتولیدپذیری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۲ گونه برای هر قطعه در train و dev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تولید داده مخابراتی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ffmpeg، یا Opus بومی در شاخه PLC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اجرای رمزگذاری و رمزگشایی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هم‌بستگی متقاطع و جبران تأخیر کدک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هم‌ترازی زمانی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همان محدودیت پهنای‌باند، طول و نرخ نمونه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هدف پاک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ضریب مشترک و سقف دامنه ۰٫۹۹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کنترل دامنه جفت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ctr" rtl="1"/>
                      <a:r>
                        <a:rPr sz="1725" b="1" lang="fa-IR">
                          <a:solidFill>
                            <a:srgbClr val="1D6F8A"/>
                          </a:solidFill>
                          <a:latin typeface="Vazirmatn"/>
                          <a:ea typeface="Vazirmatn"/>
                          <a:cs typeface="Vazirmatn"/>
                        </a:rPr>
                        <a:t>غیرفعال در پیکربندی حاضر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5DCDD"/>
                      </a:solidFill>
                      <a:prstDash val="solid"/>
                    </a:lnL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lIns="66675" tIns="66675" rIns="66675" bIns="66675">
                      <a:noAutofit/>
                    </a:bodyPr>
                    <a:lstStyle/>
                    <a:p>
                      <a:pPr algn="r" rtl="1"/>
                      <a:r>
                        <a:rPr sz="1725" b="0" lang="fa-IR">
                          <a:solidFill>
                            <a:srgbClr val="1F2933"/>
                          </a:solidFill>
                          <a:latin typeface="Vazirmatn"/>
                          <a:ea typeface="Vazirmatn"/>
                          <a:cs typeface="Vazirmatn"/>
                        </a:rPr>
                        <a:t>کلیپینگ مصنوعی و AGC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5DCDD"/>
                      </a:solidFill>
                      <a:prstDash val="solid"/>
                    </a:lnR>
                    <a:lnB w="762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6" name="JSONL: نمایه، بذر، کدک، SNR، مسیر کانال، افت واقعی و ضریب نرمال‌سازی">
            <a:extLst xmlns:a="http://schemas.openxmlformats.org/drawingml/2006/main">
              <a:ext uri="{FF2B5EF4-FFF2-40B4-BE49-F238E27FC236}">
                <a16:creationId xmlns:a16="http://schemas.microsoft.com/office/drawing/2014/main" id="{B3724CFB-D734-4224-935C-6AA1BCFA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0545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725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pPr>
            <a:r>
              <a:rPr sz="1725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rPr>
              <a:t>JSONL: نمایه، بذر، کدک، SNR، مسیر کانال، افت واقعی و ضریب نرمال‌سازی</a:t>
            </a:r>
          </a:p>
        </p:txBody>
      </p:sp>
      <p:sp>
        <p:nvSpPr>
          <p:cNvPr id="7" name="نویز، بهره، فیلتر و کدک به این شبیه‌سازی تعلق دارند. پژواک و نوسان تأخیر مدل نشده‌اند">
            <a:extLst xmlns:a="http://schemas.openxmlformats.org/drawingml/2006/main">
              <a:ext uri="{FF2B5EF4-FFF2-40B4-BE49-F238E27FC236}">
                <a16:creationId xmlns:a16="http://schemas.microsoft.com/office/drawing/2014/main" id="{91A18997-4D0E-45F5-A6BD-D36F18BC7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500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defPPr>
          </a:lstStyle>
          <a:p xmlns:a="http://schemas.openxmlformats.org/drawingml/2006/main">
            <a:pPr algn="r" rtl="1">
              <a:defRPr sz="1500" b="0" lang="fa-IR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pPr>
            <a:r>
              <a:rPr sz="1500" b="0" lang="fa-IR">
                <a:solidFill>
                  <a:srgbClr val="52606D"/>
                </a:solidFill>
                <a:latin typeface="Vazirmatn"/>
                <a:ea typeface="Vazirmatn"/>
                <a:cs typeface="Vazirmatn"/>
              </a:rPr>
              <a:t>نویز، بهره، فیلتر و کدک به این شبیه‌سازی تعلق دارند. پژواک و نوسان تأخیر مدل نشده‌اند</a:t>
            </a:r>
          </a:p>
        </p:txBody>
      </p:sp>
    </p:spTree>
    <p:extLst>
      <p:ext uri="{BB962C8B-B14F-4D97-AF65-F5344CB8AC3E}">
        <p14:creationId xmlns:p14="http://schemas.microsoft.com/office/powerpoint/2010/main" val="1469603406"/>
      </p:ext>
    </p:extLst>
  </p:cSld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"/>
        <a:cs typeface=""/>
      </a:majorFont>
      <a:minorFont>
        <a:latin typeface="Vazirmatn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"/>
        <a:cs typeface=""/>
      </a:majorFont>
      <a:minorFont>
        <a:latin typeface="Vazirmatn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"/>
        <a:cs typeface=""/>
      </a:majorFont>
      <a:minorFont>
        <a:latin typeface="Vazirmatn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"/>
        <a:cs typeface=""/>
      </a:majorFont>
      <a:minorFont>
        <a:latin typeface="Vazirmatn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"/>
        <a:cs typeface=""/>
      </a:majorFont>
      <a:minorFont>
        <a:latin typeface="Vazirmatn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"/>
        <a:cs typeface=""/>
      </a:majorFont>
      <a:minorFont>
        <a:latin typeface="Vazirmatn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2026-10-15T11:59:32Z</dcterms:created>
  <dc:creator>Walnut Exporter</dc:creator>
  <dc:description/>
  <dc:language>en-US</dc:language>
  <cp:lastModifiedBy/>
  <dcterms:modified xsi:type="dcterms:W3CDTF">2026-10-16T19:38:57Z</dcterms:modified>
  <cp:revision>3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