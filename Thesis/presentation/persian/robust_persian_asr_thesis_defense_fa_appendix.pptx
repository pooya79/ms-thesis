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5d4675b1e74b88" /><Relationship Type="http://schemas.openxmlformats.org/officeDocument/2006/relationships/extended-properties" Target="/docProps/app.xml" Id="R5b74cbc332674ea9" /><Relationship Type="http://schemas.openxmlformats.org/officeDocument/2006/relationships/officeDocument" Target="/ppt/presentation.xml" Id="R899b966c88cd45f8" /></Relationships>
</file>

<file path=ppt/presentation.xml><?xml version="1.0" encoding="utf-8"?>
<p:presentation xmlns:p="http://schemas.openxmlformats.org/presentationml/2006/main">
  <p:sldMasterIdLst>
    <p:sldMasterId xmlns:r="http://schemas.openxmlformats.org/officeDocument/2006/relationships" id="2147483648" r:id="R3328164a448e4e81"/>
  </p:sldMasterIdLst>
  <p:notesMasterIdLst>
    <p:notesMasterId xmlns:r="http://schemas.openxmlformats.org/officeDocument/2006/relationships" r:id="Rec021c59640146a3"/>
  </p:notesMasterIdLst>
  <p:sldIdLst>
    <p:sldId xmlns:r="http://schemas.openxmlformats.org/officeDocument/2006/relationships" id="256" r:id="R1bcf2464a5f243fe"/>
    <p:sldId xmlns:r="http://schemas.openxmlformats.org/officeDocument/2006/relationships" id="257" r:id="R1c4033d5ff644d9d"/>
    <p:sldId xmlns:r="http://schemas.openxmlformats.org/officeDocument/2006/relationships" id="258" r:id="Refe1f87e600f492e"/>
    <p:sldId xmlns:r="http://schemas.openxmlformats.org/officeDocument/2006/relationships" id="259" r:id="R629f8d22862a43f7"/>
    <p:sldId xmlns:r="http://schemas.openxmlformats.org/officeDocument/2006/relationships" id="260" r:id="Raecdc3c9d8074e97"/>
    <p:sldId xmlns:r="http://schemas.openxmlformats.org/officeDocument/2006/relationships" id="261" r:id="Rb1a56445a16c460a"/>
    <p:sldId xmlns:r="http://schemas.openxmlformats.org/officeDocument/2006/relationships" id="262" r:id="Rf541c073d1b74e2f"/>
    <p:sldId xmlns:r="http://schemas.openxmlformats.org/officeDocument/2006/relationships" id="263" r:id="Rb59dac42b94d49cd"/>
    <p:sldId xmlns:r="http://schemas.openxmlformats.org/officeDocument/2006/relationships" id="264" r:id="Rfc513bf9ffac498f"/>
    <p:sldId xmlns:r="http://schemas.openxmlformats.org/officeDocument/2006/relationships" id="265" r:id="R3f90fc29be684f5b"/>
    <p:sldId xmlns:r="http://schemas.openxmlformats.org/officeDocument/2006/relationships" id="266" r:id="Rbfdaa848cc0a4ce6"/>
    <p:sldId xmlns:r="http://schemas.openxmlformats.org/officeDocument/2006/relationships" id="267" r:id="Rb88e27533e7345e5"/>
    <p:sldId xmlns:r="http://schemas.openxmlformats.org/officeDocument/2006/relationships" id="268" r:id="R0a47a3104aa64ef5"/>
    <p:sldId xmlns:r="http://schemas.openxmlformats.org/officeDocument/2006/relationships" id="269" r:id="Rf3f2f18554dc46b9"/>
    <p:sldId xmlns:r="http://schemas.openxmlformats.org/officeDocument/2006/relationships" id="270" r:id="Ra4d250bf9722440b"/>
    <p:sldId xmlns:r="http://schemas.openxmlformats.org/officeDocument/2006/relationships" id="271" r:id="Re2c3c59db09749ba"/>
    <p:sldId xmlns:r="http://schemas.openxmlformats.org/officeDocument/2006/relationships" id="272" r:id="Raca6c98660e145e2"/>
    <p:sldId xmlns:r="http://schemas.openxmlformats.org/officeDocument/2006/relationships" id="273" r:id="R249e7cf149c345c0"/>
    <p:sldId xmlns:r="http://schemas.openxmlformats.org/officeDocument/2006/relationships" id="274" r:id="Rb2239f7bba7c42d7"/>
    <p:sldId xmlns:r="http://schemas.openxmlformats.org/officeDocument/2006/relationships" id="275" r:id="R9d70e18d94844121"/>
    <p:sldId xmlns:r="http://schemas.openxmlformats.org/officeDocument/2006/relationships" id="276" r:id="R998439cd07ef48aa"/>
    <p:sldId xmlns:r="http://schemas.openxmlformats.org/officeDocument/2006/relationships" id="277" r:id="Raa30e4d3d9434aac"/>
    <p:sldId xmlns:r="http://schemas.openxmlformats.org/officeDocument/2006/relationships" id="278" r:id="R9c6158dcdb2f4872"/>
    <p:sldId xmlns:r="http://schemas.openxmlformats.org/officeDocument/2006/relationships" id="279" r:id="R468b2d67152141de"/>
    <p:sldId xmlns:r="http://schemas.openxmlformats.org/officeDocument/2006/relationships" id="280" r:id="R63991913b3ae4fca"/>
    <p:sldId xmlns:r="http://schemas.openxmlformats.org/officeDocument/2006/relationships" id="281" r:id="Rfbe4315ea48a41a2"/>
    <p:sldId xmlns:r="http://schemas.openxmlformats.org/officeDocument/2006/relationships" id="282" r:id="R63515d7250fe4303"/>
    <p:sldId xmlns:r="http://schemas.openxmlformats.org/officeDocument/2006/relationships" id="283" r:id="R527a915c208645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0396dc0a2b418a" /><Relationship Type="http://schemas.openxmlformats.org/officeDocument/2006/relationships/slideMaster" Target="/ppt/slideMasters/slideMaster1.xml" Id="R3328164a448e4e81" /><Relationship Type="http://schemas.openxmlformats.org/officeDocument/2006/relationships/notesMaster" Target="/ppt/notesMasters/notesMaster1.xml" Id="Rec021c59640146a3" /><Relationship Type="http://schemas.openxmlformats.org/officeDocument/2006/relationships/presProps" Target="/ppt/presProps.xml" Id="R366d148262924cb3" /><Relationship Type="http://schemas.openxmlformats.org/officeDocument/2006/relationships/tableStyles" Target="/ppt/tableStyles.xml" Id="Rbccd169da0c347a3" /><Relationship Type="http://schemas.openxmlformats.org/officeDocument/2006/relationships/slide" Target="/ppt/slides/slide1.xml" Id="R1bcf2464a5f243fe" /><Relationship Type="http://schemas.openxmlformats.org/officeDocument/2006/relationships/slide" Target="/ppt/slides/slide2.xml" Id="R1c4033d5ff644d9d" /><Relationship Type="http://schemas.openxmlformats.org/officeDocument/2006/relationships/slide" Target="/ppt/slides/slide3.xml" Id="Refe1f87e600f492e" /><Relationship Type="http://schemas.openxmlformats.org/officeDocument/2006/relationships/slide" Target="/ppt/slides/slide4.xml" Id="R629f8d22862a43f7" /><Relationship Type="http://schemas.openxmlformats.org/officeDocument/2006/relationships/slide" Target="/ppt/slides/slide5.xml" Id="Raecdc3c9d8074e97" /><Relationship Type="http://schemas.openxmlformats.org/officeDocument/2006/relationships/slide" Target="/ppt/slides/slide6.xml" Id="Rb1a56445a16c460a" /><Relationship Type="http://schemas.openxmlformats.org/officeDocument/2006/relationships/slide" Target="/ppt/slides/slide7.xml" Id="Rf541c073d1b74e2f" /><Relationship Type="http://schemas.openxmlformats.org/officeDocument/2006/relationships/slide" Target="/ppt/slides/slide8.xml" Id="Rb59dac42b94d49cd" /><Relationship Type="http://schemas.openxmlformats.org/officeDocument/2006/relationships/slide" Target="/ppt/slides/slide9.xml" Id="Rfc513bf9ffac498f" /><Relationship Type="http://schemas.openxmlformats.org/officeDocument/2006/relationships/slide" Target="/ppt/slides/slide10.xml" Id="R3f90fc29be684f5b" /><Relationship Type="http://schemas.openxmlformats.org/officeDocument/2006/relationships/slide" Target="/ppt/slides/slide11.xml" Id="Rbfdaa848cc0a4ce6" /><Relationship Type="http://schemas.openxmlformats.org/officeDocument/2006/relationships/slide" Target="/ppt/slides/slide12.xml" Id="Rb88e27533e7345e5" /><Relationship Type="http://schemas.openxmlformats.org/officeDocument/2006/relationships/slide" Target="/ppt/slides/slide13.xml" Id="R0a47a3104aa64ef5" /><Relationship Type="http://schemas.openxmlformats.org/officeDocument/2006/relationships/slide" Target="/ppt/slides/slide14.xml" Id="Rf3f2f18554dc46b9" /><Relationship Type="http://schemas.openxmlformats.org/officeDocument/2006/relationships/slide" Target="/ppt/slides/slide15.xml" Id="Ra4d250bf9722440b" /><Relationship Type="http://schemas.openxmlformats.org/officeDocument/2006/relationships/slide" Target="/ppt/slides/slide16.xml" Id="Re2c3c59db09749ba" /><Relationship Type="http://schemas.openxmlformats.org/officeDocument/2006/relationships/slide" Target="/ppt/slides/slide17.xml" Id="Raca6c98660e145e2" /><Relationship Type="http://schemas.openxmlformats.org/officeDocument/2006/relationships/slide" Target="/ppt/slides/slide18.xml" Id="R249e7cf149c345c0" /><Relationship Type="http://schemas.openxmlformats.org/officeDocument/2006/relationships/slide" Target="/ppt/slides/slide19.xml" Id="Rb2239f7bba7c42d7" /><Relationship Type="http://schemas.openxmlformats.org/officeDocument/2006/relationships/slide" Target="/ppt/slides/slide20.xml" Id="R9d70e18d94844121" /><Relationship Type="http://schemas.openxmlformats.org/officeDocument/2006/relationships/slide" Target="/ppt/slides/slide21.xml" Id="R998439cd07ef48aa" /><Relationship Type="http://schemas.openxmlformats.org/officeDocument/2006/relationships/slide" Target="/ppt/slides/slide22.xml" Id="Raa30e4d3d9434aac" /><Relationship Type="http://schemas.openxmlformats.org/officeDocument/2006/relationships/slide" Target="/ppt/slides/slide23.xml" Id="R9c6158dcdb2f4872" /><Relationship Type="http://schemas.openxmlformats.org/officeDocument/2006/relationships/slide" Target="/ppt/slides/slide24.xml" Id="R468b2d67152141de" /><Relationship Type="http://schemas.openxmlformats.org/officeDocument/2006/relationships/slide" Target="/ppt/slides/slide25.xml" Id="R63991913b3ae4fca" /><Relationship Type="http://schemas.openxmlformats.org/officeDocument/2006/relationships/slide" Target="/ppt/slides/slide26.xml" Id="Rfbe4315ea48a41a2" /><Relationship Type="http://schemas.openxmlformats.org/officeDocument/2006/relationships/slide" Target="/ppt/slides/slide27.xml" Id="R63515d7250fe4303" /><Relationship Type="http://schemas.openxmlformats.org/officeDocument/2006/relationships/slide" Target="/ppt/slides/slide28.xml" Id="R527a915c208645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ad168b88aa43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
      </a:majorFont>
      <a:minorFont>
        <a:latin typeface="Vazirmat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3c4d243053459d" /><Relationship Type="http://schemas.openxmlformats.org/officeDocument/2006/relationships/notesMaster" Target="/ppt/notesMasters/notesMaster1.xml" Id="R9420e73032e744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fba9b89ff04c86" /><Relationship Type="http://schemas.openxmlformats.org/officeDocument/2006/relationships/notesMaster" Target="/ppt/notesMasters/notesMaster1.xml" Id="R7558adcca71f4d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b1a6a44e4417d" /><Relationship Type="http://schemas.openxmlformats.org/officeDocument/2006/relationships/notesMaster" Target="/ppt/notesMasters/notesMaster1.xml" Id="Rfe7a724f118e45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e8d966eb1044c3" /><Relationship Type="http://schemas.openxmlformats.org/officeDocument/2006/relationships/notesMaster" Target="/ppt/notesMasters/notesMaster1.xml" Id="R33c1782e3a8f49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162cbf3e524f66" /><Relationship Type="http://schemas.openxmlformats.org/officeDocument/2006/relationships/notesMaster" Target="/ppt/notesMasters/notesMaster1.xml" Id="R78df9479936743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a73ba7c9754192" /><Relationship Type="http://schemas.openxmlformats.org/officeDocument/2006/relationships/notesMaster" Target="/ppt/notesMasters/notesMaster1.xml" Id="R0fb1aaf2d22745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0571e1ff6d4510" /><Relationship Type="http://schemas.openxmlformats.org/officeDocument/2006/relationships/notesMaster" Target="/ppt/notesMasters/notesMaster1.xml" Id="Rd7baa895a12442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f0492c7ff246f2" /><Relationship Type="http://schemas.openxmlformats.org/officeDocument/2006/relationships/notesMaster" Target="/ppt/notesMasters/notesMaster1.xml" Id="Rfa705f06086e43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4076aa59694dad" /><Relationship Type="http://schemas.openxmlformats.org/officeDocument/2006/relationships/notesMaster" Target="/ppt/notesMasters/notesMaster1.xml" Id="R653901ffc54647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364710357c439d" /><Relationship Type="http://schemas.openxmlformats.org/officeDocument/2006/relationships/notesMaster" Target="/ppt/notesMasters/notesMaster1.xml" Id="Rb3d15921b00842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6489e56f7c4e28" /><Relationship Type="http://schemas.openxmlformats.org/officeDocument/2006/relationships/notesMaster" Target="/ppt/notesMasters/notesMaster1.xml" Id="R90fa03e711e442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ae185f972c41e7" /><Relationship Type="http://schemas.openxmlformats.org/officeDocument/2006/relationships/notesMaster" Target="/ppt/notesMasters/notesMaster1.xml" Id="R37e8fc2726c045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4cab294c2a4247" /><Relationship Type="http://schemas.openxmlformats.org/officeDocument/2006/relationships/notesMaster" Target="/ppt/notesMasters/notesMaster1.xml" Id="R8cd14a16ef4045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c4262a702c43bc" /><Relationship Type="http://schemas.openxmlformats.org/officeDocument/2006/relationships/notesMaster" Target="/ppt/notesMasters/notesMaster1.xml" Id="R6b852bb8b6344d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55f2a21d1049df" /><Relationship Type="http://schemas.openxmlformats.org/officeDocument/2006/relationships/notesMaster" Target="/ppt/notesMasters/notesMaster1.xml" Id="Rfbfe79501eae4e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8b63537087494c" /><Relationship Type="http://schemas.openxmlformats.org/officeDocument/2006/relationships/notesMaster" Target="/ppt/notesMasters/notesMaster1.xml" Id="R4bc81ff9285140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8750f19b9c4865" /><Relationship Type="http://schemas.openxmlformats.org/officeDocument/2006/relationships/notesMaster" Target="/ppt/notesMasters/notesMaster1.xml" Id="R7ce23dd50b534b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d67ca6614b4af1" /><Relationship Type="http://schemas.openxmlformats.org/officeDocument/2006/relationships/notesMaster" Target="/ppt/notesMasters/notesMaster1.xml" Id="R3df355b639874e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91dc1f616d4617" /><Relationship Type="http://schemas.openxmlformats.org/officeDocument/2006/relationships/notesMaster" Target="/ppt/notesMasters/notesMaster1.xml" Id="R733b8a50b1fa4b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ff44fcc99a54801" /><Relationship Type="http://schemas.openxmlformats.org/officeDocument/2006/relationships/notesMaster" Target="/ppt/notesMasters/notesMaster1.xml" Id="R09a433e1c08544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fdbde1eea14822" /><Relationship Type="http://schemas.openxmlformats.org/officeDocument/2006/relationships/notesMaster" Target="/ppt/notesMasters/notesMaster1.xml" Id="Rc0fc5be22c6c4b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8e7253874940d6" /><Relationship Type="http://schemas.openxmlformats.org/officeDocument/2006/relationships/notesMaster" Target="/ppt/notesMasters/notesMaster1.xml" Id="R749160659f4542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6cf59fabd7f4410" /><Relationship Type="http://schemas.openxmlformats.org/officeDocument/2006/relationships/notesMaster" Target="/ppt/notesMasters/notesMaster1.xml" Id="R3c445989ec4942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fa4d66e8c74a19" /><Relationship Type="http://schemas.openxmlformats.org/officeDocument/2006/relationships/notesMaster" Target="/ppt/notesMasters/notesMaster1.xml" Id="R1ad2a13bd5ac42a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e7cfedf1124f84" /><Relationship Type="http://schemas.openxmlformats.org/officeDocument/2006/relationships/notesMaster" Target="/ppt/notesMasters/notesMaster1.xml" Id="R90d14158799449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2524997f7b84308" /><Relationship Type="http://schemas.openxmlformats.org/officeDocument/2006/relationships/notesMaster" Target="/ppt/notesMasters/notesMaster1.xml" Id="Rc584f33036f045c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561dd8ddce4586" /><Relationship Type="http://schemas.openxmlformats.org/officeDocument/2006/relationships/notesMaster" Target="/ppt/notesMasters/notesMaster1.xml" Id="Raa11603b7eb642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3b182bc164a4653" /><Relationship Type="http://schemas.openxmlformats.org/officeDocument/2006/relationships/notesMaster" Target="/ppt/notesMasters/notesMaster1.xml" Id="R6b2e2429c9bc4d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پایان‌نامه مسئله بازشناسی گفتار فارسی در کانال‌های تلفنی و تماس اینترنتی را بررسی می‌کند. مسیرهای اصلی پژوهش، آموزش متناسب با تخریب مخابراتی، بهسازی و همجوشی دوجریانه، و افزودن گفتار فارسی شبه‌برچسب‌خورده است. تمرکز ارائه بر روش‌های پیاده‌سازی‌شده و شواهد تجربی آن‌هاست.</a:t>
            </a:r>
          </a:p>
          <a:p xmlns:a="http://schemas.openxmlformats.org/drawingml/2006/main">
            <a:pPr rtl="0"/>
            <a:r>
              <a:t/>
            </a:r>
          </a:p>
          <a:p xmlns:a="http://schemas.openxmlformats.org/drawingml/2006/main">
            <a:pPr rtl="1"/>
            <a:r>
              <a:t>زمان پیشنهادی: ۲۰ ثانیه</a:t>
            </a:r>
          </a:p>
          <a:p xmlns:a="http://schemas.openxmlformats.org/drawingml/2006/main">
            <a:pPr rtl="0"/>
            <a:r>
              <a:t/>
            </a:r>
          </a:p>
          <a:p xmlns:a="http://schemas.openxmlformats.org/drawingml/2006/main">
            <a:pPr rtl="1"/>
            <a:r>
              <a:t>منابع:</a:t>
            </a:r>
          </a:p>
          <a:p xmlns:a="http://schemas.openxmlformats.org/drawingml/2006/main">
            <a:pPr rtl="0"/>
            <a:r>
              <a:t>Thesis/front/info.tex</a:t>
            </a:r>
          </a:p>
          <a:p xmlns:a="http://schemas.openxmlformats.org/drawingml/2006/main">
            <a:pPr rtl="0"/>
            <a:r>
              <a:t>Thesis/front/abstract.tex</a:t>
            </a:r>
          </a:p>
          <a:p xmlns:a="http://schemas.openxmlformats.org/drawingml/2006/main">
            <a:pPr rtl="0"/>
            <a:r>
              <a:t>Typeface: Vazirmatn v33.003, Saber Rastikerdar, SIL OFL 1.1. https://github.com/rastikerdar/vazirmatn/tree/v33.003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داده‌های فارسی سبک‌های مختلف گفتار و ضبط را پوشش می‌دهند، اما نماینده کامل کانال مخابراتی نیستند. در تماس واقعی چند تخریب می‌توانند هم‌زمان رخ دهند. داده تلفنی رونویسی‌شده نیز به‌سادگی در دسترس نیست. بنابراین از داده برچسب‌خورده عمومی و صوت بدون برچسب کمک می‌گیریم. معیار موفقیت، انتقال به تماس واقعی خارج از شبیه‌ساز است.</a:t>
            </a:r>
          </a:p>
          <a:p xmlns:a="http://schemas.openxmlformats.org/drawingml/2006/main">
            <a:pPr rtl="0"/>
            <a:r>
              <a:t/>
            </a:r>
          </a:p>
          <a:p xmlns:a="http://schemas.openxmlformats.org/drawingml/2006/main">
            <a:pPr rtl="1"/>
            <a:r>
              <a:t>زمان پیشنهادی: ۴۵ ثانیه</a:t>
            </a:r>
          </a:p>
          <a:p xmlns:a="http://schemas.openxmlformats.org/drawingml/2006/main">
            <a:pPr rtl="0"/>
            <a:r>
              <a:t/>
            </a:r>
          </a:p>
          <a:p xmlns:a="http://schemas.openxmlformats.org/drawingml/2006/main">
            <a:pPr rtl="1"/>
            <a:r>
              <a:t>منابع:</a:t>
            </a:r>
          </a:p>
          <a:p xmlns:a="http://schemas.openxmlformats.org/drawingml/2006/main">
            <a:pPr rtl="0"/>
            <a:r>
              <a:t>Thesis/chapters/introduction.tex</a:t>
            </a:r>
          </a:p>
          <a:p xmlns:a="http://schemas.openxmlformats.org/drawingml/2006/main">
            <a:pPr rtl="0"/>
            <a:r>
              <a:t>Thesis/chapters/preliminaries.tex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روش‌های جدید را می‌توان بر اساس محل مداخله در سامانه دسته‌بندی کرد. در مسیر آموزش، داده‌افزایی و آموزش چندشرایطی مدل را با اختلال‌های متنوع روبه‌رو می‌کنند. pMCT بخش‌های پاک و تخریب‌شده را درون یک گفته ترکیب می‌کند. داده‌افزایی آکوستیکی هدفمند بر تنوع شرایط صوتی تمرکز دارد. انطباق مدل پایه می‌تواند با ریزتنظیم کامل یا روش‌های کم‌پارامتر مانند LoRA انجام شود. MCAT آموزش خصمانه برای ناوردایی کانال را به انطباق کم‌پارامتر اضافه می‌کند. SPS داده بداهه فارسی را برای ریزتنظیم ویسپر بررسی می‌کند. نیشکر یک پیکره خوانده‌شده فارسی و مطالعه ریزتنظیم است، نه یک معماری جدید. برای صوت بدون برچسب، مسیرهای متفاوتی وجود دارد: بهوگاله از شبه‌برچسب و انتخاب نمونه استفاده می‌کند، پژوهش چندزبانه به پیش‌آموزش پیوسته با صوت فارسی، عربی و اردو می‌پردازد، و DASH با خودتقطیر بازنمایی‌های چندلایه، سازگاری نماهای پاک و نویزی را می‌آموزد. این سه روش را نباید یک الگوریتم واحد دانست. در مرحله خروجی، ClozeGER از مدل زبانی چندوجهی و صوت برای اصلاح فرضیه‌ها استفاده می‌کند و پالایش محافظه‌کارانه احتمال اصلاح ناموجه را کاهش می‌دهد. Speech Robust Bench و URGENT انواع تخریب را پوشش می‌دهند و PSRB ارزیابی فارسی را گسترش می‌دهد. نام‌های دارای ستاره در این مرور به نسخه‌های پیش‌چاپ ارجاع دارند. این دسته‌ها می‌توانند مکمل یکدیگر باشند و رتبه‌بندی عددی مشترکی میان آزمایش‌های متفاوت مقاله‌ها ارائه نمی‌شود.</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Thesis/chapters/literature.tex</a:t>
            </a:r>
          </a:p>
          <a:p xmlns:a="http://schemas.openxmlformats.org/drawingml/2006/main">
            <a:pPr rtl="0"/>
            <a:r>
              <a:t>Thesis/bibs/refs.bib</a:t>
            </a:r>
          </a:p>
          <a:p xmlns:a="http://schemas.openxmlformats.org/drawingml/2006/main">
            <a:pPr rtl="0"/>
            <a:r>
              <a:t>[pesoparada2022pmct] Peso Parada et al. (2022). pMCT: Patched Multi-Condition Training for Robust Speech Recognition. Interspeech. https://doi.org/10.21437/Interspeech.2022-117</a:t>
            </a:r>
          </a:p>
          <a:p xmlns:a="http://schemas.openxmlformats.org/drawingml/2006/main">
            <a:pPr rtl="0"/>
            <a:r>
              <a:t>[liu2025acoustic] Liu et al. (2025). Towards Pretraining Robust ASR Foundation Model with Acoustic-Aware Data Augmentation. Preprint. https://arxiv.org/abs/2505.20606</a:t>
            </a:r>
          </a:p>
          <a:p xmlns:a="http://schemas.openxmlformats.org/drawingml/2006/main">
            <a:pPr rtl="0"/>
            <a:r>
              <a:t>[niu2025mcat] Niu et al. (2025). Parameter-Efficient Adaptation with Multi-Channel Adversarial Training for Far-Field Speech Recognition. EURASIP JASMP. https://doi.org/10.1186/s13636-025-00406-5</a:t>
            </a:r>
          </a:p>
          <a:p xmlns:a="http://schemas.openxmlformats.org/drawingml/2006/main">
            <a:pPr rtl="0"/>
            <a:r>
              <a:t>[namdarzadeh2026sps] Namdarzadeh &amp; Ballier (2026). Fine-tuning Whisper with Spontaneous Persian Speech (SPS). SIGUL, 263–269. https://aclanthology.org/2026.sigul-1.26/</a:t>
            </a:r>
          </a:p>
          <a:p xmlns:a="http://schemas.openxmlformats.org/drawingml/2006/main">
            <a:pPr rtl="0"/>
            <a:r>
              <a:t>[amirivojdan2026neyshekar] Amirivojdan, Nadiri, Alizadeh &amp; Yaraghi (2026). Neyshekar: An Open Persian Read-Speech Corpus for Automatic Speech Recognition. Preprint, 13 September 2026. https://arxiv.org/abs/2609.14542</a:t>
            </a:r>
          </a:p>
          <a:p xmlns:a="http://schemas.openxmlformats.org/drawingml/2006/main">
            <a:pPr rtl="0"/>
            <a:r>
              <a:t>[bhogale2024pseudolabel] Bhogale et al. (2024). Empowering Low-Resource Language ASR via Large-Scale Pseudo Labeling. Interspeech. https://www.isca-archive.org/interspeech_2024/bhogale24_interspeech.html</a:t>
            </a:r>
          </a:p>
          <a:p xmlns:a="http://schemas.openxmlformats.org/drawingml/2006/main">
            <a:pPr rtl="0"/>
            <a:r>
              <a:t>[bandarupalli2025efficient] Bandarupalli et al. (2025). Efficient ASR for Low-Resource Languages: Leveraging Cross-Lingual Unlabeled Data. Findings of IJCNLP-AACL. https://aclanthology.org/2025.findings-ijcnlp.99/</a:t>
            </a:r>
          </a:p>
          <a:p xmlns:a="http://schemas.openxmlformats.org/drawingml/2006/main">
            <a:pPr rtl="0"/>
            <a:r>
              <a:t>[baik2026dash] Baik et al. (2026). DASH: Dual-View Self-Distillation with Multi-Layer Hidden Representations for Robust Speech Recognition. Interspeech, 3116–3121. https://www.isca-archive.org/interspeech_2026/baik26_interspeech.html</a:t>
            </a:r>
          </a:p>
          <a:p xmlns:a="http://schemas.openxmlformats.org/drawingml/2006/main">
            <a:pPr rtl="0"/>
            <a:r>
              <a:t>[hu2024listen] Hu et al. (2024). Listen Again and Choose the Right Answer: A New Paradigm for Automatic Speech Recognition with Large Language Models. Findings of ACL. https://aclanthology.org/2024.findings-acl.37/</a:t>
            </a:r>
          </a:p>
          <a:p xmlns:a="http://schemas.openxmlformats.org/drawingml/2006/main">
            <a:pPr rtl="0"/>
            <a:r>
              <a:t>[udagawa2024conservative] Udagawa et al. (2024). Robust ASR Error Correction with Conservative Data Filtering. EMNLP Industry. https://aclanthology.org/2024.emnlp-industry.20/</a:t>
            </a:r>
          </a:p>
          <a:p xmlns:a="http://schemas.openxmlformats.org/drawingml/2006/main">
            <a:pPr rtl="0"/>
            <a:r>
              <a:t>[shah2025srb] Shah et al. (2025). Speech Robust Bench: A Robustness Benchmark for Speech Recognition. ICLR. https://proceedings.iclr.cc/paper_files/paper/2025/hash/605e02ae04cba1ebf6a08206299e76b9-Abstract-Conference.html</a:t>
            </a:r>
          </a:p>
          <a:p xmlns:a="http://schemas.openxmlformats.org/drawingml/2006/main">
            <a:pPr rtl="0"/>
            <a:r>
              <a:t>[saijo2025urgent] Saijo et al. (2025). Interspeech 2025 URGENT Speech Enhancement Challenge. https://doi.org/10.21437/Interspeech.2025-1363</a:t>
            </a:r>
          </a:p>
          <a:p xmlns:a="http://schemas.openxmlformats.org/drawingml/2006/main">
            <a:pPr rtl="0"/>
            <a:r>
              <a:t>[sedghiyeh2025psrb] Sedghiyeh et al. (2025). PSRB: A Comprehensive Benchmark for Evaluating Persian ASR Systems. Preprint. https://arxiv.org/abs/2505.21230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در بهسازی پیش از بازشناسی، یک مدل پیش‌بینی‌گر یا مولد تلاش می‌کند گفتار مناسب‌تری به بازشناس بدهد. پل شرودینگر در مقاله نصرالدینوف یک بهساز مولد است و با پل تطبیقی ترکیب دو موج تفاوت دارد. یانگ و همکاران جداسازی بهساز از بازشناس را با بهسازهای قوی و بازشناس آموزش‌دیده بر گفتار پاک بررسی می‌کنند. در روش‌های وظیفه‌محور، معیار آموزش از صرف شباهت سیگنال فراتر می‌رود. دیسن یک شبکه جلویی را با زیان بهسازی و بازشناسی در برابر بازشناس ثابت آموزش می‌دهد. SSL-MSE ساتو فاصله بازنمایی‌های خودنظارتی گفتار پاک و بهسازی‌شده را کم می‌کند و الزاماً به ریزتنظیم خود بازشناس نیاز ندارد. در فضای بازنمایی، FAT-HuBERT ویژگی‌های نماهای نویزی و بهسازی‌شده را ادغام می‌کند و Wav2code بازنمایی پاک را با واژه‌نامه بازسازی و با نمای نویزی ترکیب می‌کند. در سطح موج، وانگ و کویی ضریب ترکیب گفتار اصلی و بهسازی‌شده را با ماژول پل می‌آموزند. Conf-OA در اینترسپیچ ۲۰۲۶ وزن را از برآورد فهم‌پذیری یا اطمینان بازشناس، بدون آموزش پیش‌بین تازه، به دست می‌آورد. روش Rethink-and-Refine در MLSP ۲۰۲۶ با هم‌ترازی واژه یا واج، قطعه‌های دچار حذف بیش از حد را شناسایی و همان بخش‌ها را با موج اصلی بازترکیب می‌کند. بنابراین محل ادغام، معیار انتخاب وزن و نیاز به آموزش، تفاوت‌های اصلی این خانواده‌ها هستند. بهترشدن کیفیت صوت به‌تنهایی موفقیت در بازشناسی را تضمین نمی‌کند.</a:t>
            </a:r>
          </a:p>
          <a:p xmlns:a="http://schemas.openxmlformats.org/drawingml/2006/main">
            <a:pPr rtl="0"/>
            <a:r>
              <a:t/>
            </a:r>
          </a:p>
          <a:p xmlns:a="http://schemas.openxmlformats.org/drawingml/2006/main">
            <a:pPr rtl="1"/>
            <a:r>
              <a:t>زمان پیشنهادی: ۹۰ ثانیه</a:t>
            </a:r>
          </a:p>
          <a:p xmlns:a="http://schemas.openxmlformats.org/drawingml/2006/main">
            <a:pPr rtl="0"/>
            <a:r>
              <a:t/>
            </a:r>
          </a:p>
          <a:p xmlns:a="http://schemas.openxmlformats.org/drawingml/2006/main">
            <a:pPr rtl="1"/>
            <a:r>
              <a:t>منابع:</a:t>
            </a:r>
          </a:p>
          <a:p xmlns:a="http://schemas.openxmlformats.org/drawingml/2006/main">
            <a:pPr rtl="0"/>
            <a:r>
              <a:t>Thesis/chapters/literature.tex</a:t>
            </a:r>
          </a:p>
          <a:p xmlns:a="http://schemas.openxmlformats.org/drawingml/2006/main">
            <a:pPr rtl="0"/>
            <a:r>
              <a:t>Thesis/bibs/refs.bib</a:t>
            </a:r>
          </a:p>
          <a:p xmlns:a="http://schemas.openxmlformats.org/drawingml/2006/main">
            <a:pPr rtl="0"/>
            <a:r>
              <a:t>[nasretdinov2025schrodinger] Nasretdinov, Korostik &amp; Jukić (2025). Robust Speech Recognition with Schrödinger Bridge-Based Speech Enhancement. ICASSP. https://doi.org/10.1109/ICASSP49660.2025.10890638 ; https://arxiv.org/abs/2505.04237</a:t>
            </a:r>
          </a:p>
          <a:p xmlns:a="http://schemas.openxmlformats.org/drawingml/2006/main">
            <a:pPr rtl="0"/>
            <a:r>
              <a:t>[yang2026decoupling] Yang, Pandey &amp; Wang (2026). Towards Decoupling Frontend Enhancement and Backend Recognition in Monaural Robust ASR. Computer Speech &amp; Language 95, 101821. https://doi.org/10.1016/j.csl.2025.101821 ; https://arxiv.org/abs/2403.06387</a:t>
            </a:r>
          </a:p>
          <a:p xmlns:a="http://schemas.openxmlformats.org/drawingml/2006/main">
            <a:pPr rtl="0"/>
            <a:r>
              <a:t>[dissen2025frontend] Dissen et al. (2025). A Front-End Adaptation Network for Improving Speech Recognition Performance in Packet Loss and Noisy Environments. IEEE TASLPRO 33, 2175–2188. https://doi.org/10.1109/TASLPRO.2025.3574840 ; https://keshet.technion.ac.il/a-front-end-adaptation-network-for-improving-speech-recognition-performance-in-packet-loss-and-noisy-environments/</a:t>
            </a:r>
          </a:p>
          <a:p xmlns:a="http://schemas.openxmlformats.org/drawingml/2006/main">
            <a:pPr rtl="0"/>
            <a:r>
              <a:t>[sato2025generic] Sato et al. (2025). Generic Speech Enhancement with Self-Supervised Representation Space Loss. Frontiers in Signal Processing. https://doi.org/10.3389/frsip.2025.1587969</a:t>
            </a:r>
          </a:p>
          <a:p xmlns:a="http://schemas.openxmlformats.org/drawingml/2006/main">
            <a:pPr rtl="0"/>
            <a:r>
              <a:t>[yang2023fathubert] Yang, Wang &amp; Qian (2023). FAT-HuBERT: Front-End Adaptive Training of Hidden-Unit BERT for Distortion-Invariant Robust Speech Recognition. ASRU. https://doi.org/10.1109/ASRU57964.2023.10389685 ; https://arxiv.org/abs/2311.17790</a:t>
            </a:r>
          </a:p>
          <a:p xmlns:a="http://schemas.openxmlformats.org/drawingml/2006/main">
            <a:pPr rtl="0"/>
            <a:r>
              <a:t>[hu2024wav2code] Hu et al. (2024). Wav2code: Restore Clean Speech Representations via Codebook Lookup for Noise-Robust ASR. IEEE/ACM TASLP 32, 1145–1156. https://doi.org/10.1109/TASLP.2023.3332545</a:t>
            </a:r>
          </a:p>
          <a:p xmlns:a="http://schemas.openxmlformats.org/drawingml/2006/main">
            <a:pPr rtl="0"/>
            <a:r>
              <a:t>[wang2024bridge] Wang et al. (2024). Bridging the Gap: Integrating Pre-Trained Speech Enhancement and Recognition Models for Robust Speech Recognition. EUSIPCO. https://doi.org/10.23919/EUSIPCO63174.2024.10715447</a:t>
            </a:r>
          </a:p>
          <a:p xmlns:a="http://schemas.openxmlformats.org/drawingml/2006/main">
            <a:pPr rtl="0"/>
            <a:r>
              <a:t>[cui2025realbridge] Cui et al. (2025). Reducing the Gap Between Pretrained Speech Enhancement and Recognition Models Using a Real Speech-Trained Bridging Module. ICASSP. https://doi.org/10.1109/ICASSP49660.2025.10889737 ; https://arxiv.org/abs/2501.02452</a:t>
            </a:r>
          </a:p>
          <a:p xmlns:a="http://schemas.openxmlformats.org/drawingml/2006/main">
            <a:pPr rtl="0"/>
            <a:r>
              <a:t>[li2026oa] Li et al. (2026). Training-Free Intelligibility-Guided Observation Addition for Noisy ASR. Interspeech, 3138–3143. https://www.isca-archive.org/interspeech_2026/li26s_interspeech.html ; https://doi.org/10.21437/Interspeech.2026-1096</a:t>
            </a:r>
          </a:p>
          <a:p xmlns:a="http://schemas.openxmlformats.org/drawingml/2006/main">
            <a:pPr rtl="0"/>
            <a:r>
              <a:t>[qu2026rethink] Qu, Chen &amp; Hirschberg (2026). Mitigating Over-Suppression in Speech Enhancement via Inference-Time Rethink-and-Refine Correction Module. IEEE MLSP 2026. https://arxiv.org/abs/2608.07781 ; publication confirmed at https://www.cs.columbia.edu/speech/papers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مدل معمولی، نمونه‌های بلند ساخته‌شده را از ابتدا دارد. افزودن داده تخریب‌شده، مدل چندشرایطی را می‌سازد و همین مدل مرجع آزمایش‌های بعدی است. یک مسیر معماری بهسازی و همجوشی را می‌افزاید و مسیر دیگر داده ایران‌صدا را. پل تطبیقی، مقایسه‌ای برای مسیر همجوشی است. هیچ نتیجه‌ای برای همجوشی همراه با ایران‌صدا در این پایان‌نامه گزارش نشده است.</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ترکیب پایه از کامن‌وویس فارسی نسخه ۲۵، زیرمجموعه محدود فارس‌اسپان و فلورز فارسی تشکیل می‌شود. برای کاهش محدودیت ناشی از کوتاهی قطعه‌ها، دو تا چهار قطعه از یک بخش داده به هم متصل می‌شوند. نمونه نهایی بیش از پنج و حداکثر بیست ثانیه است. این نمونه‌های بلند به مدل معمولی نیز داده شده‌اند. آموزش چندشرایطی، داده تخریب‌شده را به همین بنیاد اضافه می‌کند.</a:t>
            </a:r>
          </a:p>
          <a:p xmlns:a="http://schemas.openxmlformats.org/drawingml/2006/main">
            <a:pPr rtl="0"/>
            <a:r>
              <a:t/>
            </a:r>
          </a:p>
          <a:p xmlns:a="http://schemas.openxmlformats.org/drawingml/2006/main">
            <a:pPr rtl="1"/>
            <a:r>
              <a:t>زمان پیشنهادی: ۴۰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AGFarsdat شامل ده هزار و چهل و چهار نمونه تماس واقعی است و در آموزش یا انتخاب مدل حضور ندارد. چهار مجموعه دیگر، تعمیم به گفتار عمومی را می‌سنجند. در WER، جانشینی و حذف و درج بر تعداد واژه‌های مرجع تقسیم می‌شوند. CER همین مفهوم را در سطح نویسه می‌سنجد. نتیجه تجمیعی میانگین درصدهای مجموعه‌ها نیست، بلکه از جمع خطاها و واحدهای مرجع محاسبه می‌شود. مقایسه‌های تک‌جریانه روی ۲۱٬۸۴۸ نمونه واجد شرایط مشترک‌اند، اما تعداد نمونه‌های Persian Speech Corpus بین بعضی سامانه‌ها متفاوت است.</a:t>
            </a:r>
          </a:p>
          <a:p xmlns:a="http://schemas.openxmlformats.org/drawingml/2006/main">
            <a:pPr rtl="0"/>
            <a:r>
              <a:t/>
            </a:r>
          </a:p>
          <a:p xmlns:a="http://schemas.openxmlformats.org/drawingml/2006/main">
            <a:pPr rtl="1"/>
            <a:r>
              <a:t>زمان پیشنهادی: ۵۵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برای هر نمونه، یک نمایه مخابراتی انتخاب می‌شود و نویز، بهره و پهنای‌باند تغییر می‌کنند. نویز DEMAND با نسبت سیگنال به نویز منفی پنج تا پانزده دسی‌بل و تغییر بهره تا شش دسی‌بل به کار می‌رود. پردازش واقعی کدک و شبکه در مرحله بعد است. ورودی تخریب‌شده و هدف پاک هم‌تراز می‌مانند. هدف بهساز پهنای‌باند مشترک با ورودی دارد تا شبکه برای بازسازی فرکانس‌های حذف‌شده جریمه نشود. بذر و تنظیمات هر جفت ثبت می‌شوند. وزن نمایه‌ها پوشش طراحی‌شده شرایط است، نه برآورد توزیع یک اپراتور.</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Thesis/figs/degradation-pipeline-architecture.png</a:t>
            </a:r>
          </a:p>
          <a:p xmlns:a="http://schemas.openxmlformats.org/drawingml/2006/main">
            <a:pPr rtl="0"/>
            <a:r>
              <a:t>configs/speech_enhancement/degradation.yaml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دو مسیر پیاده‌سازی باید از هم تفکیک شوند. در Opus بومی، افت بسته و پنهان‌سازی خطای رمزگشا در مسیر واقعی کدک مدل می‌شوند. برای کدک‌های دیگر، رفت‌وبرگشت رمزگذاری و رمزگشایی با FFmpeg اجرا می‌شود و اختلال شبکه می‌تواند با حذف بخش‌هایی از موج تقریب زده شود. این تقریب معادل رفتار واقعی همه شبکه‌ها نیست. کدک‌های بررسی‌شده شامل جی هفتصد و یازده، جی‌اس‌ام، ای‌ام‌آر باریک‌باند، ای‌ام‌آر پهن‌باند و اپوس هستند. خروجی‌ها از نظر طول هم‌تراز و از نظر پهنای‌باند هدف سازگارند.</a:t>
            </a:r>
          </a:p>
          <a:p xmlns:a="http://schemas.openxmlformats.org/drawingml/2006/main">
            <a:pPr rtl="0"/>
            <a:r>
              <a:t/>
            </a:r>
          </a:p>
          <a:p xmlns:a="http://schemas.openxmlformats.org/drawingml/2006/main">
            <a:pPr rtl="1"/>
            <a:r>
              <a:t>زمان پیشنهادی: ۴۵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Thesis/figs/degradation-pipeline-architecture.png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نویز به‌تنهایی و pMCT هر دو نسبت به آموزش معمولی بهترند. مجموعه کامل تخریب‌های مخابراتی، کمترین خطای تماس واقعی را بین این چهار روش دارد. کاهش از ۳۵٫۶۳ به ۲۵٫۸۰ درصد برابر با ۹٫۸۳ واحد درصد یا حدود ۲۷٫۶ درصد کاهش نسبی است. این نتیجه روی تماس‌های واقعی مستقل از شبیه‌ساز به دست آمده و از انتقال یادگیری از تخریب مصنوعی به کانال واقعی پشتیبانی می‌کند. با این حال، چون هر اثر کدک یا شبکه جداگانه حذف نشده، نمی‌توان سهم مستقل هر تخریب را از این آزمایش تعیین کرد.</a:t>
            </a:r>
          </a:p>
          <a:p xmlns:a="http://schemas.openxmlformats.org/drawingml/2006/main">
            <a:pPr rtl="0"/>
            <a:r>
              <a:t/>
            </a:r>
          </a:p>
          <a:p xmlns:a="http://schemas.openxmlformats.org/drawingml/2006/main">
            <a:pPr rtl="1"/>
            <a:r>
              <a:t>زمان پیشنهادی: ۸۰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بهسازی ممکن است بخشی از اطلاعات مفید گفتار را نیز تضعیف کند، بنابراین نمای اصلی را نگه می‌داریم. یک U-Net باقیمانده، لاگ‌مل هشتادباندی را اصلاح می‌کند. دو نما با یک رمزگذار ویسپر و وزن‌های مشترک، در دو گذر پردازش می‌شوند. یک لایه توجه متقاطع دوسویه با چهار سر، اطلاعات را میان دو جریان مبادله می‌کند. سپس دروازه‌ای برای هر زمان و ویژگی، بازنمایی‌ها را ترکیب و به رمزگشا می‌دهد. این بهساز موج بازسازی نمی‌کند و مدل از نقطه وارسی چندشرایطی آغاز می‌شود. فرمول ترکیب: H_f = g × H_e′ + (1−g) × H_n′.</a:t>
            </a:r>
          </a:p>
          <a:p xmlns:a="http://schemas.openxmlformats.org/drawingml/2006/main">
            <a:pPr rtl="0"/>
            <a:r>
              <a:t/>
            </a:r>
          </a:p>
          <a:p xmlns:a="http://schemas.openxmlformats.org/drawingml/2006/main">
            <a:pPr rtl="1"/>
            <a:r>
              <a:t>زمان پیشنهادی: ۸۰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Thesis/figs/fusion-model-architecture-left-to-right.png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در مرحله اول، تنها بهساز با ترکیبی برابر از زیان بازسازی و تطبیق ویژگی آموزش می‌بیند. در مرحله دوم، بهساز و همجوشی با هدف بازشناسی و وزن ۰٫۳ برای بهسازی، در برابر ویسپر ثابت آموزش می‌بینند. در مرحله نهایی همه اجزا آزاد می‌شوند و وزن زیان بهسازی به ۰٫۱ می‌رسد. هر مرحله یک دوره است. نرخ یادگیری ماژول‌های تازه ده به توان منفی چهار و ویسپر پنج ضرب در ده به توان منفی شش است. مرحله آخر گفتار تخریب‌شده و بلند و بیست و پنج درصد نمونه‌های پاک را دارد. این آزمایش هم معماری و هم میزان آموزش بازشناس را تغییر می‌دهد.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Thesis/figs/fusion-model-architecture-left-to-right.png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شکل اصلی مقاله کویی و همکاران است و روش مرجع را نشان می‌دهد. پل، موج اصلی و موج بهسازی‌شده را پیش از بازشناسی ترکیب می‌کند. در پیاده‌سازی مستقل این پایان‌نامه، FRCRN و ویسپر کوچک چندشرایطی ثابت‌اند و تنها پل آموزش می‌بیند. از دو نما یک ضریب برای هر گفتار پیش‌بینی می‌شود. هدف آموزش از کیفیت ادراکی و اطلاعات بازشناسی ازپیش‌محاسبه‌شده استفاده می‌کند. این اجرا بازتولید تأییدشده کد نویسندگان نیست. امتیازهای اسلاید بعد، نتایج فارسی همین پایان‌نامه‌اند و به نتایج CHiME-4 مقاله تعلق ندارند.</a:t>
            </a:r>
          </a:p>
          <a:p xmlns:a="http://schemas.openxmlformats.org/drawingml/2006/main">
            <a:pPr rtl="0"/>
            <a:r>
              <a:t/>
            </a:r>
          </a:p>
          <a:p xmlns:a="http://schemas.openxmlformats.org/drawingml/2006/main">
            <a:pPr rtl="1"/>
            <a:r>
              <a:t>زمان پیشنهادی: ۷۰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Thesis/presentation/assets/cui2025-bridge-figure1.source.md</a:t>
            </a:r>
          </a:p>
          <a:p xmlns:a="http://schemas.openxmlformats.org/drawingml/2006/main">
            <a:pPr rtl="0"/>
            <a:r>
              <a:t>https://doi.org/10.1109/ICASSP49660.2025.10889737</a:t>
            </a:r>
          </a:p>
          <a:p xmlns:a="http://schemas.openxmlformats.org/drawingml/2006/main">
            <a:pPr rtl="0"/>
            <a:r>
              <a:t>https://arxiv.org/html/2501.02452v1#S1.F1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همجوشی نرخ خطای واژه تجمیعی را از ۱۷٫۸۳ به ۱۷٫۶۴ و خطای تماس واقعی را از ۲۵٫۸۰ به ۲۵٫۳۷ درصد رسانده است. پل تطبیقی از نظر WER تجمیعی کمی بهتر از مرجع است، اما CER آن بیشتر می‌شود و خطای تماس واقعی تقریباً در سطح مرجع می‌ماند. اختلاف‌های همجوشی کوچک‌اند و بدون اجرای چندبذری و فاصله اطمینان گزارش می‌شوند. این مقایسه مربوط به دو سامانه کامل با بهساز و برنامه آموزش متفاوت است. میانگین دروازه نمای بهسازی‌شده ۰٫۶۷۸۵ و میانه ۰٫۶۹۳۰ است، اما به‌علت مبادله اطلاعات پیش از دروازه، این آمار سهم علّی مستقل هر نما را نشان نمی‌دهد.</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آزمایش مستقل روی ویسپر بسیار کوچک و با آموزش فقط بر کامن‌وویس انجام شده است. همجوشی دوسویه در بین این پیکربندی‌ها، روی هر دو آزمون کمترین خطا را دارد. حذف توجه و استفاده از دروازه تنها، خطا را بالا می‌برد. استفاده از نمای اصلی یا بهسازی‌شده به‌تنهایی نیز ضعیف‌تر است. دو حالت تک‌نما در زمان استنتاج از نقطه وارسی همجوشی ساخته شده‌اند و کنترل تک‌جریانه مستقلِ آموزش‌دیده نیستند. بنابراین شواهد از استفاده هم‌زمان دو نما پشتیبانی می‌کنند، اما اثر آموزش اضافی و تفاوت ظرفیت را کاملاً جدا نمی‌کنند.</a:t>
            </a:r>
          </a:p>
          <a:p xmlns:a="http://schemas.openxmlformats.org/drawingml/2006/main">
            <a:pPr rtl="0"/>
            <a:r>
              <a:t/>
            </a:r>
          </a:p>
          <a:p xmlns:a="http://schemas.openxmlformats.org/drawingml/2006/main">
            <a:pPr rtl="1"/>
            <a:r>
              <a:t>زمان پیشنهادی: ۶۵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report/cv25-tiny-official/final-tests/summary.json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مجموع دریافت‌شده شامل ۳۷۷۷ کتاب صوتی و حدود ۶۳۰۰ ساعت صوت خام است. به‌دلیل محدودیت محاسبات، ۲۵۰ ساعت برای پردازش نهایی انتخاب شد. این مقدار هنوز حجم پیکره پذیرفته‌شده نیست. منبع و درهم‌سازی و قابلیت رمزگشایی بررسی می‌شوند و صوت خام باقی می‌ماند. پس از تبدیل به صوت تک‌کاناله شانزده کیلوهرتزی، Silero VAD مرز قطعه‌ها را تا حد ممکن روی سکوت یا افت انرژی قرار می‌دهد. طول هدف بیست ثانیه، بازه ترجیحی پانزده تا بیست و پنج ثانیه و سقف سخت بیست و هشت ثانیه است. قطعه‌ها هم‌پوشان نیستند و شناسه پایدار دارند.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Thesis/figs/long-audio-data-creation-pipeline.png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ویسپر متوسط سازگارشده با فارسی، متن معلم را تولید می‌کند. متن خام نگهداری و سپس با نرمال‌ساز مشترک فارسی پردازش می‌شود. Qwen فقط اصلاح محدود متن را با استفاده از بافت انجام می‌دهد و مرحله پالایش، قطعه‌های نامعتبر را حذف می‌کند. همه نمونه‌های پذیرفته‌شده، بدون حذف اجزای خط مبنا به ترکیب اصلی، بلند و تخریب‌شده افزوده می‌شوند. مدل کوچک جدید، تعداد گام‌ها، نرخ یادگیری و تنظیمات اصلی مشابه مرجع چندشرایطی دارد. ویسپر متوسط هم معلم شبه‌برچسب و هم مرجع زمینه‌ای با ظرفیت بیشتر است.</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Thesis/figs/long-audio-data-creation-pipeline.png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از ۴۴۸۲۰ قطعه بررسی‌شده، ۳۹۴۵۴ قطعه پذیرفته و ۵۳۶۶ قطعه رد شده‌اند. صوت پذیرفته‌شده از ۱۳۶ فایل منبع و در مجموع ۲۱۸٫۵۶۴ ساعت است. چهل شکست عملیاتی جدا ثبت شده‌اند. دستور نمایش‌داده‌شده، ترجمه یک قاعده واقعی در پرامپت پایان‌نامه است. اعداد باید دقیقاً حفظ شوند. اصلاح واژه فقط در صورت پشتیبانی قوی متن و بافت مجاز است. Qwen به صوت دسترسی ندارد. تغییرات بیش از حد و عدم قطعیت باعث رد می‌شوند. تقسیم در سطح کتاب انجام می‌شود تا قطعه‌های نزدیک در آموزش و اعتبارسنجی پخش نشوند. این تدابیر جای ممیزی انسانی کیفیت را نمی‌گیرند.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افزودن ایران‌صدا خطای تجمیعی را کاهش می‌دهد، اما اثر یکنواختی ندارد. در فلورز و پیکره گفتار فارسی بهبود قابل توجه است. تغییر بزرگ PersianSpeech با توجه به تنها بیست و چهار نمونه، مقدماتی است. در مقابل، خطای AGFarsdat به اندازه ۰٫۸۶ واحد درصد و کامن‌وویس ۰٫۳۵ واحد درصد بیشتر می‌شود. CER همین دو مجموعه نیز به‌ترتیب ۰٫۳۴ و ۰٫۰۷ واحد درصد افزایش دارد. WER تجمیعی از ۱۷٫۸۳ به ۱۷٫۲۲ درصد، یعنی ۰٫۶۱ واحد درصد بهبود یافته است. آزمایش فعلی مشخص نمی‌کند سبک، کانال، برچسب یا نسبت اختلاط کدام‌یک این الگو را ایجاد کرده است.</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بزرگ‌ترین بهبود کنترل‌شده مقاومت مخابراتی با آموزش چندشرایطی به دست می‌آید. همجوشی نسبت به این مرجع، سود عددی کوچکی اضافه می‌کند. ایران‌صدا کمترین خطای تجمیعی را بین مدل‌های کوچک دارد، در حالی که همجوشی کمترین خطای تماس واقعی را ثبت می‌کند. بنابراین معیار انتخاب به دامنه هدف بستگی دارد. ویسپر متوسط ۱۴٫۳۶ درصد WER تجمیعی و ۲۱٫۹۹ درصد خطای تماس دارد، اما چون ظرفیت و برنامه آموزش آن متفاوت است، این مقایسه اثر خالص داده را نشان نمی‌دهد. پل در بخش قبل بررسی شد و اینجا دوباره وارد جدول نشده است.</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برای اختلاف‌های کوچک باید چند بذر اجرا شود و با نمونه‌های دقیقاً مشترک، فاصله اطمینان به دست آید. برای همجوشی، کنترل تک‌جریانه با آموزش اضافی برابر، آزمایش حذفی در مقیاس مدل کوچک و سنجش هزینه زمان و حافظه لازم است. کیفیت متن معلم و تغییرات Qwen باید جداگانه با نمونه رونویسی انسانی ممیزی شوند. برای ایران‌صدا نیز نسبت‌های مختلف اختلاط و داده نزدیک‌تر به تماس باید آزموده شوند. پوشش شبیه‌ساز کامل نیست و خصوصی‌بودن AGFarsdat، بازبینی مستقل بیرونی را محدود می‌کند.</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آموزش متناسب با تخریب‌های مخابراتی، بیشترین بهبود مقاومت بازشناسی فارسی را در آزمایش‌های اصلی ایجاد کرد. نرخ خطای تماس واقعی از ۳۵٫۶۳ به ۲۵٫۸۰ درصد رسید. همجوشی سود عددی کوچک‌تری اضافه کرد و به ۲۵٫۳۷ درصد رسید. داده کتاب صوتی نتیجه تجمیعی را به ۱۷٫۲۲ درصد رساند، اما سود آن به دامنه وابسته بود و به تماس واقعی منتقل نشد. این پژوهش سامانه‌های بازتولیدپذیر و شواهدی برای سازگارسازی بازشناس فارسی در شرایط محدودیت داده مخابراتی فراهم می‌کند. سپاسگزارم و آماده پاسخ‌گویی به پرسش‌ها هستم.</a:t>
            </a:r>
          </a:p>
          <a:p xmlns:a="http://schemas.openxmlformats.org/drawingml/2006/main">
            <a:pPr rtl="0"/>
            <a:r>
              <a:t/>
            </a:r>
          </a:p>
          <a:p xmlns:a="http://schemas.openxmlformats.org/drawingml/2006/main">
            <a:pPr rtl="1"/>
            <a:r>
              <a:t>زمان پیشنهادی: ۴۰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بخش برای مراجعه هنگام پرسش و پاسخ است. اندازه پیکره‌ها و تنظیمات خط مبنا، نتایج مجموعه‌های آزمون، آزمایش فست کانفورمر، گونه‌های تکمیلی ویسپر بسیار کوچک و مقایسه صدنمونه‌ای در اسلایدهای بعد آمده‌اند.</a:t>
            </a:r>
          </a:p>
          <a:p xmlns:a="http://schemas.openxmlformats.org/drawingml/2006/main">
            <a:pPr rtl="0"/>
            <a:r>
              <a:t/>
            </a:r>
          </a:p>
          <a:p xmlns:a="http://schemas.openxmlformats.org/drawingml/2006/main">
            <a:pPr rtl="1"/>
            <a:r>
              <a:t>زمان پیشنهادی: در صورت نیاز</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اعداد جدول، تعداد رکوردهای آموزش و اعتبارسنجی پیکره‌های پایه پیش از افزودن ایران‌صدا هستند و شامل شمارش گونه‌های بلند و تخریب‌شده نیستند. آموزش و ارزیابی پس از تبدیل صوت به تک‌کاناله شانزده کیلوهرتز انجام می‌شود. ویسپر کوچک معمولی و چندشرایطی هر دو یک دوره با نرخ یادگیری ده به توان منفی پنج، دسته چهار و انباشت هشت گام آموزش دیدند. AGFarsdat در منبع شامل ۱۰۰۴۴ گفته از ۵۸۵ گوینده و ۴۹٫۹ ساعت صوت هشت کیلوهرتزی است. این آزمون خصوصی است و در آموزش یا انتخاب مدل حضور ندارد. حجم محدود PersianSpeech و تفاوت تعداد نمونه واجدشرایط در پیکره گفتار فارسی باید در مقایسه‌ها لحاظ شوند.</a:t>
            </a:r>
          </a:p>
          <a:p xmlns:a="http://schemas.openxmlformats.org/drawingml/2006/main">
            <a:pPr rtl="0"/>
            <a:r>
              <a:t/>
            </a:r>
          </a:p>
          <a:p xmlns:a="http://schemas.openxmlformats.org/drawingml/2006/main">
            <a:pPr rtl="1"/>
            <a:r>
              <a:t>زمان پیشنهادی: در صورت نیاز، حدود ۴۵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1"/>
            <a:r>
              <a:t>جدول:داده-آموزش</a:t>
            </a:r>
          </a:p>
          <a:p xmlns:a="http://schemas.openxmlformats.org/drawingml/2006/main">
            <a:pPr rtl="1"/>
            <a:r>
              <a:t>جدول:داده-آزمون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جدول همه هشت سامانه جدول نتایج مجموعه‌ای پایان‌نامه را با WER تنها نشان می‌دهد. همه ردیف‌ها جز ردیف ویسپر متوسط از ویسپر کوچک استفاده می‌کنند. عدد کمتر بهتر است و کمینه هر ستون با رنگ مشخص شده است. ویسپر متوسط در تماس واقعی و کامن‌وویس کمترین خطا را دارد. مدل دارای ایران‌صدا در سه مجموعه دیگر بهتر است. نتایج CER در جدول اصلی پایان‌نامه آمده‌اند و ممکن است رتبه‌بندی آن‌ها متفاوت باشد. PersianSpeech فقط ۲۴ نمونه دارد و تعداد نمونه واجدشرایط Persian Speech Corpus میان سامانه‌ها یکسان نیست. بنابراین این جدول مقایسه‌ای از سامانه‌های کامل است و برای همه خانه‌ها ادعای جفت‌شدگی دقیق نمونه‌ها ندارد.</a:t>
            </a:r>
          </a:p>
          <a:p xmlns:a="http://schemas.openxmlformats.org/drawingml/2006/main">
            <a:pPr rtl="0"/>
            <a:r>
              <a:t/>
            </a:r>
          </a:p>
          <a:p xmlns:a="http://schemas.openxmlformats.org/drawingml/2006/main">
            <a:pPr rtl="1"/>
            <a:r>
              <a:t>زمان پیشنهادی: در صورت نیاز، حدود ۶۰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1"/>
            <a:r>
              <a:t>جدول:نتایج-مجموعه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فست کانفورمر CTC با داده‌های معمولی و چندشرایطی، تعداد گام‌های برابر و نرخ یادگیری پنج ضرب در ده به توان منفی پنج مقایسه شد. دسته هشت و انباشت چهار گام بود و رمزگشایی حریصانه انجام شد. همه مقادیر جدول درصدند. WER تجمیعی ۰٫۹۲ واحد درصد و WER تماس واقعی ۰٫۵۹ واحد درصد بهتر شد. بیشترین کاهش WER در کامن‌وویس بود، اما فلورز و پرشین‌اسپیچ اندکی بدتر شدند. بهبود تجمیعی و تماس واقعی از انتقال اثر داده‌افزایی به خانواده‌ای دیگر پشتیبانی می‌کند، با اندازه اثر کمتر در پیکربندی اجراشده. تفاوت معماری، مدل پیش‌آموزش‌دیده و برنامه آموزش اجازه نمی‌دهد مقایسه مستقیم با ویسپر را آزمون خالص معماری بدانیم.</a:t>
            </a:r>
          </a:p>
          <a:p xmlns:a="http://schemas.openxmlformats.org/drawingml/2006/main">
            <a:pPr rtl="0"/>
            <a:r>
              <a:t/>
            </a:r>
          </a:p>
          <a:p xmlns:a="http://schemas.openxmlformats.org/drawingml/2006/main">
            <a:pPr rtl="1"/>
            <a:r>
              <a:t>زمان پیشنهادی: در صورت نیاز، حدود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Thesis/chapters/results.tex</a:t>
            </a:r>
          </a:p>
          <a:p xmlns:a="http://schemas.openxmlformats.org/drawingml/2006/main">
            <a:pPr rtl="1"/>
            <a:r>
              <a:t>جدول:نتایج-فست-کانفورمر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همه نه پیکربندی جدول حذف مؤلفه ویسپر بسیار کوچک نمایش داده شده‌اند. همه مقادیر درصدند. فقط نمای اصلی و فقط نمای بهسازی‌شده، حذف مسیر در استنتاج از مدل همجوشی آموزش‌دیده‌اند و مدل‌های تک‌جریانه مستقل نیستند. نسخه توجه باقیمانده، تبادل یک‌سویه و وزن مشترک گفتار دارد. PQ کیفیت ادراکی و RI اطلاعات بازشناسی است. نسخه پل با فقط صوت بهسازی‌شده، خروجی FRCRN را مستقیماً به بازشناس ثابت می‌دهد. افزودن RI در این اجرا سود روشنی نشان نداد و استفاده مستقیم از بهسازی خطا را بیشتر کرد. گونه دوسویه کمترین WER و CER را دارد، اما گونه‌ها ظرفیت یکسان ندارند و آموزش مشترک اضافی همجوشی در برابر پنج دوره آموزش پل با بازشناس ثابت، سهم مؤلفه‌ها را کاملاً جدا نمی‌کند. این مطالعه از آزمایش ویسپر کوچک مستقل است.</a:t>
            </a:r>
          </a:p>
          <a:p xmlns:a="http://schemas.openxmlformats.org/drawingml/2006/main">
            <a:pPr rtl="0"/>
            <a:r>
              <a:t/>
            </a:r>
          </a:p>
          <a:p xmlns:a="http://schemas.openxmlformats.org/drawingml/2006/main">
            <a:pPr rtl="1"/>
            <a:r>
              <a:t>زمان پیشنهادی: در صورت نیاز، حدود ۶۰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1"/>
            <a:r>
              <a:t>جدول:حذف-مولفه-ویسپر-بسیار-کوچک</a:t>
            </a:r>
          </a:p>
          <a:p xmlns:a="http://schemas.openxmlformats.org/drawingml/2006/main">
            <a:pPr rtl="0"/>
            <a:r>
              <a:t>report/cv25-tiny-official/final-tests/summary.json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اعداد، نتایج ثبت‌شده در پایان‌نامه روی یک زیرمجموعه ثابت صدنمونه‌ای هستند. از هر یک از پنج مجموعه بیست نمونه تصادفی انتخاب شد. نرمال‌سازی مرجع و خروجی مشترک است و تجمیع از مجموع شمارش خطا و واحد مرجع انجام می‌شود. همه نه مدل جدول اصلی آمده‌اند، با WER و CER تجمیعی و WER تماس واقعی. CER تماس واقعی و نتایج چهار مجموعه دیگر در جدول پایان‌نامه موجودند. Chirp 3 در این زیرمجموعه کمترین خطا را دارد. رتبه‌بندی سه مدل پژوهش با آزمون کامل متفاوت است، بنابراین نتیجه فقط به همین زیرمجموعه تعلق دارد و رتبه‌بندی عمومی یا روزآمد مدل‌ها نیست. WER می‌تواند با زیادشدن درج‌ها از صد درصد بیشتر شود. تاریخ دقیق اجرای سرویس‌ها و جزئیات تنظیمات آن‌ها در این جدول گزارش نشده است.</a:t>
            </a:r>
          </a:p>
          <a:p xmlns:a="http://schemas.openxmlformats.org/drawingml/2006/main">
            <a:pPr rtl="0"/>
            <a:r>
              <a:t/>
            </a:r>
          </a:p>
          <a:p xmlns:a="http://schemas.openxmlformats.org/drawingml/2006/main">
            <a:pPr rtl="1"/>
            <a:r>
              <a:t>زمان پیشنهادی: در صورت نیاز، حدود ۶۰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1"/>
            <a:r>
              <a:t>جدول:مقایسه-صدنمونه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1f087f030b42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33d28976424d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385a37c46f42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004ed933284d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cc55a109a140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db37ab5acf42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C43E53-1539-4E4E-B55C-63FAC29F63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93CBF7-474E-407D-BCAC-B841ABE70B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D74260-28B6-4338-AF65-23F63A8A3B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E5A25D-3CAD-4715-B790-FDDA1E0081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5BD876-B3FB-4067-BC7B-0B9256695A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68196B-3061-44AA-A0AD-62FDC753BD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70AE23-137C-4105-82B6-3F3A50F584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970933-FF44-4AA7-A6FB-B31F60DEA8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368FE2-E187-4176-8EF8-EC6FA16DAB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82E559-24D2-415A-9EF2-2CE960F336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57aaf4fda442bf" /><Relationship Type="http://schemas.openxmlformats.org/officeDocument/2006/relationships/slideLayout" Target="/ppt/slideLayouts/slideLayout1.xml" Id="Rea4c833bc3d64e1c" /><Relationship Type="http://schemas.openxmlformats.org/officeDocument/2006/relationships/slideLayout" Target="/ppt/slideLayouts/slideLayout2.xml" Id="R0e1c2bf9daf24ea0" /><Relationship Type="http://schemas.openxmlformats.org/officeDocument/2006/relationships/slideLayout" Target="/ppt/slideLayouts/slideLayout3.xml" Id="R672e9be5f2844f9c" /><Relationship Type="http://schemas.openxmlformats.org/officeDocument/2006/relationships/slideLayout" Target="/ppt/slideLayouts/slideLayout4.xml" Id="Rc348be98c1be4b63" /><Relationship Type="http://schemas.openxmlformats.org/officeDocument/2006/relationships/slideLayout" Target="/ppt/slideLayouts/slideLayout5.xml" Id="R4c3634e7a2bf4a26" /><Relationship Type="http://schemas.openxmlformats.org/officeDocument/2006/relationships/slideLayout" Target="/ppt/slideLayouts/slideLayout6.xml" Id="R06a68d13afd04a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4c833bc3d64e1c"/>
    <p:sldLayoutId xmlns:r="http://schemas.openxmlformats.org/officeDocument/2006/relationships" id="2147483650" r:id="R0e1c2bf9daf24ea0"/>
    <p:sldLayoutId xmlns:r="http://schemas.openxmlformats.org/officeDocument/2006/relationships" id="2147483651" r:id="R672e9be5f2844f9c"/>
    <p:sldLayoutId xmlns:r="http://schemas.openxmlformats.org/officeDocument/2006/relationships" id="2147483652" r:id="Rc348be98c1be4b63"/>
    <p:sldLayoutId xmlns:r="http://schemas.openxmlformats.org/officeDocument/2006/relationships" id="2147483653" r:id="R4c3634e7a2bf4a26"/>
    <p:sldLayoutId xmlns:r="http://schemas.openxmlformats.org/officeDocument/2006/relationships" id="2147483654" r:id="R06a68d13afd04a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
      </a:majorFont>
      <a:minorFont>
        <a:latin typeface="Vazirmat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134b63c7604462" /><Relationship Type="http://schemas.openxmlformats.org/officeDocument/2006/relationships/image" Target="/ppt/media/image.png" Id="Re2da839a807c470a" /><Relationship Type="http://schemas.openxmlformats.org/officeDocument/2006/relationships/notesSlide" Target="/ppt/notesSlides/notesSlide1.xml" Id="R8bf2e6e86ef84f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234937f6ba4c73" /><Relationship Type="http://schemas.openxmlformats.org/officeDocument/2006/relationships/notesSlide" Target="/ppt/notesSlides/notesSlide2.xml" Id="Rd5d4bb85bf1046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fa069825d04e04" /><Relationship Type="http://schemas.openxmlformats.org/officeDocument/2006/relationships/notesSlide" Target="/ppt/notesSlides/notesSlide3.xml" Id="R19d696f8f7964f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9eb312af0944f9" /><Relationship Type="http://schemas.openxmlformats.org/officeDocument/2006/relationships/notesSlide" Target="/ppt/notesSlides/notesSlide4.xml" Id="Rf777c59dac9842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5e5fba81434f6c" /><Relationship Type="http://schemas.openxmlformats.org/officeDocument/2006/relationships/notesSlide" Target="/ppt/notesSlides/notesSlide5.xml" Id="Rd6344f0022e546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9cc071d8af4e8a" /><Relationship Type="http://schemas.openxmlformats.org/officeDocument/2006/relationships/notesSlide" Target="/ppt/notesSlides/notesSlide6.xml" Id="Rf972e944f35a40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f668232f884342" /><Relationship Type="http://schemas.openxmlformats.org/officeDocument/2006/relationships/notesSlide" Target="/ppt/notesSlides/notesSlide7.xml" Id="R85ebdb7c63274c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44c01afec14ed6" /><Relationship Type="http://schemas.openxmlformats.org/officeDocument/2006/relationships/image" Target="/ppt/media/image2.png" Id="R5e7358c5fa2641be" /><Relationship Type="http://schemas.openxmlformats.org/officeDocument/2006/relationships/notesSlide" Target="/ppt/notesSlides/notesSlide8.xml" Id="Rf57377ccbab548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164299bab9b471f" /><Relationship Type="http://schemas.openxmlformats.org/officeDocument/2006/relationships/image" Target="/ppt/media/image3.png" Id="Rf92483dce8824372" /><Relationship Type="http://schemas.openxmlformats.org/officeDocument/2006/relationships/notesSlide" Target="/ppt/notesSlides/notesSlide9.xml" Id="R44c6120ba1354f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6e9b81d97a4e19" /><Relationship Type="http://schemas.openxmlformats.org/officeDocument/2006/relationships/chart" Target="/ppt/slides/charts/chart1.xml" Id="R96fd6ce60e2c46ad" /><Relationship Type="http://schemas.openxmlformats.org/officeDocument/2006/relationships/notesSlide" Target="/ppt/notesSlides/notesSlide10.xml" Id="R48280f15a23b42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5bae11a9d64071" /><Relationship Type="http://schemas.openxmlformats.org/officeDocument/2006/relationships/image" Target="/ppt/media/image4.png" Id="Ra1243052f38a49b7" /><Relationship Type="http://schemas.openxmlformats.org/officeDocument/2006/relationships/notesSlide" Target="/ppt/notesSlides/notesSlide11.xml" Id="R2f4491aa7aa840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1f31c8136244ef" /><Relationship Type="http://schemas.openxmlformats.org/officeDocument/2006/relationships/image" Target="/ppt/media/image5.png" Id="R627161ceecc44c9b" /><Relationship Type="http://schemas.openxmlformats.org/officeDocument/2006/relationships/notesSlide" Target="/ppt/notesSlides/notesSlide12.xml" Id="R16500573099f4e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7a40d203c347b2" /><Relationship Type="http://schemas.openxmlformats.org/officeDocument/2006/relationships/image" Target="/ppt/media/image6.png" Id="Rc1ee432d06784268" /><Relationship Type="http://schemas.openxmlformats.org/officeDocument/2006/relationships/notesSlide" Target="/ppt/notesSlides/notesSlide13.xml" Id="Re9a5410dde724d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0944d7a85a4362" /><Relationship Type="http://schemas.openxmlformats.org/officeDocument/2006/relationships/chart" Target="/ppt/slides/charts/chart2.xml" Id="Re399a8b2cc4545cf" /><Relationship Type="http://schemas.openxmlformats.org/officeDocument/2006/relationships/chart" Target="/ppt/slides/charts/chart3.xml" Id="R9d3f22e9a4614a74" /><Relationship Type="http://schemas.openxmlformats.org/officeDocument/2006/relationships/notesSlide" Target="/ppt/notesSlides/notesSlide14.xml" Id="Rf7d17844d9114d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45b3118447b4a54" /><Relationship Type="http://schemas.openxmlformats.org/officeDocument/2006/relationships/chart" Target="/ppt/slides/charts/chart4.xml" Id="R0589381a663e48da" /><Relationship Type="http://schemas.openxmlformats.org/officeDocument/2006/relationships/notesSlide" Target="/ppt/notesSlides/notesSlide15.xml" Id="Rd45e09f357424d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acd57513fdf4cfe" /><Relationship Type="http://schemas.openxmlformats.org/officeDocument/2006/relationships/image" Target="/ppt/media/image7.png" Id="Rc2de4baeb36d4b58" /><Relationship Type="http://schemas.openxmlformats.org/officeDocument/2006/relationships/notesSlide" Target="/ppt/notesSlides/notesSlide16.xml" Id="R4c8760065c8443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3991d1f301d46ff" /><Relationship Type="http://schemas.openxmlformats.org/officeDocument/2006/relationships/image" Target="/ppt/media/image8.png" Id="R9f92afb3b31a4a61" /><Relationship Type="http://schemas.openxmlformats.org/officeDocument/2006/relationships/image" Target="/ppt/media/image9.png" Id="R8afe15f05b01481d" /><Relationship Type="http://schemas.openxmlformats.org/officeDocument/2006/relationships/image" Target="/ppt/media/image10.png" Id="Rf5d2db23fdfc4e95" /><Relationship Type="http://schemas.openxmlformats.org/officeDocument/2006/relationships/image" Target="/ppt/media/image11.png" Id="R96de028456fc45d4" /><Relationship Type="http://schemas.openxmlformats.org/officeDocument/2006/relationships/notesSlide" Target="/ppt/notesSlides/notesSlide17.xml" Id="R0bba477b1a2a4b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231e00421124964" /><Relationship Type="http://schemas.openxmlformats.org/officeDocument/2006/relationships/notesSlide" Target="/ppt/notesSlides/notesSlide18.xml" Id="Raa4da60e9c8140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5452647b0c34758" /><Relationship Type="http://schemas.openxmlformats.org/officeDocument/2006/relationships/chart" Target="/ppt/slides/charts/chart5.xml" Id="R4a9562c9a57e4e71" /><Relationship Type="http://schemas.openxmlformats.org/officeDocument/2006/relationships/notesSlide" Target="/ppt/notesSlides/notesSlide19.xml" Id="R8d3e02aac80f4c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51a3b318b974d93" /><Relationship Type="http://schemas.openxmlformats.org/officeDocument/2006/relationships/notesSlide" Target="/ppt/notesSlides/notesSlide20.xml" Id="Rb51e70a0ba5847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251166d477946c5" /><Relationship Type="http://schemas.openxmlformats.org/officeDocument/2006/relationships/notesSlide" Target="/ppt/notesSlides/notesSlide21.xml" Id="R2b0f82aca77645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404cf2366a6452b" /><Relationship Type="http://schemas.openxmlformats.org/officeDocument/2006/relationships/notesSlide" Target="/ppt/notesSlides/notesSlide22.xml" Id="R3d44ff16692847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2ac8fd4869e46da" /><Relationship Type="http://schemas.openxmlformats.org/officeDocument/2006/relationships/notesSlide" Target="/ppt/notesSlides/notesSlide23.xml" Id="R615034ea43b9438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2687444cd144681" /><Relationship Type="http://schemas.openxmlformats.org/officeDocument/2006/relationships/notesSlide" Target="/ppt/notesSlides/notesSlide24.xml" Id="R2922d347061c49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521abea5a2b4cbb" /><Relationship Type="http://schemas.openxmlformats.org/officeDocument/2006/relationships/notesSlide" Target="/ppt/notesSlides/notesSlide25.xml" Id="R81e5435d5d8947e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4bc9d4881ac4b5c" /><Relationship Type="http://schemas.openxmlformats.org/officeDocument/2006/relationships/notesSlide" Target="/ppt/notesSlides/notesSlide26.xml" Id="Rcdcef5c49a984d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4fda4bd16274a0f" /><Relationship Type="http://schemas.openxmlformats.org/officeDocument/2006/relationships/notesSlide" Target="/ppt/notesSlides/notesSlide27.xml" Id="Rfb5940843fcb4a5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46a481fac114be5" /><Relationship Type="http://schemas.openxmlformats.org/officeDocument/2006/relationships/notesSlide" Target="/ppt/notesSlides/notesSlide28.xml" Id="R28cd5bb84d5444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8DA1A9"/>
              </a:solidFill>
            </c:spPr>
          </c:dPt>
          <c:dPt>
            <c:idx val="2"/>
            <c:invertIfNegative val="0"/>
            <c:spPr>
              <a:solidFill xmlns:a="http://schemas.openxmlformats.org/drawingml/2006/main">
                <a:srgbClr val="63828E"/>
              </a:solidFill>
            </c:spPr>
          </c:dPt>
          <c:dPt>
            <c:idx val="3"/>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۳۵٫۶۳٪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۳۲٫۶۷٪</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۳۰٫۰۱٪</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Data'!$A$2:$A$5</c:f>
              <c:strCache>
                <c:ptCount val="4"/>
                <c:pt idx="0">
                  <c:v>معمولی</c:v>
                </c:pt>
                <c:pt idx="1">
                  <c:v>فقط نویز</c:v>
                </c:pt>
                <c:pt idx="2">
                  <c:v>pMCT</c:v>
                </c:pt>
                <c:pt idx="3">
                  <c:v>چندشرایطی
مخابراتی</c:v>
                </c:pt>
              </c:strCache>
            </c:strRef>
          </c:cat>
          <c:val>
            <c:numRef>
              <c:f>'Chart Data'!$B$2:$B$5</c:f>
              <c:numCache>
                <c:formatCode>0.00%</c:formatCode>
                <c:ptCount val="4"/>
                <c:pt idx="0">
                  <c:v>0.3563</c:v>
                </c:pt>
                <c:pt idx="1">
                  <c:v>0.3267</c:v>
                </c:pt>
                <c:pt idx="2">
                  <c:v>0.3001</c:v>
                </c:pt>
                <c:pt idx="3">
                  <c:v>0.258</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725">
                <a:solidFill>
                  <a:srgbClr val="153D42"/>
                </a:solidFill>
                <a:latin typeface="Vazirmatn"/>
                <a:ea typeface="Vazirmatn"/>
                <a:cs typeface="Vazirmatn"/>
              </a:defRPr>
            </a:pPr>
          </a:p>
        </c:txPr>
        <c:crossAx val="48672768"/>
      </c:catAx>
      <c:valAx>
        <c:axId val="48672768"/>
        <c:scaling>
          <c:orientation val="minMax"/>
          <c:max val="0.4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1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۱۷٫۸۳٪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۱۷٫۷۴٪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۱۷٫۶۴٪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Data'!$A$2:$A$4</c:f>
              <c:strCache>
                <c:ptCount val="3"/>
                <c:pt idx="0">
                  <c:v>چندشرایطی</c:v>
                </c:pt>
                <c:pt idx="1">
                  <c:v>پل تطبیقی</c:v>
                </c:pt>
                <c:pt idx="2">
                  <c:v>همجوشی</c:v>
                </c:pt>
              </c:strCache>
            </c:strRef>
          </c:cat>
          <c:val>
            <c:numRef>
              <c:f>'Chart Data'!$B$2:$B$4</c:f>
              <c:numCache>
                <c:formatCode>0.00%</c:formatCode>
                <c:ptCount val="3"/>
                <c:pt idx="0">
                  <c:v>0.1783</c:v>
                </c:pt>
                <c:pt idx="1">
                  <c:v>0.1774</c:v>
                </c:pt>
                <c:pt idx="2">
                  <c:v>0.1764</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650">
                <a:solidFill>
                  <a:srgbClr val="153D42"/>
                </a:solidFill>
                <a:latin typeface="Vazirmatn"/>
                <a:ea typeface="Vazirmatn"/>
                <a:cs typeface="Vazirmatn"/>
              </a:defRPr>
            </a:pPr>
          </a:p>
        </c:txPr>
        <c:crossAx val="48672768"/>
      </c:catAx>
      <c:valAx>
        <c:axId val="48672768"/>
        <c:scaling>
          <c:orientation val="minMax"/>
          <c:max val="0.2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05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۲۵٫۳۷٪</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Data'!$A$2:$A$4</c:f>
              <c:strCache>
                <c:ptCount val="3"/>
                <c:pt idx="0">
                  <c:v>چندشرایطی</c:v>
                </c:pt>
                <c:pt idx="1">
                  <c:v>پل تطبیقی</c:v>
                </c:pt>
                <c:pt idx="2">
                  <c:v>همجوشی</c:v>
                </c:pt>
              </c:strCache>
            </c:strRef>
          </c:cat>
          <c:val>
            <c:numRef>
              <c:f>'Chart Data'!$B$2:$B$4</c:f>
              <c:numCache>
                <c:formatCode>0.00%</c:formatCode>
                <c:ptCount val="3"/>
                <c:pt idx="0">
                  <c:v>0.258</c:v>
                </c:pt>
                <c:pt idx="1">
                  <c:v>0.2584</c:v>
                </c:pt>
                <c:pt idx="2">
                  <c:v>0.2537</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650">
                <a:solidFill>
                  <a:srgbClr val="153D42"/>
                </a:solidFill>
                <a:latin typeface="Vazirmatn"/>
                <a:ea typeface="Vazirmatn"/>
                <a:cs typeface="Vazirmatn"/>
              </a:defRPr>
            </a:pPr>
          </a:p>
        </c:txPr>
        <c:crossAx val="48672768"/>
      </c:catAx>
      <c:valAx>
        <c:axId val="48672768"/>
        <c:scaling>
          <c:orientation val="minMax"/>
          <c:max val="0.3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08"/>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1D6F8A"/>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8DA1A9"/>
              </a:solidFill>
            </c:spPr>
          </c:dPt>
          <c:dPt>
            <c:idx val="3"/>
            <c:invertIfNegative val="0"/>
            <c:spPr>
              <a:solidFill xmlns:a="http://schemas.openxmlformats.org/drawingml/2006/main">
                <a:srgbClr val="AAB6BB"/>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۶۳٫۵۰٪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۶۵٫۸۸٪</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۶۹٫۲۳٪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۶۹٫۶۹٪</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Data'!$A$2:$A$5</c:f>
              <c:strCache>
                <c:ptCount val="4"/>
                <c:pt idx="0">
                  <c:v>همجوشی
دوسویه</c:v>
                </c:pt>
                <c:pt idx="1">
                  <c:v>فقط دروازه</c:v>
                </c:pt>
                <c:pt idx="2">
                  <c:v>فقط نمای
اصلی¹</c:v>
                </c:pt>
                <c:pt idx="3">
                  <c:v>فقط نمای
بهسازی‌شده¹</c:v>
                </c:pt>
              </c:strCache>
            </c:strRef>
          </c:cat>
          <c:val>
            <c:numRef>
              <c:f>'Chart Data'!$B$2:$B$5</c:f>
              <c:numCache>
                <c:formatCode>0.00%</c:formatCode>
                <c:ptCount val="4"/>
                <c:pt idx="0">
                  <c:v>0.635</c:v>
                </c:pt>
                <c:pt idx="1">
                  <c:v>0.6588</c:v>
                </c:pt>
                <c:pt idx="2">
                  <c:v>0.6923</c:v>
                </c:pt>
                <c:pt idx="3">
                  <c:v>0.6969</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575">
                <a:solidFill>
                  <a:srgbClr val="153D42"/>
                </a:solidFill>
                <a:latin typeface="Vazirmatn"/>
                <a:ea typeface="Vazirmatn"/>
                <a:cs typeface="Vazirmatn"/>
              </a:defRPr>
            </a:pPr>
          </a:p>
        </c:txPr>
        <c:crossAx val="48672768"/>
      </c:catAx>
      <c:valAx>
        <c:axId val="48672768"/>
        <c:scaling>
          <c:orientation val="minMax"/>
          <c:max val="0.83"/>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207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تغییر نرخ خطای واژه</c:v>
          </c:tx>
          <c:spPr>
            <a:solidFill xmlns:a="http://schemas.openxmlformats.org/drawingml/2006/main">
              <a:srgbClr val="1D6F8A"/>
            </a:solidFill>
          </c:spPr>
          <c:invertIfNegative val="0"/>
          <c:dPt>
            <c:idx val="0"/>
            <c:invertIfNegative val="0"/>
            <c:spPr>
              <a:solidFill xmlns:a="http://schemas.openxmlformats.org/drawingml/2006/main">
                <a:srgbClr val="7B8794"/>
              </a:solidFill>
            </c:spPr>
          </c:dPt>
          <c:dPt>
            <c:idx val="1"/>
            <c:invertIfNegative val="0"/>
            <c:spPr>
              <a:solidFill xmlns:a="http://schemas.openxmlformats.org/drawingml/2006/main">
                <a:srgbClr val="AAB6BB"/>
              </a:solidFill>
            </c:spPr>
          </c:dPt>
          <c:dPt>
            <c:idx val="2"/>
            <c:invertIfNegative val="0"/>
            <c:spPr>
              <a:solidFill xmlns:a="http://schemas.openxmlformats.org/drawingml/2006/main">
                <a:srgbClr val="1D6F8A"/>
              </a:solidFill>
            </c:spPr>
          </c:dPt>
          <c:dPt>
            <c:idx val="3"/>
            <c:invertIfNegative val="0"/>
            <c:spPr>
              <a:solidFill xmlns:a="http://schemas.openxmlformats.org/drawingml/2006/main">
                <a:srgbClr val="1D6F8A"/>
              </a:solidFill>
            </c:spPr>
          </c:dPt>
          <c:dPt>
            <c:idx val="4"/>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+۰٫۸۶</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+۰٫۳۵</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−۶٫۰۴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−۸٫۳۹</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4"/>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−۵٫۰۳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Data'!$A$2:$A$6</c:f>
              <c:strCache>
                <c:ptCount val="5"/>
                <c:pt idx="0">
                  <c:v>AGFarsdat</c:v>
                </c:pt>
                <c:pt idx="1">
                  <c:v>Common Voice</c:v>
                </c:pt>
                <c:pt idx="2">
                  <c:v>FLEURS</c:v>
                </c:pt>
                <c:pt idx="3">
                  <c:v>PersianSpeech¹</c:v>
                </c:pt>
                <c:pt idx="4">
                  <c:v>Persian Speech
Corpus</c:v>
                </c:pt>
              </c:strCache>
            </c:strRef>
          </c:cat>
          <c:val>
            <c:numRef>
              <c:f>'Chart Data'!$B$2:$B$6</c:f>
              <c:numCache>
                <c:formatCode>+0.00;-0.00;0</c:formatCode>
                <c:ptCount val="5"/>
                <c:pt idx="0">
                  <c:v>0.86</c:v>
                </c:pt>
                <c:pt idx="1">
                  <c:v>0.35</c:v>
                </c:pt>
                <c:pt idx="2">
                  <c:v>-6.04</c:v>
                </c:pt>
                <c:pt idx="3">
                  <c:v>-8.39</c:v>
                </c:pt>
                <c:pt idx="4">
                  <c:v>-5.03</c:v>
                </c:pt>
              </c:numCache>
            </c:numRef>
          </c:val>
        </c:ser>
        <c:dLbls>
          <c:numFmt formatCode="+0.00;-0.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17145">
            <a:solidFill>
              <a:srgbClr val="153D42"/>
            </a:solidFill>
          </a:ln>
        </c:spPr>
        <c:txPr>
          <a:bodyPr xmlns:a="http://schemas.openxmlformats.org/drawingml/2006/main" anchorCtr="1"/>
          <a:lstStyle xmlns:a="http://schemas.openxmlformats.org/drawingml/2006/main"/>
          <a:p xmlns:a="http://schemas.openxmlformats.org/drawingml/2006/main">
            <a:pPr rtl="1">
              <a:defRPr sz="1575">
                <a:solidFill>
                  <a:srgbClr val="153D42"/>
                </a:solidFill>
                <a:latin typeface="Vazirmatn"/>
                <a:ea typeface="Vazirmatn"/>
                <a:cs typeface="Vazirmatn"/>
              </a:defRPr>
            </a:pPr>
          </a:p>
        </c:txPr>
        <c:crossAx val="48672768"/>
      </c:catAx>
      <c:valAx>
        <c:axId val="48672768"/>
        <c:scaling>
          <c:orientation val="minMax"/>
          <c:max val="2"/>
          <c:min val="-10"/>
        </c:scaling>
        <c:delete val="0"/>
        <c:axPos val="l"/>
        <c:majorGridlines>
          <c:spPr>
            <a:ln xmlns:a="http://schemas.openxmlformats.org/drawingml/2006/main" w="6668">
              <a:solidFill>
                <a:srgbClr val="D5DCD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55ACF0E-6679-418B-8213-61FB8AB5B222}"/>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rtl="0"/>
            <a:r>
              <a:t/>
            </a:r>
          </a:p>
        </p:txBody>
      </p:sp>
      <p:sp>
        <p:nvSpPr>
          <p:cNvPr id="2" name="">
            <a:extLst xmlns:a="http://schemas.openxmlformats.org/drawingml/2006/main">
              <a:ext uri="{FF2B5EF4-FFF2-40B4-BE49-F238E27FC236}">
                <a16:creationId xmlns:a16="http://schemas.microsoft.com/office/drawing/2014/main" id="{ACB7A561-1F03-49C6-ACB7-360C925398C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rtl="0"/>
            <a:r>
              <a:t/>
            </a:r>
          </a:p>
        </p:txBody>
      </p:sp>
      <p:sp>
        <p:nvSpPr>
          <p:cNvPr id="3" name="">
            <a:extLst xmlns:a="http://schemas.openxmlformats.org/drawingml/2006/main">
              <a:ext uri="{FF2B5EF4-FFF2-40B4-BE49-F238E27FC236}">
                <a16:creationId xmlns:a16="http://schemas.microsoft.com/office/drawing/2014/main" id="{899188AD-C7A1-46DC-985A-3A9CF0FE0F06}"/>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 از ۲۸">
            <a:extLst xmlns:a="http://schemas.openxmlformats.org/drawingml/2006/main">
              <a:ext uri="{FF2B5EF4-FFF2-40B4-BE49-F238E27FC236}">
                <a16:creationId xmlns:a16="http://schemas.microsoft.com/office/drawing/2014/main" id="{22A2E819-CD9F-46FF-BC9F-1704D57B255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 از ۲۸</a:t>
            </a:r>
          </a:p>
        </p:txBody>
      </p:sp>
      <p:pic>
        <p:nvPicPr>
          <p:cNvPr id="5" name="">
            <a:extLst xmlns:a="http://schemas.openxmlformats.org/drawingml/2006/main">
              <a:ext uri="{FF2B5EF4-FFF2-40B4-BE49-F238E27FC236}">
                <a16:creationId xmlns:a16="http://schemas.microsoft.com/office/drawing/2014/main" id="{F12078C6-0DE1-4B6F-9987-6EB271C452F1}"/>
              </a:ext>
            </a:extLst>
          </p:cNvPr>
          <p:cNvPicPr>
            <a:picLocks xmlns:a="http://schemas.openxmlformats.org/drawingml/2006/main" noChangeAspect="1"/>
          </p:cNvPicPr>
          <p:nvPr/>
        </p:nvPicPr>
        <p:blipFill>
          <a:blip xmlns:r="http://schemas.openxmlformats.org/officeDocument/2006/relationships" xmlns:a="http://schemas.openxmlformats.org/drawingml/2006/main" r:embed="Re2da839a807c470a"/>
          <a:stretch xmlns:a="http://schemas.openxmlformats.org/drawingml/2006/main"/>
        </p:blipFill>
        <p:spPr>
          <a:xfrm xmlns:a="http://schemas.openxmlformats.org/drawingml/2006/main">
            <a:off x="685800" y="476250"/>
            <a:ext cx="1257300" cy="1257300"/>
          </a:xfrm>
          <a:prstGeom xmlns:a="http://schemas.openxmlformats.org/drawingml/2006/main" prst="rect">
            <a:avLst/>
          </a:prstGeom>
        </p:spPr>
      </p:pic>
      <p:sp>
        <p:nvSpPr>
          <p:cNvPr id="6" name="دانشگاه صنعتی شریف">
            <a:extLst xmlns:a="http://schemas.openxmlformats.org/drawingml/2006/main">
              <a:ext uri="{FF2B5EF4-FFF2-40B4-BE49-F238E27FC236}">
                <a16:creationId xmlns:a16="http://schemas.microsoft.com/office/drawing/2014/main" id="{89AC6755-C31A-4F86-BC5A-9D7CC64DBD45}"/>
              </a:ext>
            </a:extLst>
          </p:cNvPr>
          <p:cNvSpPr>
            <a:spLocks xmlns:a="http://schemas.openxmlformats.org/drawingml/2006/main" noGrp="1"/>
          </p:cNvSpPr>
          <p:nvPr/>
        </p:nvSpPr>
        <p:spPr>
          <a:xfrm xmlns:a="http://schemas.openxmlformats.org/drawingml/2006/main">
            <a:off x="4762500" y="504825"/>
            <a:ext cx="6743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دانشگاه صنعتی شریف</a:t>
            </a:r>
          </a:p>
        </p:txBody>
      </p:sp>
      <p:sp>
        <p:nvSpPr>
          <p:cNvPr id="7" name="دانشکده مهندسی کامپیوتر">
            <a:extLst xmlns:a="http://schemas.openxmlformats.org/drawingml/2006/main">
              <a:ext uri="{FF2B5EF4-FFF2-40B4-BE49-F238E27FC236}">
                <a16:creationId xmlns:a16="http://schemas.microsoft.com/office/drawing/2014/main" id="{18304E00-506E-41D2-BE7A-152A678F1903}"/>
              </a:ext>
            </a:extLst>
          </p:cNvPr>
          <p:cNvSpPr>
            <a:spLocks xmlns:a="http://schemas.openxmlformats.org/drawingml/2006/main" noGrp="1"/>
          </p:cNvSpPr>
          <p:nvPr/>
        </p:nvSpPr>
        <p:spPr>
          <a:xfrm xmlns:a="http://schemas.openxmlformats.org/drawingml/2006/main">
            <a:off x="4762500" y="1009650"/>
            <a:ext cx="674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650" b="0">
                <a:solidFill>
                  <a:srgbClr val="52606D"/>
                </a:solidFill>
                <a:latin typeface="Vazirmatn"/>
                <a:ea typeface="Vazirmatn"/>
                <a:cs typeface="Vazirmatn"/>
              </a:defRPr>
            </a:defPPr>
          </a:lstStyle>
          <a:p xmlns:a="http://schemas.openxmlformats.org/drawingml/2006/main">
            <a:pPr algn="r" rtl="1">
              <a:defRPr sz="1650" b="0" lang="fa-IR">
                <a:solidFill>
                  <a:srgbClr val="52606D"/>
                </a:solidFill>
                <a:latin typeface="Vazirmatn"/>
                <a:ea typeface="Vazirmatn"/>
                <a:cs typeface="Vazirmatn"/>
              </a:defRPr>
            </a:pPr>
            <a:r>
              <a:rPr sz="1650" b="0" lang="fa-IR">
                <a:solidFill>
                  <a:srgbClr val="52606D"/>
                </a:solidFill>
                <a:latin typeface="Vazirmatn"/>
                <a:ea typeface="Vazirmatn"/>
                <a:cs typeface="Vazirmatn"/>
              </a:rPr>
              <a:t>دانشکده مهندسی کامپیوتر</a:t>
            </a:r>
          </a:p>
        </p:txBody>
      </p:sp>
      <p:sp>
        <p:nvSpPr>
          <p:cNvPr id="8" name="">
            <a:extLst xmlns:a="http://schemas.openxmlformats.org/drawingml/2006/main">
              <a:ext uri="{FF2B5EF4-FFF2-40B4-BE49-F238E27FC236}">
                <a16:creationId xmlns:a16="http://schemas.microsoft.com/office/drawing/2014/main" id="{26609B1A-E9AA-400D-9C63-E34016292298}"/>
              </a:ext>
            </a:extLst>
          </p:cNvPr>
          <p:cNvSpPr>
            <a:spLocks xmlns:a="http://schemas.openxmlformats.org/drawingml/2006/main" noGrp="1"/>
          </p:cNvSpPr>
          <p:nvPr/>
        </p:nvSpPr>
        <p:spPr>
          <a:xfrm xmlns:a="http://schemas.openxmlformats.org/drawingml/2006/main">
            <a:off x="2571750" y="1733550"/>
            <a:ext cx="893445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9" name="بازشناسی مقاوم گفتار">
            <a:extLst xmlns:a="http://schemas.openxmlformats.org/drawingml/2006/main">
              <a:ext uri="{FF2B5EF4-FFF2-40B4-BE49-F238E27FC236}">
                <a16:creationId xmlns:a16="http://schemas.microsoft.com/office/drawing/2014/main" id="{BDA96FF0-238D-4D19-900A-EFD4BAC5CC42}"/>
              </a:ext>
            </a:extLst>
          </p:cNvPr>
          <p:cNvSpPr>
            <a:spLocks xmlns:a="http://schemas.openxmlformats.org/drawingml/2006/main" noGrp="1"/>
          </p:cNvSpPr>
          <p:nvPr/>
        </p:nvSpPr>
        <p:spPr>
          <a:xfrm xmlns:a="http://schemas.openxmlformats.org/drawingml/2006/main">
            <a:off x="2190750" y="2324100"/>
            <a:ext cx="9315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00" b="1">
                <a:solidFill>
                  <a:srgbClr val="153D42"/>
                </a:solidFill>
                <a:latin typeface="Vazirmatn"/>
                <a:ea typeface="Vazirmatn"/>
                <a:cs typeface="Vazirmatn"/>
              </a:defRPr>
            </a:defPPr>
          </a:lstStyle>
          <a:p xmlns:a="http://schemas.openxmlformats.org/drawingml/2006/main">
            <a:pPr algn="r" rtl="1">
              <a:defRPr sz="4800" b="1" lang="fa-IR">
                <a:solidFill>
                  <a:srgbClr val="153D42"/>
                </a:solidFill>
                <a:latin typeface="Vazirmatn"/>
                <a:ea typeface="Vazirmatn"/>
                <a:cs typeface="Vazirmatn"/>
              </a:defRPr>
            </a:pPr>
            <a:r>
              <a:rPr sz="4800" b="1" lang="fa-IR">
                <a:solidFill>
                  <a:srgbClr val="153D42"/>
                </a:solidFill>
                <a:latin typeface="Vazirmatn"/>
                <a:ea typeface="Vazirmatn"/>
                <a:cs typeface="Vazirmatn"/>
              </a:rPr>
              <a:t>بازشناسی مقاوم گفتار</a:t>
            </a:r>
          </a:p>
        </p:txBody>
      </p:sp>
      <p:sp>
        <p:nvSpPr>
          <p:cNvPr id="10" name="در زبان فارسی">
            <a:extLst xmlns:a="http://schemas.openxmlformats.org/drawingml/2006/main">
              <a:ext uri="{FF2B5EF4-FFF2-40B4-BE49-F238E27FC236}">
                <a16:creationId xmlns:a16="http://schemas.microsoft.com/office/drawing/2014/main" id="{56A9ACEA-BD89-43E1-B5F1-D0B511A6E5C1}"/>
              </a:ext>
            </a:extLst>
          </p:cNvPr>
          <p:cNvSpPr>
            <a:spLocks xmlns:a="http://schemas.openxmlformats.org/drawingml/2006/main" noGrp="1"/>
          </p:cNvSpPr>
          <p:nvPr/>
        </p:nvSpPr>
        <p:spPr>
          <a:xfrm xmlns:a="http://schemas.openxmlformats.org/drawingml/2006/main">
            <a:off x="2190750" y="3476625"/>
            <a:ext cx="9315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00" b="1">
                <a:solidFill>
                  <a:srgbClr val="153D42"/>
                </a:solidFill>
                <a:latin typeface="Vazirmatn"/>
                <a:ea typeface="Vazirmatn"/>
                <a:cs typeface="Vazirmatn"/>
              </a:defRPr>
            </a:defPPr>
          </a:lstStyle>
          <a:p xmlns:a="http://schemas.openxmlformats.org/drawingml/2006/main">
            <a:pPr algn="r" rtl="1">
              <a:defRPr sz="4800" b="1" lang="fa-IR">
                <a:solidFill>
                  <a:srgbClr val="153D42"/>
                </a:solidFill>
                <a:latin typeface="Vazirmatn"/>
                <a:ea typeface="Vazirmatn"/>
                <a:cs typeface="Vazirmatn"/>
              </a:defRPr>
            </a:pPr>
            <a:r>
              <a:rPr sz="4800" b="1" lang="fa-IR">
                <a:solidFill>
                  <a:srgbClr val="153D42"/>
                </a:solidFill>
                <a:latin typeface="Vazirmatn"/>
                <a:ea typeface="Vazirmatn"/>
                <a:cs typeface="Vazirmatn"/>
              </a:rPr>
              <a:t>در زبان فارسی</a:t>
            </a:r>
          </a:p>
        </p:txBody>
      </p:sp>
      <p:sp>
        <p:nvSpPr>
          <p:cNvPr id="11" name="پویا فلاح سیچانی">
            <a:extLst xmlns:a="http://schemas.openxmlformats.org/drawingml/2006/main">
              <a:ext uri="{FF2B5EF4-FFF2-40B4-BE49-F238E27FC236}">
                <a16:creationId xmlns:a16="http://schemas.microsoft.com/office/drawing/2014/main" id="{A8F2ECC1-954D-44BD-95EF-3A84CBABC0FE}"/>
              </a:ext>
            </a:extLst>
          </p:cNvPr>
          <p:cNvSpPr>
            <a:spLocks xmlns:a="http://schemas.openxmlformats.org/drawingml/2006/main" noGrp="1"/>
          </p:cNvSpPr>
          <p:nvPr/>
        </p:nvSpPr>
        <p:spPr>
          <a:xfrm xmlns:a="http://schemas.openxmlformats.org/drawingml/2006/main">
            <a:off x="6191250" y="5238750"/>
            <a:ext cx="5314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پویا فلاح سیچانی</a:t>
            </a:r>
          </a:p>
        </p:txBody>
      </p:sp>
      <p:sp>
        <p:nvSpPr>
          <p:cNvPr id="12" name="استاد راهنما: دکتر حسین صامتی">
            <a:extLst xmlns:a="http://schemas.openxmlformats.org/drawingml/2006/main">
              <a:ext uri="{FF2B5EF4-FFF2-40B4-BE49-F238E27FC236}">
                <a16:creationId xmlns:a16="http://schemas.microsoft.com/office/drawing/2014/main" id="{1BADB326-8EEA-4A76-BD40-12AE27A8A257}"/>
              </a:ext>
            </a:extLst>
          </p:cNvPr>
          <p:cNvSpPr>
            <a:spLocks xmlns:a="http://schemas.openxmlformats.org/drawingml/2006/main" noGrp="1"/>
          </p:cNvSpPr>
          <p:nvPr/>
        </p:nvSpPr>
        <p:spPr>
          <a:xfrm xmlns:a="http://schemas.openxmlformats.org/drawingml/2006/main">
            <a:off x="6191250" y="5762625"/>
            <a:ext cx="5314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52606D"/>
                </a:solidFill>
                <a:latin typeface="Vazirmatn"/>
                <a:ea typeface="Vazirmatn"/>
                <a:cs typeface="Vazirmatn"/>
              </a:defRPr>
            </a:defPPr>
          </a:lstStyle>
          <a:p xmlns:a="http://schemas.openxmlformats.org/drawingml/2006/main">
            <a:pPr algn="r" rtl="1">
              <a:defRPr sz="1725" b="0" lang="fa-IR">
                <a:solidFill>
                  <a:srgbClr val="52606D"/>
                </a:solidFill>
                <a:latin typeface="Vazirmatn"/>
                <a:ea typeface="Vazirmatn"/>
                <a:cs typeface="Vazirmatn"/>
              </a:defRPr>
            </a:pPr>
            <a:r>
              <a:rPr sz="1725" b="0" lang="fa-IR">
                <a:solidFill>
                  <a:srgbClr val="52606D"/>
                </a:solidFill>
                <a:latin typeface="Vazirmatn"/>
                <a:ea typeface="Vazirmatn"/>
                <a:cs typeface="Vazirmatn"/>
              </a:rPr>
              <a:t>استاد راهنما: دکتر حسین صامتی</a:t>
            </a:r>
          </a:p>
        </p:txBody>
      </p:sp>
      <p:sp>
        <p:nvSpPr>
          <p:cNvPr id="13" name="دفاع پایان‌نامه کارشناسی ارشد">
            <a:extLst xmlns:a="http://schemas.openxmlformats.org/drawingml/2006/main">
              <a:ext uri="{FF2B5EF4-FFF2-40B4-BE49-F238E27FC236}">
                <a16:creationId xmlns:a16="http://schemas.microsoft.com/office/drawing/2014/main" id="{7280414D-5CEA-46AE-89AA-A7FAAB3DC9AF}"/>
              </a:ext>
            </a:extLst>
          </p:cNvPr>
          <p:cNvSpPr>
            <a:spLocks xmlns:a="http://schemas.openxmlformats.org/drawingml/2006/main" noGrp="1"/>
          </p:cNvSpPr>
          <p:nvPr/>
        </p:nvSpPr>
        <p:spPr>
          <a:xfrm xmlns:a="http://schemas.openxmlformats.org/drawingml/2006/main">
            <a:off x="685800" y="53816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2606D"/>
                </a:solidFill>
                <a:latin typeface="Vazirmatn"/>
                <a:ea typeface="Vazirmatn"/>
                <a:cs typeface="Vazirmatn"/>
              </a:defRPr>
            </a:defPPr>
          </a:lstStyle>
          <a:p xmlns:a="http://schemas.openxmlformats.org/drawingml/2006/main">
            <a:pPr algn="l" rtl="1">
              <a:defRPr sz="1725" b="0" lang="fa-IR">
                <a:solidFill>
                  <a:srgbClr val="52606D"/>
                </a:solidFill>
                <a:latin typeface="Vazirmatn"/>
                <a:ea typeface="Vazirmatn"/>
                <a:cs typeface="Vazirmatn"/>
              </a:defRPr>
            </a:pPr>
            <a:r>
              <a:rPr sz="1725" b="0" lang="fa-IR">
                <a:solidFill>
                  <a:srgbClr val="52606D"/>
                </a:solidFill>
                <a:latin typeface="Vazirmatn"/>
                <a:ea typeface="Vazirmatn"/>
                <a:cs typeface="Vazirmatn"/>
              </a:rPr>
              <a:t>دفاع پایان‌نامه کارشناسی ارشد</a:t>
            </a:r>
          </a:p>
        </p:txBody>
      </p:sp>
    </p:spTree>
    <p:extLst>
      <p:ext uri="{BB962C8B-B14F-4D97-AF65-F5344CB8AC3E}">
        <p14:creationId xmlns:p14="http://schemas.microsoft.com/office/powerpoint/2010/main" val="162314009"/>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مسئله پژوهش">
            <a:extLst xmlns:a="http://schemas.openxmlformats.org/drawingml/2006/main">
              <a:ext uri="{FF2B5EF4-FFF2-40B4-BE49-F238E27FC236}">
                <a16:creationId xmlns:a16="http://schemas.microsoft.com/office/drawing/2014/main" id="{D145C68F-4164-4FE2-A357-29D57683D160}"/>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مسئله پژوهش</a:t>
            </a:r>
          </a:p>
        </p:txBody>
      </p:sp>
      <p:sp>
        <p:nvSpPr>
          <p:cNvPr id="2" name="شکاف میان گفتار آموزشی و تماس واقعی">
            <a:extLst xmlns:a="http://schemas.openxmlformats.org/drawingml/2006/main">
              <a:ext uri="{FF2B5EF4-FFF2-40B4-BE49-F238E27FC236}">
                <a16:creationId xmlns:a16="http://schemas.microsoft.com/office/drawing/2014/main" id="{11AA3C6D-0DFF-4556-AEED-8678107EEF79}"/>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شکاف میان گفتار آموزشی و تماس واقعی</a:t>
            </a:r>
          </a:p>
        </p:txBody>
      </p:sp>
      <p:sp>
        <p:nvSpPr>
          <p:cNvPr id="3" name="">
            <a:extLst xmlns:a="http://schemas.openxmlformats.org/drawingml/2006/main">
              <a:ext uri="{FF2B5EF4-FFF2-40B4-BE49-F238E27FC236}">
                <a16:creationId xmlns:a16="http://schemas.microsoft.com/office/drawing/2014/main" id="{C992316D-388E-4A9C-B20E-5D547E139DF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 از ۲۸">
            <a:extLst xmlns:a="http://schemas.openxmlformats.org/drawingml/2006/main">
              <a:ext uri="{FF2B5EF4-FFF2-40B4-BE49-F238E27FC236}">
                <a16:creationId xmlns:a16="http://schemas.microsoft.com/office/drawing/2014/main" id="{573A1355-1351-4636-90BD-B7D49D6AD18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 از ۲۸</a:t>
            </a:r>
          </a:p>
        </p:txBody>
      </p:sp>
      <p:sp>
        <p:nvSpPr>
          <p:cNvPr id="5" name="گفتار در دسترس">
            <a:extLst xmlns:a="http://schemas.openxmlformats.org/drawingml/2006/main">
              <a:ext uri="{FF2B5EF4-FFF2-40B4-BE49-F238E27FC236}">
                <a16:creationId xmlns:a16="http://schemas.microsoft.com/office/drawing/2014/main" id="{239C91D3-F7B2-4894-B409-224B406072EF}"/>
              </a:ext>
            </a:extLst>
          </p:cNvPr>
          <p:cNvSpPr>
            <a:spLocks xmlns:a="http://schemas.openxmlformats.org/drawingml/2006/main" noGrp="1"/>
          </p:cNvSpPr>
          <p:nvPr/>
        </p:nvSpPr>
        <p:spPr>
          <a:xfrm xmlns:a="http://schemas.openxmlformats.org/drawingml/2006/main">
            <a:off x="6667500" y="2095500"/>
            <a:ext cx="483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153D42"/>
                </a:solidFill>
                <a:latin typeface="Vazirmatn"/>
                <a:ea typeface="Vazirmatn"/>
                <a:cs typeface="Vazirmatn"/>
              </a:defRPr>
            </a:defPPr>
          </a:lstStyle>
          <a:p xmlns:a="http://schemas.openxmlformats.org/drawingml/2006/main">
            <a:pPr algn="r" rtl="1">
              <a:defRPr sz="2475" b="1" lang="fa-IR">
                <a:solidFill>
                  <a:srgbClr val="153D42"/>
                </a:solidFill>
                <a:latin typeface="Vazirmatn"/>
                <a:ea typeface="Vazirmatn"/>
                <a:cs typeface="Vazirmatn"/>
              </a:defRPr>
            </a:pPr>
            <a:r>
              <a:rPr sz="2475" b="1" lang="fa-IR">
                <a:solidFill>
                  <a:srgbClr val="153D42"/>
                </a:solidFill>
                <a:latin typeface="Vazirmatn"/>
                <a:ea typeface="Vazirmatn"/>
                <a:cs typeface="Vazirmatn"/>
              </a:rPr>
              <a:t>گفتار در دسترس</a:t>
            </a:r>
          </a:p>
        </p:txBody>
      </p:sp>
      <p:sp>
        <p:nvSpPr>
          <p:cNvPr id="6" name="پیکره‌های عمومی فارسی&#10;قطعه‌های عمدتاً کوتاه&#10;سبک‌ها و شرایط ضبط متنوع">
            <a:extLst xmlns:a="http://schemas.openxmlformats.org/drawingml/2006/main">
              <a:ext uri="{FF2B5EF4-FFF2-40B4-BE49-F238E27FC236}">
                <a16:creationId xmlns:a16="http://schemas.microsoft.com/office/drawing/2014/main" id="{4E2CEA5E-A3F4-40A5-9748-D690A4E803B5}"/>
              </a:ext>
            </a:extLst>
          </p:cNvPr>
          <p:cNvSpPr>
            <a:spLocks xmlns:a="http://schemas.openxmlformats.org/drawingml/2006/main" noGrp="1"/>
          </p:cNvSpPr>
          <p:nvPr/>
        </p:nvSpPr>
        <p:spPr>
          <a:xfrm xmlns:a="http://schemas.openxmlformats.org/drawingml/2006/main">
            <a:off x="6667500" y="2905125"/>
            <a:ext cx="48387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1F2933"/>
                </a:solidFill>
                <a:latin typeface="Vazirmatn"/>
                <a:ea typeface="Vazirmatn"/>
                <a:cs typeface="Vazirmatn"/>
              </a:defRPr>
            </a:defPPr>
          </a:lstStyle>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پیکره‌های عمومی فارسی</a:t>
            </a:r>
          </a:p>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قطعه‌های عمدتاً کوتاه</a:t>
            </a:r>
          </a:p>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سبک‌ها و شرایط ضبط متنوع</a:t>
            </a:r>
          </a:p>
        </p:txBody>
      </p:sp>
      <p:sp>
        <p:nvSpPr>
          <p:cNvPr id="7" name="">
            <a:extLst xmlns:a="http://schemas.openxmlformats.org/drawingml/2006/main">
              <a:ext uri="{FF2B5EF4-FFF2-40B4-BE49-F238E27FC236}">
                <a16:creationId xmlns:a16="http://schemas.microsoft.com/office/drawing/2014/main" id="{1472C523-D3EB-4F02-89A1-4D21286225BC}"/>
              </a:ext>
            </a:extLst>
          </p:cNvPr>
          <p:cNvSpPr>
            <a:spLocks xmlns:a="http://schemas.openxmlformats.org/drawingml/2006/main" noGrp="1"/>
          </p:cNvSpPr>
          <p:nvPr/>
        </p:nvSpPr>
        <p:spPr>
          <a:xfrm xmlns:a="http://schemas.openxmlformats.org/drawingml/2006/main">
            <a:off x="685800" y="1952625"/>
            <a:ext cx="5257800" cy="3238500"/>
          </a:xfrm>
          <a:prstGeom xmlns:a="http://schemas.openxmlformats.org/drawingml/2006/main" prst="rect">
            <a:avLst/>
          </a:prstGeom>
          <a:solidFill xmlns:a="http://schemas.openxmlformats.org/drawingml/2006/main">
            <a:srgbClr val="153D42"/>
          </a:solidFill>
          <a:ln xmlns:a="http://schemas.openxmlformats.org/drawingml/2006/main" w="0">
            <a:noFill/>
          </a:ln>
        </p:spPr>
      </p:sp>
      <p:sp>
        <p:nvSpPr>
          <p:cNvPr id="8" name="شرایط تماس">
            <a:extLst xmlns:a="http://schemas.openxmlformats.org/drawingml/2006/main">
              <a:ext uri="{FF2B5EF4-FFF2-40B4-BE49-F238E27FC236}">
                <a16:creationId xmlns:a16="http://schemas.microsoft.com/office/drawing/2014/main" id="{BF17025B-E70D-48E9-9404-7470DD0414C9}"/>
              </a:ext>
            </a:extLst>
          </p:cNvPr>
          <p:cNvSpPr>
            <a:spLocks xmlns:a="http://schemas.openxmlformats.org/drawingml/2006/main" noGrp="1"/>
          </p:cNvSpPr>
          <p:nvPr/>
        </p:nvSpPr>
        <p:spPr>
          <a:xfrm xmlns:a="http://schemas.openxmlformats.org/drawingml/2006/main">
            <a:off x="990600" y="2143125"/>
            <a:ext cx="461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F7F6F2"/>
                </a:solidFill>
                <a:latin typeface="Vazirmatn"/>
                <a:ea typeface="Vazirmatn"/>
                <a:cs typeface="Vazirmatn"/>
              </a:defRPr>
            </a:defPPr>
          </a:lstStyle>
          <a:p xmlns:a="http://schemas.openxmlformats.org/drawingml/2006/main">
            <a:pPr algn="r" rtl="1">
              <a:defRPr sz="2475" b="1" lang="fa-IR">
                <a:solidFill>
                  <a:srgbClr val="F7F6F2"/>
                </a:solidFill>
                <a:latin typeface="Vazirmatn"/>
                <a:ea typeface="Vazirmatn"/>
                <a:cs typeface="Vazirmatn"/>
              </a:defRPr>
            </a:pPr>
            <a:r>
              <a:rPr sz="2475" b="1" lang="fa-IR">
                <a:solidFill>
                  <a:srgbClr val="F7F6F2"/>
                </a:solidFill>
                <a:latin typeface="Vazirmatn"/>
                <a:ea typeface="Vazirmatn"/>
                <a:cs typeface="Vazirmatn"/>
              </a:rPr>
              <a:t>شرایط تماس</a:t>
            </a:r>
          </a:p>
        </p:txBody>
      </p:sp>
      <p:sp>
        <p:nvSpPr>
          <p:cNvPr id="9" name="نویز و پهنای‌باند محدود&#10;اعوجاج کدک و افت بسته&#10;تلفن و تماس اینترنتی">
            <a:extLst xmlns:a="http://schemas.openxmlformats.org/drawingml/2006/main">
              <a:ext uri="{FF2B5EF4-FFF2-40B4-BE49-F238E27FC236}">
                <a16:creationId xmlns:a16="http://schemas.microsoft.com/office/drawing/2014/main" id="{62A0C00A-716A-4DB1-8427-2D644459FA09}"/>
              </a:ext>
            </a:extLst>
          </p:cNvPr>
          <p:cNvSpPr>
            <a:spLocks xmlns:a="http://schemas.openxmlformats.org/drawingml/2006/main" noGrp="1"/>
          </p:cNvSpPr>
          <p:nvPr/>
        </p:nvSpPr>
        <p:spPr>
          <a:xfrm xmlns:a="http://schemas.openxmlformats.org/drawingml/2006/main">
            <a:off x="990600" y="2952750"/>
            <a:ext cx="4610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F7F6F2"/>
                </a:solidFill>
                <a:latin typeface="Vazirmatn"/>
                <a:ea typeface="Vazirmatn"/>
                <a:cs typeface="Vazirmatn"/>
              </a:defRPr>
            </a:defPPr>
          </a:lstStyle>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نویز و پهنای‌باند محدود</a:t>
            </a:r>
          </a:p>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اعوجاج کدک و افت بسته</a:t>
            </a:r>
          </a:p>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تلفن و تماس اینترنتی</a:t>
            </a:r>
          </a:p>
        </p:txBody>
      </p:sp>
      <p:sp>
        <p:nvSpPr>
          <p:cNvPr id="10" name="هدف: کاهش خطای تماس واقعی با داده‌های موجود">
            <a:extLst xmlns:a="http://schemas.openxmlformats.org/drawingml/2006/main">
              <a:ext uri="{FF2B5EF4-FFF2-40B4-BE49-F238E27FC236}">
                <a16:creationId xmlns:a16="http://schemas.microsoft.com/office/drawing/2014/main" id="{CA09A56B-3B1E-4127-AAA5-1990F862FFD4}"/>
              </a:ext>
            </a:extLst>
          </p:cNvPr>
          <p:cNvSpPr>
            <a:spLocks xmlns:a="http://schemas.openxmlformats.org/drawingml/2006/main" noGrp="1"/>
          </p:cNvSpPr>
          <p:nvPr/>
        </p:nvSpPr>
        <p:spPr>
          <a:xfrm xmlns:a="http://schemas.openxmlformats.org/drawingml/2006/main">
            <a:off x="685800" y="53911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D6F8A"/>
                </a:solidFill>
                <a:latin typeface="Vazirmatn"/>
                <a:ea typeface="Vazirmatn"/>
                <a:cs typeface="Vazirmatn"/>
              </a:defRPr>
            </a:defPPr>
          </a:lstStyle>
          <a:p xmlns:a="http://schemas.openxmlformats.org/drawingml/2006/main">
            <a:pPr algn="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هدف: کاهش خطای تماس واقعی با داده‌های موجود</a:t>
            </a:r>
          </a:p>
        </p:txBody>
      </p:sp>
      <p:sp>
        <p:nvSpPr>
          <p:cNvPr id="11" name="گردآوری تماس رونویسی‌شده پرهزینه و حساس به حریم خصوصی است">
            <a:extLst xmlns:a="http://schemas.openxmlformats.org/drawingml/2006/main">
              <a:ext uri="{FF2B5EF4-FFF2-40B4-BE49-F238E27FC236}">
                <a16:creationId xmlns:a16="http://schemas.microsoft.com/office/drawing/2014/main" id="{481086C9-82D4-4B63-8767-8F452E15B179}"/>
              </a:ext>
            </a:extLst>
          </p:cNvPr>
          <p:cNvSpPr>
            <a:spLocks xmlns:a="http://schemas.openxmlformats.org/drawingml/2006/main" noGrp="1"/>
          </p:cNvSpPr>
          <p:nvPr/>
        </p:nvSpPr>
        <p:spPr>
          <a:xfrm xmlns:a="http://schemas.openxmlformats.org/drawingml/2006/main">
            <a:off x="685800" y="6019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گردآوری تماس رونویسی‌شده پرهزینه و حساس به حریم خصوصی است</a:t>
            </a:r>
          </a:p>
        </p:txBody>
      </p:sp>
    </p:spTree>
    <p:extLst>
      <p:ext uri="{BB962C8B-B14F-4D97-AF65-F5344CB8AC3E}">
        <p14:creationId xmlns:p14="http://schemas.microsoft.com/office/powerpoint/2010/main" val="1145581961"/>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مرور روش‌های نوین بازشناسی گفتار">
            <a:extLst xmlns:a="http://schemas.openxmlformats.org/drawingml/2006/main">
              <a:ext uri="{FF2B5EF4-FFF2-40B4-BE49-F238E27FC236}">
                <a16:creationId xmlns:a16="http://schemas.microsoft.com/office/drawing/2014/main" id="{A14A3870-850A-4AC9-A978-D1C83B74052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مرور روش‌های نوین بازشناسی گفتار</a:t>
            </a:r>
          </a:p>
        </p:txBody>
      </p:sp>
      <p:sp>
        <p:nvSpPr>
          <p:cNvPr id="2" name="آموزش، سازگارسازی و اصلاح خروجی">
            <a:extLst xmlns:a="http://schemas.openxmlformats.org/drawingml/2006/main">
              <a:ext uri="{FF2B5EF4-FFF2-40B4-BE49-F238E27FC236}">
                <a16:creationId xmlns:a16="http://schemas.microsoft.com/office/drawing/2014/main" id="{1F87A660-4C9B-4F9D-8D78-3079AA1E3D61}"/>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آموزش، سازگارسازی و اصلاح خروجی</a:t>
            </a:r>
          </a:p>
        </p:txBody>
      </p:sp>
      <p:sp>
        <p:nvSpPr>
          <p:cNvPr id="3" name="">
            <a:extLst xmlns:a="http://schemas.openxmlformats.org/drawingml/2006/main">
              <a:ext uri="{FF2B5EF4-FFF2-40B4-BE49-F238E27FC236}">
                <a16:creationId xmlns:a16="http://schemas.microsoft.com/office/drawing/2014/main" id="{11790A5D-D889-4AC3-87F6-7BF6119D2F2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۳ از ۲۸">
            <a:extLst xmlns:a="http://schemas.openxmlformats.org/drawingml/2006/main">
              <a:ext uri="{FF2B5EF4-FFF2-40B4-BE49-F238E27FC236}">
                <a16:creationId xmlns:a16="http://schemas.microsoft.com/office/drawing/2014/main" id="{D543D0D7-7213-4B0A-8D5F-82F3BB39134F}"/>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۳ از ۲۸</a:t>
            </a:r>
          </a:p>
        </p:txBody>
      </p:sp>
      <p:graphicFrame>
        <p:nvGraphicFramePr>
          <p:cNvPr id="5" name="">
            <a:extLst xmlns:a="http://schemas.openxmlformats.org/drawingml/2006/main">
              <a:ext uri="{FF2B5EF4-FFF2-40B4-BE49-F238E27FC236}">
                <a16:creationId xmlns:a16="http://schemas.microsoft.com/office/drawing/2014/main" id="{300675EB-F2A8-43BD-9903-7B0CA8C6A142}"/>
              </a:ext>
            </a:extLst>
          </p:cNvPr>
          <p:cNvGraphicFramePr/>
          <p:nvPr/>
        </p:nvGraphicFramePr>
        <p:xfrm>
          <a:off xmlns:a="http://schemas.openxmlformats.org/drawingml/2006/main" x="685800" y="1866900"/>
          <a:ext xmlns:a="http://schemas.openxmlformats.org/drawingml/2006/main" cx="10820400" cy="3829050"/>
        </p:xfrm>
        <a:graphic xmlns:a="http://schemas.openxmlformats.org/drawingml/2006/main">
          <a:graphicData uri="http://schemas.openxmlformats.org/drawingml/2006/table">
            <a:tbl>
              <a:tblPr/>
              <a:tblGrid>
                <a:gridCol w="4000500"/>
                <a:gridCol w="4114800"/>
                <a:gridCol w="2705100"/>
              </a:tblGrid>
              <a:tr h="476250">
                <a:tc>
                  <a:txBody>
                    <a:bodyPr lIns="114300" tIns="114300" rIns="114300" bIns="114300">
                      <a:noAutofit/>
                    </a:bodyPr>
                    <a:lstStyle/>
                    <a:p>
                      <a:pPr algn="r" rtl="1"/>
                      <a:r>
                        <a:rPr sz="1800" b="1" lang="fa-IR">
                          <a:solidFill>
                            <a:srgbClr val="F7F6F2"/>
                          </a:solidFill>
                          <a:latin typeface="Vazirmatn"/>
                          <a:ea typeface="Vazirmatn"/>
                          <a:cs typeface="Vazirmatn"/>
                        </a:rPr>
                        <a:t>نمونه پژوهش‌ها</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ایده اصلی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خانواده روش</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pMCT (2022)</a:t>
                      </a:r>
                    </a:p>
                    <a:p>
                      <a:pPr algn="l" rtl="0"/>
                      <a:r>
                        <a:rPr sz="1575" b="0" lang="en-US">
                          <a:solidFill>
                            <a:srgbClr val="1F2933"/>
                          </a:solidFill>
                          <a:latin typeface="Vazirmatn"/>
                          <a:ea typeface="Vazirmatn"/>
                          <a:cs typeface="Vazirmatn"/>
                        </a:rPr>
                        <a:t>Acoustic-aware Aug. (2025*)</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آموزش با نویز و تخریب کانال،</a:t>
                      </a:r>
                    </a:p>
                    <a:p>
                      <a:pPr algn="r" rtl="1"/>
                      <a:r>
                        <a:rPr sz="1725" b="0" lang="fa-IR">
                          <a:solidFill>
                            <a:srgbClr val="1F2933"/>
                          </a:solidFill>
                          <a:latin typeface="Vazirmatn"/>
                          <a:ea typeface="Vazirmatn"/>
                          <a:cs typeface="Vazirmatn"/>
                        </a:rPr>
                        <a:t>همراه با تنوع آکوستیکی هدفمند</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آموزش چندشرایطی</a:t>
                      </a:r>
                    </a:p>
                    <a:p>
                      <a:pPr algn="r" rtl="1"/>
                      <a:r>
                        <a:rPr sz="1725" b="1" lang="fa-IR">
                          <a:solidFill>
                            <a:srgbClr val="153D42"/>
                          </a:solidFill>
                          <a:latin typeface="Vazirmatn"/>
                          <a:ea typeface="Vazirmatn"/>
                          <a:cs typeface="Vazirmatn"/>
                        </a:rPr>
                        <a:t>و داده‌افزایی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MCAT–LoRA (2025) / SPS (2026)</a:t>
                      </a:r>
                    </a:p>
                    <a:p>
                      <a:pPr algn="l" rtl="0"/>
                      <a:r>
                        <a:rPr sz="1575" b="0" lang="en-US">
                          <a:solidFill>
                            <a:srgbClr val="1F2933"/>
                          </a:solidFill>
                          <a:latin typeface="Vazirmatn"/>
                          <a:ea typeface="Vazirmatn"/>
                          <a:cs typeface="Vazirmatn"/>
                        </a:rPr>
                        <a:t>Neyshekar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ریزتنظیم کامل یا کم‌پارامتر،</a:t>
                      </a:r>
                    </a:p>
                    <a:p>
                      <a:pPr algn="r" rtl="1"/>
                      <a:r>
                        <a:rPr sz="1725" b="0" lang="fa-IR">
                          <a:solidFill>
                            <a:srgbClr val="1F2933"/>
                          </a:solidFill>
                          <a:latin typeface="Vazirmatn"/>
                          <a:ea typeface="Vazirmatn"/>
                          <a:cs typeface="Vazirmatn"/>
                        </a:rPr>
                        <a:t>با داده متناسب با زبان و دامنه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انطباق مدل‌های پایه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Bhogale et al. (2024)</a:t>
                      </a:r>
                    </a:p>
                    <a:p>
                      <a:pPr algn="l" rtl="0"/>
                      <a:r>
                        <a:rPr sz="1575" b="0" lang="en-US">
                          <a:solidFill>
                            <a:srgbClr val="1F2933"/>
                          </a:solidFill>
                          <a:latin typeface="Vazirmatn"/>
                          <a:ea typeface="Vazirmatn"/>
                          <a:cs typeface="Vazirmatn"/>
                        </a:rPr>
                        <a:t>Cross-lingual (2025) / DASH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پیش‌آموزش با صوت بی‌برچسب،</a:t>
                      </a:r>
                    </a:p>
                    <a:p>
                      <a:pPr algn="r" rtl="1"/>
                      <a:r>
                        <a:rPr sz="1725" b="0" lang="fa-IR">
                          <a:solidFill>
                            <a:srgbClr val="1F2933"/>
                          </a:solidFill>
                          <a:latin typeface="Vazirmatn"/>
                          <a:ea typeface="Vazirmatn"/>
                          <a:cs typeface="Vazirmatn"/>
                        </a:rPr>
                        <a:t>خودتقطیر و پالایش شبه‌برچسب‌ها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یادگیری خودنظارتی</a:t>
                      </a:r>
                    </a:p>
                    <a:p>
                      <a:pPr algn="r" rtl="1"/>
                      <a:r>
                        <a:rPr sz="1725" b="1" lang="fa-IR">
                          <a:solidFill>
                            <a:srgbClr val="153D42"/>
                          </a:solidFill>
                          <a:latin typeface="Vazirmatn"/>
                          <a:ea typeface="Vazirmatn"/>
                          <a:cs typeface="Vazirmatn"/>
                        </a:rPr>
                        <a:t>و نیمه‌نظارتی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ClozeGER / Listen Again (2024)</a:t>
                      </a:r>
                    </a:p>
                    <a:p>
                      <a:pPr algn="l" rtl="0"/>
                      <a:r>
                        <a:rPr sz="1575" b="0" lang="en-US">
                          <a:solidFill>
                            <a:srgbClr val="1F2933"/>
                          </a:solidFill>
                          <a:latin typeface="Vazirmatn"/>
                          <a:ea typeface="Vazirmatn"/>
                          <a:cs typeface="Vazirmatn"/>
                        </a:rPr>
                        <a:t>Conservative Filtering (2024)</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اصلاح فرضیه‌های بازشناس با</a:t>
                      </a:r>
                    </a:p>
                    <a:p>
                      <a:pPr algn="r" rtl="1"/>
                      <a:r>
                        <a:rPr sz="1725" b="0" lang="fa-IR">
                          <a:solidFill>
                            <a:srgbClr val="1F2933"/>
                          </a:solidFill>
                          <a:latin typeface="Vazirmatn"/>
                          <a:ea typeface="Vazirmatn"/>
                          <a:cs typeface="Vazirmatn"/>
                        </a:rPr>
                        <a:t>مدل زبانی و شواهد صوتی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اصلاح با مدل زبانی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ارزیابی‌های جدید">
            <a:extLst xmlns:a="http://schemas.openxmlformats.org/drawingml/2006/main">
              <a:ext uri="{FF2B5EF4-FFF2-40B4-BE49-F238E27FC236}">
                <a16:creationId xmlns:a16="http://schemas.microsoft.com/office/drawing/2014/main" id="{A71B25AF-B0D0-49D3-BE02-8597084CB61C}"/>
              </a:ext>
            </a:extLst>
          </p:cNvPr>
          <p:cNvSpPr>
            <a:spLocks xmlns:a="http://schemas.openxmlformats.org/drawingml/2006/main" noGrp="1"/>
          </p:cNvSpPr>
          <p:nvPr/>
        </p:nvSpPr>
        <p:spPr>
          <a:xfrm xmlns:a="http://schemas.openxmlformats.org/drawingml/2006/main">
            <a:off x="9010650" y="5810250"/>
            <a:ext cx="2495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75" b="1">
                <a:solidFill>
                  <a:srgbClr val="153D42"/>
                </a:solidFill>
                <a:latin typeface="Vazirmatn"/>
                <a:ea typeface="Vazirmatn"/>
                <a:cs typeface="Vazirmatn"/>
              </a:defRPr>
            </a:defPPr>
          </a:lstStyle>
          <a:p xmlns:a="http://schemas.openxmlformats.org/drawingml/2006/main">
            <a:pPr algn="r" rtl="1">
              <a:defRPr sz="1575" b="1" lang="fa-IR">
                <a:solidFill>
                  <a:srgbClr val="153D42"/>
                </a:solidFill>
                <a:latin typeface="Vazirmatn"/>
                <a:ea typeface="Vazirmatn"/>
                <a:cs typeface="Vazirmatn"/>
              </a:defRPr>
            </a:pPr>
            <a:r>
              <a:rPr sz="1575" b="1" lang="fa-IR">
                <a:solidFill>
                  <a:srgbClr val="153D42"/>
                </a:solidFill>
                <a:latin typeface="Vazirmatn"/>
                <a:ea typeface="Vazirmatn"/>
                <a:cs typeface="Vazirmatn"/>
              </a:rPr>
              <a:t>ارزیابی‌های جدید</a:t>
            </a:r>
          </a:p>
        </p:txBody>
      </p:sp>
      <p:sp>
        <p:nvSpPr>
          <p:cNvPr id="7" name="Speech Robust Bench (2025)   URGENT (2025)   PSRB (2025*)">
            <a:extLst xmlns:a="http://schemas.openxmlformats.org/drawingml/2006/main">
              <a:ext uri="{FF2B5EF4-FFF2-40B4-BE49-F238E27FC236}">
                <a16:creationId xmlns:a16="http://schemas.microsoft.com/office/drawing/2014/main" id="{6CF4537C-3660-40F9-86AF-961B62BEDD56}"/>
              </a:ext>
            </a:extLst>
          </p:cNvPr>
          <p:cNvSpPr>
            <a:spLocks xmlns:a="http://schemas.openxmlformats.org/drawingml/2006/main" noGrp="1"/>
          </p:cNvSpPr>
          <p:nvPr/>
        </p:nvSpPr>
        <p:spPr>
          <a:xfrm xmlns:a="http://schemas.openxmlformats.org/drawingml/2006/main">
            <a:off x="685800" y="58102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2606D"/>
                </a:solidFill>
                <a:latin typeface="Vazirmatn"/>
                <a:ea typeface="Vazirmatn"/>
                <a:cs typeface="Vazirmatn"/>
              </a:defRPr>
            </a:defPPr>
          </a:lstStyle>
          <a:p xmlns:a="http://schemas.openxmlformats.org/drawingml/2006/main">
            <a:pPr algn="l" rtl="0">
              <a:defRPr sz="1500" b="0" lang="en-US">
                <a:solidFill>
                  <a:srgbClr val="52606D"/>
                </a:solidFill>
                <a:latin typeface="Vazirmatn"/>
                <a:ea typeface="Vazirmatn"/>
                <a:cs typeface="Vazirmatn"/>
              </a:defRPr>
            </a:pPr>
            <a:r>
              <a:rPr sz="1500" b="0" lang="en-US">
                <a:solidFill>
                  <a:srgbClr val="52606D"/>
                </a:solidFill>
                <a:latin typeface="Vazirmatn"/>
                <a:ea typeface="Vazirmatn"/>
                <a:cs typeface="Vazirmatn"/>
              </a:rPr>
              <a:t>Speech Robust Bench (2025)   URGENT (2025)   PSRB (2025*)</a:t>
            </a:r>
          </a:p>
        </p:txBody>
      </p:sp>
      <p:sp>
        <p:nvSpPr>
          <p:cNvPr id="8" name="ستاره: پیش‌چاپ، با وضعیت انتشار بررسی‌شده تا ۱۵ اکتبر ۲۰۲۶">
            <a:extLst xmlns:a="http://schemas.openxmlformats.org/drawingml/2006/main">
              <a:ext uri="{FF2B5EF4-FFF2-40B4-BE49-F238E27FC236}">
                <a16:creationId xmlns:a16="http://schemas.microsoft.com/office/drawing/2014/main" id="{4C6D6146-8051-45B8-9219-7A6FE3695CE4}"/>
              </a:ext>
            </a:extLst>
          </p:cNvPr>
          <p:cNvSpPr>
            <a:spLocks xmlns:a="http://schemas.openxmlformats.org/drawingml/2006/main" noGrp="1"/>
          </p:cNvSpPr>
          <p:nvPr/>
        </p:nvSpPr>
        <p:spPr>
          <a:xfrm xmlns:a="http://schemas.openxmlformats.org/drawingml/2006/main">
            <a:off x="685800" y="61626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ستاره: پیش‌چاپ، با وضعیت انتشار بررسی‌شده تا ۱۵ اکتبر ۲۰۲۶</a:t>
            </a:r>
          </a:p>
        </p:txBody>
      </p:sp>
    </p:spTree>
    <p:extLst>
      <p:ext uri="{BB962C8B-B14F-4D97-AF65-F5344CB8AC3E}">
        <p14:creationId xmlns:p14="http://schemas.microsoft.com/office/powerpoint/2010/main" val="1375301431"/>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مرور روش‌های نوین بازشناسی گفتار">
            <a:extLst xmlns:a="http://schemas.openxmlformats.org/drawingml/2006/main">
              <a:ext uri="{FF2B5EF4-FFF2-40B4-BE49-F238E27FC236}">
                <a16:creationId xmlns:a16="http://schemas.microsoft.com/office/drawing/2014/main" id="{4A0FC3CE-35B3-4FD0-B203-8FAA2E566E2C}"/>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مرور روش‌های نوین بازشناسی گفتار</a:t>
            </a:r>
          </a:p>
        </p:txBody>
      </p:sp>
      <p:sp>
        <p:nvSpPr>
          <p:cNvPr id="2" name="بهسازی گفتار و ادغام نماها">
            <a:extLst xmlns:a="http://schemas.openxmlformats.org/drawingml/2006/main">
              <a:ext uri="{FF2B5EF4-FFF2-40B4-BE49-F238E27FC236}">
                <a16:creationId xmlns:a16="http://schemas.microsoft.com/office/drawing/2014/main" id="{73DE25FA-3099-44E5-865D-98236DFB90B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بهسازی گفتار و ادغام نماها</a:t>
            </a:r>
          </a:p>
        </p:txBody>
      </p:sp>
      <p:sp>
        <p:nvSpPr>
          <p:cNvPr id="3" name="">
            <a:extLst xmlns:a="http://schemas.openxmlformats.org/drawingml/2006/main">
              <a:ext uri="{FF2B5EF4-FFF2-40B4-BE49-F238E27FC236}">
                <a16:creationId xmlns:a16="http://schemas.microsoft.com/office/drawing/2014/main" id="{A988AEE7-A4C1-44B8-A211-041627AE7B00}"/>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۴ از ۲۸">
            <a:extLst xmlns:a="http://schemas.openxmlformats.org/drawingml/2006/main">
              <a:ext uri="{FF2B5EF4-FFF2-40B4-BE49-F238E27FC236}">
                <a16:creationId xmlns:a16="http://schemas.microsoft.com/office/drawing/2014/main" id="{8EA947E6-430B-486E-8C75-C57BF5FCD3A6}"/>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۴ از ۲۸</a:t>
            </a:r>
          </a:p>
        </p:txBody>
      </p:sp>
      <p:graphicFrame>
        <p:nvGraphicFramePr>
          <p:cNvPr id="5" name="">
            <a:extLst xmlns:a="http://schemas.openxmlformats.org/drawingml/2006/main">
              <a:ext uri="{FF2B5EF4-FFF2-40B4-BE49-F238E27FC236}">
                <a16:creationId xmlns:a16="http://schemas.microsoft.com/office/drawing/2014/main" id="{5FF1DC22-9516-41B1-AED2-BA018A0C9B5C}"/>
              </a:ext>
            </a:extLst>
          </p:cNvPr>
          <p:cNvGraphicFramePr/>
          <p:nvPr/>
        </p:nvGraphicFramePr>
        <p:xfrm>
          <a:off xmlns:a="http://schemas.openxmlformats.org/drawingml/2006/main" x="685800" y="1866900"/>
          <a:ext xmlns:a="http://schemas.openxmlformats.org/drawingml/2006/main" cx="10820400" cy="4133850"/>
        </p:xfrm>
        <a:graphic xmlns:a="http://schemas.openxmlformats.org/drawingml/2006/main">
          <a:graphicData uri="http://schemas.openxmlformats.org/drawingml/2006/table">
            <a:tbl>
              <a:tblPr/>
              <a:tblGrid>
                <a:gridCol w="4000500"/>
                <a:gridCol w="4114800"/>
                <a:gridCol w="2705100"/>
              </a:tblGrid>
              <a:tr h="476250">
                <a:tc>
                  <a:txBody>
                    <a:bodyPr lIns="114300" tIns="114300" rIns="114300" bIns="114300">
                      <a:noAutofit/>
                    </a:bodyPr>
                    <a:lstStyle/>
                    <a:p>
                      <a:pPr algn="r" rtl="1"/>
                      <a:r>
                        <a:rPr sz="1800" b="1" lang="fa-IR">
                          <a:solidFill>
                            <a:srgbClr val="F7F6F2"/>
                          </a:solidFill>
                          <a:latin typeface="Vazirmatn"/>
                          <a:ea typeface="Vazirmatn"/>
                          <a:cs typeface="Vazirmatn"/>
                        </a:rPr>
                        <a:t>نمونه پژوهش‌ها</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ایده اصلی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خانواده روش</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Schrödinger Bridge (2025)</a:t>
                      </a:r>
                    </a:p>
                    <a:p>
                      <a:pPr algn="l" rtl="0"/>
                      <a:r>
                        <a:rPr sz="1575" b="0" lang="en-US">
                          <a:solidFill>
                            <a:srgbClr val="1F2933"/>
                          </a:solidFill>
                          <a:latin typeface="Vazirmatn"/>
                          <a:ea typeface="Vazirmatn"/>
                          <a:cs typeface="Vazirmatn"/>
                        </a:rPr>
                        <a:t>Decoupled SE–ASR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بازسازی گفتار با بهساز</a:t>
                      </a:r>
                    </a:p>
                    <a:p>
                      <a:pPr algn="r" rtl="1"/>
                      <a:r>
                        <a:rPr sz="1725" b="0" lang="fa-IR">
                          <a:solidFill>
                            <a:srgbClr val="1F2933"/>
                          </a:solidFill>
                          <a:latin typeface="Vazirmatn"/>
                          <a:ea typeface="Vazirmatn"/>
                          <a:cs typeface="Vazirmatn"/>
                        </a:rPr>
                        <a:t>پیش‌بینی‌گر یا مولد پیش از بازشناسی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بهسازی پیش از</a:t>
                      </a:r>
                    </a:p>
                    <a:p>
                      <a:pPr algn="r" rtl="1"/>
                      <a:r>
                        <a:rPr sz="1725" b="1" lang="fa-IR">
                          <a:solidFill>
                            <a:srgbClr val="153D42"/>
                          </a:solidFill>
                          <a:latin typeface="Vazirmatn"/>
                          <a:ea typeface="Vazirmatn"/>
                          <a:cs typeface="Vazirmatn"/>
                        </a:rPr>
                        <a:t>بازشناسی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Dissen et al. (2025)</a:t>
                      </a:r>
                    </a:p>
                    <a:p>
                      <a:pPr algn="l" rtl="0"/>
                      <a:r>
                        <a:rPr sz="1575" b="0" lang="en-US">
                          <a:solidFill>
                            <a:srgbClr val="1F2933"/>
                          </a:solidFill>
                          <a:latin typeface="Vazirmatn"/>
                          <a:ea typeface="Vazirmatn"/>
                          <a:cs typeface="Vazirmatn"/>
                        </a:rPr>
                        <a:t>SSL-MSE / Sato et al. (2025)</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آموزش بهساز با زیان بازشناسی</a:t>
                      </a:r>
                    </a:p>
                    <a:p>
                      <a:pPr algn="r" rtl="1"/>
                      <a:r>
                        <a:rPr sz="1725" b="0" lang="fa-IR">
                          <a:solidFill>
                            <a:srgbClr val="1F2933"/>
                          </a:solidFill>
                          <a:latin typeface="Vazirmatn"/>
                          <a:ea typeface="Vazirmatn"/>
                          <a:cs typeface="Vazirmatn"/>
                        </a:rPr>
                        <a:t>یا بازنمایی‌های خودنظارتی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بهسازی وظیفه‌محور</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FAT-HuBERT (2023)</a:t>
                      </a:r>
                    </a:p>
                    <a:p>
                      <a:pPr algn="l" rtl="0"/>
                      <a:r>
                        <a:rPr sz="1575" b="0" lang="en-US">
                          <a:solidFill>
                            <a:srgbClr val="1F2933"/>
                          </a:solidFill>
                          <a:latin typeface="Vazirmatn"/>
                          <a:ea typeface="Vazirmatn"/>
                          <a:cs typeface="Vazirmatn"/>
                        </a:rPr>
                        <a:t>Wav2code (2024)</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تعامل و ترکیب ویژگی‌های</a:t>
                      </a:r>
                    </a:p>
                    <a:p>
                      <a:pPr algn="r" rtl="1"/>
                      <a:r>
                        <a:rPr sz="1725" b="0" lang="fa-IR">
                          <a:solidFill>
                            <a:srgbClr val="1F2933"/>
                          </a:solidFill>
                          <a:latin typeface="Vazirmatn"/>
                          <a:ea typeface="Vazirmatn"/>
                          <a:cs typeface="Vazirmatn"/>
                        </a:rPr>
                        <a:t>نمای اصلی و بهسازی‌شده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همجوشی در</a:t>
                      </a:r>
                    </a:p>
                    <a:p>
                      <a:pPr algn="r" rtl="1"/>
                      <a:r>
                        <a:rPr sz="1725" b="1" lang="fa-IR">
                          <a:solidFill>
                            <a:srgbClr val="153D42"/>
                          </a:solidFill>
                          <a:latin typeface="Vazirmatn"/>
                          <a:ea typeface="Vazirmatn"/>
                          <a:cs typeface="Vazirmatn"/>
                        </a:rPr>
                        <a:t>فضای بازنمایی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Adaptive Bridge (2024, 2025)</a:t>
                      </a:r>
                    </a:p>
                    <a:p>
                      <a:pPr algn="l" rtl="0"/>
                      <a:r>
                        <a:rPr sz="1575" b="0" lang="en-US">
                          <a:solidFill>
                            <a:srgbClr val="1F2933"/>
                          </a:solidFill>
                          <a:latin typeface="Vazirmatn"/>
                          <a:ea typeface="Vazirmatn"/>
                          <a:cs typeface="Vazirmatn"/>
                        </a:rPr>
                        <a:t>Conf-OA / Rethink-and-Refine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آمیختن تطبیقی دو موج با پل،</a:t>
                      </a:r>
                    </a:p>
                    <a:p>
                      <a:pPr algn="r" rtl="1"/>
                      <a:r>
                        <a:rPr sz="1725" b="0" lang="fa-IR">
                          <a:solidFill>
                            <a:srgbClr val="1F2933"/>
                          </a:solidFill>
                          <a:latin typeface="Vazirmatn"/>
                          <a:ea typeface="Vazirmatn"/>
                          <a:cs typeface="Vazirmatn"/>
                        </a:rPr>
                        <a:t>اطمینان بازشناس یا پالایش قطعه‌ای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ترکیب در</a:t>
                      </a:r>
                    </a:p>
                    <a:p>
                      <a:pPr algn="r" rtl="1"/>
                      <a:r>
                        <a:rPr sz="1725" b="1" lang="fa-IR">
                          <a:solidFill>
                            <a:srgbClr val="153D42"/>
                          </a:solidFill>
                          <a:latin typeface="Vazirmatn"/>
                          <a:ea typeface="Vazirmatn"/>
                          <a:cs typeface="Vazirmatn"/>
                        </a:rPr>
                        <a:t>سطح موج</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افزایش کیفیت شنیداری الزاماً به کاهش خطای بازشناسی منجر نمی‌شود">
            <a:extLst xmlns:a="http://schemas.openxmlformats.org/drawingml/2006/main">
              <a:ext uri="{FF2B5EF4-FFF2-40B4-BE49-F238E27FC236}">
                <a16:creationId xmlns:a16="http://schemas.microsoft.com/office/drawing/2014/main" id="{B9DFC60D-2EB0-4443-8427-F2A9BC6E9CEA}"/>
              </a:ext>
            </a:extLst>
          </p:cNvPr>
          <p:cNvSpPr>
            <a:spLocks xmlns:a="http://schemas.openxmlformats.org/drawingml/2006/main" noGrp="1"/>
          </p:cNvSpPr>
          <p:nvPr/>
        </p:nvSpPr>
        <p:spPr>
          <a:xfrm xmlns:a="http://schemas.openxmlformats.org/drawingml/2006/main">
            <a:off x="685800" y="61150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افزایش کیفیت شنیداری الزاماً به کاهش خطای بازشناسی منجر نمی‌شود</a:t>
            </a:r>
          </a:p>
        </p:txBody>
      </p:sp>
    </p:spTree>
    <p:extLst>
      <p:ext uri="{BB962C8B-B14F-4D97-AF65-F5344CB8AC3E}">
        <p14:creationId xmlns:p14="http://schemas.microsoft.com/office/powerpoint/2010/main" val="694789241"/>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F19E9A47-A747-4CD0-8F4B-899122255B1E}"/>
              </a:ext>
            </a:extLst>
          </p:cNvPr>
          <p:cNvCxnSpPr>
            <a:stCxn xmlns:a="http://schemas.openxmlformats.org/drawingml/2006/main" id="6" idx="1"/>
            <a:endCxn xmlns:a="http://schemas.openxmlformats.org/drawingml/2006/main" id="10" idx="3"/>
          </p:cNvCxnSpPr>
          <p:nvPr/>
        </p:nvCxnSpPr>
        <p:spPr>
          <a:xfrm xmlns:a="http://schemas.openxmlformats.org/drawingml/2006/main" flipH="1">
            <a:off x="3714750" y="3762375"/>
            <a:ext cx="1952625" cy="1333500"/>
          </a:xfrm>
          <a:prstGeom xmlns:a="http://schemas.openxmlformats.org/drawingml/2006/main" prst="bentConnector3">
            <a:avLst>
              <a:gd name="adj1" fmla="val 50000"/>
            </a:avLst>
          </a:prstGeom>
          <a:ln xmlns:a="http://schemas.openxmlformats.org/drawingml/2006/main" w="16193">
            <a:solidFill>
              <a:srgbClr val="52606D"/>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BC8B8CD7-391A-47CD-A16B-D13664CB8E5F}"/>
              </a:ext>
            </a:extLst>
          </p:cNvPr>
          <p:cNvCxnSpPr>
            <a:stCxn xmlns:a="http://schemas.openxmlformats.org/drawingml/2006/main" id="6" idx="1"/>
            <a:endCxn xmlns:a="http://schemas.openxmlformats.org/drawingml/2006/main" id="9" idx="3"/>
          </p:cNvCxnSpPr>
          <p:nvPr/>
        </p:nvCxnSpPr>
        <p:spPr>
          <a:xfrm xmlns:a="http://schemas.openxmlformats.org/drawingml/2006/main" flipH="1">
            <a:off x="3714750" y="3762375"/>
            <a:ext cx="1952625" cy="28575"/>
          </a:xfrm>
          <a:prstGeom xmlns:a="http://schemas.openxmlformats.org/drawingml/2006/main" prst="straightConnector1">
            <a:avLst/>
          </a:prstGeom>
          <a:ln xmlns:a="http://schemas.openxmlformats.org/drawingml/2006/main" w="16193">
            <a:solidFill>
              <a:srgbClr val="52606D"/>
            </a:solidFill>
            <a:prstDash val="dash"/>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C5556BFC-26FE-40F3-87D8-CF44D57FFDDE}"/>
              </a:ext>
            </a:extLst>
          </p:cNvPr>
          <p:cNvCxnSpPr>
            <a:stCxn xmlns:a="http://schemas.openxmlformats.org/drawingml/2006/main" id="6" idx="1"/>
            <a:endCxn xmlns:a="http://schemas.openxmlformats.org/drawingml/2006/main" id="8" idx="3"/>
          </p:cNvCxnSpPr>
          <p:nvPr/>
        </p:nvCxnSpPr>
        <p:spPr>
          <a:xfrm xmlns:a="http://schemas.openxmlformats.org/drawingml/2006/main" flipH="1" flipV="1">
            <a:off x="3714750" y="2486025"/>
            <a:ext cx="1952625" cy="1276350"/>
          </a:xfrm>
          <a:prstGeom xmlns:a="http://schemas.openxmlformats.org/drawingml/2006/main" prst="bentConnector3">
            <a:avLst>
              <a:gd name="adj1" fmla="val 50000"/>
            </a:avLst>
          </a:prstGeom>
          <a:ln xmlns:a="http://schemas.openxmlformats.org/drawingml/2006/main" w="16193">
            <a:solidFill>
              <a:srgbClr val="52606D"/>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20E37C7F-66AE-427B-ACA4-07F3CCA52015}"/>
              </a:ext>
            </a:extLst>
          </p:cNvPr>
          <p:cNvCxnSpPr>
            <a:stCxn xmlns:a="http://schemas.openxmlformats.org/drawingml/2006/main" id="5" idx="1"/>
            <a:endCxn xmlns:a="http://schemas.openxmlformats.org/drawingml/2006/main" id="6" idx="3"/>
          </p:cNvCxnSpPr>
          <p:nvPr/>
        </p:nvCxnSpPr>
        <p:spPr>
          <a:xfrm xmlns:a="http://schemas.openxmlformats.org/drawingml/2006/main" flipH="1">
            <a:off x="8382000" y="3762375"/>
            <a:ext cx="742950" cy="0"/>
          </a:xfrm>
          <a:prstGeom xmlns:a="http://schemas.openxmlformats.org/drawingml/2006/main" prst="straightConnector1">
            <a:avLst/>
          </a:prstGeom>
          <a:ln xmlns:a="http://schemas.openxmlformats.org/drawingml/2006/main" w="16193">
            <a:solidFill>
              <a:srgbClr val="52606D"/>
            </a:solidFill>
            <a:prstDash val="solid"/>
            <a:headEnd type="none" w="med" len="med"/>
            <a:tailEnd type="triangle" w="sm" len="sm"/>
          </a:ln>
        </p:spPr>
      </p:cxnSp>
      <p:sp>
        <p:nvSpPr>
          <p:cNvPr id="16" name="طرح پژوهش">
            <a:extLst xmlns:a="http://schemas.openxmlformats.org/drawingml/2006/main">
              <a:ext uri="{FF2B5EF4-FFF2-40B4-BE49-F238E27FC236}">
                <a16:creationId xmlns:a16="http://schemas.microsoft.com/office/drawing/2014/main" id="{6F958FFE-4E9E-44F0-9A09-941E8C1A1273}"/>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طرح پژوهش</a:t>
            </a:r>
          </a:p>
        </p:txBody>
      </p:sp>
      <p:sp>
        <p:nvSpPr>
          <p:cNvPr id="2" name="ساختار آزمایش‌ها و خط مبنا">
            <a:extLst xmlns:a="http://schemas.openxmlformats.org/drawingml/2006/main">
              <a:ext uri="{FF2B5EF4-FFF2-40B4-BE49-F238E27FC236}">
                <a16:creationId xmlns:a16="http://schemas.microsoft.com/office/drawing/2014/main" id="{CC16C827-B177-4172-80F6-D2A679183EBD}"/>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ساختار آزمایش‌ها و خط مبنا</a:t>
            </a:r>
          </a:p>
        </p:txBody>
      </p:sp>
      <p:sp>
        <p:nvSpPr>
          <p:cNvPr id="3" name="">
            <a:extLst xmlns:a="http://schemas.openxmlformats.org/drawingml/2006/main">
              <a:ext uri="{FF2B5EF4-FFF2-40B4-BE49-F238E27FC236}">
                <a16:creationId xmlns:a16="http://schemas.microsoft.com/office/drawing/2014/main" id="{642AEAAC-4281-4E8C-B2E9-0202503836D1}"/>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۵ از ۲۸">
            <a:extLst xmlns:a="http://schemas.openxmlformats.org/drawingml/2006/main">
              <a:ext uri="{FF2B5EF4-FFF2-40B4-BE49-F238E27FC236}">
                <a16:creationId xmlns:a16="http://schemas.microsoft.com/office/drawing/2014/main" id="{696DBACF-A594-4465-B749-F43B7FFC3371}"/>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۵ از ۲۸</a:t>
            </a:r>
          </a:p>
        </p:txBody>
      </p:sp>
      <p:sp>
        <p:nvSpPr>
          <p:cNvPr id="5" name="ویسپر کوچک معمولی&#10;گفتار پایه و نمونه‌های بلند">
            <a:extLst xmlns:a="http://schemas.openxmlformats.org/drawingml/2006/main">
              <a:ext uri="{FF2B5EF4-FFF2-40B4-BE49-F238E27FC236}">
                <a16:creationId xmlns:a16="http://schemas.microsoft.com/office/drawing/2014/main" id="{3BC98D7F-F886-4E55-8A5A-F52CDD3C9E44}"/>
              </a:ext>
            </a:extLst>
          </p:cNvPr>
          <p:cNvSpPr>
            <a:spLocks xmlns:a="http://schemas.openxmlformats.org/drawingml/2006/main" noGrp="1"/>
          </p:cNvSpPr>
          <p:nvPr/>
        </p:nvSpPr>
        <p:spPr>
          <a:xfrm xmlns:a="http://schemas.openxmlformats.org/drawingml/2006/main">
            <a:off x="9124950" y="3190875"/>
            <a:ext cx="2381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ویسپر کوچک معمولی</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گفتار پایه و نمونه‌های بلند</a:t>
            </a:r>
          </a:p>
        </p:txBody>
      </p:sp>
      <p:sp>
        <p:nvSpPr>
          <p:cNvPr id="6" name="ویسپر کوچک&#10;چندشرایطی">
            <a:extLst xmlns:a="http://schemas.openxmlformats.org/drawingml/2006/main">
              <a:ext uri="{FF2B5EF4-FFF2-40B4-BE49-F238E27FC236}">
                <a16:creationId xmlns:a16="http://schemas.microsoft.com/office/drawing/2014/main" id="{589B6C90-E388-47D1-A95B-83D3D17EF766}"/>
              </a:ext>
            </a:extLst>
          </p:cNvPr>
          <p:cNvSpPr>
            <a:spLocks xmlns:a="http://schemas.openxmlformats.org/drawingml/2006/main" noGrp="1"/>
          </p:cNvSpPr>
          <p:nvPr/>
        </p:nvSpPr>
        <p:spPr>
          <a:xfrm xmlns:a="http://schemas.openxmlformats.org/drawingml/2006/main">
            <a:off x="5667375" y="3190875"/>
            <a:ext cx="2714625" cy="1143000"/>
          </a:xfrm>
          <a:prstGeom xmlns:a="http://schemas.openxmlformats.org/drawingml/2006/main" prst="roundRect">
            <a:avLst>
              <a:gd name="adj" fmla="val 6667"/>
            </a:avLst>
          </a:prstGeom>
          <a:solidFill xmlns:a="http://schemas.openxmlformats.org/drawingml/2006/main">
            <a:srgbClr val="E8F3F6"/>
          </a:solidFill>
          <a:ln xmlns:a="http://schemas.openxmlformats.org/drawingml/2006/main" w="19050">
            <a:solidFill>
              <a:srgbClr val="1D6F8A"/>
            </a:solidFill>
          </a:ln>
        </p:spPr>
        <p:txBody>
          <a:bodyPr xmlns:a="http://schemas.openxmlformats.org/drawingml/2006/main" wrap="square" lIns="114300" tIns="114300" rIns="114300" bIns="114300" anchor="ctr">
            <a:noAutofit/>
          </a:bodyPr>
          <a:lstStyle xmlns:a="http://schemas.openxmlformats.org/drawingml/2006/main">
            <a:defPPr algn="ctr">
              <a:defRPr sz="2175" b="1">
                <a:solidFill>
                  <a:srgbClr val="1D6F8A"/>
                </a:solidFill>
                <a:latin typeface="Vazirmatn"/>
                <a:ea typeface="Vazirmatn"/>
                <a:cs typeface="Vazirmatn"/>
              </a:defRPr>
            </a:defPPr>
          </a:lstStyle>
          <a:p xmlns:a="http://schemas.openxmlformats.org/drawingml/2006/main">
            <a:pPr algn="ct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ویسپر کوچک</a:t>
            </a:r>
          </a:p>
          <a:p xmlns:a="http://schemas.openxmlformats.org/drawingml/2006/main">
            <a:pPr algn="ct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چندشرایطی</a:t>
            </a:r>
          </a:p>
        </p:txBody>
      </p:sp>
      <p:sp>
        <p:nvSpPr>
          <p:cNvPr id="7" name="افزودن گفتار تخریب‌شده">
            <a:extLst xmlns:a="http://schemas.openxmlformats.org/drawingml/2006/main">
              <a:ext uri="{FF2B5EF4-FFF2-40B4-BE49-F238E27FC236}">
                <a16:creationId xmlns:a16="http://schemas.microsoft.com/office/drawing/2014/main" id="{33FA6819-16F6-4504-8D24-DAEA1CEB32C6}"/>
              </a:ext>
            </a:extLst>
          </p:cNvPr>
          <p:cNvSpPr>
            <a:spLocks xmlns:a="http://schemas.openxmlformats.org/drawingml/2006/main" noGrp="1"/>
          </p:cNvSpPr>
          <p:nvPr/>
        </p:nvSpPr>
        <p:spPr>
          <a:xfrm xmlns:a="http://schemas.openxmlformats.org/drawingml/2006/main">
            <a:off x="5667375" y="446722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2606D"/>
                </a:solidFill>
                <a:latin typeface="Vazirmatn"/>
                <a:ea typeface="Vazirmatn"/>
                <a:cs typeface="Vazirmatn"/>
              </a:defRPr>
            </a:defPPr>
          </a:lstStyle>
          <a:p xmlns:a="http://schemas.openxmlformats.org/drawingml/2006/main">
            <a:pPr algn="ctr" rtl="1">
              <a:defRPr sz="1650" b="0" lang="fa-IR">
                <a:solidFill>
                  <a:srgbClr val="52606D"/>
                </a:solidFill>
                <a:latin typeface="Vazirmatn"/>
                <a:ea typeface="Vazirmatn"/>
                <a:cs typeface="Vazirmatn"/>
              </a:defRPr>
            </a:pPr>
            <a:r>
              <a:rPr sz="1650" b="0" lang="fa-IR">
                <a:solidFill>
                  <a:srgbClr val="52606D"/>
                </a:solidFill>
                <a:latin typeface="Vazirmatn"/>
                <a:ea typeface="Vazirmatn"/>
                <a:cs typeface="Vazirmatn"/>
              </a:rPr>
              <a:t>افزودن گفتار تخریب‌شده</a:t>
            </a:r>
          </a:p>
        </p:txBody>
      </p:sp>
      <p:sp>
        <p:nvSpPr>
          <p:cNvPr id="8" name="بهسازی و همجوشی">
            <a:extLst xmlns:a="http://schemas.openxmlformats.org/drawingml/2006/main">
              <a:ext uri="{FF2B5EF4-FFF2-40B4-BE49-F238E27FC236}">
                <a16:creationId xmlns:a16="http://schemas.microsoft.com/office/drawing/2014/main" id="{36F9AC75-AEFD-44AF-AC74-FAC03013B6A0}"/>
              </a:ext>
            </a:extLst>
          </p:cNvPr>
          <p:cNvSpPr>
            <a:spLocks xmlns:a="http://schemas.openxmlformats.org/drawingml/2006/main" noGrp="1"/>
          </p:cNvSpPr>
          <p:nvPr/>
        </p:nvSpPr>
        <p:spPr>
          <a:xfrm xmlns:a="http://schemas.openxmlformats.org/drawingml/2006/main">
            <a:off x="857250" y="2047875"/>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F2933"/>
                </a:solidFill>
                <a:latin typeface="Vazirmatn"/>
                <a:ea typeface="Vazirmatn"/>
                <a:cs typeface="Vazirmatn"/>
              </a:defRPr>
            </a:defPPr>
          </a:lstStyle>
          <a:p xmlns:a="http://schemas.openxmlformats.org/drawingml/2006/main">
            <a:pPr algn="ct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بهسازی و همجوشی</a:t>
            </a:r>
          </a:p>
        </p:txBody>
      </p:sp>
      <p:sp>
        <p:nvSpPr>
          <p:cNvPr id="9" name="پل تطبیقی&#10;روش مقایسه‌ای همجوشی">
            <a:extLst xmlns:a="http://schemas.openxmlformats.org/drawingml/2006/main">
              <a:ext uri="{FF2B5EF4-FFF2-40B4-BE49-F238E27FC236}">
                <a16:creationId xmlns:a16="http://schemas.microsoft.com/office/drawing/2014/main" id="{0DC5E9E0-8E05-498D-A632-5E7A930CFEF1}"/>
              </a:ext>
            </a:extLst>
          </p:cNvPr>
          <p:cNvSpPr>
            <a:spLocks xmlns:a="http://schemas.openxmlformats.org/drawingml/2006/main" noGrp="1"/>
          </p:cNvSpPr>
          <p:nvPr/>
        </p:nvSpPr>
        <p:spPr>
          <a:xfrm xmlns:a="http://schemas.openxmlformats.org/drawingml/2006/main">
            <a:off x="857250" y="3352800"/>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پل تطبیقی</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روش مقایسه‌ای همجوشی</a:t>
            </a:r>
          </a:p>
        </p:txBody>
      </p:sp>
      <p:sp>
        <p:nvSpPr>
          <p:cNvPr id="10" name="افزودن ایران‌صدا&#10;حفظ ترکیب کامل داده‌ها">
            <a:extLst xmlns:a="http://schemas.openxmlformats.org/drawingml/2006/main">
              <a:ext uri="{FF2B5EF4-FFF2-40B4-BE49-F238E27FC236}">
                <a16:creationId xmlns:a16="http://schemas.microsoft.com/office/drawing/2014/main" id="{E6A6CB53-9D98-4F45-8012-940691C3A63D}"/>
              </a:ext>
            </a:extLst>
          </p:cNvPr>
          <p:cNvSpPr>
            <a:spLocks xmlns:a="http://schemas.openxmlformats.org/drawingml/2006/main" noGrp="1"/>
          </p:cNvSpPr>
          <p:nvPr/>
        </p:nvSpPr>
        <p:spPr>
          <a:xfrm xmlns:a="http://schemas.openxmlformats.org/drawingml/2006/main">
            <a:off x="857250" y="4657725"/>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افزودن ایران‌صدا</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حفظ ترکیب کامل داده‌ها</a:t>
            </a:r>
          </a:p>
        </p:txBody>
      </p:sp>
      <p:sp>
        <p:nvSpPr>
          <p:cNvPr id="15" name="همجوشی و ایران‌صدا دو مسیر مستقل‌اند. سامانه ترکیبی آن‌ها ارزیابی نشده است">
            <a:extLst xmlns:a="http://schemas.openxmlformats.org/drawingml/2006/main">
              <a:ext uri="{FF2B5EF4-FFF2-40B4-BE49-F238E27FC236}">
                <a16:creationId xmlns:a16="http://schemas.microsoft.com/office/drawing/2014/main" id="{35CC04FE-BACE-40EF-9C8E-BCCA92374756}"/>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همجوشی و ایران‌صدا دو مسیر مستقل‌اند. سامانه ترکیبی آن‌ها ارزیابی نشده است</a:t>
            </a:r>
          </a:p>
        </p:txBody>
      </p:sp>
    </p:spTree>
    <p:extLst>
      <p:ext uri="{BB962C8B-B14F-4D97-AF65-F5344CB8AC3E}">
        <p14:creationId xmlns:p14="http://schemas.microsoft.com/office/powerpoint/2010/main" val="1814322216"/>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داده و ارزیابی">
            <a:extLst xmlns:a="http://schemas.openxmlformats.org/drawingml/2006/main">
              <a:ext uri="{FF2B5EF4-FFF2-40B4-BE49-F238E27FC236}">
                <a16:creationId xmlns:a16="http://schemas.microsoft.com/office/drawing/2014/main" id="{96872439-DEAD-432A-8019-96A5B757AC1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داده و ارزیابی</a:t>
            </a:r>
          </a:p>
        </p:txBody>
      </p:sp>
      <p:sp>
        <p:nvSpPr>
          <p:cNvPr id="2" name="داده‌های آموزش">
            <a:extLst xmlns:a="http://schemas.openxmlformats.org/drawingml/2006/main">
              <a:ext uri="{FF2B5EF4-FFF2-40B4-BE49-F238E27FC236}">
                <a16:creationId xmlns:a16="http://schemas.microsoft.com/office/drawing/2014/main" id="{B56CCC40-8D25-43C5-A447-2A41A5F35E3E}"/>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داده‌های آموزش</a:t>
            </a:r>
          </a:p>
        </p:txBody>
      </p:sp>
      <p:sp>
        <p:nvSpPr>
          <p:cNvPr id="3" name="">
            <a:extLst xmlns:a="http://schemas.openxmlformats.org/drawingml/2006/main">
              <a:ext uri="{FF2B5EF4-FFF2-40B4-BE49-F238E27FC236}">
                <a16:creationId xmlns:a16="http://schemas.microsoft.com/office/drawing/2014/main" id="{BAFB2A50-AF47-451F-A5D6-BB2AA27B667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۶ از ۲۸">
            <a:extLst xmlns:a="http://schemas.openxmlformats.org/drawingml/2006/main">
              <a:ext uri="{FF2B5EF4-FFF2-40B4-BE49-F238E27FC236}">
                <a16:creationId xmlns:a16="http://schemas.microsoft.com/office/drawing/2014/main" id="{65BCA6DD-601C-4643-A27A-057066D571B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۶ از ۲۸</a:t>
            </a:r>
          </a:p>
        </p:txBody>
      </p:sp>
      <p:sp>
        <p:nvSpPr>
          <p:cNvPr id="5" name="گفتار پایه فارسی">
            <a:extLst xmlns:a="http://schemas.openxmlformats.org/drawingml/2006/main">
              <a:ext uri="{FF2B5EF4-FFF2-40B4-BE49-F238E27FC236}">
                <a16:creationId xmlns:a16="http://schemas.microsoft.com/office/drawing/2014/main" id="{E05B5F93-3AFA-439B-8030-EF39969054B1}"/>
              </a:ext>
            </a:extLst>
          </p:cNvPr>
          <p:cNvSpPr>
            <a:spLocks xmlns:a="http://schemas.openxmlformats.org/drawingml/2006/main" noGrp="1"/>
          </p:cNvSpPr>
          <p:nvPr/>
        </p:nvSpPr>
        <p:spPr>
          <a:xfrm xmlns:a="http://schemas.openxmlformats.org/drawingml/2006/main">
            <a:off x="6572250" y="1952625"/>
            <a:ext cx="4933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00" b="1">
                <a:solidFill>
                  <a:srgbClr val="153D42"/>
                </a:solidFill>
                <a:latin typeface="Vazirmatn"/>
                <a:ea typeface="Vazirmatn"/>
                <a:cs typeface="Vazirmatn"/>
              </a:defRPr>
            </a:defPPr>
          </a:lstStyle>
          <a:p xmlns:a="http://schemas.openxmlformats.org/drawingml/2006/main">
            <a:pPr algn="r" rtl="1">
              <a:defRPr sz="2400" b="1" lang="fa-IR">
                <a:solidFill>
                  <a:srgbClr val="153D42"/>
                </a:solidFill>
                <a:latin typeface="Vazirmatn"/>
                <a:ea typeface="Vazirmatn"/>
                <a:cs typeface="Vazirmatn"/>
              </a:defRPr>
            </a:pPr>
            <a:r>
              <a:rPr sz="2400" b="1" lang="fa-IR">
                <a:solidFill>
                  <a:srgbClr val="153D42"/>
                </a:solidFill>
                <a:latin typeface="Vazirmatn"/>
                <a:ea typeface="Vazirmatn"/>
                <a:cs typeface="Vazirmatn"/>
              </a:rPr>
              <a:t>گفتار پایه فارسی</a:t>
            </a:r>
          </a:p>
        </p:txBody>
      </p:sp>
      <p:sp>
        <p:nvSpPr>
          <p:cNvPr id="6" name="Common Voice Persian 25&#10;FarsSpon  (زیرمجموعه محدود)&#10;FLEURS Persian">
            <a:extLst xmlns:a="http://schemas.openxmlformats.org/drawingml/2006/main">
              <a:ext uri="{FF2B5EF4-FFF2-40B4-BE49-F238E27FC236}">
                <a16:creationId xmlns:a16="http://schemas.microsoft.com/office/drawing/2014/main" id="{A3F9147B-A996-44FF-880B-09AF96C6AB3E}"/>
              </a:ext>
            </a:extLst>
          </p:cNvPr>
          <p:cNvSpPr>
            <a:spLocks xmlns:a="http://schemas.openxmlformats.org/drawingml/2006/main" noGrp="1"/>
          </p:cNvSpPr>
          <p:nvPr/>
        </p:nvSpPr>
        <p:spPr>
          <a:xfrm xmlns:a="http://schemas.openxmlformats.org/drawingml/2006/main">
            <a:off x="6572250" y="2800350"/>
            <a:ext cx="49339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1F2933"/>
                </a:solidFill>
                <a:latin typeface="Vazirmatn"/>
                <a:ea typeface="Vazirmatn"/>
                <a:cs typeface="Vazirmatn"/>
              </a:defRPr>
            </a:defPPr>
          </a:lstStyle>
          <a:p xmlns:a="http://schemas.openxmlformats.org/drawingml/2006/main">
            <a:pPr algn="r" rtl="0">
              <a:defRPr sz="2100" b="0" lang="en-US">
                <a:solidFill>
                  <a:srgbClr val="1F2933"/>
                </a:solidFill>
                <a:latin typeface="Vazirmatn"/>
                <a:ea typeface="Vazirmatn"/>
                <a:cs typeface="Vazirmatn"/>
              </a:defRPr>
            </a:pPr>
            <a:r>
              <a:rPr sz="2100" b="0" lang="en-US">
                <a:solidFill>
                  <a:srgbClr val="1F2933"/>
                </a:solidFill>
                <a:latin typeface="Vazirmatn"/>
                <a:ea typeface="Vazirmatn"/>
                <a:cs typeface="Vazirmatn"/>
              </a:rPr>
              <a:t>Common Voice Persian 25</a:t>
            </a:r>
          </a:p>
          <a:p xmlns:a="http://schemas.openxmlformats.org/drawingml/2006/main">
            <a:pPr algn="r" rtl="1">
              <a:defRPr sz="2100" b="0" lang="fa-IR">
                <a:solidFill>
                  <a:srgbClr val="1F2933"/>
                </a:solidFill>
                <a:latin typeface="Vazirmatn"/>
                <a:ea typeface="Vazirmatn"/>
                <a:cs typeface="Vazirmatn"/>
              </a:defRPr>
            </a:pPr>
            <a:r>
              <a:rPr sz="2100" b="0" lang="fa-IR">
                <a:solidFill>
                  <a:srgbClr val="1F2933"/>
                </a:solidFill>
                <a:latin typeface="Vazirmatn"/>
                <a:ea typeface="Vazirmatn"/>
                <a:cs typeface="Vazirmatn"/>
              </a:rPr>
              <a:t>FarsSpon  (زیرمجموعه محدود)</a:t>
            </a:r>
          </a:p>
          <a:p xmlns:a="http://schemas.openxmlformats.org/drawingml/2006/main">
            <a:pPr algn="r" rtl="0">
              <a:defRPr sz="2100" b="0" lang="en-US">
                <a:solidFill>
                  <a:srgbClr val="1F2933"/>
                </a:solidFill>
                <a:latin typeface="Vazirmatn"/>
                <a:ea typeface="Vazirmatn"/>
                <a:cs typeface="Vazirmatn"/>
              </a:defRPr>
            </a:pPr>
            <a:r>
              <a:rPr sz="2100" b="0" lang="en-US">
                <a:solidFill>
                  <a:srgbClr val="1F2933"/>
                </a:solidFill>
                <a:latin typeface="Vazirmatn"/>
                <a:ea typeface="Vazirmatn"/>
                <a:cs typeface="Vazirmatn"/>
              </a:rPr>
              <a:t>FLEURS Persian</a:t>
            </a:r>
          </a:p>
        </p:txBody>
      </p:sp>
      <p:sp>
        <p:nvSpPr>
          <p:cNvPr id="7" name="۲ تا ۴">
            <a:extLst xmlns:a="http://schemas.openxmlformats.org/drawingml/2006/main">
              <a:ext uri="{FF2B5EF4-FFF2-40B4-BE49-F238E27FC236}">
                <a16:creationId xmlns:a16="http://schemas.microsoft.com/office/drawing/2014/main" id="{359CF0E5-2CF1-483F-BC17-74F701BDA741}"/>
              </a:ext>
            </a:extLst>
          </p:cNvPr>
          <p:cNvSpPr>
            <a:spLocks xmlns:a="http://schemas.openxmlformats.org/drawingml/2006/main" noGrp="1"/>
          </p:cNvSpPr>
          <p:nvPr/>
        </p:nvSpPr>
        <p:spPr>
          <a:xfrm xmlns:a="http://schemas.openxmlformats.org/drawingml/2006/main">
            <a:off x="685800" y="1952625"/>
            <a:ext cx="4800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850" b="1">
                <a:solidFill>
                  <a:srgbClr val="1D6F8A"/>
                </a:solidFill>
                <a:latin typeface="Vazirmatn"/>
                <a:ea typeface="Vazirmatn"/>
                <a:cs typeface="Vazirmatn"/>
              </a:defRPr>
            </a:defPPr>
          </a:lstStyle>
          <a:p xmlns:a="http://schemas.openxmlformats.org/drawingml/2006/main">
            <a:pPr algn="r" rtl="1">
              <a:defRPr sz="5850" b="1" lang="fa-IR">
                <a:solidFill>
                  <a:srgbClr val="1D6F8A"/>
                </a:solidFill>
                <a:latin typeface="Vazirmatn"/>
                <a:ea typeface="Vazirmatn"/>
                <a:cs typeface="Vazirmatn"/>
              </a:defRPr>
            </a:pPr>
            <a:r>
              <a:rPr sz="5850" b="1" lang="fa-IR">
                <a:solidFill>
                  <a:srgbClr val="1D6F8A"/>
                </a:solidFill>
                <a:latin typeface="Vazirmatn"/>
                <a:ea typeface="Vazirmatn"/>
                <a:cs typeface="Vazirmatn"/>
              </a:rPr>
              <a:t>۲ تا ۴</a:t>
            </a:r>
          </a:p>
        </p:txBody>
      </p:sp>
      <p:sp>
        <p:nvSpPr>
          <p:cNvPr id="8" name="قطعه برای ساخت هر نمونه بلند">
            <a:extLst xmlns:a="http://schemas.openxmlformats.org/drawingml/2006/main">
              <a:ext uri="{FF2B5EF4-FFF2-40B4-BE49-F238E27FC236}">
                <a16:creationId xmlns:a16="http://schemas.microsoft.com/office/drawing/2014/main" id="{4CFBE285-A2DC-4F7B-A50A-60CE01A5552D}"/>
              </a:ext>
            </a:extLst>
          </p:cNvPr>
          <p:cNvSpPr>
            <a:spLocks xmlns:a="http://schemas.openxmlformats.org/drawingml/2006/main" noGrp="1"/>
          </p:cNvSpPr>
          <p:nvPr/>
        </p:nvSpPr>
        <p:spPr>
          <a:xfrm xmlns:a="http://schemas.openxmlformats.org/drawingml/2006/main">
            <a:off x="685800" y="3152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153D42"/>
                </a:solidFill>
                <a:latin typeface="Vazirmatn"/>
                <a:ea typeface="Vazirmatn"/>
                <a:cs typeface="Vazirmatn"/>
              </a:defRPr>
            </a:defPPr>
          </a:lstStyle>
          <a:p xmlns:a="http://schemas.openxmlformats.org/drawingml/2006/main">
            <a:pPr algn="r" rtl="1">
              <a:defRPr sz="2100" b="1" lang="fa-IR">
                <a:solidFill>
                  <a:srgbClr val="153D42"/>
                </a:solidFill>
                <a:latin typeface="Vazirmatn"/>
                <a:ea typeface="Vazirmatn"/>
                <a:cs typeface="Vazirmatn"/>
              </a:defRPr>
            </a:pPr>
            <a:r>
              <a:rPr sz="2100" b="1" lang="fa-IR">
                <a:solidFill>
                  <a:srgbClr val="153D42"/>
                </a:solidFill>
                <a:latin typeface="Vazirmatn"/>
                <a:ea typeface="Vazirmatn"/>
                <a:cs typeface="Vazirmatn"/>
              </a:rPr>
              <a:t>قطعه برای ساخت هر نمونه بلند</a:t>
            </a:r>
          </a:p>
        </p:txBody>
      </p:sp>
      <p:sp>
        <p:nvSpPr>
          <p:cNvPr id="9" name="اتصال درون همان بخش داده&#10;بیش از ۵ و حداکثر ۲۰ ثانیه&#10;حضور در خط مبنای معمولی">
            <a:extLst xmlns:a="http://schemas.openxmlformats.org/drawingml/2006/main">
              <a:ext uri="{FF2B5EF4-FFF2-40B4-BE49-F238E27FC236}">
                <a16:creationId xmlns:a16="http://schemas.microsoft.com/office/drawing/2014/main" id="{44A5222C-24DA-4018-8DF6-92853949E012}"/>
              </a:ext>
            </a:extLst>
          </p:cNvPr>
          <p:cNvSpPr>
            <a:spLocks xmlns:a="http://schemas.openxmlformats.org/drawingml/2006/main" noGrp="1"/>
          </p:cNvSpPr>
          <p:nvPr/>
        </p:nvSpPr>
        <p:spPr>
          <a:xfrm xmlns:a="http://schemas.openxmlformats.org/drawingml/2006/main">
            <a:off x="685800" y="3990975"/>
            <a:ext cx="48006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اتصال درون همان بخش داده</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بیش از ۵ و حداکثر ۲۰ ثانیه</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حضور در خط مبنای معمولی</a:t>
            </a:r>
          </a:p>
        </p:txBody>
      </p:sp>
      <p:sp>
        <p:nvSpPr>
          <p:cNvPr id="10" name="صوت تک‌کاناله ۱۶ کیلوهرتزی و نرمال‌سازی مشترک متن فارسی">
            <a:extLst xmlns:a="http://schemas.openxmlformats.org/drawingml/2006/main">
              <a:ext uri="{FF2B5EF4-FFF2-40B4-BE49-F238E27FC236}">
                <a16:creationId xmlns:a16="http://schemas.microsoft.com/office/drawing/2014/main" id="{EC84B8E1-C2A5-4B82-BBF1-8D6410F198ED}"/>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صوت تک‌کاناله ۱۶ کیلوهرتزی و نرمال‌سازی مشترک متن فارسی</a:t>
            </a:r>
          </a:p>
        </p:txBody>
      </p:sp>
    </p:spTree>
    <p:extLst>
      <p:ext uri="{BB962C8B-B14F-4D97-AF65-F5344CB8AC3E}">
        <p14:creationId xmlns:p14="http://schemas.microsoft.com/office/powerpoint/2010/main" val="1103450376"/>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داده و ارزیابی">
            <a:extLst xmlns:a="http://schemas.openxmlformats.org/drawingml/2006/main">
              <a:ext uri="{FF2B5EF4-FFF2-40B4-BE49-F238E27FC236}">
                <a16:creationId xmlns:a16="http://schemas.microsoft.com/office/drawing/2014/main" id="{E0746BB9-D21B-45D9-A379-D43BDFAE17CD}"/>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داده و ارزیابی</a:t>
            </a:r>
          </a:p>
        </p:txBody>
      </p:sp>
      <p:sp>
        <p:nvSpPr>
          <p:cNvPr id="2" name="ارزیابی روی تماس واقعی و گفتار عمومی">
            <a:extLst xmlns:a="http://schemas.openxmlformats.org/drawingml/2006/main">
              <a:ext uri="{FF2B5EF4-FFF2-40B4-BE49-F238E27FC236}">
                <a16:creationId xmlns:a16="http://schemas.microsoft.com/office/drawing/2014/main" id="{6E452ED3-DB6A-4EDD-89F7-B6701B5AA8B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ارزیابی روی تماس واقعی و گفتار عمومی</a:t>
            </a:r>
          </a:p>
        </p:txBody>
      </p:sp>
      <p:sp>
        <p:nvSpPr>
          <p:cNvPr id="3" name="">
            <a:extLst xmlns:a="http://schemas.openxmlformats.org/drawingml/2006/main">
              <a:ext uri="{FF2B5EF4-FFF2-40B4-BE49-F238E27FC236}">
                <a16:creationId xmlns:a16="http://schemas.microsoft.com/office/drawing/2014/main" id="{727597C0-0F4A-4278-A668-6E4108A3812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۷ از ۲۸">
            <a:extLst xmlns:a="http://schemas.openxmlformats.org/drawingml/2006/main">
              <a:ext uri="{FF2B5EF4-FFF2-40B4-BE49-F238E27FC236}">
                <a16:creationId xmlns:a16="http://schemas.microsoft.com/office/drawing/2014/main" id="{3F343BD3-A046-4C01-9CF8-58E4ECFBC5C0}"/>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۷ از ۲۸</a:t>
            </a:r>
          </a:p>
        </p:txBody>
      </p:sp>
      <p:sp>
        <p:nvSpPr>
          <p:cNvPr id="5" name="۱۰٬۰۴۴">
            <a:extLst xmlns:a="http://schemas.openxmlformats.org/drawingml/2006/main">
              <a:ext uri="{FF2B5EF4-FFF2-40B4-BE49-F238E27FC236}">
                <a16:creationId xmlns:a16="http://schemas.microsoft.com/office/drawing/2014/main" id="{759447A4-6829-41F3-8D6A-DF5924F6733B}"/>
              </a:ext>
            </a:extLst>
          </p:cNvPr>
          <p:cNvSpPr>
            <a:spLocks xmlns:a="http://schemas.openxmlformats.org/drawingml/2006/main" noGrp="1"/>
          </p:cNvSpPr>
          <p:nvPr/>
        </p:nvSpPr>
        <p:spPr>
          <a:xfrm xmlns:a="http://schemas.openxmlformats.org/drawingml/2006/main">
            <a:off x="6381750" y="1828800"/>
            <a:ext cx="5124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6600" b="1">
                <a:solidFill>
                  <a:srgbClr val="1D6F8A"/>
                </a:solidFill>
                <a:latin typeface="Vazirmatn"/>
                <a:ea typeface="Vazirmatn"/>
                <a:cs typeface="Vazirmatn"/>
              </a:defRPr>
            </a:defPPr>
          </a:lstStyle>
          <a:p xmlns:a="http://schemas.openxmlformats.org/drawingml/2006/main">
            <a:pPr algn="r" rtl="1">
              <a:defRPr sz="6600" b="1" lang="fa-IR">
                <a:solidFill>
                  <a:srgbClr val="1D6F8A"/>
                </a:solidFill>
                <a:latin typeface="Vazirmatn"/>
                <a:ea typeface="Vazirmatn"/>
                <a:cs typeface="Vazirmatn"/>
              </a:defRPr>
            </a:pPr>
            <a:r>
              <a:rPr sz="6600" b="1" lang="fa-IR">
                <a:solidFill>
                  <a:srgbClr val="1D6F8A"/>
                </a:solidFill>
                <a:latin typeface="Vazirmatn"/>
                <a:ea typeface="Vazirmatn"/>
                <a:cs typeface="Vazirmatn"/>
              </a:rPr>
              <a:t>۱۰٬۰۴۴</a:t>
            </a:r>
          </a:p>
        </p:txBody>
      </p:sp>
      <p:sp>
        <p:nvSpPr>
          <p:cNvPr id="6" name="نمونه تماس واقعی در AGFarsdat">
            <a:extLst xmlns:a="http://schemas.openxmlformats.org/drawingml/2006/main">
              <a:ext uri="{FF2B5EF4-FFF2-40B4-BE49-F238E27FC236}">
                <a16:creationId xmlns:a16="http://schemas.microsoft.com/office/drawing/2014/main" id="{892A1304-43DC-4869-9AA9-19C6881790A4}"/>
              </a:ext>
            </a:extLst>
          </p:cNvPr>
          <p:cNvSpPr>
            <a:spLocks xmlns:a="http://schemas.openxmlformats.org/drawingml/2006/main" noGrp="1"/>
          </p:cNvSpPr>
          <p:nvPr/>
        </p:nvSpPr>
        <p:spPr>
          <a:xfrm xmlns:a="http://schemas.openxmlformats.org/drawingml/2006/main">
            <a:off x="6381750" y="3238500"/>
            <a:ext cx="5124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نمونه تماس واقعی در AGFarsdat</a:t>
            </a:r>
          </a:p>
        </p:txBody>
      </p:sp>
      <p:sp>
        <p:nvSpPr>
          <p:cNvPr id="7" name="تلفن و تماس اینترنتی&#10;مستقل از آموزش و انتخاب مدل">
            <a:extLst xmlns:a="http://schemas.openxmlformats.org/drawingml/2006/main">
              <a:ext uri="{FF2B5EF4-FFF2-40B4-BE49-F238E27FC236}">
                <a16:creationId xmlns:a16="http://schemas.microsoft.com/office/drawing/2014/main" id="{7CFB793E-87D0-4FA7-A91B-483156A9D8CA}"/>
              </a:ext>
            </a:extLst>
          </p:cNvPr>
          <p:cNvSpPr>
            <a:spLocks xmlns:a="http://schemas.openxmlformats.org/drawingml/2006/main" noGrp="1"/>
          </p:cNvSpPr>
          <p:nvPr/>
        </p:nvSpPr>
        <p:spPr>
          <a:xfrm xmlns:a="http://schemas.openxmlformats.org/drawingml/2006/main">
            <a:off x="6381750" y="3933825"/>
            <a:ext cx="5124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تلفن و تماس اینترنتی</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مستقل از آموزش و انتخاب مدل</a:t>
            </a:r>
          </a:p>
        </p:txBody>
      </p:sp>
      <p:sp>
        <p:nvSpPr>
          <p:cNvPr id="8" name="آزمون‌های گفتار عمومی">
            <a:extLst xmlns:a="http://schemas.openxmlformats.org/drawingml/2006/main">
              <a:ext uri="{FF2B5EF4-FFF2-40B4-BE49-F238E27FC236}">
                <a16:creationId xmlns:a16="http://schemas.microsoft.com/office/drawing/2014/main" id="{8DE2CE69-6B9E-44CC-8353-20AF6DD49118}"/>
              </a:ext>
            </a:extLst>
          </p:cNvPr>
          <p:cNvSpPr>
            <a:spLocks xmlns:a="http://schemas.openxmlformats.org/drawingml/2006/main" noGrp="1"/>
          </p:cNvSpPr>
          <p:nvPr/>
        </p:nvSpPr>
        <p:spPr>
          <a:xfrm xmlns:a="http://schemas.openxmlformats.org/drawingml/2006/main">
            <a:off x="685800" y="20574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آزمون‌های گفتار عمومی</a:t>
            </a:r>
          </a:p>
        </p:txBody>
      </p:sp>
      <p:sp>
        <p:nvSpPr>
          <p:cNvPr id="9" name="Common Voice Persian 25&#10;FLEURS Persian&#10;PersianSpeech&#10;Persian Speech Corpus">
            <a:extLst xmlns:a="http://schemas.openxmlformats.org/drawingml/2006/main">
              <a:ext uri="{FF2B5EF4-FFF2-40B4-BE49-F238E27FC236}">
                <a16:creationId xmlns:a16="http://schemas.microsoft.com/office/drawing/2014/main" id="{EDC73FBF-EA8B-4038-A222-B993C7551721}"/>
              </a:ext>
            </a:extLst>
          </p:cNvPr>
          <p:cNvSpPr>
            <a:spLocks xmlns:a="http://schemas.openxmlformats.org/drawingml/2006/main" noGrp="1"/>
          </p:cNvSpPr>
          <p:nvPr/>
        </p:nvSpPr>
        <p:spPr>
          <a:xfrm xmlns:a="http://schemas.openxmlformats.org/drawingml/2006/main">
            <a:off x="685800" y="2752725"/>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1F2933"/>
                </a:solidFill>
                <a:latin typeface="Vazirmatn"/>
                <a:ea typeface="Vazirmatn"/>
                <a:cs typeface="Vazirmatn"/>
              </a:defRPr>
            </a:defPPr>
          </a:lstStyle>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Common Voice Persian 25</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FLEURS Persian</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PersianSpeech</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Persian Speech Corpus</a:t>
            </a:r>
          </a:p>
        </p:txBody>
      </p:sp>
      <p:sp>
        <p:nvSpPr>
          <p:cNvPr id="10" name="">
            <a:extLst xmlns:a="http://schemas.openxmlformats.org/drawingml/2006/main">
              <a:ext uri="{FF2B5EF4-FFF2-40B4-BE49-F238E27FC236}">
                <a16:creationId xmlns:a16="http://schemas.microsoft.com/office/drawing/2014/main" id="{5D7D3E2B-2D73-418D-9C10-A20AEEEAF002}"/>
              </a:ext>
            </a:extLst>
          </p:cNvPr>
          <p:cNvSpPr>
            <a:spLocks xmlns:a="http://schemas.openxmlformats.org/drawingml/2006/main" noGrp="1"/>
          </p:cNvSpPr>
          <p:nvPr/>
        </p:nvSpPr>
        <p:spPr>
          <a:xfrm xmlns:a="http://schemas.openxmlformats.org/drawingml/2006/main">
            <a:off x="685800" y="514350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11" name="نرخ خطای واژه">
            <a:extLst xmlns:a="http://schemas.openxmlformats.org/drawingml/2006/main">
              <a:ext uri="{FF2B5EF4-FFF2-40B4-BE49-F238E27FC236}">
                <a16:creationId xmlns:a16="http://schemas.microsoft.com/office/drawing/2014/main" id="{5D1BDE96-FAB7-4C12-857C-9BA312E344BF}"/>
              </a:ext>
            </a:extLst>
          </p:cNvPr>
          <p:cNvSpPr>
            <a:spLocks xmlns:a="http://schemas.openxmlformats.org/drawingml/2006/main" noGrp="1"/>
          </p:cNvSpPr>
          <p:nvPr/>
        </p:nvSpPr>
        <p:spPr>
          <a:xfrm xmlns:a="http://schemas.openxmlformats.org/drawingml/2006/main">
            <a:off x="8096250" y="5257800"/>
            <a:ext cx="340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1">
                <a:solidFill>
                  <a:srgbClr val="153D42"/>
                </a:solidFill>
                <a:latin typeface="Vazirmatn"/>
                <a:ea typeface="Vazirmatn"/>
                <a:cs typeface="Vazirmatn"/>
              </a:defRPr>
            </a:defPPr>
          </a:lstStyle>
          <a:p xmlns:a="http://schemas.openxmlformats.org/drawingml/2006/main">
            <a:pPr algn="r" rtl="1">
              <a:defRPr sz="1950" b="1" lang="fa-IR">
                <a:solidFill>
                  <a:srgbClr val="153D42"/>
                </a:solidFill>
                <a:latin typeface="Vazirmatn"/>
                <a:ea typeface="Vazirmatn"/>
                <a:cs typeface="Vazirmatn"/>
              </a:defRPr>
            </a:pPr>
            <a:r>
              <a:rPr sz="1950" b="1" lang="fa-IR">
                <a:solidFill>
                  <a:srgbClr val="153D42"/>
                </a:solidFill>
                <a:latin typeface="Vazirmatn"/>
                <a:ea typeface="Vazirmatn"/>
                <a:cs typeface="Vazirmatn"/>
              </a:rPr>
              <a:t>نرخ خطای واژه</a:t>
            </a:r>
          </a:p>
        </p:txBody>
      </p:sp>
      <p:sp>
        <p:nvSpPr>
          <p:cNvPr id="12" name="WER = (S + D + I) / N">
            <a:extLst xmlns:a="http://schemas.openxmlformats.org/drawingml/2006/main">
              <a:ext uri="{FF2B5EF4-FFF2-40B4-BE49-F238E27FC236}">
                <a16:creationId xmlns:a16="http://schemas.microsoft.com/office/drawing/2014/main" id="{9CB6D83E-79C6-48FE-A84F-B82A8F7761F1}"/>
              </a:ext>
            </a:extLst>
          </p:cNvPr>
          <p:cNvSpPr>
            <a:spLocks xmlns:a="http://schemas.openxmlformats.org/drawingml/2006/main" noGrp="1"/>
          </p:cNvSpPr>
          <p:nvPr/>
        </p:nvSpPr>
        <p:spPr>
          <a:xfrm xmlns:a="http://schemas.openxmlformats.org/drawingml/2006/main">
            <a:off x="685800" y="52578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53D42"/>
                </a:solidFill>
                <a:latin typeface="Vazirmatn"/>
                <a:ea typeface="Vazirmatn"/>
                <a:cs typeface="Vazirmatn"/>
              </a:defRPr>
            </a:defPPr>
          </a:lstStyle>
          <a:p xmlns:a="http://schemas.openxmlformats.org/drawingml/2006/main">
            <a:pPr algn="l" rtl="0">
              <a:defRPr sz="2250" b="0" lang="en-US">
                <a:solidFill>
                  <a:srgbClr val="153D42"/>
                </a:solidFill>
                <a:latin typeface="Vazirmatn"/>
                <a:ea typeface="Vazirmatn"/>
                <a:cs typeface="Vazirmatn"/>
              </a:defRPr>
            </a:pPr>
            <a:r>
              <a:rPr sz="2250" b="0" lang="en-US">
                <a:solidFill>
                  <a:srgbClr val="153D42"/>
                </a:solidFill>
                <a:latin typeface="Vazirmatn"/>
                <a:ea typeface="Vazirmatn"/>
                <a:cs typeface="Vazirmatn"/>
              </a:rPr>
              <a:t>WER = (S + D + I) / N</a:t>
            </a:r>
          </a:p>
        </p:txBody>
      </p:sp>
      <p:sp>
        <p:nvSpPr>
          <p:cNvPr id="13" name="CER بر پایه نویسه است. تجمیع با جمع شمارش خطاها و واحدهای مرجع انجام می‌شود">
            <a:extLst xmlns:a="http://schemas.openxmlformats.org/drawingml/2006/main">
              <a:ext uri="{FF2B5EF4-FFF2-40B4-BE49-F238E27FC236}">
                <a16:creationId xmlns:a16="http://schemas.microsoft.com/office/drawing/2014/main" id="{AC333CE2-F133-461E-8083-569C0D9F61A2}"/>
              </a:ext>
            </a:extLst>
          </p:cNvPr>
          <p:cNvSpPr>
            <a:spLocks xmlns:a="http://schemas.openxmlformats.org/drawingml/2006/main" noGrp="1"/>
          </p:cNvSpPr>
          <p:nvPr/>
        </p:nvSpPr>
        <p:spPr>
          <a:xfrm xmlns:a="http://schemas.openxmlformats.org/drawingml/2006/main">
            <a:off x="685800" y="57912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CER بر پایه نویسه است. تجمیع با جمع شمارش خطاها و واحدهای مرجع انجام می‌شود</a:t>
            </a:r>
          </a:p>
        </p:txBody>
      </p:sp>
      <p:sp>
        <p:nvSpPr>
          <p:cNvPr id="14" name="رمزگشایی حریصانه مشترک است. PersianSpeech فقط ۲۴ نمونه دارد و واجدشرایط‌بودن کمی تغییر می‌کند">
            <a:extLst xmlns:a="http://schemas.openxmlformats.org/drawingml/2006/main">
              <a:ext uri="{FF2B5EF4-FFF2-40B4-BE49-F238E27FC236}">
                <a16:creationId xmlns:a16="http://schemas.microsoft.com/office/drawing/2014/main" id="{F5A9290C-FF2A-46C0-8502-2C2410F4E199}"/>
              </a:ext>
            </a:extLst>
          </p:cNvPr>
          <p:cNvSpPr>
            <a:spLocks xmlns:a="http://schemas.openxmlformats.org/drawingml/2006/main" noGrp="1"/>
          </p:cNvSpPr>
          <p:nvPr/>
        </p:nvSpPr>
        <p:spPr>
          <a:xfrm xmlns:a="http://schemas.openxmlformats.org/drawingml/2006/main">
            <a:off x="685800" y="610552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رمزگشایی حریصانه مشترک است. PersianSpeech فقط ۲۴ نمونه دارد و واجدشرایط‌بودن کمی تغییر می‌کند</a:t>
            </a:r>
          </a:p>
        </p:txBody>
      </p:sp>
    </p:spTree>
    <p:extLst>
      <p:ext uri="{BB962C8B-B14F-4D97-AF65-F5344CB8AC3E}">
        <p14:creationId xmlns:p14="http://schemas.microsoft.com/office/powerpoint/2010/main" val="719012110"/>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مقاوم‌سازی با داده">
            <a:extLst xmlns:a="http://schemas.openxmlformats.org/drawingml/2006/main">
              <a:ext uri="{FF2B5EF4-FFF2-40B4-BE49-F238E27FC236}">
                <a16:creationId xmlns:a16="http://schemas.microsoft.com/office/drawing/2014/main" id="{2FF75BF1-FDEB-4E78-AD47-E7DA3E2DF008}"/>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مقاوم‌سازی با داده</a:t>
            </a:r>
          </a:p>
        </p:txBody>
      </p:sp>
      <p:sp>
        <p:nvSpPr>
          <p:cNvPr id="2" name="داده‌افزایی مخابراتیِ بازتولیدپذیر">
            <a:extLst xmlns:a="http://schemas.openxmlformats.org/drawingml/2006/main">
              <a:ext uri="{FF2B5EF4-FFF2-40B4-BE49-F238E27FC236}">
                <a16:creationId xmlns:a16="http://schemas.microsoft.com/office/drawing/2014/main" id="{296F2215-557D-41C0-A271-D68D6733E619}"/>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داده‌افزایی مخابراتیِ بازتولیدپذیر</a:t>
            </a:r>
          </a:p>
        </p:txBody>
      </p:sp>
      <p:sp>
        <p:nvSpPr>
          <p:cNvPr id="3" name="">
            <a:extLst xmlns:a="http://schemas.openxmlformats.org/drawingml/2006/main">
              <a:ext uri="{FF2B5EF4-FFF2-40B4-BE49-F238E27FC236}">
                <a16:creationId xmlns:a16="http://schemas.microsoft.com/office/drawing/2014/main" id="{FA847CE1-0CB1-4C31-AE95-011F496F202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۸ از ۲۸">
            <a:extLst xmlns:a="http://schemas.openxmlformats.org/drawingml/2006/main">
              <a:ext uri="{FF2B5EF4-FFF2-40B4-BE49-F238E27FC236}">
                <a16:creationId xmlns:a16="http://schemas.microsoft.com/office/drawing/2014/main" id="{E52634E4-CF98-4DC6-A7EF-CC2FBFE2711B}"/>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۸ از ۲۸</a:t>
            </a:r>
          </a:p>
        </p:txBody>
      </p:sp>
      <p:sp>
        <p:nvSpPr>
          <p:cNvPr id="5" name="ساخت جفت‌های پاک و تخریب‌شده با رونویسی مشترک">
            <a:extLst xmlns:a="http://schemas.openxmlformats.org/drawingml/2006/main">
              <a:ext uri="{FF2B5EF4-FFF2-40B4-BE49-F238E27FC236}">
                <a16:creationId xmlns:a16="http://schemas.microsoft.com/office/drawing/2014/main" id="{559B5196-B9EB-432A-B37D-702D8CCD7805}"/>
              </a:ext>
            </a:extLst>
          </p:cNvPr>
          <p:cNvSpPr>
            <a:spLocks xmlns:a="http://schemas.openxmlformats.org/drawingml/2006/main" noGrp="1"/>
          </p:cNvSpPr>
          <p:nvPr/>
        </p:nvSpPr>
        <p:spPr>
          <a:xfrm xmlns:a="http://schemas.openxmlformats.org/drawingml/2006/main">
            <a:off x="685800" y="1657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52606D"/>
                </a:solidFill>
                <a:latin typeface="Vazirmatn"/>
                <a:ea typeface="Vazirmatn"/>
                <a:cs typeface="Vazirmatn"/>
              </a:defRPr>
            </a:defPPr>
          </a:lstStyle>
          <a:p xmlns:a="http://schemas.openxmlformats.org/drawingml/2006/main">
            <a:pPr algn="r" rtl="1">
              <a:defRPr sz="2100" b="0" lang="fa-IR">
                <a:solidFill>
                  <a:srgbClr val="52606D"/>
                </a:solidFill>
                <a:latin typeface="Vazirmatn"/>
                <a:ea typeface="Vazirmatn"/>
                <a:cs typeface="Vazirmatn"/>
              </a:defRPr>
            </a:pPr>
            <a:r>
              <a:rPr sz="2100" b="0" lang="fa-IR">
                <a:solidFill>
                  <a:srgbClr val="52606D"/>
                </a:solidFill>
                <a:latin typeface="Vazirmatn"/>
                <a:ea typeface="Vazirmatn"/>
                <a:cs typeface="Vazirmatn"/>
              </a:rPr>
              <a:t>ساخت جفت‌های پاک و تخریب‌شده با رونویسی مشترک</a:t>
            </a:r>
          </a:p>
        </p:txBody>
      </p:sp>
      <p:pic>
        <p:nvPicPr>
          <p:cNvPr id="6" name="">
            <a:extLst xmlns:a="http://schemas.openxmlformats.org/drawingml/2006/main">
              <a:ext uri="{FF2B5EF4-FFF2-40B4-BE49-F238E27FC236}">
                <a16:creationId xmlns:a16="http://schemas.microsoft.com/office/drawing/2014/main" id="{8A6BE71B-31B3-44E5-8C71-2886CD15EBF0}"/>
              </a:ext>
            </a:extLst>
          </p:cNvPr>
          <p:cNvPicPr>
            <a:picLocks xmlns:a="http://schemas.openxmlformats.org/drawingml/2006/main" noChangeAspect="1"/>
          </p:cNvPicPr>
          <p:nvPr/>
        </p:nvPicPr>
        <p:blipFill>
          <a:blip xmlns:r="http://schemas.openxmlformats.org/officeDocument/2006/relationships" xmlns:a="http://schemas.openxmlformats.org/drawingml/2006/main" r:embed="R5e7358c5fa2641be"/>
          <a:stretch xmlns:a="http://schemas.openxmlformats.org/drawingml/2006/main"/>
        </p:blipFill>
        <p:spPr>
          <a:xfrm xmlns:a="http://schemas.openxmlformats.org/drawingml/2006/main">
            <a:off x="685800" y="2324100"/>
            <a:ext cx="10820400" cy="2164080"/>
          </a:xfrm>
          <a:prstGeom xmlns:a="http://schemas.openxmlformats.org/drawingml/2006/main" prst="rect">
            <a:avLst/>
          </a:prstGeom>
        </p:spPr>
      </p:pic>
      <p:sp>
        <p:nvSpPr>
          <p:cNvPr id="7" name="نویز و تغییر بهره">
            <a:extLst xmlns:a="http://schemas.openxmlformats.org/drawingml/2006/main">
              <a:ext uri="{FF2B5EF4-FFF2-40B4-BE49-F238E27FC236}">
                <a16:creationId xmlns:a16="http://schemas.microsoft.com/office/drawing/2014/main" id="{C8AD7467-4A88-4BEF-80A7-62AFC69D28E6}"/>
              </a:ext>
            </a:extLst>
          </p:cNvPr>
          <p:cNvSpPr>
            <a:spLocks xmlns:a="http://schemas.openxmlformats.org/drawingml/2006/main" noGrp="1"/>
          </p:cNvSpPr>
          <p:nvPr/>
        </p:nvSpPr>
        <p:spPr>
          <a:xfrm xmlns:a="http://schemas.openxmlformats.org/drawingml/2006/main">
            <a:off x="6762750" y="4629150"/>
            <a:ext cx="4743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نویز و تغییر بهره</a:t>
            </a:r>
          </a:p>
        </p:txBody>
      </p:sp>
      <p:sp>
        <p:nvSpPr>
          <p:cNvPr id="8" name="DEMAND     SNR: −5 … 15 dB     Gain: ±6 dB">
            <a:extLst xmlns:a="http://schemas.openxmlformats.org/drawingml/2006/main">
              <a:ext uri="{FF2B5EF4-FFF2-40B4-BE49-F238E27FC236}">
                <a16:creationId xmlns:a16="http://schemas.microsoft.com/office/drawing/2014/main" id="{408686DE-4526-4C73-9B29-13126E0C742E}"/>
              </a:ext>
            </a:extLst>
          </p:cNvPr>
          <p:cNvSpPr>
            <a:spLocks xmlns:a="http://schemas.openxmlformats.org/drawingml/2006/main" noGrp="1"/>
          </p:cNvSpPr>
          <p:nvPr/>
        </p:nvSpPr>
        <p:spPr>
          <a:xfrm xmlns:a="http://schemas.openxmlformats.org/drawingml/2006/main">
            <a:off x="6191250" y="5248275"/>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1F2933"/>
                </a:solidFill>
                <a:latin typeface="Vazirmatn"/>
                <a:ea typeface="Vazirmatn"/>
                <a:cs typeface="Vazirmatn"/>
              </a:defRPr>
            </a:defPPr>
          </a:lstStyle>
          <a:p xmlns:a="http://schemas.openxmlformats.org/drawingml/2006/main">
            <a:pPr algn="r" rtl="0">
              <a:defRPr sz="1725" b="0" lang="en-US">
                <a:solidFill>
                  <a:srgbClr val="1F2933"/>
                </a:solidFill>
                <a:latin typeface="Vazirmatn"/>
                <a:ea typeface="Vazirmatn"/>
                <a:cs typeface="Vazirmatn"/>
              </a:defRPr>
            </a:pPr>
            <a:r>
              <a:rPr sz="1725" b="0" lang="en-US">
                <a:solidFill>
                  <a:srgbClr val="1F2933"/>
                </a:solidFill>
                <a:latin typeface="Vazirmatn"/>
                <a:ea typeface="Vazirmatn"/>
                <a:cs typeface="Vazirmatn"/>
              </a:rPr>
              <a:t>DEMAND     SNR: −5 … 15 dB     Gain: ±6 dB</a:t>
            </a:r>
          </a:p>
        </p:txBody>
      </p:sp>
      <p:sp>
        <p:nvSpPr>
          <p:cNvPr id="9" name="نمایه‌های تلفن و تماس اینترنتی">
            <a:extLst xmlns:a="http://schemas.openxmlformats.org/drawingml/2006/main">
              <a:ext uri="{FF2B5EF4-FFF2-40B4-BE49-F238E27FC236}">
                <a16:creationId xmlns:a16="http://schemas.microsoft.com/office/drawing/2014/main" id="{0B76B943-E137-485E-99AC-B1C4CB4A8B97}"/>
              </a:ext>
            </a:extLst>
          </p:cNvPr>
          <p:cNvSpPr>
            <a:spLocks xmlns:a="http://schemas.openxmlformats.org/drawingml/2006/main" noGrp="1"/>
          </p:cNvSpPr>
          <p:nvPr/>
        </p:nvSpPr>
        <p:spPr>
          <a:xfrm xmlns:a="http://schemas.openxmlformats.org/drawingml/2006/main">
            <a:off x="685800" y="46291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نمایه‌های تلفن و تماس اینترنتی</a:t>
            </a:r>
          </a:p>
        </p:txBody>
      </p:sp>
      <p:sp>
        <p:nvSpPr>
          <p:cNvPr id="10" name="ثبت بذر تصادفی و فراداده هر جفت">
            <a:extLst xmlns:a="http://schemas.openxmlformats.org/drawingml/2006/main">
              <a:ext uri="{FF2B5EF4-FFF2-40B4-BE49-F238E27FC236}">
                <a16:creationId xmlns:a16="http://schemas.microsoft.com/office/drawing/2014/main" id="{3D017309-69F0-4567-B6D4-32CC79235C62}"/>
              </a:ext>
            </a:extLst>
          </p:cNvPr>
          <p:cNvSpPr>
            <a:spLocks xmlns:a="http://schemas.openxmlformats.org/drawingml/2006/main" noGrp="1"/>
          </p:cNvSpPr>
          <p:nvPr/>
        </p:nvSpPr>
        <p:spPr>
          <a:xfrm xmlns:a="http://schemas.openxmlformats.org/drawingml/2006/main">
            <a:off x="685800" y="52482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ثبت بذر تصادفی و فراداده هر جفت</a:t>
            </a:r>
          </a:p>
        </p:txBody>
      </p:sp>
      <p:sp>
        <p:nvSpPr>
          <p:cNvPr id="11" name="وزن نمایه‌ها یک توزیع طراحی‌شده است و از آمار اپراتور به دست نیامده است">
            <a:extLst xmlns:a="http://schemas.openxmlformats.org/drawingml/2006/main">
              <a:ext uri="{FF2B5EF4-FFF2-40B4-BE49-F238E27FC236}">
                <a16:creationId xmlns:a16="http://schemas.microsoft.com/office/drawing/2014/main" id="{097D70EF-78D7-4B8B-B546-5A432A6761AE}"/>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وزن نمایه‌ها یک توزیع طراحی‌شده است و از آمار اپراتور به دست نیامده است</a:t>
            </a:r>
          </a:p>
        </p:txBody>
      </p:sp>
    </p:spTree>
    <p:extLst>
      <p:ext uri="{BB962C8B-B14F-4D97-AF65-F5344CB8AC3E}">
        <p14:creationId xmlns:p14="http://schemas.microsoft.com/office/powerpoint/2010/main" val="2009144376"/>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مقاوم‌سازی با داده">
            <a:extLst xmlns:a="http://schemas.openxmlformats.org/drawingml/2006/main">
              <a:ext uri="{FF2B5EF4-FFF2-40B4-BE49-F238E27FC236}">
                <a16:creationId xmlns:a16="http://schemas.microsoft.com/office/drawing/2014/main" id="{A95DD95B-E305-4B39-BB8A-56FE9F6C283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مقاوم‌سازی با داده</a:t>
            </a:r>
          </a:p>
        </p:txBody>
      </p:sp>
      <p:sp>
        <p:nvSpPr>
          <p:cNvPr id="2" name="مسیرهای کدک و جفت‌های هم‌تراز">
            <a:extLst xmlns:a="http://schemas.openxmlformats.org/drawingml/2006/main">
              <a:ext uri="{FF2B5EF4-FFF2-40B4-BE49-F238E27FC236}">
                <a16:creationId xmlns:a16="http://schemas.microsoft.com/office/drawing/2014/main" id="{2FB0C69E-0085-4C5A-82D2-346AEA1C424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مسیرهای کدک و جفت‌های هم‌تراز</a:t>
            </a:r>
          </a:p>
        </p:txBody>
      </p:sp>
      <p:sp>
        <p:nvSpPr>
          <p:cNvPr id="3" name="">
            <a:extLst xmlns:a="http://schemas.openxmlformats.org/drawingml/2006/main">
              <a:ext uri="{FF2B5EF4-FFF2-40B4-BE49-F238E27FC236}">
                <a16:creationId xmlns:a16="http://schemas.microsoft.com/office/drawing/2014/main" id="{EAF5687A-1F72-4149-9FAB-7EF76FA7C4CB}"/>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۹ از ۲۸">
            <a:extLst xmlns:a="http://schemas.openxmlformats.org/drawingml/2006/main">
              <a:ext uri="{FF2B5EF4-FFF2-40B4-BE49-F238E27FC236}">
                <a16:creationId xmlns:a16="http://schemas.microsoft.com/office/drawing/2014/main" id="{0392376F-67A7-4413-A9F3-AE9EFC13BAAA}"/>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۹ از ۲۸</a:t>
            </a:r>
          </a:p>
        </p:txBody>
      </p:sp>
      <p:pic>
        <p:nvPicPr>
          <p:cNvPr id="5" name="">
            <a:extLst xmlns:a="http://schemas.openxmlformats.org/drawingml/2006/main">
              <a:ext uri="{FF2B5EF4-FFF2-40B4-BE49-F238E27FC236}">
                <a16:creationId xmlns:a16="http://schemas.microsoft.com/office/drawing/2014/main" id="{116311C3-F9D8-4B4F-8536-A0FDC8F6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92483dce8824372"/>
          <a:stretch xmlns:a="http://schemas.openxmlformats.org/drawingml/2006/main"/>
        </p:blipFill>
        <p:spPr>
          <a:xfrm xmlns:a="http://schemas.openxmlformats.org/drawingml/2006/main">
            <a:off x="1162050" y="1581158"/>
            <a:ext cx="9858375" cy="4287662"/>
          </a:xfrm>
          <a:prstGeom xmlns:a="http://schemas.openxmlformats.org/drawingml/2006/main" prst="rect">
            <a:avLst/>
          </a:prstGeom>
        </p:spPr>
      </p:pic>
      <p:sp>
        <p:nvSpPr>
          <p:cNvPr id="6" name="G.711، GSM، AMR-NB، AMR-WB و Opus. هدف پاک، پهنای‌باند متناظر با کانال را حفظ می‌کند">
            <a:extLst xmlns:a="http://schemas.openxmlformats.org/drawingml/2006/main">
              <a:ext uri="{FF2B5EF4-FFF2-40B4-BE49-F238E27FC236}">
                <a16:creationId xmlns:a16="http://schemas.microsoft.com/office/drawing/2014/main" id="{1746929F-B65D-433D-9418-3A4C17612A12}"/>
              </a:ext>
            </a:extLst>
          </p:cNvPr>
          <p:cNvSpPr>
            <a:spLocks xmlns:a="http://schemas.openxmlformats.org/drawingml/2006/main" noGrp="1"/>
          </p:cNvSpPr>
          <p:nvPr/>
        </p:nvSpPr>
        <p:spPr>
          <a:xfrm xmlns:a="http://schemas.openxmlformats.org/drawingml/2006/main">
            <a:off x="685800" y="59245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G.711، GSM، AMR-NB، AMR-WB و Opus. هدف پاک، پهنای‌باند متناظر با کانال را حفظ می‌کند</a:t>
            </a:r>
          </a:p>
        </p:txBody>
      </p:sp>
      <p:sp>
        <p:nvSpPr>
          <p:cNvPr id="7" name="Opus بومی افت بسته و پنهان‌سازی خطا را مدل می‌کند. در مسیرهای دیگر، حذف موج یک تقریب است">
            <a:extLst xmlns:a="http://schemas.openxmlformats.org/drawingml/2006/main">
              <a:ext uri="{FF2B5EF4-FFF2-40B4-BE49-F238E27FC236}">
                <a16:creationId xmlns:a16="http://schemas.microsoft.com/office/drawing/2014/main" id="{3C6EB9E7-8E42-496E-AC7F-36F5B700B656}"/>
              </a:ext>
            </a:extLst>
          </p:cNvPr>
          <p:cNvSpPr>
            <a:spLocks xmlns:a="http://schemas.openxmlformats.org/drawingml/2006/main" noGrp="1"/>
          </p:cNvSpPr>
          <p:nvPr/>
        </p:nvSpPr>
        <p:spPr>
          <a:xfrm xmlns:a="http://schemas.openxmlformats.org/drawingml/2006/main">
            <a:off x="685800" y="617220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Opus بومی افت بسته و پنهان‌سازی خطا را مدل می‌کند. در مسیرهای دیگر، حذف موج یک تقریب است</a:t>
            </a:r>
          </a:p>
        </p:txBody>
      </p:sp>
    </p:spTree>
    <p:extLst>
      <p:ext uri="{BB962C8B-B14F-4D97-AF65-F5344CB8AC3E}">
        <p14:creationId xmlns:p14="http://schemas.microsoft.com/office/powerpoint/2010/main" val="397261461"/>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نتیجه داده‌افزایی مخابراتی">
            <a:extLst xmlns:a="http://schemas.openxmlformats.org/drawingml/2006/main">
              <a:ext uri="{FF2B5EF4-FFF2-40B4-BE49-F238E27FC236}">
                <a16:creationId xmlns:a16="http://schemas.microsoft.com/office/drawing/2014/main" id="{CBF3A34C-D5CA-45D5-9E3A-3A138C6269B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نتیجه داده‌افزایی مخابراتی</a:t>
            </a:r>
          </a:p>
        </p:txBody>
      </p:sp>
      <p:sp>
        <p:nvSpPr>
          <p:cNvPr id="2" name="انتقال بهبود به تماس‌های واقعی">
            <a:extLst xmlns:a="http://schemas.openxmlformats.org/drawingml/2006/main">
              <a:ext uri="{FF2B5EF4-FFF2-40B4-BE49-F238E27FC236}">
                <a16:creationId xmlns:a16="http://schemas.microsoft.com/office/drawing/2014/main" id="{5146FB58-99DE-4FDD-BF5F-F1820F0FB2D1}"/>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انتقال بهبود به تماس‌های واقعی</a:t>
            </a:r>
          </a:p>
        </p:txBody>
      </p:sp>
      <p:sp>
        <p:nvSpPr>
          <p:cNvPr id="3" name="">
            <a:extLst xmlns:a="http://schemas.openxmlformats.org/drawingml/2006/main">
              <a:ext uri="{FF2B5EF4-FFF2-40B4-BE49-F238E27FC236}">
                <a16:creationId xmlns:a16="http://schemas.microsoft.com/office/drawing/2014/main" id="{72A4CF64-2EA2-4B9C-A5A3-028D09563C3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۰ از ۲۸">
            <a:extLst xmlns:a="http://schemas.openxmlformats.org/drawingml/2006/main">
              <a:ext uri="{FF2B5EF4-FFF2-40B4-BE49-F238E27FC236}">
                <a16:creationId xmlns:a16="http://schemas.microsoft.com/office/drawing/2014/main" id="{92903069-8F4E-4F01-AFA1-E716F9CBE043}"/>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۱۰ از ۲۸</a:t>
            </a:r>
          </a:p>
        </p:txBody>
      </p:sp>
      <p:sp>
        <p:nvSpPr>
          <p:cNvPr id="5" name="نرخ خطای واژه در AGFarsdat">
            <a:extLst xmlns:a="http://schemas.openxmlformats.org/drawingml/2006/main">
              <a:ext uri="{FF2B5EF4-FFF2-40B4-BE49-F238E27FC236}">
                <a16:creationId xmlns:a16="http://schemas.microsoft.com/office/drawing/2014/main" id="{B5604D44-DAD0-45E5-8BDC-0BED37FBF94F}"/>
              </a:ext>
            </a:extLst>
          </p:cNvPr>
          <p:cNvSpPr>
            <a:spLocks xmlns:a="http://schemas.openxmlformats.org/drawingml/2006/main" noGrp="1"/>
          </p:cNvSpPr>
          <p:nvPr/>
        </p:nvSpPr>
        <p:spPr>
          <a:xfrm xmlns:a="http://schemas.openxmlformats.org/drawingml/2006/main">
            <a:off x="4286250" y="16573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نرخ خطای واژه در AGFarsdat</a:t>
            </a:r>
          </a:p>
        </p:txBody>
      </p:sp>
      <p:graphicFrame>
        <p:nvGraphicFramePr>
          <p:cNvPr id="6" name="Chart">
            <a:extLst xmlns:a="http://schemas.openxmlformats.org/drawingml/2006/main">
              <a:ext uri="{FF2B5EF4-FFF2-40B4-BE49-F238E27FC236}">
                <a16:creationId xmlns:a16="http://schemas.microsoft.com/office/drawing/2014/main" id="{88B9684A-EC73-4115-BBE9-7090F7998ECB}"/>
              </a:ext>
            </a:extLst>
          </p:cNvPr>
          <p:cNvGraphicFramePr/>
          <p:nvPr/>
        </p:nvGraphicFramePr>
        <p:xfrm>
          <a:off xmlns:a="http://schemas.openxmlformats.org/drawingml/2006/main" x="4191000" y="2286000"/>
          <a:ext xmlns:a="http://schemas.openxmlformats.org/drawingml/2006/main" cx="7315200" cy="3238500"/>
        </p:xfrm>
        <a:graphic xmlns:a="http://schemas.openxmlformats.org/drawingml/2006/main">
          <a:graphicData uri="http://schemas.openxmlformats.org/drawingml/2006/chart">
            <c:chart xmlns:r="http://schemas.openxmlformats.org/officeDocument/2006/relationships" xmlns:c="http://schemas.openxmlformats.org/drawingml/2006/chart" r:id="R96fd6ce60e2c46ad"/>
          </a:graphicData>
        </a:graphic>
      </p:graphicFrame>
      <p:sp>
        <p:nvSpPr>
          <p:cNvPr id="7" name="۹٫۸۳">
            <a:extLst xmlns:a="http://schemas.openxmlformats.org/drawingml/2006/main">
              <a:ext uri="{FF2B5EF4-FFF2-40B4-BE49-F238E27FC236}">
                <a16:creationId xmlns:a16="http://schemas.microsoft.com/office/drawing/2014/main" id="{92ED4322-8881-4A45-AF45-6373EB6F9520}"/>
              </a:ext>
            </a:extLst>
          </p:cNvPr>
          <p:cNvSpPr>
            <a:spLocks xmlns:a="http://schemas.openxmlformats.org/drawingml/2006/main" noGrp="1"/>
          </p:cNvSpPr>
          <p:nvPr/>
        </p:nvSpPr>
        <p:spPr>
          <a:xfrm xmlns:a="http://schemas.openxmlformats.org/drawingml/2006/main">
            <a:off x="685800" y="21145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6600" b="1">
                <a:solidFill>
                  <a:srgbClr val="1D6F8A"/>
                </a:solidFill>
                <a:latin typeface="Vazirmatn"/>
                <a:ea typeface="Vazirmatn"/>
                <a:cs typeface="Vazirmatn"/>
              </a:defRPr>
            </a:defPPr>
          </a:lstStyle>
          <a:p xmlns:a="http://schemas.openxmlformats.org/drawingml/2006/main">
            <a:pPr algn="r" rtl="1">
              <a:defRPr sz="6600" b="1" lang="fa-IR">
                <a:solidFill>
                  <a:srgbClr val="1D6F8A"/>
                </a:solidFill>
                <a:latin typeface="Vazirmatn"/>
                <a:ea typeface="Vazirmatn"/>
                <a:cs typeface="Vazirmatn"/>
              </a:defRPr>
            </a:pPr>
            <a:r>
              <a:rPr sz="6600" b="1" lang="fa-IR">
                <a:solidFill>
                  <a:srgbClr val="1D6F8A"/>
                </a:solidFill>
                <a:latin typeface="Vazirmatn"/>
                <a:ea typeface="Vazirmatn"/>
                <a:cs typeface="Vazirmatn"/>
              </a:rPr>
              <a:t>۹٫۸۳</a:t>
            </a:r>
          </a:p>
        </p:txBody>
      </p:sp>
      <p:sp>
        <p:nvSpPr>
          <p:cNvPr id="8" name="واحد درصد کاهش خطا&#10;در تماس‌های واقعی">
            <a:extLst xmlns:a="http://schemas.openxmlformats.org/drawingml/2006/main">
              <a:ext uri="{FF2B5EF4-FFF2-40B4-BE49-F238E27FC236}">
                <a16:creationId xmlns:a16="http://schemas.microsoft.com/office/drawing/2014/main" id="{D8C12D79-4D52-458D-A474-F4FAC5D82A08}"/>
              </a:ext>
            </a:extLst>
          </p:cNvPr>
          <p:cNvSpPr>
            <a:spLocks xmlns:a="http://schemas.openxmlformats.org/drawingml/2006/main" noGrp="1"/>
          </p:cNvSpPr>
          <p:nvPr/>
        </p:nvSpPr>
        <p:spPr>
          <a:xfrm xmlns:a="http://schemas.openxmlformats.org/drawingml/2006/main">
            <a:off x="685800" y="34671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واحد درصد کاهش خطا</a:t>
            </a:r>
          </a:p>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در تماس‌های واقعی</a:t>
            </a:r>
          </a:p>
        </p:txBody>
      </p:sp>
      <p:sp>
        <p:nvSpPr>
          <p:cNvPr id="9" name="۲۷٫۶٪ کاهش نسبی">
            <a:extLst xmlns:a="http://schemas.openxmlformats.org/drawingml/2006/main">
              <a:ext uri="{FF2B5EF4-FFF2-40B4-BE49-F238E27FC236}">
                <a16:creationId xmlns:a16="http://schemas.microsoft.com/office/drawing/2014/main" id="{9232F8E4-6E49-413A-8635-4B5B858C5C92}"/>
              </a:ext>
            </a:extLst>
          </p:cNvPr>
          <p:cNvSpPr>
            <a:spLocks xmlns:a="http://schemas.openxmlformats.org/drawingml/2006/main" noGrp="1"/>
          </p:cNvSpPr>
          <p:nvPr/>
        </p:nvSpPr>
        <p:spPr>
          <a:xfrm xmlns:a="http://schemas.openxmlformats.org/drawingml/2006/main">
            <a:off x="685800" y="47910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52606D"/>
                </a:solidFill>
                <a:latin typeface="Vazirmatn"/>
                <a:ea typeface="Vazirmatn"/>
                <a:cs typeface="Vazirmatn"/>
              </a:defRPr>
            </a:defPPr>
          </a:lstStyle>
          <a:p xmlns:a="http://schemas.openxmlformats.org/drawingml/2006/main">
            <a:pPr algn="r" rtl="1">
              <a:defRPr sz="1950" b="0" lang="fa-IR">
                <a:solidFill>
                  <a:srgbClr val="52606D"/>
                </a:solidFill>
                <a:latin typeface="Vazirmatn"/>
                <a:ea typeface="Vazirmatn"/>
                <a:cs typeface="Vazirmatn"/>
              </a:defRPr>
            </a:pPr>
            <a:r>
              <a:rPr sz="1950" b="0" lang="fa-IR">
                <a:solidFill>
                  <a:srgbClr val="52606D"/>
                </a:solidFill>
                <a:latin typeface="Vazirmatn"/>
                <a:ea typeface="Vazirmatn"/>
                <a:cs typeface="Vazirmatn"/>
              </a:rPr>
              <a:t>۲۷٫۶٪ کاهش نسبی</a:t>
            </a:r>
          </a:p>
        </p:txBody>
      </p:sp>
      <p:sp>
        <p:nvSpPr>
          <p:cNvPr id="10" name="WER تجمیعی نیز از ۲۳٫۲۷٪ به ۱۷٫۸۳٪ کاهش یافت. مقدار کمتر بهتر است">
            <a:extLst xmlns:a="http://schemas.openxmlformats.org/drawingml/2006/main">
              <a:ext uri="{FF2B5EF4-FFF2-40B4-BE49-F238E27FC236}">
                <a16:creationId xmlns:a16="http://schemas.microsoft.com/office/drawing/2014/main" id="{4A0C0C31-37DA-47AA-8543-4B13EFA25168}"/>
              </a:ext>
            </a:extLst>
          </p:cNvPr>
          <p:cNvSpPr>
            <a:spLocks xmlns:a="http://schemas.openxmlformats.org/drawingml/2006/main" noGrp="1"/>
          </p:cNvSpPr>
          <p:nvPr/>
        </p:nvSpPr>
        <p:spPr>
          <a:xfrm xmlns:a="http://schemas.openxmlformats.org/drawingml/2006/main">
            <a:off x="685800" y="57626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WER تجمیعی نیز از ۲۳٫۲۷٪ به ۱۷٫۸۳٪ کاهش یافت. مقدار کمتر بهتر است</a:t>
            </a:r>
          </a:p>
        </p:txBody>
      </p:sp>
      <p:sp>
        <p:nvSpPr>
          <p:cNvPr id="11" name="اثر جداگانه کدک و اختلال شبکه در آزمایش حذفی سنجیده نشده است">
            <a:extLst xmlns:a="http://schemas.openxmlformats.org/drawingml/2006/main">
              <a:ext uri="{FF2B5EF4-FFF2-40B4-BE49-F238E27FC236}">
                <a16:creationId xmlns:a16="http://schemas.microsoft.com/office/drawing/2014/main" id="{B3546C0B-7994-4F8B-B341-0BD5AB1712FD}"/>
              </a:ext>
            </a:extLst>
          </p:cNvPr>
          <p:cNvSpPr>
            <a:spLocks xmlns:a="http://schemas.openxmlformats.org/drawingml/2006/main" noGrp="1"/>
          </p:cNvSpPr>
          <p:nvPr/>
        </p:nvSpPr>
        <p:spPr>
          <a:xfrm xmlns:a="http://schemas.openxmlformats.org/drawingml/2006/main">
            <a:off x="685800" y="61245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اثر جداگانه کدک و اختلال شبکه در آزمایش حذفی سنجیده نشده است</a:t>
            </a:r>
          </a:p>
        </p:txBody>
      </p:sp>
    </p:spTree>
    <p:extLst>
      <p:ext uri="{BB962C8B-B14F-4D97-AF65-F5344CB8AC3E}">
        <p14:creationId xmlns:p14="http://schemas.microsoft.com/office/powerpoint/2010/main" val="741545624"/>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بهسازی و همجوشی">
            <a:extLst xmlns:a="http://schemas.openxmlformats.org/drawingml/2006/main">
              <a:ext uri="{FF2B5EF4-FFF2-40B4-BE49-F238E27FC236}">
                <a16:creationId xmlns:a16="http://schemas.microsoft.com/office/drawing/2014/main" id="{7F394A6A-8620-4F37-B8F9-0D88C85F8FCA}"/>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بهسازی و همجوشی</a:t>
            </a:r>
          </a:p>
        </p:txBody>
      </p:sp>
      <p:sp>
        <p:nvSpPr>
          <p:cNvPr id="2" name="معماری بهسازی و همجوشی دوجریانه">
            <a:extLst xmlns:a="http://schemas.openxmlformats.org/drawingml/2006/main">
              <a:ext uri="{FF2B5EF4-FFF2-40B4-BE49-F238E27FC236}">
                <a16:creationId xmlns:a16="http://schemas.microsoft.com/office/drawing/2014/main" id="{DD431CA0-354E-4B46-BB8E-58E645D1040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معماری بهسازی و همجوشی دوجریانه</a:t>
            </a:r>
          </a:p>
        </p:txBody>
      </p:sp>
      <p:sp>
        <p:nvSpPr>
          <p:cNvPr id="3" name="">
            <a:extLst xmlns:a="http://schemas.openxmlformats.org/drawingml/2006/main">
              <a:ext uri="{FF2B5EF4-FFF2-40B4-BE49-F238E27FC236}">
                <a16:creationId xmlns:a16="http://schemas.microsoft.com/office/drawing/2014/main" id="{A830C7FB-AD00-43F4-9027-F1F0438C792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۱ از ۲۸">
            <a:extLst xmlns:a="http://schemas.openxmlformats.org/drawingml/2006/main">
              <a:ext uri="{FF2B5EF4-FFF2-40B4-BE49-F238E27FC236}">
                <a16:creationId xmlns:a16="http://schemas.microsoft.com/office/drawing/2014/main" id="{F16ADFE4-5D01-47B8-B375-2F6ED4D0905D}"/>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۱۱ از ۲۸</a:t>
            </a:r>
          </a:p>
        </p:txBody>
      </p:sp>
      <p:sp>
        <p:nvSpPr>
          <p:cNvPr id="5" name="حفظ نمای اصلی در کنار نمای بهسازی‌شده">
            <a:extLst xmlns:a="http://schemas.openxmlformats.org/drawingml/2006/main">
              <a:ext uri="{FF2B5EF4-FFF2-40B4-BE49-F238E27FC236}">
                <a16:creationId xmlns:a16="http://schemas.microsoft.com/office/drawing/2014/main" id="{BC261049-6185-4062-8FFD-68A9C795681C}"/>
              </a:ext>
            </a:extLst>
          </p:cNvPr>
          <p:cNvSpPr>
            <a:spLocks xmlns:a="http://schemas.openxmlformats.org/drawingml/2006/main" noGrp="1"/>
          </p:cNvSpPr>
          <p:nvPr/>
        </p:nvSpPr>
        <p:spPr>
          <a:xfrm xmlns:a="http://schemas.openxmlformats.org/drawingml/2006/main">
            <a:off x="685800" y="16097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52606D"/>
                </a:solidFill>
                <a:latin typeface="Vazirmatn"/>
                <a:ea typeface="Vazirmatn"/>
                <a:cs typeface="Vazirmatn"/>
              </a:defRPr>
            </a:defPPr>
          </a:lstStyle>
          <a:p xmlns:a="http://schemas.openxmlformats.org/drawingml/2006/main">
            <a:pPr algn="r" rtl="1">
              <a:defRPr sz="2100" b="0" lang="fa-IR">
                <a:solidFill>
                  <a:srgbClr val="52606D"/>
                </a:solidFill>
                <a:latin typeface="Vazirmatn"/>
                <a:ea typeface="Vazirmatn"/>
                <a:cs typeface="Vazirmatn"/>
              </a:defRPr>
            </a:pPr>
            <a:r>
              <a:rPr sz="2100" b="0" lang="fa-IR">
                <a:solidFill>
                  <a:srgbClr val="52606D"/>
                </a:solidFill>
                <a:latin typeface="Vazirmatn"/>
                <a:ea typeface="Vazirmatn"/>
                <a:cs typeface="Vazirmatn"/>
              </a:rPr>
              <a:t>حفظ نمای اصلی در کنار نمای بهسازی‌شده</a:t>
            </a:r>
          </a:p>
        </p:txBody>
      </p:sp>
      <p:pic>
        <p:nvPicPr>
          <p:cNvPr id="6" name="">
            <a:extLst xmlns:a="http://schemas.openxmlformats.org/drawingml/2006/main">
              <a:ext uri="{FF2B5EF4-FFF2-40B4-BE49-F238E27FC236}">
                <a16:creationId xmlns:a16="http://schemas.microsoft.com/office/drawing/2014/main" id="{A6471AF0-36CE-4F7D-AB7D-54AED00D14DB}"/>
              </a:ext>
            </a:extLst>
          </p:cNvPr>
          <p:cNvPicPr>
            <a:picLocks xmlns:a="http://schemas.openxmlformats.org/drawingml/2006/main" noChangeAspect="1"/>
          </p:cNvPicPr>
          <p:nvPr/>
        </p:nvPicPr>
        <p:blipFill>
          <a:blip xmlns:r="http://schemas.openxmlformats.org/officeDocument/2006/relationships" xmlns:a="http://schemas.openxmlformats.org/drawingml/2006/main" r:embed="Ra1243052f38a49b7"/>
          <a:stretch xmlns:a="http://schemas.openxmlformats.org/drawingml/2006/main"/>
        </p:blipFill>
        <p:spPr>
          <a:xfrm xmlns:a="http://schemas.openxmlformats.org/drawingml/2006/main">
            <a:off x="685850" y="2009775"/>
            <a:ext cx="10820300" cy="3807143"/>
          </a:xfrm>
          <a:prstGeom xmlns:a="http://schemas.openxmlformats.org/drawingml/2006/main" prst="rect">
            <a:avLst/>
          </a:prstGeom>
        </p:spPr>
      </p:pic>
      <p:sp>
        <p:nvSpPr>
          <p:cNvPr id="7" name="شروع از ویسپر کوچک چندشرایطی است. بهساز در حوزه لاگ‌مل کار می‌کند و موج صوتی بازسازی نمی‌کند">
            <a:extLst xmlns:a="http://schemas.openxmlformats.org/drawingml/2006/main">
              <a:ext uri="{FF2B5EF4-FFF2-40B4-BE49-F238E27FC236}">
                <a16:creationId xmlns:a16="http://schemas.microsoft.com/office/drawing/2014/main" id="{15A9AE05-DF09-45C1-93C8-F78D8C9608DF}"/>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شروع از ویسپر کوچک چندشرایطی است. بهساز در حوزه لاگ‌مل کار می‌کند و موج صوتی بازسازی نمی‌کند</a:t>
            </a:r>
          </a:p>
        </p:txBody>
      </p:sp>
    </p:spTree>
    <p:extLst>
      <p:ext uri="{BB962C8B-B14F-4D97-AF65-F5344CB8AC3E}">
        <p14:creationId xmlns:p14="http://schemas.microsoft.com/office/powerpoint/2010/main" val="479225933"/>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بهسازی و همجوشی">
            <a:extLst xmlns:a="http://schemas.openxmlformats.org/drawingml/2006/main">
              <a:ext uri="{FF2B5EF4-FFF2-40B4-BE49-F238E27FC236}">
                <a16:creationId xmlns:a16="http://schemas.microsoft.com/office/drawing/2014/main" id="{AC5D2783-7D18-42C0-BD82-B22C863BF23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بهسازی و همجوشی</a:t>
            </a:r>
          </a:p>
        </p:txBody>
      </p:sp>
      <p:sp>
        <p:nvSpPr>
          <p:cNvPr id="2" name="آموزش سه‌مرحله‌ای همجوشی">
            <a:extLst xmlns:a="http://schemas.openxmlformats.org/drawingml/2006/main">
              <a:ext uri="{FF2B5EF4-FFF2-40B4-BE49-F238E27FC236}">
                <a16:creationId xmlns:a16="http://schemas.microsoft.com/office/drawing/2014/main" id="{8577BFCE-5917-4213-A5E7-75D7789A7DB2}"/>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آموزش سه‌مرحله‌ای همجوشی</a:t>
            </a:r>
          </a:p>
        </p:txBody>
      </p:sp>
      <p:sp>
        <p:nvSpPr>
          <p:cNvPr id="3" name="">
            <a:extLst xmlns:a="http://schemas.openxmlformats.org/drawingml/2006/main">
              <a:ext uri="{FF2B5EF4-FFF2-40B4-BE49-F238E27FC236}">
                <a16:creationId xmlns:a16="http://schemas.microsoft.com/office/drawing/2014/main" id="{2143762F-2BD1-4CE3-8BB6-8418FE2DA590}"/>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۲ از ۲۸">
            <a:extLst xmlns:a="http://schemas.openxmlformats.org/drawingml/2006/main">
              <a:ext uri="{FF2B5EF4-FFF2-40B4-BE49-F238E27FC236}">
                <a16:creationId xmlns:a16="http://schemas.microsoft.com/office/drawing/2014/main" id="{5AA9A6DD-D2A2-470C-AB68-A57A06E0A2C1}"/>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۱۲ از ۲۸</a:t>
            </a:r>
          </a:p>
        </p:txBody>
      </p:sp>
      <p:pic>
        <p:nvPicPr>
          <p:cNvPr id="5" name="">
            <a:extLst xmlns:a="http://schemas.openxmlformats.org/drawingml/2006/main">
              <a:ext uri="{FF2B5EF4-FFF2-40B4-BE49-F238E27FC236}">
                <a16:creationId xmlns:a16="http://schemas.microsoft.com/office/drawing/2014/main" id="{6D32355A-4DE4-4BBB-8101-B427754653C8}"/>
              </a:ext>
            </a:extLst>
          </p:cNvPr>
          <p:cNvPicPr>
            <a:picLocks xmlns:a="http://schemas.openxmlformats.org/drawingml/2006/main" noChangeAspect="1"/>
          </p:cNvPicPr>
          <p:nvPr/>
        </p:nvPicPr>
        <p:blipFill>
          <a:blip xmlns:r="http://schemas.openxmlformats.org/officeDocument/2006/relationships" xmlns:a="http://schemas.openxmlformats.org/drawingml/2006/main" r:embed="R627161ceecc44c9b"/>
          <a:stretch xmlns:a="http://schemas.openxmlformats.org/drawingml/2006/main"/>
        </p:blipFill>
        <p:spPr>
          <a:xfrm xmlns:a="http://schemas.openxmlformats.org/drawingml/2006/main">
            <a:off x="685800" y="2095502"/>
            <a:ext cx="10820400" cy="1646583"/>
          </a:xfrm>
          <a:prstGeom xmlns:a="http://schemas.openxmlformats.org/drawingml/2006/main" prst="rect">
            <a:avLst/>
          </a:prstGeom>
        </p:spPr>
      </p:pic>
      <p:sp>
        <p:nvSpPr>
          <p:cNvPr id="6" name="مرحله سوم: آموزش همه اجزا، شامل ویسپر">
            <a:extLst xmlns:a="http://schemas.openxmlformats.org/drawingml/2006/main">
              <a:ext uri="{FF2B5EF4-FFF2-40B4-BE49-F238E27FC236}">
                <a16:creationId xmlns:a16="http://schemas.microsoft.com/office/drawing/2014/main" id="{094635C1-65B1-49B4-B959-C54C86730438}"/>
              </a:ext>
            </a:extLst>
          </p:cNvPr>
          <p:cNvSpPr>
            <a:spLocks xmlns:a="http://schemas.openxmlformats.org/drawingml/2006/main" noGrp="1"/>
          </p:cNvSpPr>
          <p:nvPr/>
        </p:nvSpPr>
        <p:spPr>
          <a:xfrm xmlns:a="http://schemas.openxmlformats.org/drawingml/2006/main">
            <a:off x="685800" y="3952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D6F8A"/>
                </a:solidFill>
                <a:latin typeface="Vazirmatn"/>
                <a:ea typeface="Vazirmatn"/>
                <a:cs typeface="Vazirmatn"/>
              </a:defRPr>
            </a:defPPr>
          </a:lstStyle>
          <a:p xmlns:a="http://schemas.openxmlformats.org/drawingml/2006/main">
            <a:pPr algn="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مرحله سوم: آموزش همه اجزا، شامل ویسپر</a:t>
            </a:r>
          </a:p>
        </p:txBody>
      </p:sp>
      <p:sp>
        <p:nvSpPr>
          <p:cNvPr id="7" name="هر مرحله یک دوره کامل">
            <a:extLst xmlns:a="http://schemas.openxmlformats.org/drawingml/2006/main">
              <a:ext uri="{FF2B5EF4-FFF2-40B4-BE49-F238E27FC236}">
                <a16:creationId xmlns:a16="http://schemas.microsoft.com/office/drawing/2014/main" id="{E35AC9EE-4BA6-4A6F-8B33-087F8F327DF3}"/>
              </a:ext>
            </a:extLst>
          </p:cNvPr>
          <p:cNvSpPr>
            <a:spLocks xmlns:a="http://schemas.openxmlformats.org/drawingml/2006/main" noGrp="1"/>
          </p:cNvSpPr>
          <p:nvPr/>
        </p:nvSpPr>
        <p:spPr>
          <a:xfrm xmlns:a="http://schemas.openxmlformats.org/drawingml/2006/main">
            <a:off x="6762750" y="4629150"/>
            <a:ext cx="4743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هر مرحله یک دوره کامل</a:t>
            </a:r>
          </a:p>
        </p:txBody>
      </p:sp>
      <p:sp>
        <p:nvSpPr>
          <p:cNvPr id="8" name="نرخ نهایی: ماژول‌های جدید ⁦1e-4⁩&#10;ویسپر ⁦5e-6⁩">
            <a:extLst xmlns:a="http://schemas.openxmlformats.org/drawingml/2006/main">
              <a:ext uri="{FF2B5EF4-FFF2-40B4-BE49-F238E27FC236}">
                <a16:creationId xmlns:a16="http://schemas.microsoft.com/office/drawing/2014/main" id="{765B2BF5-6DBD-4585-B9B6-4AD8A7A40635}"/>
              </a:ext>
            </a:extLst>
          </p:cNvPr>
          <p:cNvSpPr>
            <a:spLocks xmlns:a="http://schemas.openxmlformats.org/drawingml/2006/main" noGrp="1"/>
          </p:cNvSpPr>
          <p:nvPr/>
        </p:nvSpPr>
        <p:spPr>
          <a:xfrm xmlns:a="http://schemas.openxmlformats.org/drawingml/2006/main">
            <a:off x="6762750" y="5162550"/>
            <a:ext cx="4743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نرخ نهایی: ماژول‌های جدید ⁦1e-4⁩</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ویسپر ⁦5e-6⁩</a:t>
            </a:r>
          </a:p>
        </p:txBody>
      </p:sp>
      <p:sp>
        <p:nvSpPr>
          <p:cNvPr id="9" name="داده مرحله نهایی">
            <a:extLst xmlns:a="http://schemas.openxmlformats.org/drawingml/2006/main">
              <a:ext uri="{FF2B5EF4-FFF2-40B4-BE49-F238E27FC236}">
                <a16:creationId xmlns:a16="http://schemas.microsoft.com/office/drawing/2014/main" id="{FBF48044-4C18-49C5-95D4-B46E6E8739B7}"/>
              </a:ext>
            </a:extLst>
          </p:cNvPr>
          <p:cNvSpPr>
            <a:spLocks xmlns:a="http://schemas.openxmlformats.org/drawingml/2006/main" noGrp="1"/>
          </p:cNvSpPr>
          <p:nvPr/>
        </p:nvSpPr>
        <p:spPr>
          <a:xfrm xmlns:a="http://schemas.openxmlformats.org/drawingml/2006/main">
            <a:off x="685800" y="46291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داده مرحله نهایی</a:t>
            </a:r>
          </a:p>
        </p:txBody>
      </p:sp>
      <p:sp>
        <p:nvSpPr>
          <p:cNvPr id="10" name="نمونه‌های تخریب‌شده و بلند&#10;زیرمجموعه تصادفی ۲۵٪ از گفتار پاک">
            <a:extLst xmlns:a="http://schemas.openxmlformats.org/drawingml/2006/main">
              <a:ext uri="{FF2B5EF4-FFF2-40B4-BE49-F238E27FC236}">
                <a16:creationId xmlns:a16="http://schemas.microsoft.com/office/drawing/2014/main" id="{3CB6633F-73CB-4279-A28E-F20C74AA56B9}"/>
              </a:ext>
            </a:extLst>
          </p:cNvPr>
          <p:cNvSpPr>
            <a:spLocks xmlns:a="http://schemas.openxmlformats.org/drawingml/2006/main" noGrp="1"/>
          </p:cNvSpPr>
          <p:nvPr/>
        </p:nvSpPr>
        <p:spPr>
          <a:xfrm xmlns:a="http://schemas.openxmlformats.org/drawingml/2006/main">
            <a:off x="685800" y="51625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نمونه‌های تخریب‌شده و بلند</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زیرمجموعه تصادفی ۲۵٪ از گفتار پاک</a:t>
            </a:r>
          </a:p>
        </p:txBody>
      </p:sp>
      <p:sp>
        <p:nvSpPr>
          <p:cNvPr id="11" name="این آزمایش هم معماری و هم برنامه آموزش بازشناس را تغییر می‌دهد">
            <a:extLst xmlns:a="http://schemas.openxmlformats.org/drawingml/2006/main">
              <a:ext uri="{FF2B5EF4-FFF2-40B4-BE49-F238E27FC236}">
                <a16:creationId xmlns:a16="http://schemas.microsoft.com/office/drawing/2014/main" id="{92742C44-DFC2-48C5-9886-BE101611D9CC}"/>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این آزمایش هم معماری و هم برنامه آموزش بازشناس را تغییر می‌دهد</a:t>
            </a:r>
          </a:p>
        </p:txBody>
      </p:sp>
    </p:spTree>
    <p:extLst>
      <p:ext uri="{BB962C8B-B14F-4D97-AF65-F5344CB8AC3E}">
        <p14:creationId xmlns:p14="http://schemas.microsoft.com/office/powerpoint/2010/main" val="852398596"/>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روش مقایسه‌ای">
            <a:extLst xmlns:a="http://schemas.openxmlformats.org/drawingml/2006/main">
              <a:ext uri="{FF2B5EF4-FFF2-40B4-BE49-F238E27FC236}">
                <a16:creationId xmlns:a16="http://schemas.microsoft.com/office/drawing/2014/main" id="{3190B265-7693-43ED-B40E-B767B7EF7C42}"/>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روش مقایسه‌ای</a:t>
            </a:r>
          </a:p>
        </p:txBody>
      </p:sp>
      <p:sp>
        <p:nvSpPr>
          <p:cNvPr id="2" name="پل تطبیقی پیش از بازشناسی">
            <a:extLst xmlns:a="http://schemas.openxmlformats.org/drawingml/2006/main">
              <a:ext uri="{FF2B5EF4-FFF2-40B4-BE49-F238E27FC236}">
                <a16:creationId xmlns:a16="http://schemas.microsoft.com/office/drawing/2014/main" id="{D9329608-045F-4093-A0E8-926F15A8A34E}"/>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پل تطبیقی پیش از بازشناسی</a:t>
            </a:r>
          </a:p>
        </p:txBody>
      </p:sp>
      <p:sp>
        <p:nvSpPr>
          <p:cNvPr id="3" name="">
            <a:extLst xmlns:a="http://schemas.openxmlformats.org/drawingml/2006/main">
              <a:ext uri="{FF2B5EF4-FFF2-40B4-BE49-F238E27FC236}">
                <a16:creationId xmlns:a16="http://schemas.microsoft.com/office/drawing/2014/main" id="{9815430C-6D83-4F05-A0D3-8FAD4D42A749}"/>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۳ از ۲۸">
            <a:extLst xmlns:a="http://schemas.openxmlformats.org/drawingml/2006/main">
              <a:ext uri="{FF2B5EF4-FFF2-40B4-BE49-F238E27FC236}">
                <a16:creationId xmlns:a16="http://schemas.microsoft.com/office/drawing/2014/main" id="{C24091C8-C7C5-4A06-98CD-C8624256FD8B}"/>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۱۳ از ۲۸</a:t>
            </a:r>
          </a:p>
        </p:txBody>
      </p:sp>
      <p:pic>
        <p:nvPicPr>
          <p:cNvPr id="5" name="">
            <a:extLst xmlns:a="http://schemas.openxmlformats.org/drawingml/2006/main">
              <a:ext uri="{FF2B5EF4-FFF2-40B4-BE49-F238E27FC236}">
                <a16:creationId xmlns:a16="http://schemas.microsoft.com/office/drawing/2014/main" id="{98185ED4-98FC-40FD-B12D-BA2D09236E31}"/>
              </a:ext>
            </a:extLst>
          </p:cNvPr>
          <p:cNvPicPr>
            <a:picLocks xmlns:a="http://schemas.openxmlformats.org/drawingml/2006/main" noChangeAspect="1"/>
          </p:cNvPicPr>
          <p:nvPr/>
        </p:nvPicPr>
        <p:blipFill>
          <a:blip xmlns:r="http://schemas.openxmlformats.org/officeDocument/2006/relationships" xmlns:a="http://schemas.openxmlformats.org/drawingml/2006/main" r:embed="Rc1ee432d06784268"/>
          <a:stretch xmlns:a="http://schemas.openxmlformats.org/drawingml/2006/main"/>
        </p:blipFill>
        <p:spPr>
          <a:xfrm xmlns:a="http://schemas.openxmlformats.org/drawingml/2006/main">
            <a:off x="685800" y="2117493"/>
            <a:ext cx="7486650" cy="3451689"/>
          </a:xfrm>
          <a:prstGeom xmlns:a="http://schemas.openxmlformats.org/drawingml/2006/main" prst="rect">
            <a:avLst/>
          </a:prstGeom>
        </p:spPr>
      </p:pic>
      <p:sp>
        <p:nvSpPr>
          <p:cNvPr id="6" name="پیاده‌سازی این پایان‌نامه">
            <a:extLst xmlns:a="http://schemas.openxmlformats.org/drawingml/2006/main">
              <a:ext uri="{FF2B5EF4-FFF2-40B4-BE49-F238E27FC236}">
                <a16:creationId xmlns:a16="http://schemas.microsoft.com/office/drawing/2014/main" id="{920C0B35-5B63-4421-BAFE-5E3035C81CF9}"/>
              </a:ext>
            </a:extLst>
          </p:cNvPr>
          <p:cNvSpPr>
            <a:spLocks xmlns:a="http://schemas.openxmlformats.org/drawingml/2006/main" noGrp="1"/>
          </p:cNvSpPr>
          <p:nvPr/>
        </p:nvSpPr>
        <p:spPr>
          <a:xfrm xmlns:a="http://schemas.openxmlformats.org/drawingml/2006/main">
            <a:off x="8648700" y="19812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پیاده‌سازی این پایان‌نامه</a:t>
            </a:r>
          </a:p>
        </p:txBody>
      </p:sp>
      <p:sp>
        <p:nvSpPr>
          <p:cNvPr id="7" name="بهساز FRCRN ثابت&#10;بازشناس ویسپر ثابت&#10;آموزش فقط ماژول پل">
            <a:extLst xmlns:a="http://schemas.openxmlformats.org/drawingml/2006/main">
              <a:ext uri="{FF2B5EF4-FFF2-40B4-BE49-F238E27FC236}">
                <a16:creationId xmlns:a16="http://schemas.microsoft.com/office/drawing/2014/main" id="{05E80C28-4D30-414E-A9BB-DE70ABDF054A}"/>
              </a:ext>
            </a:extLst>
          </p:cNvPr>
          <p:cNvSpPr>
            <a:spLocks xmlns:a="http://schemas.openxmlformats.org/drawingml/2006/main" noGrp="1"/>
          </p:cNvSpPr>
          <p:nvPr/>
        </p:nvSpPr>
        <p:spPr>
          <a:xfrm xmlns:a="http://schemas.openxmlformats.org/drawingml/2006/main">
            <a:off x="8648700" y="2828925"/>
            <a:ext cx="285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بهساز FRCRN ثابت</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بازشناس ویسپر ثابت</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آموزش فقط ماژول پل</a:t>
            </a:r>
          </a:p>
        </p:txBody>
      </p:sp>
      <p:sp>
        <p:nvSpPr>
          <p:cNvPr id="8" name="یک ضریب ترکیب&#10;برای هر گفتار">
            <a:extLst xmlns:a="http://schemas.openxmlformats.org/drawingml/2006/main">
              <a:ext uri="{FF2B5EF4-FFF2-40B4-BE49-F238E27FC236}">
                <a16:creationId xmlns:a16="http://schemas.microsoft.com/office/drawing/2014/main" id="{92C3FC46-4178-438F-871C-41019DA4F582}"/>
              </a:ext>
            </a:extLst>
          </p:cNvPr>
          <p:cNvSpPr>
            <a:spLocks xmlns:a="http://schemas.openxmlformats.org/drawingml/2006/main" noGrp="1"/>
          </p:cNvSpPr>
          <p:nvPr/>
        </p:nvSpPr>
        <p:spPr>
          <a:xfrm xmlns:a="http://schemas.openxmlformats.org/drawingml/2006/main">
            <a:off x="8648700" y="46958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D6F8A"/>
                </a:solidFill>
                <a:latin typeface="Vazirmatn"/>
                <a:ea typeface="Vazirmatn"/>
                <a:cs typeface="Vazirmatn"/>
              </a:defRPr>
            </a:defPPr>
          </a:lstStyle>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یک ضریب ترکیب</a:t>
            </a:r>
          </a:p>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برای هر گفتار</a:t>
            </a:r>
          </a:p>
        </p:txBody>
      </p:sp>
      <p:sp>
        <p:nvSpPr>
          <p:cNvPr id="9" name="Cui et al., ICASSP 2025, Fig. 1 (CC BY 4.0)">
            <a:extLst xmlns:a="http://schemas.openxmlformats.org/drawingml/2006/main">
              <a:ext uri="{FF2B5EF4-FFF2-40B4-BE49-F238E27FC236}">
                <a16:creationId xmlns:a16="http://schemas.microsoft.com/office/drawing/2014/main" id="{470A0BCB-F337-4243-B6A4-B2ABC12E19DB}"/>
              </a:ext>
            </a:extLst>
          </p:cNvPr>
          <p:cNvSpPr>
            <a:spLocks xmlns:a="http://schemas.openxmlformats.org/drawingml/2006/main" noGrp="1"/>
          </p:cNvSpPr>
          <p:nvPr/>
        </p:nvSpPr>
        <p:spPr>
          <a:xfrm xmlns:a="http://schemas.openxmlformats.org/drawingml/2006/main">
            <a:off x="685800" y="5638800"/>
            <a:ext cx="7486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06D"/>
                </a:solidFill>
                <a:latin typeface="Vazirmatn"/>
                <a:ea typeface="Vazirmatn"/>
                <a:cs typeface="Vazirmatn"/>
              </a:defRPr>
            </a:defPPr>
          </a:lstStyle>
          <a:p xmlns:a="http://schemas.openxmlformats.org/drawingml/2006/main">
            <a:pPr algn="l" rtl="0">
              <a:defRPr sz="1350" b="0" lang="en-US">
                <a:solidFill>
                  <a:srgbClr val="52606D"/>
                </a:solidFill>
                <a:latin typeface="Vazirmatn"/>
                <a:ea typeface="Vazirmatn"/>
                <a:cs typeface="Vazirmatn"/>
              </a:defRPr>
            </a:pPr>
            <a:r>
              <a:rPr sz="1350" b="0" lang="en-US">
                <a:solidFill>
                  <a:srgbClr val="52606D"/>
                </a:solidFill>
                <a:latin typeface="Vazirmatn"/>
                <a:ea typeface="Vazirmatn"/>
                <a:cs typeface="Vazirmatn"/>
              </a:rPr>
              <a:t>Cui et al., ICASSP 2025, Fig. 1 (CC BY 4.0)</a:t>
            </a:r>
          </a:p>
        </p:txBody>
      </p:sp>
      <p:sp>
        <p:nvSpPr>
          <p:cNvPr id="10" name="اجرای مستقل فارسی است. تفاوت بهساز و برنامه آموزش، انتساب اثر به محل ادغام را محدود می‌کند">
            <a:extLst xmlns:a="http://schemas.openxmlformats.org/drawingml/2006/main">
              <a:ext uri="{FF2B5EF4-FFF2-40B4-BE49-F238E27FC236}">
                <a16:creationId xmlns:a16="http://schemas.microsoft.com/office/drawing/2014/main" id="{52978031-679A-495B-BC45-BEE22459EDC2}"/>
              </a:ext>
            </a:extLst>
          </p:cNvPr>
          <p:cNvSpPr>
            <a:spLocks xmlns:a="http://schemas.openxmlformats.org/drawingml/2006/main" noGrp="1"/>
          </p:cNvSpPr>
          <p:nvPr/>
        </p:nvSpPr>
        <p:spPr>
          <a:xfrm xmlns:a="http://schemas.openxmlformats.org/drawingml/2006/main">
            <a:off x="685800" y="604837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اجرای مستقل فارسی است. تفاوت بهساز و برنامه آموزش، انتساب اثر به محل ادغام را محدود می‌کند</a:t>
            </a:r>
          </a:p>
        </p:txBody>
      </p:sp>
    </p:spTree>
    <p:extLst>
      <p:ext uri="{BB962C8B-B14F-4D97-AF65-F5344CB8AC3E}">
        <p14:creationId xmlns:p14="http://schemas.microsoft.com/office/powerpoint/2010/main" val="457189482"/>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نتایج بهسازی و همجوشی">
            <a:extLst xmlns:a="http://schemas.openxmlformats.org/drawingml/2006/main">
              <a:ext uri="{FF2B5EF4-FFF2-40B4-BE49-F238E27FC236}">
                <a16:creationId xmlns:a16="http://schemas.microsoft.com/office/drawing/2014/main" id="{114AED34-126B-49DE-BBB6-252A52792FC6}"/>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نتایج بهسازی و همجوشی</a:t>
            </a:r>
          </a:p>
        </p:txBody>
      </p:sp>
      <p:sp>
        <p:nvSpPr>
          <p:cNvPr id="2" name="سود افزوده همجوشی و پل تطبیقی">
            <a:extLst xmlns:a="http://schemas.openxmlformats.org/drawingml/2006/main">
              <a:ext uri="{FF2B5EF4-FFF2-40B4-BE49-F238E27FC236}">
                <a16:creationId xmlns:a16="http://schemas.microsoft.com/office/drawing/2014/main" id="{9BECBCD3-6106-4641-8857-C2E26F6FA3D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سود افزوده همجوشی و پل تطبیقی</a:t>
            </a:r>
          </a:p>
        </p:txBody>
      </p:sp>
      <p:sp>
        <p:nvSpPr>
          <p:cNvPr id="3" name="">
            <a:extLst xmlns:a="http://schemas.openxmlformats.org/drawingml/2006/main">
              <a:ext uri="{FF2B5EF4-FFF2-40B4-BE49-F238E27FC236}">
                <a16:creationId xmlns:a16="http://schemas.microsoft.com/office/drawing/2014/main" id="{45C76244-E7C9-4E4E-987B-18949EA77C4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۴ از ۲۸">
            <a:extLst xmlns:a="http://schemas.openxmlformats.org/drawingml/2006/main">
              <a:ext uri="{FF2B5EF4-FFF2-40B4-BE49-F238E27FC236}">
                <a16:creationId xmlns:a16="http://schemas.microsoft.com/office/drawing/2014/main" id="{29024E20-BEDD-4213-9BC9-B255E909077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۱۴ از ۲۸</a:t>
            </a:r>
          </a:p>
        </p:txBody>
      </p:sp>
      <p:sp>
        <p:nvSpPr>
          <p:cNvPr id="5" name="نرخ خطای واژه تجمیعی">
            <a:extLst xmlns:a="http://schemas.openxmlformats.org/drawingml/2006/main">
              <a:ext uri="{FF2B5EF4-FFF2-40B4-BE49-F238E27FC236}">
                <a16:creationId xmlns:a16="http://schemas.microsoft.com/office/drawing/2014/main" id="{5EEFCADE-7E6F-47B0-A1F7-FFC6082D172F}"/>
              </a:ext>
            </a:extLst>
          </p:cNvPr>
          <p:cNvSpPr>
            <a:spLocks xmlns:a="http://schemas.openxmlformats.org/drawingml/2006/main" noGrp="1"/>
          </p:cNvSpPr>
          <p:nvPr/>
        </p:nvSpPr>
        <p:spPr>
          <a:xfrm xmlns:a="http://schemas.openxmlformats.org/drawingml/2006/main">
            <a:off x="685800" y="16859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53D42"/>
                </a:solidFill>
                <a:latin typeface="Vazirmatn"/>
                <a:ea typeface="Vazirmatn"/>
                <a:cs typeface="Vazirmatn"/>
              </a:defRPr>
            </a:defPPr>
          </a:lstStyle>
          <a:p xmlns:a="http://schemas.openxmlformats.org/drawingml/2006/main">
            <a:pPr algn="ct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نرخ خطای واژه تجمیعی</a:t>
            </a:r>
          </a:p>
        </p:txBody>
      </p:sp>
      <p:sp>
        <p:nvSpPr>
          <p:cNvPr id="6" name="نرخ خطای واژه تماس واقعی">
            <a:extLst xmlns:a="http://schemas.openxmlformats.org/drawingml/2006/main">
              <a:ext uri="{FF2B5EF4-FFF2-40B4-BE49-F238E27FC236}">
                <a16:creationId xmlns:a16="http://schemas.microsoft.com/office/drawing/2014/main" id="{0E46C728-6A2A-45CF-BE68-59B500A139BC}"/>
              </a:ext>
            </a:extLst>
          </p:cNvPr>
          <p:cNvSpPr>
            <a:spLocks xmlns:a="http://schemas.openxmlformats.org/drawingml/2006/main" noGrp="1"/>
          </p:cNvSpPr>
          <p:nvPr/>
        </p:nvSpPr>
        <p:spPr>
          <a:xfrm xmlns:a="http://schemas.openxmlformats.org/drawingml/2006/main">
            <a:off x="6457950" y="16859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53D42"/>
                </a:solidFill>
                <a:latin typeface="Vazirmatn"/>
                <a:ea typeface="Vazirmatn"/>
                <a:cs typeface="Vazirmatn"/>
              </a:defRPr>
            </a:defPPr>
          </a:lstStyle>
          <a:p xmlns:a="http://schemas.openxmlformats.org/drawingml/2006/main">
            <a:pPr algn="ct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نرخ خطای واژه تماس واقعی</a:t>
            </a:r>
          </a:p>
        </p:txBody>
      </p:sp>
      <p:graphicFrame>
        <p:nvGraphicFramePr>
          <p:cNvPr id="7" name="Chart">
            <a:extLst xmlns:a="http://schemas.openxmlformats.org/drawingml/2006/main">
              <a:ext uri="{FF2B5EF4-FFF2-40B4-BE49-F238E27FC236}">
                <a16:creationId xmlns:a16="http://schemas.microsoft.com/office/drawing/2014/main" id="{2DFC967E-E104-4C1D-A4EA-081F17994DA0}"/>
              </a:ext>
            </a:extLst>
          </p:cNvPr>
          <p:cNvGraphicFramePr/>
          <p:nvPr/>
        </p:nvGraphicFramePr>
        <p:xfrm>
          <a:off xmlns:a="http://schemas.openxmlformats.org/drawingml/2006/main" x="685800" y="2324100"/>
          <a:ext xmlns:a="http://schemas.openxmlformats.org/drawingml/2006/main" cx="5048250" cy="2952750"/>
        </p:xfrm>
        <a:graphic xmlns:a="http://schemas.openxmlformats.org/drawingml/2006/main">
          <a:graphicData uri="http://schemas.openxmlformats.org/drawingml/2006/chart">
            <c:chart xmlns:r="http://schemas.openxmlformats.org/officeDocument/2006/relationships" xmlns:c="http://schemas.openxmlformats.org/drawingml/2006/chart" r:id="Re399a8b2cc4545cf"/>
          </a:graphicData>
        </a:graphic>
      </p:graphicFrame>
      <p:graphicFrame>
        <p:nvGraphicFramePr>
          <p:cNvPr id="8" name="Chart">
            <a:extLst xmlns:a="http://schemas.openxmlformats.org/drawingml/2006/main">
              <a:ext uri="{FF2B5EF4-FFF2-40B4-BE49-F238E27FC236}">
                <a16:creationId xmlns:a16="http://schemas.microsoft.com/office/drawing/2014/main" id="{2D8E8B61-1BEF-40A2-9D7C-1FABA6C21A42}"/>
              </a:ext>
            </a:extLst>
          </p:cNvPr>
          <p:cNvGraphicFramePr/>
          <p:nvPr/>
        </p:nvGraphicFramePr>
        <p:xfrm>
          <a:off xmlns:a="http://schemas.openxmlformats.org/drawingml/2006/main" x="6457950" y="2324100"/>
          <a:ext xmlns:a="http://schemas.openxmlformats.org/drawingml/2006/main" cx="5048250" cy="2952750"/>
        </p:xfrm>
        <a:graphic xmlns:a="http://schemas.openxmlformats.org/drawingml/2006/main">
          <a:graphicData uri="http://schemas.openxmlformats.org/drawingml/2006/chart">
            <c:chart xmlns:r="http://schemas.openxmlformats.org/officeDocument/2006/relationships" xmlns:c="http://schemas.openxmlformats.org/drawingml/2006/chart" r:id="R9d3f22e9a4614a74"/>
          </a:graphicData>
        </a:graphic>
      </p:graphicFrame>
      <p:sp>
        <p:nvSpPr>
          <p:cNvPr id="9" name="کاهش WER با همجوشی: ۰٫۱۹ واحد درصد تجمیعی و ۰٫۴۳ واحد درصد در تماس واقعی">
            <a:extLst xmlns:a="http://schemas.openxmlformats.org/drawingml/2006/main">
              <a:ext uri="{FF2B5EF4-FFF2-40B4-BE49-F238E27FC236}">
                <a16:creationId xmlns:a16="http://schemas.microsoft.com/office/drawing/2014/main" id="{6A1EBF39-207E-4D8A-9E3A-E1373C4ACC54}"/>
              </a:ext>
            </a:extLst>
          </p:cNvPr>
          <p:cNvSpPr>
            <a:spLocks xmlns:a="http://schemas.openxmlformats.org/drawingml/2006/main" noGrp="1"/>
          </p:cNvSpPr>
          <p:nvPr/>
        </p:nvSpPr>
        <p:spPr>
          <a:xfrm xmlns:a="http://schemas.openxmlformats.org/drawingml/2006/main">
            <a:off x="685800" y="54768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کاهش WER با همجوشی: ۰٫۱۹ واحد درصد تجمیعی و ۰٫۴۳ واحد درصد در تماس واقعی</a:t>
            </a:r>
          </a:p>
        </p:txBody>
      </p:sp>
      <p:sp>
        <p:nvSpPr>
          <p:cNvPr id="10" name="CER تجمیعی به همین ترتیب: ۷٫۹۳٪، ۸٫۰۰٪ و ۷٫۸۵٪. اختلاف‌ها فاصله اطمینان ندارند">
            <a:extLst xmlns:a="http://schemas.openxmlformats.org/drawingml/2006/main">
              <a:ext uri="{FF2B5EF4-FFF2-40B4-BE49-F238E27FC236}">
                <a16:creationId xmlns:a16="http://schemas.microsoft.com/office/drawing/2014/main" id="{609B35F3-8F2D-4D6C-972C-365A41A21FD1}"/>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CER تجمیعی به همین ترتیب: ۷٫۹۳٪، ۸٫۰۰٪ و ۷٫۸۵٪. اختلاف‌ها فاصله اطمینان ندارند</a:t>
            </a:r>
          </a:p>
        </p:txBody>
      </p:sp>
    </p:spTree>
    <p:extLst>
      <p:ext uri="{BB962C8B-B14F-4D97-AF65-F5344CB8AC3E}">
        <p14:creationId xmlns:p14="http://schemas.microsoft.com/office/powerpoint/2010/main" val="1465012733"/>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مطالعه مؤلفه‌های همجوشی">
            <a:extLst xmlns:a="http://schemas.openxmlformats.org/drawingml/2006/main">
              <a:ext uri="{FF2B5EF4-FFF2-40B4-BE49-F238E27FC236}">
                <a16:creationId xmlns:a16="http://schemas.microsoft.com/office/drawing/2014/main" id="{F2AC9F6D-D240-4079-8D2F-DC8EE4019AA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مطالعه مؤلفه‌های همجوشی</a:t>
            </a:r>
          </a:p>
        </p:txBody>
      </p:sp>
      <p:sp>
        <p:nvSpPr>
          <p:cNvPr id="2" name="آزمایش حذفیِ دو نما و توجه متقاطع">
            <a:extLst xmlns:a="http://schemas.openxmlformats.org/drawingml/2006/main">
              <a:ext uri="{FF2B5EF4-FFF2-40B4-BE49-F238E27FC236}">
                <a16:creationId xmlns:a16="http://schemas.microsoft.com/office/drawing/2014/main" id="{CF4C7694-3B72-4740-88E1-328ECD206C4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آزمایش حذفیِ دو نما و توجه متقاطع</a:t>
            </a:r>
          </a:p>
        </p:txBody>
      </p:sp>
      <p:sp>
        <p:nvSpPr>
          <p:cNvPr id="3" name="">
            <a:extLst xmlns:a="http://schemas.openxmlformats.org/drawingml/2006/main">
              <a:ext uri="{FF2B5EF4-FFF2-40B4-BE49-F238E27FC236}">
                <a16:creationId xmlns:a16="http://schemas.microsoft.com/office/drawing/2014/main" id="{9DB0327C-B488-4BDC-9821-AD131FF020A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۵ از ۲۸">
            <a:extLst xmlns:a="http://schemas.openxmlformats.org/drawingml/2006/main">
              <a:ext uri="{FF2B5EF4-FFF2-40B4-BE49-F238E27FC236}">
                <a16:creationId xmlns:a16="http://schemas.microsoft.com/office/drawing/2014/main" id="{4E9A0D3C-3296-47CE-A57E-52CED8EE86B8}"/>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۱۵ از ۲۸</a:t>
            </a:r>
          </a:p>
        </p:txBody>
      </p:sp>
      <p:sp>
        <p:nvSpPr>
          <p:cNvPr id="5" name="آزمایش مستقل&#10;ویسپر بسیار کوچک">
            <a:extLst xmlns:a="http://schemas.openxmlformats.org/drawingml/2006/main">
              <a:ext uri="{FF2B5EF4-FFF2-40B4-BE49-F238E27FC236}">
                <a16:creationId xmlns:a16="http://schemas.microsoft.com/office/drawing/2014/main" id="{B377E7EA-0F63-4383-94C2-6E9DAF4ED443}"/>
              </a:ext>
            </a:extLst>
          </p:cNvPr>
          <p:cNvSpPr>
            <a:spLocks xmlns:a="http://schemas.openxmlformats.org/drawingml/2006/main" noGrp="1"/>
          </p:cNvSpPr>
          <p:nvPr/>
        </p:nvSpPr>
        <p:spPr>
          <a:xfrm xmlns:a="http://schemas.openxmlformats.org/drawingml/2006/main">
            <a:off x="685800" y="2028825"/>
            <a:ext cx="2809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153D42"/>
                </a:solidFill>
                <a:latin typeface="Vazirmatn"/>
                <a:ea typeface="Vazirmatn"/>
                <a:cs typeface="Vazirmatn"/>
              </a:defRPr>
            </a:defPPr>
          </a:lstStyle>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آزمایش مستقل</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ویسپر بسیار کوچک</a:t>
            </a:r>
          </a:p>
        </p:txBody>
      </p:sp>
      <p:sp>
        <p:nvSpPr>
          <p:cNvPr id="6" name="آموزش فقط با کامن‌وویس">
            <a:extLst xmlns:a="http://schemas.openxmlformats.org/drawingml/2006/main">
              <a:ext uri="{FF2B5EF4-FFF2-40B4-BE49-F238E27FC236}">
                <a16:creationId xmlns:a16="http://schemas.microsoft.com/office/drawing/2014/main" id="{3EB68CF6-99E0-4EDB-9B6E-9BCF1A5F7AFC}"/>
              </a:ext>
            </a:extLst>
          </p:cNvPr>
          <p:cNvSpPr>
            <a:spLocks xmlns:a="http://schemas.openxmlformats.org/drawingml/2006/main" noGrp="1"/>
          </p:cNvSpPr>
          <p:nvPr/>
        </p:nvSpPr>
        <p:spPr>
          <a:xfrm xmlns:a="http://schemas.openxmlformats.org/drawingml/2006/main">
            <a:off x="685800" y="3295650"/>
            <a:ext cx="280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52606D"/>
                </a:solidFill>
                <a:latin typeface="Vazirmatn"/>
                <a:ea typeface="Vazirmatn"/>
                <a:cs typeface="Vazirmatn"/>
              </a:defRPr>
            </a:defPPr>
          </a:lstStyle>
          <a:p xmlns:a="http://schemas.openxmlformats.org/drawingml/2006/main">
            <a:pPr algn="r" rtl="1">
              <a:defRPr sz="1800" b="0" lang="fa-IR">
                <a:solidFill>
                  <a:srgbClr val="52606D"/>
                </a:solidFill>
                <a:latin typeface="Vazirmatn"/>
                <a:ea typeface="Vazirmatn"/>
                <a:cs typeface="Vazirmatn"/>
              </a:defRPr>
            </a:pPr>
            <a:r>
              <a:rPr sz="1800" b="0" lang="fa-IR">
                <a:solidFill>
                  <a:srgbClr val="52606D"/>
                </a:solidFill>
                <a:latin typeface="Vazirmatn"/>
                <a:ea typeface="Vazirmatn"/>
                <a:cs typeface="Vazirmatn"/>
              </a:rPr>
              <a:t>آموزش فقط با کامن‌وویس</a:t>
            </a:r>
          </a:p>
        </p:txBody>
      </p:sp>
      <p:sp>
        <p:nvSpPr>
          <p:cNvPr id="7" name="WER کامن‌وویس&#10;به ترتیب نمودار">
            <a:extLst xmlns:a="http://schemas.openxmlformats.org/drawingml/2006/main">
              <a:ext uri="{FF2B5EF4-FFF2-40B4-BE49-F238E27FC236}">
                <a16:creationId xmlns:a16="http://schemas.microsoft.com/office/drawing/2014/main" id="{5244A4E7-71B4-414D-B659-918306152838}"/>
              </a:ext>
            </a:extLst>
          </p:cNvPr>
          <p:cNvSpPr>
            <a:spLocks xmlns:a="http://schemas.openxmlformats.org/drawingml/2006/main" noGrp="1"/>
          </p:cNvSpPr>
          <p:nvPr/>
        </p:nvSpPr>
        <p:spPr>
          <a:xfrm xmlns:a="http://schemas.openxmlformats.org/drawingml/2006/main">
            <a:off x="685800" y="4248150"/>
            <a:ext cx="2809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1">
                <a:solidFill>
                  <a:srgbClr val="153D42"/>
                </a:solidFill>
                <a:latin typeface="Vazirmatn"/>
                <a:ea typeface="Vazirmatn"/>
                <a:cs typeface="Vazirmatn"/>
              </a:defRPr>
            </a:defPPr>
          </a:lstStyle>
          <a:p xmlns:a="http://schemas.openxmlformats.org/drawingml/2006/main">
            <a:pPr algn="r" rtl="1">
              <a:defRPr sz="1725" b="1" lang="fa-IR">
                <a:solidFill>
                  <a:srgbClr val="153D42"/>
                </a:solidFill>
                <a:latin typeface="Vazirmatn"/>
                <a:ea typeface="Vazirmatn"/>
                <a:cs typeface="Vazirmatn"/>
              </a:defRPr>
            </a:pPr>
            <a:r>
              <a:rPr sz="1725" b="1" lang="fa-IR">
                <a:solidFill>
                  <a:srgbClr val="153D42"/>
                </a:solidFill>
                <a:latin typeface="Vazirmatn"/>
                <a:ea typeface="Vazirmatn"/>
                <a:cs typeface="Vazirmatn"/>
              </a:rPr>
              <a:t>WER کامن‌وویس</a:t>
            </a:r>
          </a:p>
          <a:p xmlns:a="http://schemas.openxmlformats.org/drawingml/2006/main">
            <a:pPr algn="r" rtl="1">
              <a:defRPr sz="1725" b="1" lang="fa-IR">
                <a:solidFill>
                  <a:srgbClr val="153D42"/>
                </a:solidFill>
                <a:latin typeface="Vazirmatn"/>
                <a:ea typeface="Vazirmatn"/>
                <a:cs typeface="Vazirmatn"/>
              </a:defRPr>
            </a:pPr>
            <a:r>
              <a:rPr sz="1725" b="1" lang="fa-IR">
                <a:solidFill>
                  <a:srgbClr val="153D42"/>
                </a:solidFill>
                <a:latin typeface="Vazirmatn"/>
                <a:ea typeface="Vazirmatn"/>
                <a:cs typeface="Vazirmatn"/>
              </a:rPr>
              <a:t>به ترتیب نمودار</a:t>
            </a:r>
          </a:p>
        </p:txBody>
      </p:sp>
      <p:sp>
        <p:nvSpPr>
          <p:cNvPr id="8" name="۵۷٫۸۲، ۶۲٫۳۵،&#10;۶۴٫۱۰، ۶۳٫۸۱ درصد">
            <a:extLst xmlns:a="http://schemas.openxmlformats.org/drawingml/2006/main">
              <a:ext uri="{FF2B5EF4-FFF2-40B4-BE49-F238E27FC236}">
                <a16:creationId xmlns:a16="http://schemas.microsoft.com/office/drawing/2014/main" id="{E787ADA6-9C3E-4FA5-BA89-F246D9288FB5}"/>
              </a:ext>
            </a:extLst>
          </p:cNvPr>
          <p:cNvSpPr>
            <a:spLocks xmlns:a="http://schemas.openxmlformats.org/drawingml/2006/main" noGrp="1"/>
          </p:cNvSpPr>
          <p:nvPr/>
        </p:nvSpPr>
        <p:spPr>
          <a:xfrm xmlns:a="http://schemas.openxmlformats.org/drawingml/2006/main">
            <a:off x="685800" y="5076825"/>
            <a:ext cx="2809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1D6F8A"/>
                </a:solidFill>
                <a:latin typeface="Vazirmatn"/>
                <a:ea typeface="Vazirmatn"/>
                <a:cs typeface="Vazirmatn"/>
              </a:defRPr>
            </a:defPPr>
          </a:lstStyle>
          <a:p xmlns:a="http://schemas.openxmlformats.org/drawingml/2006/main">
            <a:pPr algn="r" rtl="1">
              <a:defRPr sz="1725" b="0" lang="fa-IR">
                <a:solidFill>
                  <a:srgbClr val="1D6F8A"/>
                </a:solidFill>
                <a:latin typeface="Vazirmatn"/>
                <a:ea typeface="Vazirmatn"/>
                <a:cs typeface="Vazirmatn"/>
              </a:defRPr>
            </a:pPr>
            <a:r>
              <a:rPr sz="1725" b="0" lang="fa-IR">
                <a:solidFill>
                  <a:srgbClr val="1D6F8A"/>
                </a:solidFill>
                <a:latin typeface="Vazirmatn"/>
                <a:ea typeface="Vazirmatn"/>
                <a:cs typeface="Vazirmatn"/>
              </a:rPr>
              <a:t>۵۷٫۸۲، ۶۲٫۳۵،</a:t>
            </a:r>
          </a:p>
          <a:p xmlns:a="http://schemas.openxmlformats.org/drawingml/2006/main">
            <a:pPr algn="r" rtl="1">
              <a:defRPr sz="1725" b="0" lang="fa-IR">
                <a:solidFill>
                  <a:srgbClr val="1D6F8A"/>
                </a:solidFill>
                <a:latin typeface="Vazirmatn"/>
                <a:ea typeface="Vazirmatn"/>
                <a:cs typeface="Vazirmatn"/>
              </a:defRPr>
            </a:pPr>
            <a:r>
              <a:rPr sz="1725" b="0" lang="fa-IR">
                <a:solidFill>
                  <a:srgbClr val="1D6F8A"/>
                </a:solidFill>
                <a:latin typeface="Vazirmatn"/>
                <a:ea typeface="Vazirmatn"/>
                <a:cs typeface="Vazirmatn"/>
              </a:rPr>
              <a:t>۶۴٫۱۰، ۶۳٫۸۱ درصد</a:t>
            </a:r>
          </a:p>
        </p:txBody>
      </p:sp>
      <p:sp>
        <p:nvSpPr>
          <p:cNvPr id="9" name="نرخ خطای واژه در AGFarsdat">
            <a:extLst xmlns:a="http://schemas.openxmlformats.org/drawingml/2006/main">
              <a:ext uri="{FF2B5EF4-FFF2-40B4-BE49-F238E27FC236}">
                <a16:creationId xmlns:a16="http://schemas.microsoft.com/office/drawing/2014/main" id="{0236A4CA-8BB2-49F2-A086-165651F10C79}"/>
              </a:ext>
            </a:extLst>
          </p:cNvPr>
          <p:cNvSpPr>
            <a:spLocks xmlns:a="http://schemas.openxmlformats.org/drawingml/2006/main" noGrp="1"/>
          </p:cNvSpPr>
          <p:nvPr/>
        </p:nvSpPr>
        <p:spPr>
          <a:xfrm xmlns:a="http://schemas.openxmlformats.org/drawingml/2006/main">
            <a:off x="3962400" y="1657350"/>
            <a:ext cx="7543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نرخ خطای واژه در AGFarsdat</a:t>
            </a:r>
          </a:p>
        </p:txBody>
      </p:sp>
      <p:graphicFrame>
        <p:nvGraphicFramePr>
          <p:cNvPr id="10" name="Chart">
            <a:extLst xmlns:a="http://schemas.openxmlformats.org/drawingml/2006/main">
              <a:ext uri="{FF2B5EF4-FFF2-40B4-BE49-F238E27FC236}">
                <a16:creationId xmlns:a16="http://schemas.microsoft.com/office/drawing/2014/main" id="{6CAA28BA-791B-4B50-B31A-8096C2CE43FB}"/>
              </a:ext>
            </a:extLst>
          </p:cNvPr>
          <p:cNvGraphicFramePr/>
          <p:nvPr/>
        </p:nvGraphicFramePr>
        <p:xfrm>
          <a:off xmlns:a="http://schemas.openxmlformats.org/drawingml/2006/main" x="3886200" y="2343150"/>
          <a:ext xmlns:a="http://schemas.openxmlformats.org/drawingml/2006/main" cx="7620000" cy="3257550"/>
        </p:xfrm>
        <a:graphic xmlns:a="http://schemas.openxmlformats.org/drawingml/2006/main">
          <a:graphicData uri="http://schemas.openxmlformats.org/drawingml/2006/chart">
            <c:chart xmlns:r="http://schemas.openxmlformats.org/officeDocument/2006/relationships" xmlns:c="http://schemas.openxmlformats.org/drawingml/2006/chart" r:id="R0589381a663e48da"/>
          </a:graphicData>
        </a:graphic>
      </p:graphicFrame>
      <p:sp>
        <p:nvSpPr>
          <p:cNvPr id="11" name="¹ حذف نما در زمان استنتاج از مدل همجوشی آموزش‌دیده، نه آموزش مستقل یک مدل تک‌جریانه">
            <a:extLst xmlns:a="http://schemas.openxmlformats.org/drawingml/2006/main">
              <a:ext uri="{FF2B5EF4-FFF2-40B4-BE49-F238E27FC236}">
                <a16:creationId xmlns:a16="http://schemas.microsoft.com/office/drawing/2014/main" id="{0E537799-EC03-42BF-B1DA-10CCF6231D77}"/>
              </a:ext>
            </a:extLst>
          </p:cNvPr>
          <p:cNvSpPr>
            <a:spLocks xmlns:a="http://schemas.openxmlformats.org/drawingml/2006/main" noGrp="1"/>
          </p:cNvSpPr>
          <p:nvPr/>
        </p:nvSpPr>
        <p:spPr>
          <a:xfrm xmlns:a="http://schemas.openxmlformats.org/drawingml/2006/main">
            <a:off x="685800" y="58483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حذف نما در زمان استنتاج از مدل همجوشی آموزش‌دیده، نه آموزش مستقل یک مدل تک‌جریانه</a:t>
            </a:r>
          </a:p>
        </p:txBody>
      </p:sp>
      <p:sp>
        <p:nvSpPr>
          <p:cNvPr id="12" name="بودجه آموزش و تعداد پارامترهای نابرابر، تعیین سهم مستقل مؤلفه‌ها را محدود می‌کند">
            <a:extLst xmlns:a="http://schemas.openxmlformats.org/drawingml/2006/main">
              <a:ext uri="{FF2B5EF4-FFF2-40B4-BE49-F238E27FC236}">
                <a16:creationId xmlns:a16="http://schemas.microsoft.com/office/drawing/2014/main" id="{F88E22D6-5456-452D-846F-49B38D0F93F2}"/>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بودجه آموزش و تعداد پارامترهای نابرابر، تعیین سهم مستقل مؤلفه‌ها را محدود می‌کند</a:t>
            </a:r>
          </a:p>
        </p:txBody>
      </p:sp>
    </p:spTree>
    <p:extLst>
      <p:ext uri="{BB962C8B-B14F-4D97-AF65-F5344CB8AC3E}">
        <p14:creationId xmlns:p14="http://schemas.microsoft.com/office/powerpoint/2010/main" val="1365372218"/>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افزایش داده فارسی">
            <a:extLst xmlns:a="http://schemas.openxmlformats.org/drawingml/2006/main">
              <a:ext uri="{FF2B5EF4-FFF2-40B4-BE49-F238E27FC236}">
                <a16:creationId xmlns:a16="http://schemas.microsoft.com/office/drawing/2014/main" id="{FBC67800-C1BB-4D47-83A6-9F2766F06917}"/>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گردآوری و قطعه‌بندی ایران‌صدا">
            <a:extLst xmlns:a="http://schemas.openxmlformats.org/drawingml/2006/main">
              <a:ext uri="{FF2B5EF4-FFF2-40B4-BE49-F238E27FC236}">
                <a16:creationId xmlns:a16="http://schemas.microsoft.com/office/drawing/2014/main" id="{58C057BD-FC90-4017-BF8E-F9EACC919DE5}"/>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گردآوری و قطعه‌بندی ایران‌صدا</a:t>
            </a:r>
          </a:p>
        </p:txBody>
      </p:sp>
      <p:sp>
        <p:nvSpPr>
          <p:cNvPr id="3" name="">
            <a:extLst xmlns:a="http://schemas.openxmlformats.org/drawingml/2006/main">
              <a:ext uri="{FF2B5EF4-FFF2-40B4-BE49-F238E27FC236}">
                <a16:creationId xmlns:a16="http://schemas.microsoft.com/office/drawing/2014/main" id="{67950EB3-B32E-435B-B939-8F4284749605}"/>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۶ از ۲۸">
            <a:extLst xmlns:a="http://schemas.openxmlformats.org/drawingml/2006/main">
              <a:ext uri="{FF2B5EF4-FFF2-40B4-BE49-F238E27FC236}">
                <a16:creationId xmlns:a16="http://schemas.microsoft.com/office/drawing/2014/main" id="{22E76715-CB48-46D1-AAB7-1D8F96C796B5}"/>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۱۶ از ۲۸</a:t>
            </a:r>
          </a:p>
        </p:txBody>
      </p:sp>
      <p:pic>
        <p:nvPicPr>
          <p:cNvPr id="5" name="">
            <a:extLst xmlns:a="http://schemas.openxmlformats.org/drawingml/2006/main">
              <a:ext uri="{FF2B5EF4-FFF2-40B4-BE49-F238E27FC236}">
                <a16:creationId xmlns:a16="http://schemas.microsoft.com/office/drawing/2014/main" id="{159BBA9B-7112-4648-97D9-EF2AF906B3EA}"/>
              </a:ext>
            </a:extLst>
          </p:cNvPr>
          <p:cNvPicPr>
            <a:picLocks xmlns:a="http://schemas.openxmlformats.org/drawingml/2006/main" noChangeAspect="1"/>
          </p:cNvPicPr>
          <p:nvPr/>
        </p:nvPicPr>
        <p:blipFill>
          <a:blip xmlns:r="http://schemas.openxmlformats.org/officeDocument/2006/relationships" xmlns:a="http://schemas.openxmlformats.org/drawingml/2006/main" r:embed="Rc2de4baeb36d4b58"/>
          <a:stretch xmlns:a="http://schemas.openxmlformats.org/drawingml/2006/main"/>
        </p:blipFill>
        <p:spPr>
          <a:xfrm xmlns:a="http://schemas.openxmlformats.org/drawingml/2006/main">
            <a:off x="685800" y="1724044"/>
            <a:ext cx="3524250" cy="4159435"/>
          </a:xfrm>
          <a:prstGeom xmlns:a="http://schemas.openxmlformats.org/drawingml/2006/main" prst="rect">
            <a:avLst/>
          </a:prstGeom>
        </p:spPr>
      </p:pic>
      <p:sp>
        <p:nvSpPr>
          <p:cNvPr id="6" name="۳٬۷۷۷ کتاب صوتی">
            <a:extLst xmlns:a="http://schemas.openxmlformats.org/drawingml/2006/main">
              <a:ext uri="{FF2B5EF4-FFF2-40B4-BE49-F238E27FC236}">
                <a16:creationId xmlns:a16="http://schemas.microsoft.com/office/drawing/2014/main" id="{E201CA8E-5639-476A-AD49-73D3148F5BC7}"/>
              </a:ext>
            </a:extLst>
          </p:cNvPr>
          <p:cNvSpPr>
            <a:spLocks xmlns:a="http://schemas.openxmlformats.org/drawingml/2006/main" noGrp="1"/>
          </p:cNvSpPr>
          <p:nvPr/>
        </p:nvSpPr>
        <p:spPr>
          <a:xfrm xmlns:a="http://schemas.openxmlformats.org/drawingml/2006/main">
            <a:off x="4953000" y="2000250"/>
            <a:ext cx="655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53D42"/>
                </a:solidFill>
                <a:latin typeface="Vazirmatn"/>
                <a:ea typeface="Vazirmatn"/>
                <a:cs typeface="Vazirmatn"/>
              </a:defRPr>
            </a:defPPr>
          </a:lstStyle>
          <a:p xmlns:a="http://schemas.openxmlformats.org/drawingml/2006/main">
            <a:pPr algn="r" rtl="1">
              <a:defRPr sz="3300" b="1" lang="fa-IR">
                <a:solidFill>
                  <a:srgbClr val="153D42"/>
                </a:solidFill>
                <a:latin typeface="Vazirmatn"/>
                <a:ea typeface="Vazirmatn"/>
                <a:cs typeface="Vazirmatn"/>
              </a:defRPr>
            </a:pPr>
            <a:r>
              <a:rPr sz="3300" b="1" lang="fa-IR">
                <a:solidFill>
                  <a:srgbClr val="153D42"/>
                </a:solidFill>
                <a:latin typeface="Vazirmatn"/>
                <a:ea typeface="Vazirmatn"/>
                <a:cs typeface="Vazirmatn"/>
              </a:rPr>
              <a:t>۳٬۷۷۷ کتاب صوتی</a:t>
            </a:r>
          </a:p>
        </p:txBody>
      </p:sp>
      <p:sp>
        <p:nvSpPr>
          <p:cNvPr id="7" name="حدود ۶٬۳۰۰ ساعت صوت خام دریافت‌شده">
            <a:extLst xmlns:a="http://schemas.openxmlformats.org/drawingml/2006/main">
              <a:ext uri="{FF2B5EF4-FFF2-40B4-BE49-F238E27FC236}">
                <a16:creationId xmlns:a16="http://schemas.microsoft.com/office/drawing/2014/main" id="{5F4AF829-1F51-40C6-866C-F4B3542AF5AD}"/>
              </a:ext>
            </a:extLst>
          </p:cNvPr>
          <p:cNvSpPr>
            <a:spLocks xmlns:a="http://schemas.openxmlformats.org/drawingml/2006/main" noGrp="1"/>
          </p:cNvSpPr>
          <p:nvPr/>
        </p:nvSpPr>
        <p:spPr>
          <a:xfrm xmlns:a="http://schemas.openxmlformats.org/drawingml/2006/main">
            <a:off x="4953000" y="2933700"/>
            <a:ext cx="655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1F2933"/>
                </a:solidFill>
                <a:latin typeface="Vazirmatn"/>
                <a:ea typeface="Vazirmatn"/>
                <a:cs typeface="Vazirmatn"/>
              </a:defRPr>
            </a:defPPr>
          </a:lstStyle>
          <a:p xmlns:a="http://schemas.openxmlformats.org/drawingml/2006/main">
            <a:pPr algn="r" rtl="1">
              <a:defRPr sz="2100" b="0" lang="fa-IR">
                <a:solidFill>
                  <a:srgbClr val="1F2933"/>
                </a:solidFill>
                <a:latin typeface="Vazirmatn"/>
                <a:ea typeface="Vazirmatn"/>
                <a:cs typeface="Vazirmatn"/>
              </a:defRPr>
            </a:pPr>
            <a:r>
              <a:rPr sz="2100" b="0" lang="fa-IR">
                <a:solidFill>
                  <a:srgbClr val="1F2933"/>
                </a:solidFill>
                <a:latin typeface="Vazirmatn"/>
                <a:ea typeface="Vazirmatn"/>
                <a:cs typeface="Vazirmatn"/>
              </a:rPr>
              <a:t>حدود ۶٬۳۰۰ ساعت صوت خام دریافت‌شده</a:t>
            </a:r>
          </a:p>
        </p:txBody>
      </p:sp>
      <p:sp>
        <p:nvSpPr>
          <p:cNvPr id="8" name="۲۵۰ ساعت منتخب">
            <a:extLst xmlns:a="http://schemas.openxmlformats.org/drawingml/2006/main">
              <a:ext uri="{FF2B5EF4-FFF2-40B4-BE49-F238E27FC236}">
                <a16:creationId xmlns:a16="http://schemas.microsoft.com/office/drawing/2014/main" id="{7C1B6ED8-0D7D-4CEA-9A82-5A8D9C4AA996}"/>
              </a:ext>
            </a:extLst>
          </p:cNvPr>
          <p:cNvSpPr>
            <a:spLocks xmlns:a="http://schemas.openxmlformats.org/drawingml/2006/main" noGrp="1"/>
          </p:cNvSpPr>
          <p:nvPr/>
        </p:nvSpPr>
        <p:spPr>
          <a:xfrm xmlns:a="http://schemas.openxmlformats.org/drawingml/2006/main">
            <a:off x="4953000" y="3762375"/>
            <a:ext cx="655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D6F8A"/>
                </a:solidFill>
                <a:latin typeface="Vazirmatn"/>
                <a:ea typeface="Vazirmatn"/>
                <a:cs typeface="Vazirmatn"/>
              </a:defRPr>
            </a:defPPr>
          </a:lstStyle>
          <a:p xmlns:a="http://schemas.openxmlformats.org/drawingml/2006/main">
            <a:pPr algn="r" rtl="1">
              <a:defRPr sz="3300" b="1" lang="fa-IR">
                <a:solidFill>
                  <a:srgbClr val="1D6F8A"/>
                </a:solidFill>
                <a:latin typeface="Vazirmatn"/>
                <a:ea typeface="Vazirmatn"/>
                <a:cs typeface="Vazirmatn"/>
              </a:defRPr>
            </a:pPr>
            <a:r>
              <a:rPr sz="3300" b="1" lang="fa-IR">
                <a:solidFill>
                  <a:srgbClr val="1D6F8A"/>
                </a:solidFill>
                <a:latin typeface="Vazirmatn"/>
                <a:ea typeface="Vazirmatn"/>
                <a:cs typeface="Vazirmatn"/>
              </a:rPr>
              <a:t>۲۵۰ ساعت منتخب</a:t>
            </a:r>
          </a:p>
        </p:txBody>
      </p:sp>
      <p:sp>
        <p:nvSpPr>
          <p:cNvPr id="9" name="طول هدف قطعه‌ها ۲۰ ثانیه است&#10;بازه ترجیحی ۱۵ تا ۲۵، سقف سخت ۲۸ ثانیه">
            <a:extLst xmlns:a="http://schemas.openxmlformats.org/drawingml/2006/main">
              <a:ext uri="{FF2B5EF4-FFF2-40B4-BE49-F238E27FC236}">
                <a16:creationId xmlns:a16="http://schemas.microsoft.com/office/drawing/2014/main" id="{50C37B5B-57B4-4A9A-A11F-E29DD71474D1}"/>
              </a:ext>
            </a:extLst>
          </p:cNvPr>
          <p:cNvSpPr>
            <a:spLocks xmlns:a="http://schemas.openxmlformats.org/drawingml/2006/main" noGrp="1"/>
          </p:cNvSpPr>
          <p:nvPr/>
        </p:nvSpPr>
        <p:spPr>
          <a:xfrm xmlns:a="http://schemas.openxmlformats.org/drawingml/2006/main">
            <a:off x="4953000" y="4714875"/>
            <a:ext cx="6553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1F2933"/>
                </a:solidFill>
                <a:latin typeface="Vazirmatn"/>
                <a:ea typeface="Vazirmatn"/>
                <a:cs typeface="Vazirmatn"/>
              </a:defRPr>
            </a:defPPr>
          </a:lstStyle>
          <a:p xmlns:a="http://schemas.openxmlformats.org/drawingml/2006/main">
            <a:pPr algn="r" rtl="1">
              <a:defRPr sz="2025" b="0" lang="fa-IR">
                <a:solidFill>
                  <a:srgbClr val="1F2933"/>
                </a:solidFill>
                <a:latin typeface="Vazirmatn"/>
                <a:ea typeface="Vazirmatn"/>
                <a:cs typeface="Vazirmatn"/>
              </a:defRPr>
            </a:pPr>
            <a:r>
              <a:rPr sz="2025" b="0" lang="fa-IR">
                <a:solidFill>
                  <a:srgbClr val="1F2933"/>
                </a:solidFill>
                <a:latin typeface="Vazirmatn"/>
                <a:ea typeface="Vazirmatn"/>
                <a:cs typeface="Vazirmatn"/>
              </a:rPr>
              <a:t>طول هدف قطعه‌ها ۲۰ ثانیه است</a:t>
            </a:r>
          </a:p>
          <a:p xmlns:a="http://schemas.openxmlformats.org/drawingml/2006/main">
            <a:pPr algn="r" rtl="1">
              <a:defRPr sz="2025" b="0" lang="fa-IR">
                <a:solidFill>
                  <a:srgbClr val="1F2933"/>
                </a:solidFill>
                <a:latin typeface="Vazirmatn"/>
                <a:ea typeface="Vazirmatn"/>
                <a:cs typeface="Vazirmatn"/>
              </a:defRPr>
            </a:pPr>
            <a:r>
              <a:rPr sz="2025" b="0" lang="fa-IR">
                <a:solidFill>
                  <a:srgbClr val="1F2933"/>
                </a:solidFill>
                <a:latin typeface="Vazirmatn"/>
                <a:ea typeface="Vazirmatn"/>
                <a:cs typeface="Vazirmatn"/>
              </a:rPr>
              <a:t>بازه ترجیحی ۱۵ تا ۲۵، سقف سخت ۲۸ ثانیه</a:t>
            </a:r>
          </a:p>
        </p:txBody>
      </p:sp>
      <p:sp>
        <p:nvSpPr>
          <p:cNvPr id="10" name="مجموعه گردآوری‌شده از زیرمجموعه انتخاب‌شده برای آموزش بزرگ‌تر است">
            <a:extLst xmlns:a="http://schemas.openxmlformats.org/drawingml/2006/main">
              <a:ext uri="{FF2B5EF4-FFF2-40B4-BE49-F238E27FC236}">
                <a16:creationId xmlns:a16="http://schemas.microsoft.com/office/drawing/2014/main" id="{8A51CA25-A514-4349-98D1-D491E3E3AD9B}"/>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مجموعه گردآوری‌شده از زیرمجموعه انتخاب‌شده برای آموزش بزرگ‌تر است</a:t>
            </a:r>
          </a:p>
        </p:txBody>
      </p:sp>
    </p:spTree>
    <p:extLst>
      <p:ext uri="{BB962C8B-B14F-4D97-AF65-F5344CB8AC3E}">
        <p14:creationId xmlns:p14="http://schemas.microsoft.com/office/powerpoint/2010/main" val="51823633"/>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افزایش داده فارسی">
            <a:extLst xmlns:a="http://schemas.openxmlformats.org/drawingml/2006/main">
              <a:ext uri="{FF2B5EF4-FFF2-40B4-BE49-F238E27FC236}">
                <a16:creationId xmlns:a16="http://schemas.microsoft.com/office/drawing/2014/main" id="{C52D9FED-3A7C-436E-BA6E-55D9A31683F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رونویسی معلم، پالایش و آموزش">
            <a:extLst xmlns:a="http://schemas.openxmlformats.org/drawingml/2006/main">
              <a:ext uri="{FF2B5EF4-FFF2-40B4-BE49-F238E27FC236}">
                <a16:creationId xmlns:a16="http://schemas.microsoft.com/office/drawing/2014/main" id="{51653E24-FBE6-4B5D-8129-6527A1DDCB22}"/>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رونویسی معلم، پالایش و آموزش</a:t>
            </a:r>
          </a:p>
        </p:txBody>
      </p:sp>
      <p:sp>
        <p:nvSpPr>
          <p:cNvPr id="3" name="">
            <a:extLst xmlns:a="http://schemas.openxmlformats.org/drawingml/2006/main">
              <a:ext uri="{FF2B5EF4-FFF2-40B4-BE49-F238E27FC236}">
                <a16:creationId xmlns:a16="http://schemas.microsoft.com/office/drawing/2014/main" id="{963D143A-FD90-45B0-B88D-FD6781EA3236}"/>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۷ از ۲۸">
            <a:extLst xmlns:a="http://schemas.openxmlformats.org/drawingml/2006/main">
              <a:ext uri="{FF2B5EF4-FFF2-40B4-BE49-F238E27FC236}">
                <a16:creationId xmlns:a16="http://schemas.microsoft.com/office/drawing/2014/main" id="{E4A60FED-0560-4660-910A-D20ED9B79AAC}"/>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۱۷ از ۲۸</a:t>
            </a:r>
          </a:p>
        </p:txBody>
      </p:sp>
      <p:sp>
        <p:nvSpPr>
          <p:cNvPr id="5" name="۱. رونویسی معلم">
            <a:extLst xmlns:a="http://schemas.openxmlformats.org/drawingml/2006/main">
              <a:ext uri="{FF2B5EF4-FFF2-40B4-BE49-F238E27FC236}">
                <a16:creationId xmlns:a16="http://schemas.microsoft.com/office/drawing/2014/main" id="{167464F0-0118-4FE2-8B5D-C0F9D89C0ADC}"/>
              </a:ext>
            </a:extLst>
          </p:cNvPr>
          <p:cNvSpPr>
            <a:spLocks xmlns:a="http://schemas.openxmlformats.org/drawingml/2006/main" noGrp="1"/>
          </p:cNvSpPr>
          <p:nvPr/>
        </p:nvSpPr>
        <p:spPr>
          <a:xfrm xmlns:a="http://schemas.openxmlformats.org/drawingml/2006/main">
            <a:off x="6858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۱. رونویسی معلم</a:t>
            </a:r>
          </a:p>
        </p:txBody>
      </p:sp>
      <p:pic>
        <p:nvPicPr>
          <p:cNvPr id="6" name="">
            <a:extLst xmlns:a="http://schemas.openxmlformats.org/drawingml/2006/main">
              <a:ext uri="{FF2B5EF4-FFF2-40B4-BE49-F238E27FC236}">
                <a16:creationId xmlns:a16="http://schemas.microsoft.com/office/drawing/2014/main" id="{1DBD29C1-7932-41D9-9AA7-8345E25CAE8C}"/>
              </a:ext>
            </a:extLst>
          </p:cNvPr>
          <p:cNvPicPr>
            <a:picLocks xmlns:a="http://schemas.openxmlformats.org/drawingml/2006/main" noChangeAspect="1"/>
          </p:cNvPicPr>
          <p:nvPr/>
        </p:nvPicPr>
        <p:blipFill>
          <a:blip xmlns:r="http://schemas.openxmlformats.org/officeDocument/2006/relationships" xmlns:a="http://schemas.openxmlformats.org/drawingml/2006/main" r:embed="R9f92afb3b31a4a61"/>
          <a:stretch xmlns:a="http://schemas.openxmlformats.org/drawingml/2006/main"/>
        </p:blipFill>
        <p:spPr>
          <a:xfrm xmlns:a="http://schemas.openxmlformats.org/drawingml/2006/main">
            <a:off x="1261982" y="2143125"/>
            <a:ext cx="3800636" cy="1504950"/>
          </a:xfrm>
          <a:prstGeom xmlns:a="http://schemas.openxmlformats.org/drawingml/2006/main" prst="rect">
            <a:avLst/>
          </a:prstGeom>
        </p:spPr>
      </p:pic>
      <p:sp>
        <p:nvSpPr>
          <p:cNvPr id="7" name="۲. نرمال‌سازی فارسی">
            <a:extLst xmlns:a="http://schemas.openxmlformats.org/drawingml/2006/main">
              <a:ext uri="{FF2B5EF4-FFF2-40B4-BE49-F238E27FC236}">
                <a16:creationId xmlns:a16="http://schemas.microsoft.com/office/drawing/2014/main" id="{C71DACFD-E4BD-415C-8A9D-272F179633D4}"/>
              </a:ext>
            </a:extLst>
          </p:cNvPr>
          <p:cNvSpPr>
            <a:spLocks xmlns:a="http://schemas.openxmlformats.org/drawingml/2006/main" noGrp="1"/>
          </p:cNvSpPr>
          <p:nvPr/>
        </p:nvSpPr>
        <p:spPr>
          <a:xfrm xmlns:a="http://schemas.openxmlformats.org/drawingml/2006/main">
            <a:off x="65532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۲. نرمال‌سازی فارسی</a:t>
            </a:r>
          </a:p>
        </p:txBody>
      </p:sp>
      <p:pic>
        <p:nvPicPr>
          <p:cNvPr id="8" name="">
            <a:extLst xmlns:a="http://schemas.openxmlformats.org/drawingml/2006/main">
              <a:ext uri="{FF2B5EF4-FFF2-40B4-BE49-F238E27FC236}">
                <a16:creationId xmlns:a16="http://schemas.microsoft.com/office/drawing/2014/main" id="{30DC9F6F-0138-494B-8FB2-B44AFE4ED9AD}"/>
              </a:ext>
            </a:extLst>
          </p:cNvPr>
          <p:cNvPicPr>
            <a:picLocks xmlns:a="http://schemas.openxmlformats.org/drawingml/2006/main" noChangeAspect="1"/>
          </p:cNvPicPr>
          <p:nvPr/>
        </p:nvPicPr>
        <p:blipFill>
          <a:blip xmlns:r="http://schemas.openxmlformats.org/officeDocument/2006/relationships" xmlns:a="http://schemas.openxmlformats.org/drawingml/2006/main" r:embed="R8afe15f05b01481d"/>
          <a:stretch xmlns:a="http://schemas.openxmlformats.org/drawingml/2006/main"/>
        </p:blipFill>
        <p:spPr>
          <a:xfrm xmlns:a="http://schemas.openxmlformats.org/drawingml/2006/main">
            <a:off x="7129382" y="2143125"/>
            <a:ext cx="3800636" cy="1504950"/>
          </a:xfrm>
          <a:prstGeom xmlns:a="http://schemas.openxmlformats.org/drawingml/2006/main" prst="rect">
            <a:avLst/>
          </a:prstGeom>
        </p:spPr>
      </p:pic>
      <p:sp>
        <p:nvSpPr>
          <p:cNvPr id="9" name="۳. اصلاح با Qwen">
            <a:extLst xmlns:a="http://schemas.openxmlformats.org/drawingml/2006/main">
              <a:ext uri="{FF2B5EF4-FFF2-40B4-BE49-F238E27FC236}">
                <a16:creationId xmlns:a16="http://schemas.microsoft.com/office/drawing/2014/main" id="{DD36968B-60BE-481C-A50F-3AABE59A0DAC}"/>
              </a:ext>
            </a:extLst>
          </p:cNvPr>
          <p:cNvSpPr>
            <a:spLocks xmlns:a="http://schemas.openxmlformats.org/drawingml/2006/main" noGrp="1"/>
          </p:cNvSpPr>
          <p:nvPr/>
        </p:nvSpPr>
        <p:spPr>
          <a:xfrm xmlns:a="http://schemas.openxmlformats.org/drawingml/2006/main">
            <a:off x="685800" y="3657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۳. اصلاح با Qwen</a:t>
            </a:r>
          </a:p>
        </p:txBody>
      </p:sp>
      <p:pic>
        <p:nvPicPr>
          <p:cNvPr id="10" name="">
            <a:extLst xmlns:a="http://schemas.openxmlformats.org/drawingml/2006/main">
              <a:ext uri="{FF2B5EF4-FFF2-40B4-BE49-F238E27FC236}">
                <a16:creationId xmlns:a16="http://schemas.microsoft.com/office/drawing/2014/main" id="{93212753-A263-417A-9CD8-3F8294EFE3E2}"/>
              </a:ext>
            </a:extLst>
          </p:cNvPr>
          <p:cNvPicPr>
            <a:picLocks xmlns:a="http://schemas.openxmlformats.org/drawingml/2006/main" noChangeAspect="1"/>
          </p:cNvPicPr>
          <p:nvPr/>
        </p:nvPicPr>
        <p:blipFill>
          <a:blip xmlns:r="http://schemas.openxmlformats.org/officeDocument/2006/relationships" xmlns:a="http://schemas.openxmlformats.org/drawingml/2006/main" r:embed="Rf5d2db23fdfc4e95"/>
          <a:stretch xmlns:a="http://schemas.openxmlformats.org/drawingml/2006/main"/>
        </p:blipFill>
        <p:spPr>
          <a:xfrm xmlns:a="http://schemas.openxmlformats.org/drawingml/2006/main">
            <a:off x="1261982" y="4086225"/>
            <a:ext cx="3800636" cy="1504950"/>
          </a:xfrm>
          <a:prstGeom xmlns:a="http://schemas.openxmlformats.org/drawingml/2006/main" prst="rect">
            <a:avLst/>
          </a:prstGeom>
        </p:spPr>
      </p:pic>
      <p:sp>
        <p:nvSpPr>
          <p:cNvPr id="11" name="۴. پالایش کیفیت">
            <a:extLst xmlns:a="http://schemas.openxmlformats.org/drawingml/2006/main">
              <a:ext uri="{FF2B5EF4-FFF2-40B4-BE49-F238E27FC236}">
                <a16:creationId xmlns:a16="http://schemas.microsoft.com/office/drawing/2014/main" id="{AA3E84FC-F6F4-4E04-A625-21D190BB879D}"/>
              </a:ext>
            </a:extLst>
          </p:cNvPr>
          <p:cNvSpPr>
            <a:spLocks xmlns:a="http://schemas.openxmlformats.org/drawingml/2006/main" noGrp="1"/>
          </p:cNvSpPr>
          <p:nvPr/>
        </p:nvSpPr>
        <p:spPr>
          <a:xfrm xmlns:a="http://schemas.openxmlformats.org/drawingml/2006/main">
            <a:off x="6553200" y="3657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۴. پالایش کیفیت</a:t>
            </a:r>
          </a:p>
        </p:txBody>
      </p:sp>
      <p:pic>
        <p:nvPicPr>
          <p:cNvPr id="12" name="">
            <a:extLst xmlns:a="http://schemas.openxmlformats.org/drawingml/2006/main">
              <a:ext uri="{FF2B5EF4-FFF2-40B4-BE49-F238E27FC236}">
                <a16:creationId xmlns:a16="http://schemas.microsoft.com/office/drawing/2014/main" id="{4D5B5073-7937-49F2-997B-DA8EC80E1103}"/>
              </a:ext>
            </a:extLst>
          </p:cNvPr>
          <p:cNvPicPr>
            <a:picLocks xmlns:a="http://schemas.openxmlformats.org/drawingml/2006/main" noChangeAspect="1"/>
          </p:cNvPicPr>
          <p:nvPr/>
        </p:nvPicPr>
        <p:blipFill>
          <a:blip xmlns:r="http://schemas.openxmlformats.org/officeDocument/2006/relationships" xmlns:a="http://schemas.openxmlformats.org/drawingml/2006/main" r:embed="R96de028456fc45d4"/>
          <a:stretch xmlns:a="http://schemas.openxmlformats.org/drawingml/2006/main"/>
        </p:blipFill>
        <p:spPr>
          <a:xfrm xmlns:a="http://schemas.openxmlformats.org/drawingml/2006/main">
            <a:off x="7428003" y="4086225"/>
            <a:ext cx="3203394" cy="1504950"/>
          </a:xfrm>
          <a:prstGeom xmlns:a="http://schemas.openxmlformats.org/drawingml/2006/main" prst="rect">
            <a:avLst/>
          </a:prstGeom>
        </p:spPr>
      </p:pic>
      <p:sp>
        <p:nvSpPr>
          <p:cNvPr id="13" name="افزودن داده پذیرفته‌شده به ترکیب کامل گفتار معمولی، بلند و تخریب‌شده">
            <a:extLst xmlns:a="http://schemas.openxmlformats.org/drawingml/2006/main">
              <a:ext uri="{FF2B5EF4-FFF2-40B4-BE49-F238E27FC236}">
                <a16:creationId xmlns:a16="http://schemas.microsoft.com/office/drawing/2014/main" id="{F7D58CA1-B942-4964-BA89-70CD429F78B3}"/>
              </a:ext>
            </a:extLst>
          </p:cNvPr>
          <p:cNvSpPr>
            <a:spLocks xmlns:a="http://schemas.openxmlformats.org/drawingml/2006/main" noGrp="1"/>
          </p:cNvSpPr>
          <p:nvPr/>
        </p:nvSpPr>
        <p:spPr>
          <a:xfrm xmlns:a="http://schemas.openxmlformats.org/drawingml/2006/main">
            <a:off x="685800" y="57435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53D42"/>
                </a:solidFill>
                <a:latin typeface="Vazirmatn"/>
                <a:ea typeface="Vazirmatn"/>
                <a:cs typeface="Vazirmatn"/>
              </a:defRPr>
            </a:defPPr>
          </a:lstStyle>
          <a:p xmlns:a="http://schemas.openxmlformats.org/drawingml/2006/main">
            <a:pPr algn="r" rtl="1">
              <a:defRPr sz="1875" b="1" lang="fa-IR">
                <a:solidFill>
                  <a:srgbClr val="153D42"/>
                </a:solidFill>
                <a:latin typeface="Vazirmatn"/>
                <a:ea typeface="Vazirmatn"/>
                <a:cs typeface="Vazirmatn"/>
              </a:defRPr>
            </a:pPr>
            <a:r>
              <a:rPr sz="1875" b="1" lang="fa-IR">
                <a:solidFill>
                  <a:srgbClr val="153D42"/>
                </a:solidFill>
                <a:latin typeface="Vazirmatn"/>
                <a:ea typeface="Vazirmatn"/>
                <a:cs typeface="Vazirmatn"/>
              </a:rPr>
              <a:t>افزودن داده پذیرفته‌شده به ترکیب کامل گفتار معمولی، بلند و تخریب‌شده</a:t>
            </a:r>
          </a:p>
        </p:txBody>
      </p:sp>
      <p:sp>
        <p:nvSpPr>
          <p:cNvPr id="14" name="معماری ویسپر کوچک، تنظیمات اصلی و تعداد گام‌های آموزش ثابت‌اند">
            <a:extLst xmlns:a="http://schemas.openxmlformats.org/drawingml/2006/main">
              <a:ext uri="{FF2B5EF4-FFF2-40B4-BE49-F238E27FC236}">
                <a16:creationId xmlns:a16="http://schemas.microsoft.com/office/drawing/2014/main" id="{51A2E3C2-D682-48DF-9EC8-8DA6BB421092}"/>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معماری ویسپر کوچک، تنظیمات اصلی و تعداد گام‌های آموزش ثابت‌اند</a:t>
            </a:r>
          </a:p>
        </p:txBody>
      </p:sp>
    </p:spTree>
    <p:extLst>
      <p:ext uri="{BB962C8B-B14F-4D97-AF65-F5344CB8AC3E}">
        <p14:creationId xmlns:p14="http://schemas.microsoft.com/office/powerpoint/2010/main" val="1731130208"/>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افزایش داده فارسی">
            <a:extLst xmlns:a="http://schemas.openxmlformats.org/drawingml/2006/main">
              <a:ext uri="{FF2B5EF4-FFF2-40B4-BE49-F238E27FC236}">
                <a16:creationId xmlns:a16="http://schemas.microsoft.com/office/drawing/2014/main" id="{38FC644A-E803-4DE8-8B94-D9F547193022}"/>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داده پذیرفته‌شده و ملاحظات برچسب">
            <a:extLst xmlns:a="http://schemas.openxmlformats.org/drawingml/2006/main">
              <a:ext uri="{FF2B5EF4-FFF2-40B4-BE49-F238E27FC236}">
                <a16:creationId xmlns:a16="http://schemas.microsoft.com/office/drawing/2014/main" id="{C9D354F7-00D1-4BCC-9B4F-0F6661B9EBF3}"/>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 پذیرفته‌شده و ملاحظات برچسب</a:t>
            </a:r>
          </a:p>
        </p:txBody>
      </p:sp>
      <p:sp>
        <p:nvSpPr>
          <p:cNvPr id="3" name="">
            <a:extLst xmlns:a="http://schemas.openxmlformats.org/drawingml/2006/main">
              <a:ext uri="{FF2B5EF4-FFF2-40B4-BE49-F238E27FC236}">
                <a16:creationId xmlns:a16="http://schemas.microsoft.com/office/drawing/2014/main" id="{33BFC586-6BB7-4FAC-A5A1-19405CF5575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۸ از ۲۸">
            <a:extLst xmlns:a="http://schemas.openxmlformats.org/drawingml/2006/main">
              <a:ext uri="{FF2B5EF4-FFF2-40B4-BE49-F238E27FC236}">
                <a16:creationId xmlns:a16="http://schemas.microsoft.com/office/drawing/2014/main" id="{F2797F01-1B69-4B2D-9B70-A9CF46675CEF}"/>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۱۸ از ۲۸</a:t>
            </a:r>
          </a:p>
        </p:txBody>
      </p:sp>
      <p:sp>
        <p:nvSpPr>
          <p:cNvPr id="5" name="۳۹٬۴۵۴">
            <a:extLst xmlns:a="http://schemas.openxmlformats.org/drawingml/2006/main">
              <a:ext uri="{FF2B5EF4-FFF2-40B4-BE49-F238E27FC236}">
                <a16:creationId xmlns:a16="http://schemas.microsoft.com/office/drawing/2014/main" id="{91EA2BE1-47AE-4BF8-BD43-E450AA5E8DEF}"/>
              </a:ext>
            </a:extLst>
          </p:cNvPr>
          <p:cNvSpPr>
            <a:spLocks xmlns:a="http://schemas.openxmlformats.org/drawingml/2006/main" noGrp="1"/>
          </p:cNvSpPr>
          <p:nvPr/>
        </p:nvSpPr>
        <p:spPr>
          <a:xfrm xmlns:a="http://schemas.openxmlformats.org/drawingml/2006/main">
            <a:off x="7239000" y="1838325"/>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850" b="1">
                <a:solidFill>
                  <a:srgbClr val="1D6F8A"/>
                </a:solidFill>
                <a:latin typeface="Vazirmatn"/>
                <a:ea typeface="Vazirmatn"/>
                <a:cs typeface="Vazirmatn"/>
              </a:defRPr>
            </a:defPPr>
          </a:lstStyle>
          <a:p xmlns:a="http://schemas.openxmlformats.org/drawingml/2006/main">
            <a:pPr algn="r" rtl="1">
              <a:defRPr sz="5850" b="1" lang="fa-IR">
                <a:solidFill>
                  <a:srgbClr val="1D6F8A"/>
                </a:solidFill>
                <a:latin typeface="Vazirmatn"/>
                <a:ea typeface="Vazirmatn"/>
                <a:cs typeface="Vazirmatn"/>
              </a:defRPr>
            </a:pPr>
            <a:r>
              <a:rPr sz="5850" b="1" lang="fa-IR">
                <a:solidFill>
                  <a:srgbClr val="1D6F8A"/>
                </a:solidFill>
                <a:latin typeface="Vazirmatn"/>
                <a:ea typeface="Vazirmatn"/>
                <a:cs typeface="Vazirmatn"/>
              </a:rPr>
              <a:t>۳۹٬۴۵۴</a:t>
            </a:r>
          </a:p>
        </p:txBody>
      </p:sp>
      <p:sp>
        <p:nvSpPr>
          <p:cNvPr id="6" name="قطعه پذیرفته‌شده">
            <a:extLst xmlns:a="http://schemas.openxmlformats.org/drawingml/2006/main">
              <a:ext uri="{FF2B5EF4-FFF2-40B4-BE49-F238E27FC236}">
                <a16:creationId xmlns:a16="http://schemas.microsoft.com/office/drawing/2014/main" id="{47B8A29C-26F3-4609-A7A1-A38D56D3488A}"/>
              </a:ext>
            </a:extLst>
          </p:cNvPr>
          <p:cNvSpPr>
            <a:spLocks xmlns:a="http://schemas.openxmlformats.org/drawingml/2006/main" noGrp="1"/>
          </p:cNvSpPr>
          <p:nvPr/>
        </p:nvSpPr>
        <p:spPr>
          <a:xfrm xmlns:a="http://schemas.openxmlformats.org/drawingml/2006/main">
            <a:off x="7239000" y="3057525"/>
            <a:ext cx="426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قطعه پذیرفته‌شده</a:t>
            </a:r>
          </a:p>
        </p:txBody>
      </p:sp>
      <p:sp>
        <p:nvSpPr>
          <p:cNvPr id="7" name="۲۱۸٫۵۶۴ ساعت">
            <a:extLst xmlns:a="http://schemas.openxmlformats.org/drawingml/2006/main">
              <a:ext uri="{FF2B5EF4-FFF2-40B4-BE49-F238E27FC236}">
                <a16:creationId xmlns:a16="http://schemas.microsoft.com/office/drawing/2014/main" id="{0F1DFA4E-F405-4171-B373-EB305CAA333E}"/>
              </a:ext>
            </a:extLst>
          </p:cNvPr>
          <p:cNvSpPr>
            <a:spLocks xmlns:a="http://schemas.openxmlformats.org/drawingml/2006/main" noGrp="1"/>
          </p:cNvSpPr>
          <p:nvPr/>
        </p:nvSpPr>
        <p:spPr>
          <a:xfrm xmlns:a="http://schemas.openxmlformats.org/drawingml/2006/main">
            <a:off x="6667500" y="3771900"/>
            <a:ext cx="4838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225" b="1">
                <a:solidFill>
                  <a:srgbClr val="153D42"/>
                </a:solidFill>
                <a:latin typeface="Vazirmatn"/>
                <a:ea typeface="Vazirmatn"/>
                <a:cs typeface="Vazirmatn"/>
              </a:defRPr>
            </a:defPPr>
          </a:lstStyle>
          <a:p xmlns:a="http://schemas.openxmlformats.org/drawingml/2006/main">
            <a:pPr algn="r" rtl="1">
              <a:defRPr sz="3225" b="1" lang="fa-IR">
                <a:solidFill>
                  <a:srgbClr val="153D42"/>
                </a:solidFill>
                <a:latin typeface="Vazirmatn"/>
                <a:ea typeface="Vazirmatn"/>
                <a:cs typeface="Vazirmatn"/>
              </a:defRPr>
            </a:pPr>
            <a:r>
              <a:rPr sz="3225" b="1" lang="fa-IR">
                <a:solidFill>
                  <a:srgbClr val="153D42"/>
                </a:solidFill>
                <a:latin typeface="Vazirmatn"/>
                <a:ea typeface="Vazirmatn"/>
                <a:cs typeface="Vazirmatn"/>
              </a:rPr>
              <a:t>۲۱۸٫۵۶۴ ساعت</a:t>
            </a:r>
          </a:p>
        </p:txBody>
      </p:sp>
      <p:sp>
        <p:nvSpPr>
          <p:cNvPr id="8" name="۴۴٬۸۲۰ بررسی‌شده، ۵٬۳۶۶ ردشده&#10;۱۳۶ فایل منبع، تفکیک در سطح کتاب">
            <a:extLst xmlns:a="http://schemas.openxmlformats.org/drawingml/2006/main">
              <a:ext uri="{FF2B5EF4-FFF2-40B4-BE49-F238E27FC236}">
                <a16:creationId xmlns:a16="http://schemas.microsoft.com/office/drawing/2014/main" id="{2E5E3BB8-D3ED-49F8-B1DD-48A1118D2E29}"/>
              </a:ext>
            </a:extLst>
          </p:cNvPr>
          <p:cNvSpPr>
            <a:spLocks xmlns:a="http://schemas.openxmlformats.org/drawingml/2006/main" noGrp="1"/>
          </p:cNvSpPr>
          <p:nvPr/>
        </p:nvSpPr>
        <p:spPr>
          <a:xfrm xmlns:a="http://schemas.openxmlformats.org/drawingml/2006/main">
            <a:off x="6667500" y="483870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۴۴٬۸۲۰ بررسی‌شده، ۵٬۳۶۶ ردشده</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۱۳۶ فایل منبع، تفکیک در سطح کتاب</a:t>
            </a:r>
          </a:p>
        </p:txBody>
      </p:sp>
      <p:sp>
        <p:nvSpPr>
          <p:cNvPr id="9" name="ترجمه بخشی از دستور پالایش">
            <a:extLst xmlns:a="http://schemas.openxmlformats.org/drawingml/2006/main">
              <a:ext uri="{FF2B5EF4-FFF2-40B4-BE49-F238E27FC236}">
                <a16:creationId xmlns:a16="http://schemas.microsoft.com/office/drawing/2014/main" id="{7A63BF5E-2B04-4135-817B-507A9CC4D270}"/>
              </a:ext>
            </a:extLst>
          </p:cNvPr>
          <p:cNvSpPr>
            <a:spLocks xmlns:a="http://schemas.openxmlformats.org/drawingml/2006/main" noGrp="1"/>
          </p:cNvSpPr>
          <p:nvPr/>
        </p:nvSpPr>
        <p:spPr>
          <a:xfrm xmlns:a="http://schemas.openxmlformats.org/drawingml/2006/main">
            <a:off x="685800" y="1952625"/>
            <a:ext cx="5295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52606D"/>
                </a:solidFill>
                <a:latin typeface="Vazirmatn"/>
                <a:ea typeface="Vazirmatn"/>
                <a:cs typeface="Vazirmatn"/>
              </a:defRPr>
            </a:defPPr>
          </a:lstStyle>
          <a:p xmlns:a="http://schemas.openxmlformats.org/drawingml/2006/main">
            <a:pPr algn="r" rtl="1">
              <a:defRPr sz="1800" b="0" lang="fa-IR">
                <a:solidFill>
                  <a:srgbClr val="52606D"/>
                </a:solidFill>
                <a:latin typeface="Vazirmatn"/>
                <a:ea typeface="Vazirmatn"/>
                <a:cs typeface="Vazirmatn"/>
              </a:defRPr>
            </a:pPr>
            <a:r>
              <a:rPr sz="1800" b="0" lang="fa-IR">
                <a:solidFill>
                  <a:srgbClr val="52606D"/>
                </a:solidFill>
                <a:latin typeface="Vazirmatn"/>
                <a:ea typeface="Vazirmatn"/>
                <a:cs typeface="Vazirmatn"/>
              </a:rPr>
              <a:t>ترجمه بخشی از دستور پالایش</a:t>
            </a:r>
          </a:p>
        </p:txBody>
      </p:sp>
      <p:sp>
        <p:nvSpPr>
          <p:cNvPr id="10" name="«همه نشانه‌های عددی را دقیقاً&#10;با همان رقم‌ها، علامت‌ها،&#10;جداکننده‌ها و قالب حفظ کن.»">
            <a:extLst xmlns:a="http://schemas.openxmlformats.org/drawingml/2006/main">
              <a:ext uri="{FF2B5EF4-FFF2-40B4-BE49-F238E27FC236}">
                <a16:creationId xmlns:a16="http://schemas.microsoft.com/office/drawing/2014/main" id="{808FFF8B-287B-4C5B-A472-6EABE514CCBB}"/>
              </a:ext>
            </a:extLst>
          </p:cNvPr>
          <p:cNvSpPr>
            <a:spLocks xmlns:a="http://schemas.openxmlformats.org/drawingml/2006/main" noGrp="1"/>
          </p:cNvSpPr>
          <p:nvPr/>
        </p:nvSpPr>
        <p:spPr>
          <a:xfrm xmlns:a="http://schemas.openxmlformats.org/drawingml/2006/main">
            <a:off x="685800" y="2657475"/>
            <a:ext cx="52959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153D42"/>
                </a:solidFill>
                <a:latin typeface="Vazirmatn"/>
                <a:ea typeface="Vazirmatn"/>
                <a:cs typeface="Vazirmatn"/>
              </a:defRPr>
            </a:defPPr>
          </a:lstStyle>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«همه نشانه‌های عددی را دقیقاً</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با همان رقم‌ها، علامت‌ها،</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جداکننده‌ها و قالب حفظ کن.»</a:t>
            </a:r>
          </a:p>
        </p:txBody>
      </p:sp>
      <p:sp>
        <p:nvSpPr>
          <p:cNvPr id="11" name="Qwen فقط متن و بافت را دریافت می‌کند&#10;رد موارد نامطمئن یا تغییرات بیش از حد&#10;حفظ متن خام در کنار نسخه اصلاح‌شده">
            <a:extLst xmlns:a="http://schemas.openxmlformats.org/drawingml/2006/main">
              <a:ext uri="{FF2B5EF4-FFF2-40B4-BE49-F238E27FC236}">
                <a16:creationId xmlns:a16="http://schemas.microsoft.com/office/drawing/2014/main" id="{1362BB44-45CE-4E3A-89EF-A2FAA7752F8F}"/>
              </a:ext>
            </a:extLst>
          </p:cNvPr>
          <p:cNvSpPr>
            <a:spLocks xmlns:a="http://schemas.openxmlformats.org/drawingml/2006/main" noGrp="1"/>
          </p:cNvSpPr>
          <p:nvPr/>
        </p:nvSpPr>
        <p:spPr>
          <a:xfrm xmlns:a="http://schemas.openxmlformats.org/drawingml/2006/main">
            <a:off x="685800" y="4543425"/>
            <a:ext cx="5295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Qwen فقط متن و بافت را دریافت می‌کند</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رد موارد نامطمئن یا تغییرات بیش از حد</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حفظ متن خام در کنار نسخه اصلاح‌شده</a:t>
            </a:r>
          </a:p>
        </p:txBody>
      </p:sp>
      <p:sp>
        <p:nvSpPr>
          <p:cNvPr id="12" name="ممیزی انسانی کمّی برای دقت رونویسی انجام نشده است. ۴۰ شکست عملیاتی جداگانه ثبت شده‌اند">
            <a:extLst xmlns:a="http://schemas.openxmlformats.org/drawingml/2006/main">
              <a:ext uri="{FF2B5EF4-FFF2-40B4-BE49-F238E27FC236}">
                <a16:creationId xmlns:a16="http://schemas.microsoft.com/office/drawing/2014/main" id="{8A92849B-4122-4BEB-B0C6-A440AD9B5477}"/>
              </a:ext>
            </a:extLst>
          </p:cNvPr>
          <p:cNvSpPr>
            <a:spLocks xmlns:a="http://schemas.openxmlformats.org/drawingml/2006/main" noGrp="1"/>
          </p:cNvSpPr>
          <p:nvPr/>
        </p:nvSpPr>
        <p:spPr>
          <a:xfrm xmlns:a="http://schemas.openxmlformats.org/drawingml/2006/main">
            <a:off x="685800" y="60198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ممیزی انسانی کمّی برای دقت رونویسی انجام نشده است. ۴۰ شکست عملیاتی جداگانه ثبت شده‌اند</a:t>
            </a:r>
          </a:p>
        </p:txBody>
      </p:sp>
    </p:spTree>
    <p:extLst>
      <p:ext uri="{BB962C8B-B14F-4D97-AF65-F5344CB8AC3E}">
        <p14:creationId xmlns:p14="http://schemas.microsoft.com/office/powerpoint/2010/main" val="525710582"/>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نتیجه افزایش داده">
            <a:extLst xmlns:a="http://schemas.openxmlformats.org/drawingml/2006/main">
              <a:ext uri="{FF2B5EF4-FFF2-40B4-BE49-F238E27FC236}">
                <a16:creationId xmlns:a16="http://schemas.microsoft.com/office/drawing/2014/main" id="{8610BCAB-93B8-432A-8660-590074A85902}"/>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نتیجه افزایش داده</a:t>
            </a:r>
          </a:p>
        </p:txBody>
      </p:sp>
      <p:sp>
        <p:nvSpPr>
          <p:cNvPr id="2" name="اثر ایران‌صدا به دامنه گفتار وابسته است">
            <a:extLst xmlns:a="http://schemas.openxmlformats.org/drawingml/2006/main">
              <a:ext uri="{FF2B5EF4-FFF2-40B4-BE49-F238E27FC236}">
                <a16:creationId xmlns:a16="http://schemas.microsoft.com/office/drawing/2014/main" id="{FE8C591E-28E4-4889-9D31-690BBC097EE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اثر ایران‌صدا به دامنه گفتار وابسته است</a:t>
            </a:r>
          </a:p>
        </p:txBody>
      </p:sp>
      <p:sp>
        <p:nvSpPr>
          <p:cNvPr id="3" name="">
            <a:extLst xmlns:a="http://schemas.openxmlformats.org/drawingml/2006/main">
              <a:ext uri="{FF2B5EF4-FFF2-40B4-BE49-F238E27FC236}">
                <a16:creationId xmlns:a16="http://schemas.microsoft.com/office/drawing/2014/main" id="{EF8ACD3B-A80C-4E94-A52E-970A6A00FD2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۹ از ۲۸">
            <a:extLst xmlns:a="http://schemas.openxmlformats.org/drawingml/2006/main">
              <a:ext uri="{FF2B5EF4-FFF2-40B4-BE49-F238E27FC236}">
                <a16:creationId xmlns:a16="http://schemas.microsoft.com/office/drawing/2014/main" id="{E9D006AA-5F5B-4D5B-90B7-7CB32CE6FA5B}"/>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۱۹ از ۲۸</a:t>
            </a:r>
          </a:p>
        </p:txBody>
      </p:sp>
      <p:sp>
        <p:nvSpPr>
          <p:cNvPr id="5" name="تغییر WER نسبت به مدل چندشرایطی، بر حسب واحد درصد">
            <a:extLst xmlns:a="http://schemas.openxmlformats.org/drawingml/2006/main">
              <a:ext uri="{FF2B5EF4-FFF2-40B4-BE49-F238E27FC236}">
                <a16:creationId xmlns:a16="http://schemas.microsoft.com/office/drawing/2014/main" id="{894959F0-DC44-4F91-9499-FEF00C71BC46}"/>
              </a:ext>
            </a:extLst>
          </p:cNvPr>
          <p:cNvSpPr>
            <a:spLocks xmlns:a="http://schemas.openxmlformats.org/drawingml/2006/main" noGrp="1"/>
          </p:cNvSpPr>
          <p:nvPr/>
        </p:nvSpPr>
        <p:spPr>
          <a:xfrm xmlns:a="http://schemas.openxmlformats.org/drawingml/2006/main">
            <a:off x="685800" y="161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153D42"/>
                </a:solidFill>
                <a:latin typeface="Vazirmatn"/>
                <a:ea typeface="Vazirmatn"/>
                <a:cs typeface="Vazirmatn"/>
              </a:defRPr>
            </a:defPPr>
          </a:lstStyle>
          <a:p xmlns:a="http://schemas.openxmlformats.org/drawingml/2006/main">
            <a:pPr algn="r" rtl="1">
              <a:defRPr sz="1950" b="0" lang="fa-IR">
                <a:solidFill>
                  <a:srgbClr val="153D42"/>
                </a:solidFill>
                <a:latin typeface="Vazirmatn"/>
                <a:ea typeface="Vazirmatn"/>
                <a:cs typeface="Vazirmatn"/>
              </a:defRPr>
            </a:pPr>
            <a:r>
              <a:rPr sz="1950" b="0" lang="fa-IR">
                <a:solidFill>
                  <a:srgbClr val="153D42"/>
                </a:solidFill>
                <a:latin typeface="Vazirmatn"/>
                <a:ea typeface="Vazirmatn"/>
                <a:cs typeface="Vazirmatn"/>
              </a:rPr>
              <a:t>تغییر WER نسبت به مدل چندشرایطی، بر حسب واحد درصد</a:t>
            </a:r>
          </a:p>
        </p:txBody>
      </p:sp>
      <p:graphicFrame>
        <p:nvGraphicFramePr>
          <p:cNvPr id="6" name="Chart">
            <a:extLst xmlns:a="http://schemas.openxmlformats.org/drawingml/2006/main">
              <a:ext uri="{FF2B5EF4-FFF2-40B4-BE49-F238E27FC236}">
                <a16:creationId xmlns:a16="http://schemas.microsoft.com/office/drawing/2014/main" id="{FE067EE3-455E-473B-BB90-09CC2DA45878}"/>
              </a:ext>
            </a:extLst>
          </p:cNvPr>
          <p:cNvGraphicFramePr/>
          <p:nvPr/>
        </p:nvGraphicFramePr>
        <p:xfrm>
          <a:off xmlns:a="http://schemas.openxmlformats.org/drawingml/2006/main" x="685800" y="2276475"/>
          <a:ext xmlns:a="http://schemas.openxmlformats.org/drawingml/2006/main" cx="10820400" cy="3209925"/>
        </p:xfrm>
        <a:graphic xmlns:a="http://schemas.openxmlformats.org/drawingml/2006/main">
          <a:graphicData uri="http://schemas.openxmlformats.org/drawingml/2006/chart">
            <c:chart xmlns:r="http://schemas.openxmlformats.org/officeDocument/2006/relationships" xmlns:c="http://schemas.openxmlformats.org/drawingml/2006/chart" r:id="R4a9562c9a57e4e71"/>
          </a:graphicData>
        </a:graphic>
      </p:graphicFrame>
      <p:sp>
        <p:nvSpPr>
          <p:cNvPr id="7" name="مقدار منفی یعنی بهبود. تغییر = با ایران‌صدا منهای خط مبنای چندشرایطی">
            <a:extLst xmlns:a="http://schemas.openxmlformats.org/drawingml/2006/main">
              <a:ext uri="{FF2B5EF4-FFF2-40B4-BE49-F238E27FC236}">
                <a16:creationId xmlns:a16="http://schemas.microsoft.com/office/drawing/2014/main" id="{DA91DA26-8C22-4741-BA84-55FC0117FAAD}"/>
              </a:ext>
            </a:extLst>
          </p:cNvPr>
          <p:cNvSpPr>
            <a:spLocks xmlns:a="http://schemas.openxmlformats.org/drawingml/2006/main" noGrp="1"/>
          </p:cNvSpPr>
          <p:nvPr/>
        </p:nvSpPr>
        <p:spPr>
          <a:xfrm xmlns:a="http://schemas.openxmlformats.org/drawingml/2006/main">
            <a:off x="685800" y="55054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1">
                <a:solidFill>
                  <a:srgbClr val="1D6F8A"/>
                </a:solidFill>
                <a:latin typeface="Vazirmatn"/>
                <a:ea typeface="Vazirmatn"/>
                <a:cs typeface="Vazirmatn"/>
              </a:defRPr>
            </a:defPPr>
          </a:lstStyle>
          <a:p xmlns:a="http://schemas.openxmlformats.org/drawingml/2006/main">
            <a:pPr algn="r" rtl="1">
              <a:defRPr sz="1800" b="1" lang="fa-IR">
                <a:solidFill>
                  <a:srgbClr val="1D6F8A"/>
                </a:solidFill>
                <a:latin typeface="Vazirmatn"/>
                <a:ea typeface="Vazirmatn"/>
                <a:cs typeface="Vazirmatn"/>
              </a:defRPr>
            </a:pPr>
            <a:r>
              <a:rPr sz="1800" b="1" lang="fa-IR">
                <a:solidFill>
                  <a:srgbClr val="1D6F8A"/>
                </a:solidFill>
                <a:latin typeface="Vazirmatn"/>
                <a:ea typeface="Vazirmatn"/>
                <a:cs typeface="Vazirmatn"/>
              </a:rPr>
              <a:t>مقدار منفی یعنی بهبود. تغییر = با ایران‌صدا منهای خط مبنای چندشرایطی</a:t>
            </a:r>
          </a:p>
        </p:txBody>
      </p:sp>
      <p:sp>
        <p:nvSpPr>
          <p:cNvPr id="8" name="تجمیعی: WER از ۱۷٫۸۳٪ به ۱۷٫۲۲٪ و CER از ۷٫۹۳٪ به ۷٫۷۰٪ رسید">
            <a:extLst xmlns:a="http://schemas.openxmlformats.org/drawingml/2006/main">
              <a:ext uri="{FF2B5EF4-FFF2-40B4-BE49-F238E27FC236}">
                <a16:creationId xmlns:a16="http://schemas.microsoft.com/office/drawing/2014/main" id="{314D4F3A-B73A-4671-8C0D-BB1F8B2BB793}"/>
              </a:ext>
            </a:extLst>
          </p:cNvPr>
          <p:cNvSpPr>
            <a:spLocks xmlns:a="http://schemas.openxmlformats.org/drawingml/2006/main" noGrp="1"/>
          </p:cNvSpPr>
          <p:nvPr/>
        </p:nvSpPr>
        <p:spPr>
          <a:xfrm xmlns:a="http://schemas.openxmlformats.org/drawingml/2006/main">
            <a:off x="685800" y="595312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تجمیعی: WER از ۱۷٫۸۳٪ به ۱۷٫۲۲٪ و CER از ۷٫۹۳٪ به ۷٫۷۰٪ رسید</a:t>
            </a:r>
          </a:p>
        </p:txBody>
      </p:sp>
      <p:sp>
        <p:nvSpPr>
          <p:cNvPr id="9" name="¹ فقط ۲۴ نمونه. اثر سبک، کانال، کیفیت برچسب و نسبت نمونه‌برداری از هم جدا نشده است">
            <a:extLst xmlns:a="http://schemas.openxmlformats.org/drawingml/2006/main">
              <a:ext uri="{FF2B5EF4-FFF2-40B4-BE49-F238E27FC236}">
                <a16:creationId xmlns:a16="http://schemas.microsoft.com/office/drawing/2014/main" id="{D4186958-A57E-4086-8A74-3C3ECEC7C84F}"/>
              </a:ext>
            </a:extLst>
          </p:cNvPr>
          <p:cNvSpPr>
            <a:spLocks xmlns:a="http://schemas.openxmlformats.org/drawingml/2006/main" noGrp="1"/>
          </p:cNvSpPr>
          <p:nvPr/>
        </p:nvSpPr>
        <p:spPr>
          <a:xfrm xmlns:a="http://schemas.openxmlformats.org/drawingml/2006/main">
            <a:off x="685800" y="6191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فقط ۲۴ نمونه. اثر سبک، کانال، کیفیت برچسب و نسبت نمونه‌برداری از هم جدا نشده است</a:t>
            </a:r>
          </a:p>
        </p:txBody>
      </p:sp>
    </p:spTree>
    <p:extLst>
      <p:ext uri="{BB962C8B-B14F-4D97-AF65-F5344CB8AC3E}">
        <p14:creationId xmlns:p14="http://schemas.microsoft.com/office/powerpoint/2010/main" val="700987811"/>
      </p:ext>
    </p:extLst>
  </p:cSld>
</p:sld>
</file>

<file path=ppt/slides/slide2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جمع‌بندی شواهد">
            <a:extLst xmlns:a="http://schemas.openxmlformats.org/drawingml/2006/main">
              <a:ext uri="{FF2B5EF4-FFF2-40B4-BE49-F238E27FC236}">
                <a16:creationId xmlns:a16="http://schemas.microsoft.com/office/drawing/2014/main" id="{6446E1D5-31F7-4112-9763-3D96BE3DA7A1}"/>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جمع‌بندی شواهد</a:t>
            </a:r>
          </a:p>
        </p:txBody>
      </p:sp>
      <p:sp>
        <p:nvSpPr>
          <p:cNvPr id="2" name="نتیجه آزمایش‌های اصلی ویسپر کوچک">
            <a:extLst xmlns:a="http://schemas.openxmlformats.org/drawingml/2006/main">
              <a:ext uri="{FF2B5EF4-FFF2-40B4-BE49-F238E27FC236}">
                <a16:creationId xmlns:a16="http://schemas.microsoft.com/office/drawing/2014/main" id="{2992C69B-405E-4FF7-AB70-245A5B8111A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نتیجه آزمایش‌های اصلی ویسپر کوچک</a:t>
            </a:r>
          </a:p>
        </p:txBody>
      </p:sp>
      <p:sp>
        <p:nvSpPr>
          <p:cNvPr id="3" name="">
            <a:extLst xmlns:a="http://schemas.openxmlformats.org/drawingml/2006/main">
              <a:ext uri="{FF2B5EF4-FFF2-40B4-BE49-F238E27FC236}">
                <a16:creationId xmlns:a16="http://schemas.microsoft.com/office/drawing/2014/main" id="{92A4E0C1-C614-4736-83B0-570B27B41E59}"/>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۰ از ۲۸">
            <a:extLst xmlns:a="http://schemas.openxmlformats.org/drawingml/2006/main">
              <a:ext uri="{FF2B5EF4-FFF2-40B4-BE49-F238E27FC236}">
                <a16:creationId xmlns:a16="http://schemas.microsoft.com/office/drawing/2014/main" id="{4DA74665-AB42-4B7A-AEA1-58E8F0509083}"/>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۲۰ از ۲۸</a:t>
            </a:r>
          </a:p>
        </p:txBody>
      </p:sp>
      <p:graphicFrame>
        <p:nvGraphicFramePr>
          <p:cNvPr id="5" name="">
            <a:extLst xmlns:a="http://schemas.openxmlformats.org/drawingml/2006/main">
              <a:ext uri="{FF2B5EF4-FFF2-40B4-BE49-F238E27FC236}">
                <a16:creationId xmlns:a16="http://schemas.microsoft.com/office/drawing/2014/main" id="{73B28AB7-CAB5-4982-9421-5D8EE651205B}"/>
              </a:ext>
            </a:extLst>
          </p:cNvPr>
          <p:cNvGraphicFramePr/>
          <p:nvPr/>
        </p:nvGraphicFramePr>
        <p:xfrm>
          <a:off xmlns:a="http://schemas.openxmlformats.org/drawingml/2006/main" x="685800" y="2143125"/>
          <a:ext xmlns:a="http://schemas.openxmlformats.org/drawingml/2006/main" cx="10820400" cy="2952750"/>
        </p:xfrm>
        <a:graphic xmlns:a="http://schemas.openxmlformats.org/drawingml/2006/main">
          <a:graphicData uri="http://schemas.openxmlformats.org/drawingml/2006/table">
            <a:tbl>
              <a:tblPr/>
              <a:tblGrid>
                <a:gridCol w="2952750"/>
                <a:gridCol w="2952750"/>
                <a:gridCol w="4914900"/>
              </a:tblGrid>
              <a:tr h="590550">
                <a:tc>
                  <a:txBody>
                    <a:bodyPr lIns="133350" tIns="133350" rIns="133350" bIns="133350">
                      <a:noAutofit/>
                    </a:bodyPr>
                    <a:lstStyle/>
                    <a:p>
                      <a:pPr algn="ctr" rtl="1"/>
                      <a:r>
                        <a:rPr sz="1800" b="1" lang="fa-IR">
                          <a:solidFill>
                            <a:srgbClr val="F7F6F2"/>
                          </a:solidFill>
                          <a:latin typeface="Vazirmatn"/>
                          <a:ea typeface="Vazirmatn"/>
                          <a:cs typeface="Vazirmatn"/>
                        </a:rPr>
                        <a:t>WER تماس واقعی</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33350" tIns="133350" rIns="133350" bIns="133350">
                      <a:noAutofit/>
                    </a:bodyPr>
                    <a:lstStyle/>
                    <a:p>
                      <a:pPr algn="ctr" rtl="1"/>
                      <a:r>
                        <a:rPr sz="1800" b="1" lang="fa-IR">
                          <a:solidFill>
                            <a:srgbClr val="F7F6F2"/>
                          </a:solidFill>
                          <a:latin typeface="Vazirmatn"/>
                          <a:ea typeface="Vazirmatn"/>
                          <a:cs typeface="Vazirmatn"/>
                        </a:rPr>
                        <a:t>WER تجمیعی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33350" tIns="133350" rIns="133350" bIns="133350">
                      <a:noAutofit/>
                    </a:bodyPr>
                    <a:lstStyle/>
                    <a:p>
                      <a:pPr algn="r" rtl="1"/>
                      <a:r>
                        <a:rPr sz="1800" b="1" lang="fa-IR">
                          <a:solidFill>
                            <a:srgbClr val="F7F6F2"/>
                          </a:solidFill>
                          <a:latin typeface="Vazirmatn"/>
                          <a:ea typeface="Vazirmatn"/>
                          <a:cs typeface="Vazirmatn"/>
                        </a:rPr>
                        <a:t>سامانه ویسپر کوچک</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۳۵٫۶۳٪</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۲۳٫۲۷٪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معمولی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۲۵٫۸۰٪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۱۷٫۸۳٪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چندشرایطی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75" b="1" lang="fa-IR">
                          <a:solidFill>
                            <a:srgbClr val="1D6F8A"/>
                          </a:solidFill>
                          <a:latin typeface="Vazirmatn"/>
                          <a:ea typeface="Vazirmatn"/>
                          <a:cs typeface="Vazirmatn"/>
                        </a:rPr>
                        <a:t>۲۵٫۳۷٪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E8F3F6"/>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۱۷٫۶۴٪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همجوشی پیشنهادی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۲۶٫۶۶٪</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75" b="1" lang="fa-IR">
                          <a:solidFill>
                            <a:srgbClr val="1D6F8A"/>
                          </a:solidFill>
                          <a:latin typeface="Vazirmatn"/>
                          <a:ea typeface="Vazirmatn"/>
                          <a:cs typeface="Vazirmatn"/>
                        </a:rPr>
                        <a:t>۱۷٫۲۲٪</a:t>
                      </a:r>
                    </a:p>
                  </a:txBody>
                  <a:tcPr marL="91440" marR="91440" marT="45720" marB="45720" anchor="ctr">
                    <a:lnR w="7620">
                      <a:solidFill>
                        <a:srgbClr val="D5DCDD"/>
                      </a:solidFill>
                      <a:prstDash val="solid"/>
                    </a:lnR>
                    <a:lnB w="7620">
                      <a:solidFill>
                        <a:srgbClr val="D5DCDD"/>
                      </a:solidFill>
                      <a:prstDash val="solid"/>
                    </a:lnB>
                    <a:solidFill>
                      <a:srgbClr val="E8F3F6"/>
                    </a:solidFill>
                  </a:tcPr>
                </a:tc>
                <a:tc>
                  <a:txBody>
                    <a:bodyPr lIns="133350" tIns="133350" rIns="133350" bIns="133350">
                      <a:noAutofit/>
                    </a:bodyPr>
                    <a:lstStyle/>
                    <a:p>
                      <a:pPr algn="r" rtl="1"/>
                      <a:r>
                        <a:rPr sz="2100" b="0" lang="fa-IR">
                          <a:solidFill>
                            <a:srgbClr val="1F2933"/>
                          </a:solidFill>
                          <a:latin typeface="Vazirmatn"/>
                          <a:ea typeface="Vazirmatn"/>
                          <a:cs typeface="Vazirmatn"/>
                        </a:rPr>
                        <a:t>چندشرایطی و ایران‌صدا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کمترین خطای تماس واقعی: همجوشی">
            <a:extLst xmlns:a="http://schemas.openxmlformats.org/drawingml/2006/main">
              <a:ext uri="{FF2B5EF4-FFF2-40B4-BE49-F238E27FC236}">
                <a16:creationId xmlns:a16="http://schemas.microsoft.com/office/drawing/2014/main" id="{07C49F2F-22AC-48C5-806B-B6D6523DBEDF}"/>
              </a:ext>
            </a:extLst>
          </p:cNvPr>
          <p:cNvSpPr>
            <a:spLocks xmlns:a="http://schemas.openxmlformats.org/drawingml/2006/main" noGrp="1"/>
          </p:cNvSpPr>
          <p:nvPr/>
        </p:nvSpPr>
        <p:spPr>
          <a:xfrm xmlns:a="http://schemas.openxmlformats.org/drawingml/2006/main">
            <a:off x="685800" y="53816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کمترین خطای تماس واقعی: همجوشی</a:t>
            </a:r>
          </a:p>
        </p:txBody>
      </p:sp>
      <p:sp>
        <p:nvSpPr>
          <p:cNvPr id="7" name="کمترین خطای تجمیعی: ایران‌صدا">
            <a:extLst xmlns:a="http://schemas.openxmlformats.org/drawingml/2006/main">
              <a:ext uri="{FF2B5EF4-FFF2-40B4-BE49-F238E27FC236}">
                <a16:creationId xmlns:a16="http://schemas.microsoft.com/office/drawing/2014/main" id="{59B6D6DA-D6B7-4AE5-8A30-22F9A8A8744C}"/>
              </a:ext>
            </a:extLst>
          </p:cNvPr>
          <p:cNvSpPr>
            <a:spLocks xmlns:a="http://schemas.openxmlformats.org/drawingml/2006/main" noGrp="1"/>
          </p:cNvSpPr>
          <p:nvPr/>
        </p:nvSpPr>
        <p:spPr>
          <a:xfrm xmlns:a="http://schemas.openxmlformats.org/drawingml/2006/main">
            <a:off x="6315075" y="53816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کمترین خطای تجمیعی: ایران‌صدا</a:t>
            </a:r>
          </a:p>
        </p:txBody>
      </p:sp>
      <p:sp>
        <p:nvSpPr>
          <p:cNvPr id="8" name="ویسپر متوسط: ۱۴٫۳۶٪ تجمیعی و ۲۱٫۹۹٪ تماس واقعی، با ظرفیت و آموزش متفاوت">
            <a:extLst xmlns:a="http://schemas.openxmlformats.org/drawingml/2006/main">
              <a:ext uri="{FF2B5EF4-FFF2-40B4-BE49-F238E27FC236}">
                <a16:creationId xmlns:a16="http://schemas.microsoft.com/office/drawing/2014/main" id="{3818A432-C854-487A-948F-6B5451F10144}"/>
              </a:ext>
            </a:extLst>
          </p:cNvPr>
          <p:cNvSpPr>
            <a:spLocks xmlns:a="http://schemas.openxmlformats.org/drawingml/2006/main" noGrp="1"/>
          </p:cNvSpPr>
          <p:nvPr/>
        </p:nvSpPr>
        <p:spPr>
          <a:xfrm xmlns:a="http://schemas.openxmlformats.org/drawingml/2006/main">
            <a:off x="685800" y="60674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ویسپر متوسط: ۱۴٫۳۶٪ تجمیعی و ۲۱٫۹۹٪ تماس واقعی، با ظرفیت و آموزش متفاوت</a:t>
            </a:r>
          </a:p>
        </p:txBody>
      </p:sp>
    </p:spTree>
    <p:extLst>
      <p:ext uri="{BB962C8B-B14F-4D97-AF65-F5344CB8AC3E}">
        <p14:creationId xmlns:p14="http://schemas.microsoft.com/office/powerpoint/2010/main" val="1109444328"/>
      </p:ext>
    </p:extLst>
  </p:cSld>
</p:sld>
</file>

<file path=ppt/slides/slide2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بحث و ادامه پژوهش">
            <a:extLst xmlns:a="http://schemas.openxmlformats.org/drawingml/2006/main">
              <a:ext uri="{FF2B5EF4-FFF2-40B4-BE49-F238E27FC236}">
                <a16:creationId xmlns:a16="http://schemas.microsoft.com/office/drawing/2014/main" id="{25A700A8-7CDA-4A2A-8175-38B9AF8F57CA}"/>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بحث و ادامه پژوهش</a:t>
            </a:r>
          </a:p>
        </p:txBody>
      </p:sp>
      <p:sp>
        <p:nvSpPr>
          <p:cNvPr id="2" name="محدودیت‌ها و آزمایش‌های بعدی">
            <a:extLst xmlns:a="http://schemas.openxmlformats.org/drawingml/2006/main">
              <a:ext uri="{FF2B5EF4-FFF2-40B4-BE49-F238E27FC236}">
                <a16:creationId xmlns:a16="http://schemas.microsoft.com/office/drawing/2014/main" id="{D8660F07-E714-483A-858D-5A8E37F9896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محدودیت‌ها و آزمایش‌های بعدی</a:t>
            </a:r>
          </a:p>
        </p:txBody>
      </p:sp>
      <p:sp>
        <p:nvSpPr>
          <p:cNvPr id="3" name="">
            <a:extLst xmlns:a="http://schemas.openxmlformats.org/drawingml/2006/main">
              <a:ext uri="{FF2B5EF4-FFF2-40B4-BE49-F238E27FC236}">
                <a16:creationId xmlns:a16="http://schemas.microsoft.com/office/drawing/2014/main" id="{973DA7C2-1A05-4988-839D-D9F0B8EDDC89}"/>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۱ از ۲۸">
            <a:extLst xmlns:a="http://schemas.openxmlformats.org/drawingml/2006/main">
              <a:ext uri="{FF2B5EF4-FFF2-40B4-BE49-F238E27FC236}">
                <a16:creationId xmlns:a16="http://schemas.microsoft.com/office/drawing/2014/main" id="{CC657A53-F92A-4B7E-861C-53411684845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۲۱ از ۲۸</a:t>
            </a:r>
          </a:p>
        </p:txBody>
      </p:sp>
      <p:sp>
        <p:nvSpPr>
          <p:cNvPr id="5" name="۱">
            <a:extLst xmlns:a="http://schemas.openxmlformats.org/drawingml/2006/main">
              <a:ext uri="{FF2B5EF4-FFF2-40B4-BE49-F238E27FC236}">
                <a16:creationId xmlns:a16="http://schemas.microsoft.com/office/drawing/2014/main" id="{F1A15B01-E523-4471-9508-102DC1B7AF3B}"/>
              </a:ext>
            </a:extLst>
          </p:cNvPr>
          <p:cNvSpPr>
            <a:spLocks xmlns:a="http://schemas.openxmlformats.org/drawingml/2006/main" noGrp="1"/>
          </p:cNvSpPr>
          <p:nvPr/>
        </p:nvSpPr>
        <p:spPr>
          <a:xfrm xmlns:a="http://schemas.openxmlformats.org/drawingml/2006/main">
            <a:off x="10839450" y="22002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۱</a:t>
            </a:r>
          </a:p>
        </p:txBody>
      </p:sp>
      <p:sp>
        <p:nvSpPr>
          <p:cNvPr id="6" name="اعتمادپذیری نتایج">
            <a:extLst xmlns:a="http://schemas.openxmlformats.org/drawingml/2006/main">
              <a:ext uri="{FF2B5EF4-FFF2-40B4-BE49-F238E27FC236}">
                <a16:creationId xmlns:a16="http://schemas.microsoft.com/office/drawing/2014/main" id="{82EDB255-F4DA-4A80-BBEA-CA20FD60AF52}"/>
              </a:ext>
            </a:extLst>
          </p:cNvPr>
          <p:cNvSpPr>
            <a:spLocks xmlns:a="http://schemas.openxmlformats.org/drawingml/2006/main" noGrp="1"/>
          </p:cNvSpPr>
          <p:nvPr/>
        </p:nvSpPr>
        <p:spPr>
          <a:xfrm xmlns:a="http://schemas.openxmlformats.org/drawingml/2006/main">
            <a:off x="7096125" y="22002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اعتمادپذیری نتایج</a:t>
            </a:r>
          </a:p>
        </p:txBody>
      </p:sp>
      <p:sp>
        <p:nvSpPr>
          <p:cNvPr id="7" name="اجرای چندبذری و نمونه‌های مشترک دقیق&#10;برآورد فاصله اطمینان برای اختلاف‌های کوچک">
            <a:extLst xmlns:a="http://schemas.openxmlformats.org/drawingml/2006/main">
              <a:ext uri="{FF2B5EF4-FFF2-40B4-BE49-F238E27FC236}">
                <a16:creationId xmlns:a16="http://schemas.microsoft.com/office/drawing/2014/main" id="{E5562FB2-70F4-443B-B890-A19E6EC347D5}"/>
              </a:ext>
            </a:extLst>
          </p:cNvPr>
          <p:cNvSpPr>
            <a:spLocks xmlns:a="http://schemas.openxmlformats.org/drawingml/2006/main" noGrp="1"/>
          </p:cNvSpPr>
          <p:nvPr/>
        </p:nvSpPr>
        <p:spPr>
          <a:xfrm xmlns:a="http://schemas.openxmlformats.org/drawingml/2006/main">
            <a:off x="685800" y="22002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اجرای چندبذری و نمونه‌های مشترک دقیق</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برآورد فاصله اطمینان برای اختلاف‌های کوچک</a:t>
            </a:r>
          </a:p>
        </p:txBody>
      </p:sp>
      <p:sp>
        <p:nvSpPr>
          <p:cNvPr id="8" name="">
            <a:extLst xmlns:a="http://schemas.openxmlformats.org/drawingml/2006/main">
              <a:ext uri="{FF2B5EF4-FFF2-40B4-BE49-F238E27FC236}">
                <a16:creationId xmlns:a16="http://schemas.microsoft.com/office/drawing/2014/main" id="{2F5AE8F8-07AE-4638-9EB2-B12283735E88}"/>
              </a:ext>
            </a:extLst>
          </p:cNvPr>
          <p:cNvSpPr>
            <a:spLocks xmlns:a="http://schemas.openxmlformats.org/drawingml/2006/main" noGrp="1"/>
          </p:cNvSpPr>
          <p:nvPr/>
        </p:nvSpPr>
        <p:spPr>
          <a:xfrm xmlns:a="http://schemas.openxmlformats.org/drawingml/2006/main">
            <a:off x="685800" y="32575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9" name="۲">
            <a:extLst xmlns:a="http://schemas.openxmlformats.org/drawingml/2006/main">
              <a:ext uri="{FF2B5EF4-FFF2-40B4-BE49-F238E27FC236}">
                <a16:creationId xmlns:a16="http://schemas.microsoft.com/office/drawing/2014/main" id="{04EF7F8B-CCDC-4F13-B27B-FB334217DB5C}"/>
              </a:ext>
            </a:extLst>
          </p:cNvPr>
          <p:cNvSpPr>
            <a:spLocks xmlns:a="http://schemas.openxmlformats.org/drawingml/2006/main" noGrp="1"/>
          </p:cNvSpPr>
          <p:nvPr/>
        </p:nvSpPr>
        <p:spPr>
          <a:xfrm xmlns:a="http://schemas.openxmlformats.org/drawingml/2006/main">
            <a:off x="10839450" y="34956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۲</a:t>
            </a:r>
          </a:p>
        </p:txBody>
      </p:sp>
      <p:sp>
        <p:nvSpPr>
          <p:cNvPr id="10" name="سهم و هزینه همجوشی">
            <a:extLst xmlns:a="http://schemas.openxmlformats.org/drawingml/2006/main">
              <a:ext uri="{FF2B5EF4-FFF2-40B4-BE49-F238E27FC236}">
                <a16:creationId xmlns:a16="http://schemas.microsoft.com/office/drawing/2014/main" id="{090821DB-F5D0-437C-93D1-791F073ECECE}"/>
              </a:ext>
            </a:extLst>
          </p:cNvPr>
          <p:cNvSpPr>
            <a:spLocks xmlns:a="http://schemas.openxmlformats.org/drawingml/2006/main" noGrp="1"/>
          </p:cNvSpPr>
          <p:nvPr/>
        </p:nvSpPr>
        <p:spPr>
          <a:xfrm xmlns:a="http://schemas.openxmlformats.org/drawingml/2006/main">
            <a:off x="7096125" y="34956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سهم و هزینه همجوشی</a:t>
            </a:r>
          </a:p>
        </p:txBody>
      </p:sp>
      <p:sp>
        <p:nvSpPr>
          <p:cNvPr id="11" name="کنترل با بودجه آموزش برابر و آزمایش حذفی در Small&#10;اندازه‌گیری زمان اجرا و حافظه">
            <a:extLst xmlns:a="http://schemas.openxmlformats.org/drawingml/2006/main">
              <a:ext uri="{FF2B5EF4-FFF2-40B4-BE49-F238E27FC236}">
                <a16:creationId xmlns:a16="http://schemas.microsoft.com/office/drawing/2014/main" id="{F72B847E-BF80-42E6-806C-3E28D9CFA4AB}"/>
              </a:ext>
            </a:extLst>
          </p:cNvPr>
          <p:cNvSpPr>
            <a:spLocks xmlns:a="http://schemas.openxmlformats.org/drawingml/2006/main" noGrp="1"/>
          </p:cNvSpPr>
          <p:nvPr/>
        </p:nvSpPr>
        <p:spPr>
          <a:xfrm xmlns:a="http://schemas.openxmlformats.org/drawingml/2006/main">
            <a:off x="685800" y="34956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کنترل با بودجه آموزش برابر و آزمایش حذفی در Small</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اندازه‌گیری زمان اجرا و حافظه</a:t>
            </a:r>
          </a:p>
        </p:txBody>
      </p:sp>
      <p:sp>
        <p:nvSpPr>
          <p:cNvPr id="12" name="">
            <a:extLst xmlns:a="http://schemas.openxmlformats.org/drawingml/2006/main">
              <a:ext uri="{FF2B5EF4-FFF2-40B4-BE49-F238E27FC236}">
                <a16:creationId xmlns:a16="http://schemas.microsoft.com/office/drawing/2014/main" id="{AFBAF93E-5F28-4E25-8FF3-DBCD856E4A69}"/>
              </a:ext>
            </a:extLst>
          </p:cNvPr>
          <p:cNvSpPr>
            <a:spLocks xmlns:a="http://schemas.openxmlformats.org/drawingml/2006/main" noGrp="1"/>
          </p:cNvSpPr>
          <p:nvPr/>
        </p:nvSpPr>
        <p:spPr>
          <a:xfrm xmlns:a="http://schemas.openxmlformats.org/drawingml/2006/main">
            <a:off x="685800" y="45529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13" name="۳">
            <a:extLst xmlns:a="http://schemas.openxmlformats.org/drawingml/2006/main">
              <a:ext uri="{FF2B5EF4-FFF2-40B4-BE49-F238E27FC236}">
                <a16:creationId xmlns:a16="http://schemas.microsoft.com/office/drawing/2014/main" id="{741D9CB1-0B7B-4A46-BA1E-564E1D64B0C2}"/>
              </a:ext>
            </a:extLst>
          </p:cNvPr>
          <p:cNvSpPr>
            <a:spLocks xmlns:a="http://schemas.openxmlformats.org/drawingml/2006/main" noGrp="1"/>
          </p:cNvSpPr>
          <p:nvPr/>
        </p:nvSpPr>
        <p:spPr>
          <a:xfrm xmlns:a="http://schemas.openxmlformats.org/drawingml/2006/main">
            <a:off x="10839450" y="47910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۳</a:t>
            </a:r>
          </a:p>
        </p:txBody>
      </p:sp>
      <p:sp>
        <p:nvSpPr>
          <p:cNvPr id="14" name="کیفیت و تناسب داده">
            <a:extLst xmlns:a="http://schemas.openxmlformats.org/drawingml/2006/main">
              <a:ext uri="{FF2B5EF4-FFF2-40B4-BE49-F238E27FC236}">
                <a16:creationId xmlns:a16="http://schemas.microsoft.com/office/drawing/2014/main" id="{B3CE77A2-CE9F-4E43-A6E0-737927335651}"/>
              </a:ext>
            </a:extLst>
          </p:cNvPr>
          <p:cNvSpPr>
            <a:spLocks xmlns:a="http://schemas.openxmlformats.org/drawingml/2006/main" noGrp="1"/>
          </p:cNvSpPr>
          <p:nvPr/>
        </p:nvSpPr>
        <p:spPr>
          <a:xfrm xmlns:a="http://schemas.openxmlformats.org/drawingml/2006/main">
            <a:off x="7096125" y="47910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کیفیت و تناسب داده</a:t>
            </a:r>
          </a:p>
        </p:txBody>
      </p:sp>
      <p:sp>
        <p:nvSpPr>
          <p:cNvPr id="15" name="ممیزی انسانی متن معلم و اصلاح‌های مدل زبانی&#10;آزمایش نسبت داده و گفتار نزدیک به تماس">
            <a:extLst xmlns:a="http://schemas.openxmlformats.org/drawingml/2006/main">
              <a:ext uri="{FF2B5EF4-FFF2-40B4-BE49-F238E27FC236}">
                <a16:creationId xmlns:a16="http://schemas.microsoft.com/office/drawing/2014/main" id="{0A2DA2CD-97B8-4485-91C5-7B5EB1FB7210}"/>
              </a:ext>
            </a:extLst>
          </p:cNvPr>
          <p:cNvSpPr>
            <a:spLocks xmlns:a="http://schemas.openxmlformats.org/drawingml/2006/main" noGrp="1"/>
          </p:cNvSpPr>
          <p:nvPr/>
        </p:nvSpPr>
        <p:spPr>
          <a:xfrm xmlns:a="http://schemas.openxmlformats.org/drawingml/2006/main">
            <a:off x="685800" y="47910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ممیزی انسانی متن معلم و اصلاح‌های مدل زبانی</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آزمایش نسبت داده و گفتار نزدیک به تماس</a:t>
            </a:r>
          </a:p>
        </p:txBody>
      </p:sp>
      <p:sp>
        <p:nvSpPr>
          <p:cNvPr id="16" name="پوشش محدود شبیه‌ساز و خصوصی‌بودن آزمون تماس واقعی نیز دامنه شواهد را محدود می‌کنند">
            <a:extLst xmlns:a="http://schemas.openxmlformats.org/drawingml/2006/main">
              <a:ext uri="{FF2B5EF4-FFF2-40B4-BE49-F238E27FC236}">
                <a16:creationId xmlns:a16="http://schemas.microsoft.com/office/drawing/2014/main" id="{EA23BD1D-F998-49A6-BEC2-E5DBBE50D328}"/>
              </a:ext>
            </a:extLst>
          </p:cNvPr>
          <p:cNvSpPr>
            <a:spLocks xmlns:a="http://schemas.openxmlformats.org/drawingml/2006/main" noGrp="1"/>
          </p:cNvSpPr>
          <p:nvPr/>
        </p:nvSpPr>
        <p:spPr>
          <a:xfrm xmlns:a="http://schemas.openxmlformats.org/drawingml/2006/main">
            <a:off x="685800" y="60483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پوشش محدود شبیه‌ساز و خصوصی‌بودن آزمون تماس واقعی نیز دامنه شواهد را محدود می‌کنند</a:t>
            </a:r>
          </a:p>
        </p:txBody>
      </p:sp>
    </p:spTree>
    <p:extLst>
      <p:ext uri="{BB962C8B-B14F-4D97-AF65-F5344CB8AC3E}">
        <p14:creationId xmlns:p14="http://schemas.microsoft.com/office/powerpoint/2010/main" val="2000964408"/>
      </p:ext>
    </p:extLst>
  </p:cSld>
</p:sld>
</file>

<file path=ppt/slides/slide22.xml><?xml version="1.0" encoding="utf-8"?>
<p:sld xmlns:p="http://schemas.openxmlformats.org/presentationml/2006/main">
  <p:cSld>
    <p:bg>
      <p:bgPr>
        <a:solidFill xmlns:a="http://schemas.openxmlformats.org/drawingml/2006/main">
          <a:srgbClr val="153D42"/>
        </a:solidFill>
      </p:bgPr>
    </p:bg>
    <p:spTree>
      <p:nvGrpSpPr>
        <p:cNvPr id="1" name=""/>
        <p:cNvGrpSpPr/>
        <p:nvPr/>
      </p:nvGrpSpPr>
      <p:grpSpPr>
        <a:xfrm xmlns:a="http://schemas.openxmlformats.org/drawingml/2006/main"/>
      </p:grpSpPr>
      <p:sp>
        <p:nvSpPr>
          <p:cNvPr id="16" name="پایان ارائه">
            <a:extLst xmlns:a="http://schemas.openxmlformats.org/drawingml/2006/main">
              <a:ext uri="{FF2B5EF4-FFF2-40B4-BE49-F238E27FC236}">
                <a16:creationId xmlns:a16="http://schemas.microsoft.com/office/drawing/2014/main" id="{3290AD62-3ADF-46CE-865E-EC3948F3F14C}"/>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B8D8DB"/>
                </a:solidFill>
                <a:latin typeface="Vazirmatn"/>
                <a:ea typeface="Vazirmatn"/>
                <a:cs typeface="Vazirmatn"/>
              </a:defRPr>
            </a:defPPr>
          </a:lstStyle>
          <a:p xmlns:a="http://schemas.openxmlformats.org/drawingml/2006/main">
            <a:pPr algn="r" rtl="1">
              <a:defRPr sz="1350" b="1" lang="fa-IR">
                <a:solidFill>
                  <a:srgbClr val="B8D8DB"/>
                </a:solidFill>
                <a:latin typeface="Vazirmatn"/>
                <a:ea typeface="Vazirmatn"/>
                <a:cs typeface="Vazirmatn"/>
              </a:defRPr>
            </a:pPr>
            <a:r>
              <a:rPr sz="1350" b="1" lang="fa-IR">
                <a:solidFill>
                  <a:srgbClr val="B8D8DB"/>
                </a:solidFill>
                <a:latin typeface="Vazirmatn"/>
                <a:ea typeface="Vazirmatn"/>
                <a:cs typeface="Vazirmatn"/>
              </a:rPr>
              <a:t>پایان ارائه</a:t>
            </a:r>
          </a:p>
        </p:txBody>
      </p:sp>
      <p:sp>
        <p:nvSpPr>
          <p:cNvPr id="2" name="جمع‌بندی">
            <a:extLst xmlns:a="http://schemas.openxmlformats.org/drawingml/2006/main">
              <a:ext uri="{FF2B5EF4-FFF2-40B4-BE49-F238E27FC236}">
                <a16:creationId xmlns:a16="http://schemas.microsoft.com/office/drawing/2014/main" id="{BDD1E650-15E0-47DB-85E7-D08D805ED3C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F7F6F2"/>
                </a:solidFill>
                <a:latin typeface="Vazirmatn"/>
                <a:ea typeface="Vazirmatn"/>
                <a:cs typeface="Vazirmatn"/>
              </a:defRPr>
            </a:defPPr>
          </a:lstStyle>
          <a:p xmlns:a="http://schemas.openxmlformats.org/drawingml/2006/main">
            <a:pPr algn="r" rtl="1">
              <a:defRPr sz="3150" b="1" lang="fa-IR">
                <a:solidFill>
                  <a:srgbClr val="F7F6F2"/>
                </a:solidFill>
                <a:latin typeface="Vazirmatn"/>
                <a:ea typeface="Vazirmatn"/>
                <a:cs typeface="Vazirmatn"/>
              </a:defRPr>
            </a:pPr>
            <a:r>
              <a:rPr sz="3150" b="1" lang="fa-IR">
                <a:solidFill>
                  <a:srgbClr val="F7F6F2"/>
                </a:solidFill>
                <a:latin typeface="Vazirmatn"/>
                <a:ea typeface="Vazirmatn"/>
                <a:cs typeface="Vazirmatn"/>
              </a:rPr>
              <a:t>جمع‌بندی</a:t>
            </a:r>
          </a:p>
        </p:txBody>
      </p:sp>
      <p:sp>
        <p:nvSpPr>
          <p:cNvPr id="3" name="">
            <a:extLst xmlns:a="http://schemas.openxmlformats.org/drawingml/2006/main">
              <a:ext uri="{FF2B5EF4-FFF2-40B4-BE49-F238E27FC236}">
                <a16:creationId xmlns:a16="http://schemas.microsoft.com/office/drawing/2014/main" id="{06306B70-E3ED-42A6-90D0-C2BED7411539}"/>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4" name="۲۲ از ۲۸">
            <a:extLst xmlns:a="http://schemas.openxmlformats.org/drawingml/2006/main">
              <a:ext uri="{FF2B5EF4-FFF2-40B4-BE49-F238E27FC236}">
                <a16:creationId xmlns:a16="http://schemas.microsoft.com/office/drawing/2014/main" id="{F61CDE0A-EA85-40ED-925C-69350D95B93D}"/>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B8D8DB"/>
                </a:solidFill>
                <a:latin typeface="Vazirmatn"/>
                <a:ea typeface="Vazirmatn"/>
                <a:cs typeface="Vazirmatn"/>
              </a:defRPr>
            </a:defPPr>
          </a:lstStyle>
          <a:p xmlns:a="http://schemas.openxmlformats.org/drawingml/2006/main">
            <a:pPr algn="l" rtl="1">
              <a:defRPr sz="1200" b="0" lang="fa-IR">
                <a:solidFill>
                  <a:srgbClr val="B8D8DB"/>
                </a:solidFill>
                <a:latin typeface="Vazirmatn"/>
                <a:ea typeface="Vazirmatn"/>
                <a:cs typeface="Vazirmatn"/>
              </a:defRPr>
            </a:pPr>
            <a:r>
              <a:rPr sz="1200" b="0" lang="fa-IR">
                <a:solidFill>
                  <a:srgbClr val="B8D8DB"/>
                </a:solidFill>
                <a:latin typeface="Vazirmatn"/>
                <a:ea typeface="Vazirmatn"/>
                <a:cs typeface="Vazirmatn"/>
              </a:rPr>
              <a:t>۲۲ از ۲۸</a:t>
            </a:r>
          </a:p>
        </p:txBody>
      </p:sp>
      <p:sp>
        <p:nvSpPr>
          <p:cNvPr id="5" name="بیشترین بهبود با آموزش متناسب با کانال">
            <a:extLst xmlns:a="http://schemas.openxmlformats.org/drawingml/2006/main">
              <a:ext uri="{FF2B5EF4-FFF2-40B4-BE49-F238E27FC236}">
                <a16:creationId xmlns:a16="http://schemas.microsoft.com/office/drawing/2014/main" id="{B41453EF-D24D-497C-893E-5CB123690441}"/>
              </a:ext>
            </a:extLst>
          </p:cNvPr>
          <p:cNvSpPr>
            <a:spLocks xmlns:a="http://schemas.openxmlformats.org/drawingml/2006/main" noGrp="1"/>
          </p:cNvSpPr>
          <p:nvPr/>
        </p:nvSpPr>
        <p:spPr>
          <a:xfrm xmlns:a="http://schemas.openxmlformats.org/drawingml/2006/main">
            <a:off x="685800" y="1590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625" b="1">
                <a:solidFill>
                  <a:srgbClr val="F7F6F2"/>
                </a:solidFill>
                <a:latin typeface="Vazirmatn"/>
                <a:ea typeface="Vazirmatn"/>
                <a:cs typeface="Vazirmatn"/>
              </a:defRPr>
            </a:defPPr>
          </a:lstStyle>
          <a:p xmlns:a="http://schemas.openxmlformats.org/drawingml/2006/main">
            <a:pPr algn="r" rtl="1">
              <a:defRPr sz="2625" b="1" lang="fa-IR">
                <a:solidFill>
                  <a:srgbClr val="F7F6F2"/>
                </a:solidFill>
                <a:latin typeface="Vazirmatn"/>
                <a:ea typeface="Vazirmatn"/>
                <a:cs typeface="Vazirmatn"/>
              </a:defRPr>
            </a:pPr>
            <a:r>
              <a:rPr sz="2625" b="1" lang="fa-IR">
                <a:solidFill>
                  <a:srgbClr val="F7F6F2"/>
                </a:solidFill>
                <a:latin typeface="Vazirmatn"/>
                <a:ea typeface="Vazirmatn"/>
                <a:cs typeface="Vazirmatn"/>
              </a:rPr>
              <a:t>بیشترین بهبود با آموزش متناسب با کانال</a:t>
            </a:r>
          </a:p>
        </p:txBody>
      </p:sp>
      <p:sp>
        <p:nvSpPr>
          <p:cNvPr id="6" name="۳۵٫۶۳٪">
            <a:extLst xmlns:a="http://schemas.openxmlformats.org/drawingml/2006/main">
              <a:ext uri="{FF2B5EF4-FFF2-40B4-BE49-F238E27FC236}">
                <a16:creationId xmlns:a16="http://schemas.microsoft.com/office/drawing/2014/main" id="{B579D480-2A05-4027-BDFD-F210D31DA7A3}"/>
              </a:ext>
            </a:extLst>
          </p:cNvPr>
          <p:cNvSpPr>
            <a:spLocks xmlns:a="http://schemas.openxmlformats.org/drawingml/2006/main" noGrp="1"/>
          </p:cNvSpPr>
          <p:nvPr/>
        </p:nvSpPr>
        <p:spPr>
          <a:xfrm xmlns:a="http://schemas.openxmlformats.org/drawingml/2006/main">
            <a:off x="7896225" y="2466975"/>
            <a:ext cx="3609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550" b="1">
                <a:solidFill>
                  <a:srgbClr val="B8D8DB"/>
                </a:solidFill>
                <a:latin typeface="Vazirmatn"/>
                <a:ea typeface="Vazirmatn"/>
                <a:cs typeface="Vazirmatn"/>
              </a:defRPr>
            </a:defPPr>
          </a:lstStyle>
          <a:p xmlns:a="http://schemas.openxmlformats.org/drawingml/2006/main">
            <a:pPr algn="r" rtl="1">
              <a:defRPr sz="5550" b="1" lang="fa-IR">
                <a:solidFill>
                  <a:srgbClr val="B8D8DB"/>
                </a:solidFill>
                <a:latin typeface="Vazirmatn"/>
                <a:ea typeface="Vazirmatn"/>
                <a:cs typeface="Vazirmatn"/>
              </a:defRPr>
            </a:pPr>
            <a:r>
              <a:rPr sz="5550" b="1" lang="fa-IR">
                <a:solidFill>
                  <a:srgbClr val="B8D8DB"/>
                </a:solidFill>
                <a:latin typeface="Vazirmatn"/>
                <a:ea typeface="Vazirmatn"/>
                <a:cs typeface="Vazirmatn"/>
              </a:rPr>
              <a:t>۳۵٫۶۳٪</a:t>
            </a:r>
          </a:p>
        </p:txBody>
      </p:sp>
      <p:sp>
        <p:nvSpPr>
          <p:cNvPr id="7" name="به">
            <a:extLst xmlns:a="http://schemas.openxmlformats.org/drawingml/2006/main">
              <a:ext uri="{FF2B5EF4-FFF2-40B4-BE49-F238E27FC236}">
                <a16:creationId xmlns:a16="http://schemas.microsoft.com/office/drawing/2014/main" id="{13A499A6-679A-4A0C-A1CE-77F300C541F2}"/>
              </a:ext>
            </a:extLst>
          </p:cNvPr>
          <p:cNvSpPr>
            <a:spLocks xmlns:a="http://schemas.openxmlformats.org/drawingml/2006/main" noGrp="1"/>
          </p:cNvSpPr>
          <p:nvPr/>
        </p:nvSpPr>
        <p:spPr>
          <a:xfrm xmlns:a="http://schemas.openxmlformats.org/drawingml/2006/main">
            <a:off x="7000875" y="26479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0">
                <a:solidFill>
                  <a:srgbClr val="F7F6F2"/>
                </a:solidFill>
                <a:latin typeface="Vazirmatn"/>
                <a:ea typeface="Vazirmatn"/>
                <a:cs typeface="Vazirmatn"/>
              </a:defRPr>
            </a:defPPr>
          </a:lstStyle>
          <a:p xmlns:a="http://schemas.openxmlformats.org/drawingml/2006/main">
            <a:pPr algn="ctr" rtl="1">
              <a:defRPr sz="2400" b="0" lang="fa-IR">
                <a:solidFill>
                  <a:srgbClr val="F7F6F2"/>
                </a:solidFill>
                <a:latin typeface="Vazirmatn"/>
                <a:ea typeface="Vazirmatn"/>
                <a:cs typeface="Vazirmatn"/>
              </a:defRPr>
            </a:pPr>
            <a:r>
              <a:rPr sz="2400" b="0" lang="fa-IR">
                <a:solidFill>
                  <a:srgbClr val="F7F6F2"/>
                </a:solidFill>
                <a:latin typeface="Vazirmatn"/>
                <a:ea typeface="Vazirmatn"/>
                <a:cs typeface="Vazirmatn"/>
              </a:rPr>
              <a:t>به</a:t>
            </a:r>
          </a:p>
        </p:txBody>
      </p:sp>
      <p:sp>
        <p:nvSpPr>
          <p:cNvPr id="8" name="۲۵٫۸۰٪">
            <a:extLst xmlns:a="http://schemas.openxmlformats.org/drawingml/2006/main">
              <a:ext uri="{FF2B5EF4-FFF2-40B4-BE49-F238E27FC236}">
                <a16:creationId xmlns:a16="http://schemas.microsoft.com/office/drawing/2014/main" id="{68D077C8-991F-4873-AE95-3242AADFA190}"/>
              </a:ext>
            </a:extLst>
          </p:cNvPr>
          <p:cNvSpPr>
            <a:spLocks xmlns:a="http://schemas.openxmlformats.org/drawingml/2006/main" noGrp="1"/>
          </p:cNvSpPr>
          <p:nvPr/>
        </p:nvSpPr>
        <p:spPr>
          <a:xfrm xmlns:a="http://schemas.openxmlformats.org/drawingml/2006/main">
            <a:off x="3067050" y="2466975"/>
            <a:ext cx="3609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550" b="1">
                <a:solidFill>
                  <a:srgbClr val="F7F6F2"/>
                </a:solidFill>
                <a:latin typeface="Vazirmatn"/>
                <a:ea typeface="Vazirmatn"/>
                <a:cs typeface="Vazirmatn"/>
              </a:defRPr>
            </a:defPPr>
          </a:lstStyle>
          <a:p xmlns:a="http://schemas.openxmlformats.org/drawingml/2006/main">
            <a:pPr algn="r" rtl="1">
              <a:defRPr sz="5550" b="1" lang="fa-IR">
                <a:solidFill>
                  <a:srgbClr val="F7F6F2"/>
                </a:solidFill>
                <a:latin typeface="Vazirmatn"/>
                <a:ea typeface="Vazirmatn"/>
                <a:cs typeface="Vazirmatn"/>
              </a:defRPr>
            </a:pPr>
            <a:r>
              <a:rPr sz="5550" b="1" lang="fa-IR">
                <a:solidFill>
                  <a:srgbClr val="F7F6F2"/>
                </a:solidFill>
                <a:latin typeface="Vazirmatn"/>
                <a:ea typeface="Vazirmatn"/>
                <a:cs typeface="Vazirmatn"/>
              </a:rPr>
              <a:t>۲۵٫۸۰٪</a:t>
            </a:r>
          </a:p>
        </p:txBody>
      </p:sp>
      <p:sp>
        <p:nvSpPr>
          <p:cNvPr id="9" name="نرخ خطای واژه در تماس‌های واقعی مستقل">
            <a:extLst xmlns:a="http://schemas.openxmlformats.org/drawingml/2006/main">
              <a:ext uri="{FF2B5EF4-FFF2-40B4-BE49-F238E27FC236}">
                <a16:creationId xmlns:a16="http://schemas.microsoft.com/office/drawing/2014/main" id="{B25D44F2-5E3D-4F80-BE40-F61EEF6873CB}"/>
              </a:ext>
            </a:extLst>
          </p:cNvPr>
          <p:cNvSpPr>
            <a:spLocks xmlns:a="http://schemas.openxmlformats.org/drawingml/2006/main" noGrp="1"/>
          </p:cNvSpPr>
          <p:nvPr/>
        </p:nvSpPr>
        <p:spPr>
          <a:xfrm xmlns:a="http://schemas.openxmlformats.org/drawingml/2006/main">
            <a:off x="3067050" y="3724275"/>
            <a:ext cx="8439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B8D8DB"/>
                </a:solidFill>
                <a:latin typeface="Vazirmatn"/>
                <a:ea typeface="Vazirmatn"/>
                <a:cs typeface="Vazirmatn"/>
              </a:defRPr>
            </a:defPPr>
          </a:lstStyle>
          <a:p xmlns:a="http://schemas.openxmlformats.org/drawingml/2006/main">
            <a:pPr algn="r" rtl="1">
              <a:defRPr sz="2025" b="0" lang="fa-IR">
                <a:solidFill>
                  <a:srgbClr val="B8D8DB"/>
                </a:solidFill>
                <a:latin typeface="Vazirmatn"/>
                <a:ea typeface="Vazirmatn"/>
                <a:cs typeface="Vazirmatn"/>
              </a:defRPr>
            </a:pPr>
            <a:r>
              <a:rPr sz="2025" b="0" lang="fa-IR">
                <a:solidFill>
                  <a:srgbClr val="B8D8DB"/>
                </a:solidFill>
                <a:latin typeface="Vazirmatn"/>
                <a:ea typeface="Vazirmatn"/>
                <a:cs typeface="Vazirmatn"/>
              </a:rPr>
              <a:t>نرخ خطای واژه در تماس‌های واقعی مستقل</a:t>
            </a:r>
          </a:p>
        </p:txBody>
      </p:sp>
      <p:sp>
        <p:nvSpPr>
          <p:cNvPr id="10" name="">
            <a:extLst xmlns:a="http://schemas.openxmlformats.org/drawingml/2006/main">
              <a:ext uri="{FF2B5EF4-FFF2-40B4-BE49-F238E27FC236}">
                <a16:creationId xmlns:a16="http://schemas.microsoft.com/office/drawing/2014/main" id="{121C5564-4972-4221-BF46-EAA970EEE1F5}"/>
              </a:ext>
            </a:extLst>
          </p:cNvPr>
          <p:cNvSpPr>
            <a:spLocks xmlns:a="http://schemas.openxmlformats.org/drawingml/2006/main" noGrp="1"/>
          </p:cNvSpPr>
          <p:nvPr/>
        </p:nvSpPr>
        <p:spPr>
          <a:xfrm xmlns:a="http://schemas.openxmlformats.org/drawingml/2006/main">
            <a:off x="3067050" y="4514850"/>
            <a:ext cx="843915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11" name="همجوشی">
            <a:extLst xmlns:a="http://schemas.openxmlformats.org/drawingml/2006/main">
              <a:ext uri="{FF2B5EF4-FFF2-40B4-BE49-F238E27FC236}">
                <a16:creationId xmlns:a16="http://schemas.microsoft.com/office/drawing/2014/main" id="{5EFE2CAA-4ADA-49CE-BB4B-8C7D46B115E4}"/>
              </a:ext>
            </a:extLst>
          </p:cNvPr>
          <p:cNvSpPr>
            <a:spLocks xmlns:a="http://schemas.openxmlformats.org/drawingml/2006/main" noGrp="1"/>
          </p:cNvSpPr>
          <p:nvPr/>
        </p:nvSpPr>
        <p:spPr>
          <a:xfrm xmlns:a="http://schemas.openxmlformats.org/drawingml/2006/main">
            <a:off x="8153400" y="46767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F7F6F2"/>
                </a:solidFill>
                <a:latin typeface="Vazirmatn"/>
                <a:ea typeface="Vazirmatn"/>
                <a:cs typeface="Vazirmatn"/>
              </a:defRPr>
            </a:defPPr>
          </a:lstStyle>
          <a:p xmlns:a="http://schemas.openxmlformats.org/drawingml/2006/main">
            <a:pPr algn="r" rtl="1">
              <a:defRPr sz="2100" b="1" lang="fa-IR">
                <a:solidFill>
                  <a:srgbClr val="F7F6F2"/>
                </a:solidFill>
                <a:latin typeface="Vazirmatn"/>
                <a:ea typeface="Vazirmatn"/>
                <a:cs typeface="Vazirmatn"/>
              </a:defRPr>
            </a:pPr>
            <a:r>
              <a:rPr sz="2100" b="1" lang="fa-IR">
                <a:solidFill>
                  <a:srgbClr val="F7F6F2"/>
                </a:solidFill>
                <a:latin typeface="Vazirmatn"/>
                <a:ea typeface="Vazirmatn"/>
                <a:cs typeface="Vazirmatn"/>
              </a:rPr>
              <a:t>همجوشی</a:t>
            </a:r>
          </a:p>
        </p:txBody>
      </p:sp>
      <p:sp>
        <p:nvSpPr>
          <p:cNvPr id="12" name="۲۵٫۳۷٪ خطای تماس واقعی&#10;بهبود عددی کوچک">
            <a:extLst xmlns:a="http://schemas.openxmlformats.org/drawingml/2006/main">
              <a:ext uri="{FF2B5EF4-FFF2-40B4-BE49-F238E27FC236}">
                <a16:creationId xmlns:a16="http://schemas.microsoft.com/office/drawing/2014/main" id="{5B954961-0DEE-452F-BB8B-4A6F1D08EB08}"/>
              </a:ext>
            </a:extLst>
          </p:cNvPr>
          <p:cNvSpPr>
            <a:spLocks xmlns:a="http://schemas.openxmlformats.org/drawingml/2006/main" noGrp="1"/>
          </p:cNvSpPr>
          <p:nvPr/>
        </p:nvSpPr>
        <p:spPr>
          <a:xfrm xmlns:a="http://schemas.openxmlformats.org/drawingml/2006/main">
            <a:off x="8153400" y="523875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B8D8DB"/>
                </a:solidFill>
                <a:latin typeface="Vazirmatn"/>
                <a:ea typeface="Vazirmatn"/>
                <a:cs typeface="Vazirmatn"/>
              </a:defRPr>
            </a:defPPr>
          </a:lstStyle>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۲۵٫۳۷٪ خطای تماس واقعی</a:t>
            </a:r>
          </a:p>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بهبود عددی کوچک</a:t>
            </a:r>
          </a:p>
        </p:txBody>
      </p:sp>
      <p:sp>
        <p:nvSpPr>
          <p:cNvPr id="13" name="داده کتاب صوتی">
            <a:extLst xmlns:a="http://schemas.openxmlformats.org/drawingml/2006/main">
              <a:ext uri="{FF2B5EF4-FFF2-40B4-BE49-F238E27FC236}">
                <a16:creationId xmlns:a16="http://schemas.microsoft.com/office/drawing/2014/main" id="{4DC47366-34CC-439B-A5DC-8A08B0C25BF4}"/>
              </a:ext>
            </a:extLst>
          </p:cNvPr>
          <p:cNvSpPr>
            <a:spLocks xmlns:a="http://schemas.openxmlformats.org/drawingml/2006/main" noGrp="1"/>
          </p:cNvSpPr>
          <p:nvPr/>
        </p:nvSpPr>
        <p:spPr>
          <a:xfrm xmlns:a="http://schemas.openxmlformats.org/drawingml/2006/main">
            <a:off x="3581400" y="4676775"/>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F7F6F2"/>
                </a:solidFill>
                <a:latin typeface="Vazirmatn"/>
                <a:ea typeface="Vazirmatn"/>
                <a:cs typeface="Vazirmatn"/>
              </a:defRPr>
            </a:defPPr>
          </a:lstStyle>
          <a:p xmlns:a="http://schemas.openxmlformats.org/drawingml/2006/main">
            <a:pPr algn="r" rtl="1">
              <a:defRPr sz="2100" b="1" lang="fa-IR">
                <a:solidFill>
                  <a:srgbClr val="F7F6F2"/>
                </a:solidFill>
                <a:latin typeface="Vazirmatn"/>
                <a:ea typeface="Vazirmatn"/>
                <a:cs typeface="Vazirmatn"/>
              </a:defRPr>
            </a:pPr>
            <a:r>
              <a:rPr sz="2100" b="1" lang="fa-IR">
                <a:solidFill>
                  <a:srgbClr val="F7F6F2"/>
                </a:solidFill>
                <a:latin typeface="Vazirmatn"/>
                <a:ea typeface="Vazirmatn"/>
                <a:cs typeface="Vazirmatn"/>
              </a:rPr>
              <a:t>داده کتاب صوتی</a:t>
            </a:r>
          </a:p>
        </p:txBody>
      </p:sp>
      <p:sp>
        <p:nvSpPr>
          <p:cNvPr id="14" name="۱۷٫۲۲٪ خطای تجمیعی&#10;سود وابسته به دامنه">
            <a:extLst xmlns:a="http://schemas.openxmlformats.org/drawingml/2006/main">
              <a:ext uri="{FF2B5EF4-FFF2-40B4-BE49-F238E27FC236}">
                <a16:creationId xmlns:a16="http://schemas.microsoft.com/office/drawing/2014/main" id="{F26D4B6B-7976-41A9-9823-8489FEE308C4}"/>
              </a:ext>
            </a:extLst>
          </p:cNvPr>
          <p:cNvSpPr>
            <a:spLocks xmlns:a="http://schemas.openxmlformats.org/drawingml/2006/main" noGrp="1"/>
          </p:cNvSpPr>
          <p:nvPr/>
        </p:nvSpPr>
        <p:spPr>
          <a:xfrm xmlns:a="http://schemas.openxmlformats.org/drawingml/2006/main">
            <a:off x="3581400" y="5238750"/>
            <a:ext cx="3905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B8D8DB"/>
                </a:solidFill>
                <a:latin typeface="Vazirmatn"/>
                <a:ea typeface="Vazirmatn"/>
                <a:cs typeface="Vazirmatn"/>
              </a:defRPr>
            </a:defPPr>
          </a:lstStyle>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۱۷٫۲۲٪ خطای تجمیعی</a:t>
            </a:r>
          </a:p>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سود وابسته به دامنه</a:t>
            </a:r>
          </a:p>
        </p:txBody>
      </p:sp>
      <p:sp>
        <p:nvSpPr>
          <p:cNvPr id="15" name="سپاسگزارم&#10;پرسش‌ها">
            <a:extLst xmlns:a="http://schemas.openxmlformats.org/drawingml/2006/main">
              <a:ext uri="{FF2B5EF4-FFF2-40B4-BE49-F238E27FC236}">
                <a16:creationId xmlns:a16="http://schemas.microsoft.com/office/drawing/2014/main" id="{6B93809E-3B9B-4A10-AE7D-85C70BE9926A}"/>
              </a:ext>
            </a:extLst>
          </p:cNvPr>
          <p:cNvSpPr>
            <a:spLocks xmlns:a="http://schemas.openxmlformats.org/drawingml/2006/main" noGrp="1"/>
          </p:cNvSpPr>
          <p:nvPr/>
        </p:nvSpPr>
        <p:spPr>
          <a:xfrm xmlns:a="http://schemas.openxmlformats.org/drawingml/2006/main">
            <a:off x="685800" y="50673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F7F6F2"/>
                </a:solidFill>
                <a:latin typeface="Vazirmatn"/>
                <a:ea typeface="Vazirmatn"/>
                <a:cs typeface="Vazirmatn"/>
              </a:defRPr>
            </a:defPPr>
          </a:lstStyle>
          <a:p xmlns:a="http://schemas.openxmlformats.org/drawingml/2006/main">
            <a:pPr algn="l" rtl="1">
              <a:defRPr sz="2250" b="1" lang="fa-IR">
                <a:solidFill>
                  <a:srgbClr val="F7F6F2"/>
                </a:solidFill>
                <a:latin typeface="Vazirmatn"/>
                <a:ea typeface="Vazirmatn"/>
                <a:cs typeface="Vazirmatn"/>
              </a:defRPr>
            </a:pPr>
            <a:r>
              <a:rPr sz="2250" b="1" lang="fa-IR">
                <a:solidFill>
                  <a:srgbClr val="F7F6F2"/>
                </a:solidFill>
                <a:latin typeface="Vazirmatn"/>
                <a:ea typeface="Vazirmatn"/>
                <a:cs typeface="Vazirmatn"/>
              </a:rPr>
              <a:t>سپاسگزارم</a:t>
            </a:r>
          </a:p>
          <a:p xmlns:a="http://schemas.openxmlformats.org/drawingml/2006/main">
            <a:pPr algn="l" rtl="1">
              <a:defRPr sz="2250" b="1" lang="fa-IR">
                <a:solidFill>
                  <a:srgbClr val="F7F6F2"/>
                </a:solidFill>
                <a:latin typeface="Vazirmatn"/>
                <a:ea typeface="Vazirmatn"/>
                <a:cs typeface="Vazirmatn"/>
              </a:defRPr>
            </a:pPr>
            <a:r>
              <a:rPr sz="2250" b="1" lang="fa-IR">
                <a:solidFill>
                  <a:srgbClr val="F7F6F2"/>
                </a:solidFill>
                <a:latin typeface="Vazirmatn"/>
                <a:ea typeface="Vazirmatn"/>
                <a:cs typeface="Vazirmatn"/>
              </a:rPr>
              <a:t>پرسش‌ها</a:t>
            </a:r>
          </a:p>
        </p:txBody>
      </p:sp>
    </p:spTree>
    <p:extLst>
      <p:ext uri="{BB962C8B-B14F-4D97-AF65-F5344CB8AC3E}">
        <p14:creationId xmlns:p14="http://schemas.microsoft.com/office/powerpoint/2010/main" val="2045210776"/>
      </p:ext>
    </p:extLst>
  </p:cSld>
</p:sld>
</file>

<file path=ppt/slides/slide23.xml><?xml version="1.0" encoding="utf-8"?>
<p:sld xmlns:p="http://schemas.openxmlformats.org/presentationml/2006/main">
  <p:cSld>
    <p:bg>
      <p:bgPr>
        <a:solidFill xmlns:a="http://schemas.openxmlformats.org/drawingml/2006/main">
          <a:srgbClr val="153D42"/>
        </a:solidFill>
      </p:bgPr>
    </p:bg>
    <p:spTree>
      <p:nvGrpSpPr>
        <p:cNvPr id="1" name=""/>
        <p:cNvGrpSpPr/>
        <p:nvPr/>
      </p:nvGrpSpPr>
      <p:grpSpPr>
        <a:xfrm xmlns:a="http://schemas.openxmlformats.org/drawingml/2006/main"/>
      </p:grpSpPr>
      <p:sp>
        <p:nvSpPr>
          <p:cNvPr id="7" name="پیوست پژوهش">
            <a:extLst xmlns:a="http://schemas.openxmlformats.org/drawingml/2006/main">
              <a:ext uri="{FF2B5EF4-FFF2-40B4-BE49-F238E27FC236}">
                <a16:creationId xmlns:a16="http://schemas.microsoft.com/office/drawing/2014/main" id="{A99AFBE3-FBEC-4562-9221-E698AAFFA6F7}"/>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B8D8DB"/>
                </a:solidFill>
                <a:latin typeface="Vazirmatn"/>
                <a:ea typeface="Vazirmatn"/>
                <a:cs typeface="Vazirmatn"/>
              </a:defRPr>
            </a:defPPr>
          </a:lstStyle>
          <a:p xmlns:a="http://schemas.openxmlformats.org/drawingml/2006/main">
            <a:pPr algn="r" rtl="1">
              <a:defRPr sz="1350" b="1" lang="fa-IR">
                <a:solidFill>
                  <a:srgbClr val="B8D8DB"/>
                </a:solidFill>
                <a:latin typeface="Vazirmatn"/>
                <a:ea typeface="Vazirmatn"/>
                <a:cs typeface="Vazirmatn"/>
              </a:defRPr>
            </a:pPr>
            <a:r>
              <a:rPr sz="1350" b="1" lang="fa-IR">
                <a:solidFill>
                  <a:srgbClr val="B8D8DB"/>
                </a:solidFill>
                <a:latin typeface="Vazirmatn"/>
                <a:ea typeface="Vazirmatn"/>
                <a:cs typeface="Vazirmatn"/>
              </a:rPr>
              <a:t>پیوست پژوهش</a:t>
            </a:r>
          </a:p>
        </p:txBody>
      </p:sp>
      <p:sp>
        <p:nvSpPr>
          <p:cNvPr id="2" name="">
            <a:extLst xmlns:a="http://schemas.openxmlformats.org/drawingml/2006/main">
              <a:ext uri="{FF2B5EF4-FFF2-40B4-BE49-F238E27FC236}">
                <a16:creationId xmlns:a16="http://schemas.microsoft.com/office/drawing/2014/main" id="{C8510E18-5A89-4CC9-A980-BE6E982576B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F7F6F2"/>
                </a:solidFill>
                <a:latin typeface="Vazirmatn"/>
                <a:ea typeface="Vazirmatn"/>
                <a:cs typeface="Vazirmatn"/>
              </a:defRPr>
            </a:defPPr>
          </a:lstStyle>
          <a:p xmlns:a="http://schemas.openxmlformats.org/drawingml/2006/main">
            <a:pPr rtl="0"/>
            <a:r>
              <a:t/>
            </a:r>
          </a:p>
        </p:txBody>
      </p:sp>
      <p:sp>
        <p:nvSpPr>
          <p:cNvPr id="3" name="">
            <a:extLst xmlns:a="http://schemas.openxmlformats.org/drawingml/2006/main">
              <a:ext uri="{FF2B5EF4-FFF2-40B4-BE49-F238E27FC236}">
                <a16:creationId xmlns:a16="http://schemas.microsoft.com/office/drawing/2014/main" id="{3AA139CF-1D1C-49C7-8E33-9F6885552F24}"/>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4" name="۲۳ از ۲۸">
            <a:extLst xmlns:a="http://schemas.openxmlformats.org/drawingml/2006/main">
              <a:ext uri="{FF2B5EF4-FFF2-40B4-BE49-F238E27FC236}">
                <a16:creationId xmlns:a16="http://schemas.microsoft.com/office/drawing/2014/main" id="{A393E4DB-F9D1-4F2B-94FC-B89B45A7A47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B8D8DB"/>
                </a:solidFill>
                <a:latin typeface="Vazirmatn"/>
                <a:ea typeface="Vazirmatn"/>
                <a:cs typeface="Vazirmatn"/>
              </a:defRPr>
            </a:defPPr>
          </a:lstStyle>
          <a:p xmlns:a="http://schemas.openxmlformats.org/drawingml/2006/main">
            <a:pPr algn="l" rtl="1">
              <a:defRPr sz="1200" b="0" lang="fa-IR">
                <a:solidFill>
                  <a:srgbClr val="B8D8DB"/>
                </a:solidFill>
                <a:latin typeface="Vazirmatn"/>
                <a:ea typeface="Vazirmatn"/>
                <a:cs typeface="Vazirmatn"/>
              </a:defRPr>
            </a:pPr>
            <a:r>
              <a:rPr sz="1200" b="0" lang="fa-IR">
                <a:solidFill>
                  <a:srgbClr val="B8D8DB"/>
                </a:solidFill>
                <a:latin typeface="Vazirmatn"/>
                <a:ea typeface="Vazirmatn"/>
                <a:cs typeface="Vazirmatn"/>
              </a:rPr>
              <a:t>۲۳ از ۲۸</a:t>
            </a:r>
          </a:p>
        </p:txBody>
      </p:sp>
      <p:sp>
        <p:nvSpPr>
          <p:cNvPr id="5" name="مطالب تکمیلی">
            <a:extLst xmlns:a="http://schemas.openxmlformats.org/drawingml/2006/main">
              <a:ext uri="{FF2B5EF4-FFF2-40B4-BE49-F238E27FC236}">
                <a16:creationId xmlns:a16="http://schemas.microsoft.com/office/drawing/2014/main" id="{501272EC-D846-4953-BAF0-253EC917B7CA}"/>
              </a:ext>
            </a:extLst>
          </p:cNvPr>
          <p:cNvSpPr>
            <a:spLocks xmlns:a="http://schemas.openxmlformats.org/drawingml/2006/main" noGrp="1"/>
          </p:cNvSpPr>
          <p:nvPr/>
        </p:nvSpPr>
        <p:spPr>
          <a:xfrm xmlns:a="http://schemas.openxmlformats.org/drawingml/2006/main">
            <a:off x="685800" y="2171700"/>
            <a:ext cx="10820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250" b="1">
                <a:solidFill>
                  <a:srgbClr val="F7F6F2"/>
                </a:solidFill>
                <a:latin typeface="Vazirmatn"/>
                <a:ea typeface="Vazirmatn"/>
                <a:cs typeface="Vazirmatn"/>
              </a:defRPr>
            </a:defPPr>
          </a:lstStyle>
          <a:p xmlns:a="http://schemas.openxmlformats.org/drawingml/2006/main">
            <a:pPr algn="r" rtl="1">
              <a:defRPr sz="5250" b="1" lang="fa-IR">
                <a:solidFill>
                  <a:srgbClr val="F7F6F2"/>
                </a:solidFill>
                <a:latin typeface="Vazirmatn"/>
                <a:ea typeface="Vazirmatn"/>
                <a:cs typeface="Vazirmatn"/>
              </a:defRPr>
            </a:pPr>
            <a:r>
              <a:rPr sz="5250" b="1" lang="fa-IR">
                <a:solidFill>
                  <a:srgbClr val="F7F6F2"/>
                </a:solidFill>
                <a:latin typeface="Vazirmatn"/>
                <a:ea typeface="Vazirmatn"/>
                <a:cs typeface="Vazirmatn"/>
              </a:rPr>
              <a:t>مطالب تکمیلی</a:t>
            </a:r>
          </a:p>
        </p:txBody>
      </p:sp>
      <p:sp>
        <p:nvSpPr>
          <p:cNvPr id="6" name="جزئیات داده‌ها و نتایج پژوهش">
            <a:extLst xmlns:a="http://schemas.openxmlformats.org/drawingml/2006/main">
              <a:ext uri="{FF2B5EF4-FFF2-40B4-BE49-F238E27FC236}">
                <a16:creationId xmlns:a16="http://schemas.microsoft.com/office/drawing/2014/main" id="{1607CA76-01A4-4C5C-9175-1B947C5E4A95}"/>
              </a:ext>
            </a:extLst>
          </p:cNvPr>
          <p:cNvSpPr>
            <a:spLocks xmlns:a="http://schemas.openxmlformats.org/drawingml/2006/main" noGrp="1"/>
          </p:cNvSpPr>
          <p:nvPr/>
        </p:nvSpPr>
        <p:spPr>
          <a:xfrm xmlns:a="http://schemas.openxmlformats.org/drawingml/2006/main">
            <a:off x="685800" y="34956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0">
                <a:solidFill>
                  <a:srgbClr val="B8D8DB"/>
                </a:solidFill>
                <a:latin typeface="Vazirmatn"/>
                <a:ea typeface="Vazirmatn"/>
                <a:cs typeface="Vazirmatn"/>
              </a:defRPr>
            </a:defPPr>
          </a:lstStyle>
          <a:p xmlns:a="http://schemas.openxmlformats.org/drawingml/2006/main">
            <a:pPr algn="r" rtl="1">
              <a:defRPr sz="2475" b="0" lang="fa-IR">
                <a:solidFill>
                  <a:srgbClr val="B8D8DB"/>
                </a:solidFill>
                <a:latin typeface="Vazirmatn"/>
                <a:ea typeface="Vazirmatn"/>
                <a:cs typeface="Vazirmatn"/>
              </a:defRPr>
            </a:pPr>
            <a:r>
              <a:rPr sz="2475" b="0" lang="fa-IR">
                <a:solidFill>
                  <a:srgbClr val="B8D8DB"/>
                </a:solidFill>
                <a:latin typeface="Vazirmatn"/>
                <a:ea typeface="Vazirmatn"/>
                <a:cs typeface="Vazirmatn"/>
              </a:rPr>
              <a:t>جزئیات داده‌ها و نتایج پژوهش</a:t>
            </a:r>
          </a:p>
        </p:txBody>
      </p:sp>
    </p:spTree>
    <p:extLst>
      <p:ext uri="{BB962C8B-B14F-4D97-AF65-F5344CB8AC3E}">
        <p14:creationId xmlns:p14="http://schemas.microsoft.com/office/powerpoint/2010/main" val="1061703523"/>
      </p:ext>
    </p:extLst>
  </p:cSld>
</p:sld>
</file>

<file path=ppt/slides/slide2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مطالب تکمیلی">
            <a:extLst xmlns:a="http://schemas.openxmlformats.org/drawingml/2006/main">
              <a:ext uri="{FF2B5EF4-FFF2-40B4-BE49-F238E27FC236}">
                <a16:creationId xmlns:a16="http://schemas.microsoft.com/office/drawing/2014/main" id="{F04FF884-83F2-48C9-BD2A-B86499A3B32D}"/>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مطالب تکمیلی</a:t>
            </a:r>
          </a:p>
        </p:txBody>
      </p:sp>
      <p:sp>
        <p:nvSpPr>
          <p:cNvPr id="2" name="اندازه پیکره‌ها و تنظیمات خط مبنا">
            <a:extLst xmlns:a="http://schemas.openxmlformats.org/drawingml/2006/main">
              <a:ext uri="{FF2B5EF4-FFF2-40B4-BE49-F238E27FC236}">
                <a16:creationId xmlns:a16="http://schemas.microsoft.com/office/drawing/2014/main" id="{46A5363D-A65D-43C2-8973-ED740576881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اندازه پیکره‌ها و تنظیمات خط مبنا</a:t>
            </a:r>
          </a:p>
        </p:txBody>
      </p:sp>
      <p:sp>
        <p:nvSpPr>
          <p:cNvPr id="3" name="">
            <a:extLst xmlns:a="http://schemas.openxmlformats.org/drawingml/2006/main">
              <a:ext uri="{FF2B5EF4-FFF2-40B4-BE49-F238E27FC236}">
                <a16:creationId xmlns:a16="http://schemas.microsoft.com/office/drawing/2014/main" id="{350B4DBB-2C23-45B6-A13E-301DD9A1929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۴ از ۲۸">
            <a:extLst xmlns:a="http://schemas.openxmlformats.org/drawingml/2006/main">
              <a:ext uri="{FF2B5EF4-FFF2-40B4-BE49-F238E27FC236}">
                <a16:creationId xmlns:a16="http://schemas.microsoft.com/office/drawing/2014/main" id="{ECF1025D-6508-4E51-AC38-B766F7B58C26}"/>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۲۴ از ۲۸</a:t>
            </a:r>
          </a:p>
        </p:txBody>
      </p:sp>
      <p:graphicFrame>
        <p:nvGraphicFramePr>
          <p:cNvPr id="5" name="">
            <a:extLst xmlns:a="http://schemas.openxmlformats.org/drawingml/2006/main">
              <a:ext uri="{FF2B5EF4-FFF2-40B4-BE49-F238E27FC236}">
                <a16:creationId xmlns:a16="http://schemas.microsoft.com/office/drawing/2014/main" id="{ABDCA45A-95E4-4003-9FAB-C982B59DB68E}"/>
              </a:ext>
            </a:extLst>
          </p:cNvPr>
          <p:cNvGraphicFramePr/>
          <p:nvPr/>
        </p:nvGraphicFramePr>
        <p:xfrm>
          <a:off xmlns:a="http://schemas.openxmlformats.org/drawingml/2006/main" x="685800" y="1809750"/>
          <a:ext xmlns:a="http://schemas.openxmlformats.org/drawingml/2006/main" cx="10820400" cy="2419350"/>
        </p:xfrm>
        <a:graphic xmlns:a="http://schemas.openxmlformats.org/drawingml/2006/main">
          <a:graphicData uri="http://schemas.openxmlformats.org/drawingml/2006/table">
            <a:tbl>
              <a:tblPr/>
              <a:tblGrid>
                <a:gridCol w="3810000"/>
                <a:gridCol w="1857375"/>
                <a:gridCol w="1857375"/>
                <a:gridCol w="3295650"/>
              </a:tblGrid>
              <a:tr h="533400">
                <a:tc>
                  <a:txBody>
                    <a:bodyPr lIns="57150" tIns="57150" rIns="57150" bIns="57150">
                      <a:noAutofit/>
                    </a:bodyPr>
                    <a:lstStyle/>
                    <a:p>
                      <a:pPr algn="ctr" rtl="1"/>
                      <a:r>
                        <a:rPr sz="1650" b="1" lang="fa-IR">
                          <a:solidFill>
                            <a:srgbClr val="F7F6F2"/>
                          </a:solidFill>
                          <a:latin typeface="Vazirmatn"/>
                          <a:ea typeface="Vazirmatn"/>
                          <a:cs typeface="Vazirmatn"/>
                        </a:rPr>
                        <a:t>نقش در آموزش</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1"/>
                      <a:r>
                        <a:rPr sz="1650" b="1" lang="fa-IR">
                          <a:solidFill>
                            <a:srgbClr val="F7F6F2"/>
                          </a:solidFill>
                          <a:latin typeface="Vazirmatn"/>
                          <a:ea typeface="Vazirmatn"/>
                          <a:cs typeface="Vazirmatn"/>
                        </a:rPr>
                        <a:t>اعتبارسنجی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1"/>
                      <a:r>
                        <a:rPr sz="1650" b="1" lang="fa-IR">
                          <a:solidFill>
                            <a:srgbClr val="F7F6F2"/>
                          </a:solidFill>
                          <a:latin typeface="Vazirmatn"/>
                          <a:ea typeface="Vazirmatn"/>
                          <a:cs typeface="Vazirmatn"/>
                        </a:rPr>
                        <a:t>آموزش</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r" rtl="1"/>
                      <a:r>
                        <a:rPr sz="1650" b="1" lang="fa-IR">
                          <a:solidFill>
                            <a:srgbClr val="F7F6F2"/>
                          </a:solidFill>
                          <a:latin typeface="Vazirmatn"/>
                          <a:ea typeface="Vazirmatn"/>
                          <a:cs typeface="Vazirmatn"/>
                        </a:rPr>
                        <a:t>پیکره پایه</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628650">
                <a:tc>
                  <a:txBody>
                    <a:bodyPr lIns="57150" tIns="57150" rIns="57150" bIns="57150">
                      <a:noAutofit/>
                    </a:bodyPr>
                    <a:lstStyle/>
                    <a:p>
                      <a:pPr algn="ctr" rtl="1"/>
                      <a:r>
                        <a:rPr sz="1875" b="0" lang="fa-IR">
                          <a:solidFill>
                            <a:srgbClr val="1F2933"/>
                          </a:solidFill>
                          <a:latin typeface="Vazirmatn"/>
                          <a:ea typeface="Vazirmatn"/>
                          <a:cs typeface="Vazirmatn"/>
                        </a:rPr>
                        <a:t>گفتار عمومی و تولید تخریب</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75" b="0" lang="fa-IR">
                          <a:solidFill>
                            <a:srgbClr val="1F2933"/>
                          </a:solidFill>
                          <a:latin typeface="Vazirmatn"/>
                          <a:ea typeface="Vazirmatn"/>
                          <a:cs typeface="Vazirmatn"/>
                        </a:rPr>
                        <a:t>۱۰۰۰۶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75" b="0" lang="fa-IR">
                          <a:solidFill>
                            <a:srgbClr val="1F2933"/>
                          </a:solidFill>
                          <a:latin typeface="Vazirmatn"/>
                          <a:ea typeface="Vazirmatn"/>
                          <a:cs typeface="Vazirmatn"/>
                        </a:rPr>
                        <a:t>۲۹۹۴۳۰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کامن‌وویس فارسی ۲۵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628650">
                <a:tc>
                  <a:txBody>
                    <a:bodyPr lIns="57150" tIns="57150" rIns="57150" bIns="57150">
                      <a:noAutofit/>
                    </a:bodyPr>
                    <a:lstStyle/>
                    <a:p>
                      <a:pPr algn="ctr" rtl="1"/>
                      <a:r>
                        <a:rPr sz="1875" b="0" lang="fa-IR">
                          <a:solidFill>
                            <a:srgbClr val="1F2933"/>
                          </a:solidFill>
                          <a:latin typeface="Vazirmatn"/>
                          <a:ea typeface="Vazirmatn"/>
                          <a:cs typeface="Vazirmatn"/>
                        </a:rPr>
                        <a:t>گفتار بداهه فارسی</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75" b="0" lang="fa-IR">
                          <a:solidFill>
                            <a:srgbClr val="1F2933"/>
                          </a:solidFill>
                          <a:latin typeface="Vazirmatn"/>
                          <a:ea typeface="Vazirmatn"/>
                          <a:cs typeface="Vazirmatn"/>
                        </a:rPr>
                        <a:t>۶۰۴۴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75" b="0" lang="fa-IR">
                          <a:solidFill>
                            <a:srgbClr val="1F2933"/>
                          </a:solidFill>
                          <a:latin typeface="Vazirmatn"/>
                          <a:ea typeface="Vazirmatn"/>
                          <a:cs typeface="Vazirmatn"/>
                        </a:rPr>
                        <a:t>۶۰۰۶۷۲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فارس‌اسپان (محدود)</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628650">
                <a:tc>
                  <a:txBody>
                    <a:bodyPr lIns="57150" tIns="57150" rIns="57150" bIns="57150">
                      <a:noAutofit/>
                    </a:bodyPr>
                    <a:lstStyle/>
                    <a:p>
                      <a:pPr algn="ctr" rtl="1"/>
                      <a:r>
                        <a:rPr sz="1875" b="0" lang="fa-IR">
                          <a:solidFill>
                            <a:srgbClr val="1F2933"/>
                          </a:solidFill>
                          <a:latin typeface="Vazirmatn"/>
                          <a:ea typeface="Vazirmatn"/>
                          <a:cs typeface="Vazirmatn"/>
                        </a:rPr>
                        <a:t>تنوع دامنه</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75" b="0" lang="fa-IR">
                          <a:solidFill>
                            <a:srgbClr val="1F2933"/>
                          </a:solidFill>
                          <a:latin typeface="Vazirmatn"/>
                          <a:ea typeface="Vazirmatn"/>
                          <a:cs typeface="Vazirmatn"/>
                        </a:rPr>
                        <a:t>۳۶۲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75" b="0" lang="fa-IR">
                          <a:solidFill>
                            <a:srgbClr val="1F2933"/>
                          </a:solidFill>
                          <a:latin typeface="Vazirmatn"/>
                          <a:ea typeface="Vazirmatn"/>
                          <a:cs typeface="Vazirmatn"/>
                        </a:rPr>
                        <a:t>۳۰۱۹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فلورز فارسی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ویسپر کوچک تک‌جریانه">
            <a:extLst xmlns:a="http://schemas.openxmlformats.org/drawingml/2006/main">
              <a:ext uri="{FF2B5EF4-FFF2-40B4-BE49-F238E27FC236}">
                <a16:creationId xmlns:a16="http://schemas.microsoft.com/office/drawing/2014/main" id="{AE825ABA-09A8-494B-9903-61F44F05935A}"/>
              </a:ext>
            </a:extLst>
          </p:cNvPr>
          <p:cNvSpPr>
            <a:spLocks xmlns:a="http://schemas.openxmlformats.org/drawingml/2006/main" noGrp="1"/>
          </p:cNvSpPr>
          <p:nvPr/>
        </p:nvSpPr>
        <p:spPr>
          <a:xfrm xmlns:a="http://schemas.openxmlformats.org/drawingml/2006/main">
            <a:off x="7048500" y="4476750"/>
            <a:ext cx="445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ویسپر کوچک تک‌جریانه</a:t>
            </a:r>
          </a:p>
        </p:txBody>
      </p:sp>
      <p:sp>
        <p:nvSpPr>
          <p:cNvPr id="7" name="یک دوره، نرخ یادگیری ⁦1e-5⁩&#10;دسته ۴ و انباشت ۸ گام: ۳۲ نمونه">
            <a:extLst xmlns:a="http://schemas.openxmlformats.org/drawingml/2006/main">
              <a:ext uri="{FF2B5EF4-FFF2-40B4-BE49-F238E27FC236}">
                <a16:creationId xmlns:a16="http://schemas.microsoft.com/office/drawing/2014/main" id="{90EEB4AB-CCC5-44FE-B98A-0F35C695131D}"/>
              </a:ext>
            </a:extLst>
          </p:cNvPr>
          <p:cNvSpPr>
            <a:spLocks xmlns:a="http://schemas.openxmlformats.org/drawingml/2006/main" noGrp="1"/>
          </p:cNvSpPr>
          <p:nvPr/>
        </p:nvSpPr>
        <p:spPr>
          <a:xfrm xmlns:a="http://schemas.openxmlformats.org/drawingml/2006/main">
            <a:off x="7048500" y="4981575"/>
            <a:ext cx="4457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یک دوره، نرخ یادگیری ⁦1e-5⁩</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دسته ۴ و انباشت ۸ گام: ۳۲ نمونه</a:t>
            </a:r>
          </a:p>
        </p:txBody>
      </p:sp>
      <p:sp>
        <p:nvSpPr>
          <p:cNvPr id="8" name="جزئیات آزمون AGFarsdat">
            <a:extLst xmlns:a="http://schemas.openxmlformats.org/drawingml/2006/main">
              <a:ext uri="{FF2B5EF4-FFF2-40B4-BE49-F238E27FC236}">
                <a16:creationId xmlns:a16="http://schemas.microsoft.com/office/drawing/2014/main" id="{90CF9CC0-FB5D-4809-AB3F-11B779424B08}"/>
              </a:ext>
            </a:extLst>
          </p:cNvPr>
          <p:cNvSpPr>
            <a:spLocks xmlns:a="http://schemas.openxmlformats.org/drawingml/2006/main" noGrp="1"/>
          </p:cNvSpPr>
          <p:nvPr/>
        </p:nvSpPr>
        <p:spPr>
          <a:xfrm xmlns:a="http://schemas.openxmlformats.org/drawingml/2006/main">
            <a:off x="685800" y="44767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جزئیات آزمون AGFarsdat</a:t>
            </a:r>
          </a:p>
        </p:txBody>
      </p:sp>
      <p:sp>
        <p:nvSpPr>
          <p:cNvPr id="9" name="۵۸۵ گوینده و ۴۹٫۹ ساعت&#10;صوت منبع: تک‌کاناله، ۸ کیلوهرتز، ۱۶ بیت">
            <a:extLst xmlns:a="http://schemas.openxmlformats.org/drawingml/2006/main">
              <a:ext uri="{FF2B5EF4-FFF2-40B4-BE49-F238E27FC236}">
                <a16:creationId xmlns:a16="http://schemas.microsoft.com/office/drawing/2014/main" id="{E94AA2AB-AC53-47ED-B855-092759F650AF}"/>
              </a:ext>
            </a:extLst>
          </p:cNvPr>
          <p:cNvSpPr>
            <a:spLocks xmlns:a="http://schemas.openxmlformats.org/drawingml/2006/main" noGrp="1"/>
          </p:cNvSpPr>
          <p:nvPr/>
        </p:nvSpPr>
        <p:spPr>
          <a:xfrm xmlns:a="http://schemas.openxmlformats.org/drawingml/2006/main">
            <a:off x="685800" y="4981575"/>
            <a:ext cx="571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۵۸۵ گوینده و ۴۹٫۹ ساعت</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صوت منبع: تک‌کاناله، ۸ کیلوهرتز، ۱۶ بیت</a:t>
            </a:r>
          </a:p>
        </p:txBody>
      </p:sp>
      <p:sp>
        <p:nvSpPr>
          <p:cNvPr id="10" name="تعدادها مربوط به پیکره پایه‌اند. گونه‌های بلند، تخریب‌شده و ایران‌صدا در این جدول نیستند">
            <a:extLst xmlns:a="http://schemas.openxmlformats.org/drawingml/2006/main">
              <a:ext uri="{FF2B5EF4-FFF2-40B4-BE49-F238E27FC236}">
                <a16:creationId xmlns:a16="http://schemas.microsoft.com/office/drawing/2014/main" id="{89E92EA7-0D12-47FD-BE05-CD3366BC3FDB}"/>
              </a:ext>
            </a:extLst>
          </p:cNvPr>
          <p:cNvSpPr>
            <a:spLocks xmlns:a="http://schemas.openxmlformats.org/drawingml/2006/main" noGrp="1"/>
          </p:cNvSpPr>
          <p:nvPr/>
        </p:nvSpPr>
        <p:spPr>
          <a:xfrm xmlns:a="http://schemas.openxmlformats.org/drawingml/2006/main">
            <a:off x="685800" y="60198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تعدادها مربوط به پیکره پایه‌اند. گونه‌های بلند، تخریب‌شده و ایران‌صدا در این جدول نیستند</a:t>
            </a:r>
          </a:p>
        </p:txBody>
      </p:sp>
    </p:spTree>
    <p:extLst>
      <p:ext uri="{BB962C8B-B14F-4D97-AF65-F5344CB8AC3E}">
        <p14:creationId xmlns:p14="http://schemas.microsoft.com/office/powerpoint/2010/main" val="85010823"/>
      </p:ext>
    </p:extLst>
  </p:cSld>
</p:sld>
</file>

<file path=ppt/slides/slide2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مطالب تکمیلی">
            <a:extLst xmlns:a="http://schemas.openxmlformats.org/drawingml/2006/main">
              <a:ext uri="{FF2B5EF4-FFF2-40B4-BE49-F238E27FC236}">
                <a16:creationId xmlns:a16="http://schemas.microsoft.com/office/drawing/2014/main" id="{05AF1C53-47E3-46B3-B187-2824CC9EB0C5}"/>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مطالب تکمیلی</a:t>
            </a:r>
          </a:p>
        </p:txBody>
      </p:sp>
      <p:sp>
        <p:nvSpPr>
          <p:cNvPr id="2" name="نرخ خطای واژه به تفکیک مجموعه">
            <a:extLst xmlns:a="http://schemas.openxmlformats.org/drawingml/2006/main">
              <a:ext uri="{FF2B5EF4-FFF2-40B4-BE49-F238E27FC236}">
                <a16:creationId xmlns:a16="http://schemas.microsoft.com/office/drawing/2014/main" id="{B0AFA3EA-AB5C-4B35-BE96-792A1127E407}"/>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نرخ خطای واژه به تفکیک مجموعه</a:t>
            </a:r>
          </a:p>
        </p:txBody>
      </p:sp>
      <p:sp>
        <p:nvSpPr>
          <p:cNvPr id="3" name="">
            <a:extLst xmlns:a="http://schemas.openxmlformats.org/drawingml/2006/main">
              <a:ext uri="{FF2B5EF4-FFF2-40B4-BE49-F238E27FC236}">
                <a16:creationId xmlns:a16="http://schemas.microsoft.com/office/drawing/2014/main" id="{974F4462-8ABF-43AA-888F-1997514512A4}"/>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۵ از ۲۸">
            <a:extLst xmlns:a="http://schemas.openxmlformats.org/drawingml/2006/main">
              <a:ext uri="{FF2B5EF4-FFF2-40B4-BE49-F238E27FC236}">
                <a16:creationId xmlns:a16="http://schemas.microsoft.com/office/drawing/2014/main" id="{8C6D56E9-4618-4276-B9E0-9FAD5523E8E4}"/>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۲۵ از ۲۸</a:t>
            </a:r>
          </a:p>
        </p:txBody>
      </p:sp>
      <p:graphicFrame>
        <p:nvGraphicFramePr>
          <p:cNvPr id="5" name="">
            <a:extLst xmlns:a="http://schemas.openxmlformats.org/drawingml/2006/main">
              <a:ext uri="{FF2B5EF4-FFF2-40B4-BE49-F238E27FC236}">
                <a16:creationId xmlns:a16="http://schemas.microsoft.com/office/drawing/2014/main" id="{EC076C6F-27A8-4393-B9A3-C4DF8AB937E9}"/>
              </a:ext>
            </a:extLst>
          </p:cNvPr>
          <p:cNvGraphicFramePr/>
          <p:nvPr/>
        </p:nvGraphicFramePr>
        <p:xfrm>
          <a:off xmlns:a="http://schemas.openxmlformats.org/drawingml/2006/main" x="685800" y="1752600"/>
          <a:ext xmlns:a="http://schemas.openxmlformats.org/drawingml/2006/main" cx="10820400" cy="4171950"/>
        </p:xfrm>
        <a:graphic xmlns:a="http://schemas.openxmlformats.org/drawingml/2006/main">
          <a:graphicData uri="http://schemas.openxmlformats.org/drawingml/2006/table">
            <a:tbl>
              <a:tblPr/>
              <a:tblGrid>
                <a:gridCol w="1476375"/>
                <a:gridCol w="1524000"/>
                <a:gridCol w="1333500"/>
                <a:gridCol w="1476375"/>
                <a:gridCol w="1524000"/>
                <a:gridCol w="3486150"/>
              </a:tblGrid>
              <a:tr h="666750">
                <a:tc>
                  <a:txBody>
                    <a:bodyPr lIns="57150" tIns="57150" rIns="57150" bIns="57150">
                      <a:noAutofit/>
                    </a:bodyPr>
                    <a:lstStyle/>
                    <a:p>
                      <a:pPr algn="ctr" rtl="1"/>
                      <a:r>
                        <a:rPr sz="1650" b="1" lang="fa-IR">
                          <a:solidFill>
                            <a:srgbClr val="F7F6F2"/>
                          </a:solidFill>
                          <a:latin typeface="Vazirmatn"/>
                          <a:ea typeface="Vazirmatn"/>
                          <a:cs typeface="Vazirmatn"/>
                        </a:rPr>
                        <a:t>پیکره گفتار</a:t>
                      </a:r>
                    </a:p>
                    <a:p>
                      <a:pPr algn="ctr" rtl="1"/>
                      <a:r>
                        <a:rPr sz="1650" b="1" lang="fa-IR">
                          <a:solidFill>
                            <a:srgbClr val="F7F6F2"/>
                          </a:solidFill>
                          <a:latin typeface="Vazirmatn"/>
                          <a:ea typeface="Vazirmatn"/>
                          <a:cs typeface="Vazirmatn"/>
                        </a:rPr>
                        <a:t>فارسی</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1"/>
                      <a:r>
                        <a:rPr sz="1650" b="1" lang="fa-IR">
                          <a:solidFill>
                            <a:srgbClr val="F7F6F2"/>
                          </a:solidFill>
                          <a:latin typeface="Vazirmatn"/>
                          <a:ea typeface="Vazirmatn"/>
                          <a:cs typeface="Vazirmatn"/>
                        </a:rPr>
                        <a:t>پرشین‌اسپیچ¹</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1"/>
                      <a:r>
                        <a:rPr sz="1650" b="1" lang="fa-IR">
                          <a:solidFill>
                            <a:srgbClr val="F7F6F2"/>
                          </a:solidFill>
                          <a:latin typeface="Vazirmatn"/>
                          <a:ea typeface="Vazirmatn"/>
                          <a:cs typeface="Vazirmatn"/>
                        </a:rPr>
                        <a:t>فلورز</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1"/>
                      <a:r>
                        <a:rPr sz="1650" b="1" lang="fa-IR">
                          <a:solidFill>
                            <a:srgbClr val="F7F6F2"/>
                          </a:solidFill>
                          <a:latin typeface="Vazirmatn"/>
                          <a:ea typeface="Vazirmatn"/>
                          <a:cs typeface="Vazirmatn"/>
                        </a:rPr>
                        <a:t>کامن‌وویس</a:t>
                      </a:r>
                    </a:p>
                    <a:p>
                      <a:pPr algn="ctr" rtl="1"/>
                      <a:r>
                        <a:rPr sz="1650" b="1" lang="fa-IR">
                          <a:solidFill>
                            <a:srgbClr val="F7F6F2"/>
                          </a:solidFill>
                          <a:latin typeface="Vazirmatn"/>
                          <a:ea typeface="Vazirmatn"/>
                          <a:cs typeface="Vazirmatn"/>
                        </a:rPr>
                        <a:t>۲۵</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AGFarsdat</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r" rtl="1"/>
                      <a:r>
                        <a:rPr sz="1650" b="1" lang="fa-IR">
                          <a:solidFill>
                            <a:srgbClr val="F7F6F2"/>
                          </a:solidFill>
                          <a:latin typeface="Vazirmatn"/>
                          <a:ea typeface="Vazirmatn"/>
                          <a:cs typeface="Vazirmatn"/>
                        </a:rPr>
                        <a:t>سامانه</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۳۰٫۱۷٪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۳۴٫۵۳٪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۲۱٫۰۵٪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۱۱٫۵۲٪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۳۵٫۶۳٪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معمولی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۳۰٫۴۷٪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۳۳٫۵۷٪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۱۹٫۲۶٪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۷٫۸۶٪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۳۲٫۶۷٪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داده‌افزایی نویزی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۳۰٫۵۰٪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۳۱٫۶۵٪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۲۰٫۲۳٪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۷٫۲۵٪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۳۰٫۰۱٪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pMCT</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۳۰٫۹۰٪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۳۵٫۲۵٪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۱۹٫۸۲٪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۷٫۸۴٪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۲۵٫۸۰٪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چندشرایطی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۳۳٫۸۲٪</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۳۱٫۸۱٪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۱۹٫۶۷٪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۷٫۵۳٪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۲۵٫۳۷٪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همجوشی دوجریانه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۳۲٫۳۲٪</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۳۵٫۰۹٪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۱۹٫۷۳٪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۷٫۶۳٪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۲۵٫۸۴٪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پل تطبیقی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0" lang="fa-IR">
                          <a:solidFill>
                            <a:srgbClr val="1F2933"/>
                          </a:solidFill>
                          <a:latin typeface="Vazirmatn"/>
                          <a:ea typeface="Vazirmatn"/>
                          <a:cs typeface="Vazirmatn"/>
                        </a:rPr>
                        <a:t>۳۱٫۱۷٪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۳۱٫۶۵٪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۱۷٫۱۴٪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1" lang="fa-IR">
                          <a:solidFill>
                            <a:srgbClr val="1D6F8A"/>
                          </a:solidFill>
                          <a:latin typeface="Vazirmatn"/>
                          <a:ea typeface="Vazirmatn"/>
                          <a:cs typeface="Vazirmatn"/>
                        </a:rPr>
                        <a:t>۳٫۸۴٪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1" lang="fa-IR">
                          <a:solidFill>
                            <a:srgbClr val="1D6F8A"/>
                          </a:solidFill>
                          <a:latin typeface="Vazirmatn"/>
                          <a:ea typeface="Vazirmatn"/>
                          <a:cs typeface="Vazirmatn"/>
                        </a:rPr>
                        <a:t>۲۱٫۹۹٪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ویسپر متوسط</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38150">
                <a:tc>
                  <a:txBody>
                    <a:bodyPr lIns="57150" tIns="57150" rIns="57150" bIns="57150">
                      <a:noAutofit/>
                    </a:bodyPr>
                    <a:lstStyle/>
                    <a:p>
                      <a:pPr algn="ctr" rtl="1"/>
                      <a:r>
                        <a:rPr sz="1800" b="1" lang="fa-IR">
                          <a:solidFill>
                            <a:srgbClr val="1D6F8A"/>
                          </a:solidFill>
                          <a:latin typeface="Vazirmatn"/>
                          <a:ea typeface="Vazirmatn"/>
                          <a:cs typeface="Vazirmatn"/>
                        </a:rPr>
                        <a:t>۲۵٫۸۷٪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1" lang="fa-IR">
                          <a:solidFill>
                            <a:srgbClr val="1D6F8A"/>
                          </a:solidFill>
                          <a:latin typeface="Vazirmatn"/>
                          <a:ea typeface="Vazirmatn"/>
                          <a:cs typeface="Vazirmatn"/>
                        </a:rPr>
                        <a:t>۲۶٫۸۶٪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1" lang="fa-IR">
                          <a:solidFill>
                            <a:srgbClr val="1D6F8A"/>
                          </a:solidFill>
                          <a:latin typeface="Vazirmatn"/>
                          <a:ea typeface="Vazirmatn"/>
                          <a:cs typeface="Vazirmatn"/>
                        </a:rPr>
                        <a:t>۱۳٫۷۸٪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۸٫۱۹٪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۲۶٫۶۶٪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چندشرایطی و ایران‌صدا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همه اعداد WER و درصد هستند. ¹ فقط ۲۴ نمونه. تعداد واجدشرایط پیکره گفتار فارسی تغییر می‌کند">
            <a:extLst xmlns:a="http://schemas.openxmlformats.org/drawingml/2006/main">
              <a:ext uri="{FF2B5EF4-FFF2-40B4-BE49-F238E27FC236}">
                <a16:creationId xmlns:a16="http://schemas.microsoft.com/office/drawing/2014/main" id="{328CD45A-5CED-40E5-A2DE-2B3F8902A566}"/>
              </a:ext>
            </a:extLst>
          </p:cNvPr>
          <p:cNvSpPr>
            <a:spLocks xmlns:a="http://schemas.openxmlformats.org/drawingml/2006/main" noGrp="1"/>
          </p:cNvSpPr>
          <p:nvPr/>
        </p:nvSpPr>
        <p:spPr>
          <a:xfrm xmlns:a="http://schemas.openxmlformats.org/drawingml/2006/main">
            <a:off x="685800" y="60769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همه اعداد WER و درصد هستند. ¹ فقط ۲۴ نمونه. تعداد واجدشرایط پیکره گفتار فارسی تغییر می‌کند</a:t>
            </a:r>
          </a:p>
        </p:txBody>
      </p:sp>
    </p:spTree>
    <p:extLst>
      <p:ext uri="{BB962C8B-B14F-4D97-AF65-F5344CB8AC3E}">
        <p14:creationId xmlns:p14="http://schemas.microsoft.com/office/powerpoint/2010/main" val="942410244"/>
      </p:ext>
    </p:extLst>
  </p:cSld>
</p:sld>
</file>

<file path=ppt/slides/slide2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مطالب تکمیلی">
            <a:extLst xmlns:a="http://schemas.openxmlformats.org/drawingml/2006/main">
              <a:ext uri="{FF2B5EF4-FFF2-40B4-BE49-F238E27FC236}">
                <a16:creationId xmlns:a16="http://schemas.microsoft.com/office/drawing/2014/main" id="{639126DC-9EF4-4DF4-AD15-CD62F6779905}"/>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مطالب تکمیلی</a:t>
            </a:r>
          </a:p>
        </p:txBody>
      </p:sp>
      <p:sp>
        <p:nvSpPr>
          <p:cNvPr id="2" name="آموزش چندشرایطی در فست کانفورمر">
            <a:extLst xmlns:a="http://schemas.openxmlformats.org/drawingml/2006/main">
              <a:ext uri="{FF2B5EF4-FFF2-40B4-BE49-F238E27FC236}">
                <a16:creationId xmlns:a16="http://schemas.microsoft.com/office/drawing/2014/main" id="{8FF1A354-F8D2-4854-93F3-A1A7A915E17E}"/>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آموزش چندشرایطی در فست کانفورمر</a:t>
            </a:r>
          </a:p>
        </p:txBody>
      </p:sp>
      <p:sp>
        <p:nvSpPr>
          <p:cNvPr id="3" name="">
            <a:extLst xmlns:a="http://schemas.openxmlformats.org/drawingml/2006/main">
              <a:ext uri="{FF2B5EF4-FFF2-40B4-BE49-F238E27FC236}">
                <a16:creationId xmlns:a16="http://schemas.microsoft.com/office/drawing/2014/main" id="{7E75F598-E813-41E0-867E-D9EA310C099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۶ از ۲۸">
            <a:extLst xmlns:a="http://schemas.openxmlformats.org/drawingml/2006/main">
              <a:ext uri="{FF2B5EF4-FFF2-40B4-BE49-F238E27FC236}">
                <a16:creationId xmlns:a16="http://schemas.microsoft.com/office/drawing/2014/main" id="{3FC02379-8733-4701-A2FB-A64D91B2E91C}"/>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۲۶ از ۲۸</a:t>
            </a:r>
          </a:p>
        </p:txBody>
      </p:sp>
      <p:graphicFrame>
        <p:nvGraphicFramePr>
          <p:cNvPr id="5" name="">
            <a:extLst xmlns:a="http://schemas.openxmlformats.org/drawingml/2006/main">
              <a:ext uri="{FF2B5EF4-FFF2-40B4-BE49-F238E27FC236}">
                <a16:creationId xmlns:a16="http://schemas.microsoft.com/office/drawing/2014/main" id="{1B9E6518-7CBF-496E-9EF4-05D1CCF92684}"/>
              </a:ext>
            </a:extLst>
          </p:cNvPr>
          <p:cNvGraphicFramePr/>
          <p:nvPr/>
        </p:nvGraphicFramePr>
        <p:xfrm>
          <a:off xmlns:a="http://schemas.openxmlformats.org/drawingml/2006/main" x="685800" y="1809750"/>
          <a:ext xmlns:a="http://schemas.openxmlformats.org/drawingml/2006/main" cx="10820400" cy="3695700"/>
        </p:xfrm>
        <a:graphic xmlns:a="http://schemas.openxmlformats.org/drawingml/2006/main">
          <a:graphicData uri="http://schemas.openxmlformats.org/drawingml/2006/table">
            <a:tbl>
              <a:tblPr/>
              <a:tblGrid>
                <a:gridCol w="1666875"/>
                <a:gridCol w="1666875"/>
                <a:gridCol w="1666875"/>
                <a:gridCol w="1666875"/>
                <a:gridCol w="4152900"/>
              </a:tblGrid>
              <a:tr h="666750">
                <a:tc>
                  <a:txBody>
                    <a:bodyPr lIns="57150" tIns="57150" rIns="57150" bIns="57150">
                      <a:noAutofit/>
                    </a:bodyPr>
                    <a:lstStyle/>
                    <a:p>
                      <a:pPr algn="ctr" rtl="0"/>
                      <a:r>
                        <a:rPr sz="1650" b="1" lang="en-US">
                          <a:solidFill>
                            <a:srgbClr val="F7F6F2"/>
                          </a:solidFill>
                          <a:latin typeface="Vazirmatn"/>
                          <a:ea typeface="Vazirmatn"/>
                          <a:cs typeface="Vazirmatn"/>
                        </a:rPr>
                        <a:t>CER</a:t>
                      </a:r>
                    </a:p>
                    <a:p>
                      <a:pPr algn="ctr" rtl="1"/>
                      <a:r>
                        <a:rPr sz="1650" b="1" lang="fa-IR">
                          <a:solidFill>
                            <a:srgbClr val="F7F6F2"/>
                          </a:solidFill>
                          <a:latin typeface="Vazirmatn"/>
                          <a:ea typeface="Vazirmatn"/>
                          <a:cs typeface="Vazirmatn"/>
                        </a:rPr>
                        <a:t>چندشرایطی</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WER</a:t>
                      </a:r>
                    </a:p>
                    <a:p>
                      <a:pPr algn="ctr" rtl="1"/>
                      <a:r>
                        <a:rPr sz="1650" b="1" lang="fa-IR">
                          <a:solidFill>
                            <a:srgbClr val="F7F6F2"/>
                          </a:solidFill>
                          <a:latin typeface="Vazirmatn"/>
                          <a:ea typeface="Vazirmatn"/>
                          <a:cs typeface="Vazirmatn"/>
                        </a:rPr>
                        <a:t>چندشرایطی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CER</a:t>
                      </a:r>
                    </a:p>
                    <a:p>
                      <a:pPr algn="ctr" rtl="1"/>
                      <a:r>
                        <a:rPr sz="1650" b="1" lang="fa-IR">
                          <a:solidFill>
                            <a:srgbClr val="F7F6F2"/>
                          </a:solidFill>
                          <a:latin typeface="Vazirmatn"/>
                          <a:ea typeface="Vazirmatn"/>
                          <a:cs typeface="Vazirmatn"/>
                        </a:rPr>
                        <a:t>معمولی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WER</a:t>
                      </a:r>
                    </a:p>
                    <a:p>
                      <a:pPr algn="ctr" rtl="1"/>
                      <a:r>
                        <a:rPr sz="1650" b="1" lang="fa-IR">
                          <a:solidFill>
                            <a:srgbClr val="F7F6F2"/>
                          </a:solidFill>
                          <a:latin typeface="Vazirmatn"/>
                          <a:ea typeface="Vazirmatn"/>
                          <a:cs typeface="Vazirmatn"/>
                        </a:rPr>
                        <a:t>معمولی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r" rtl="1"/>
                      <a:r>
                        <a:rPr sz="1650" b="1" lang="fa-IR">
                          <a:solidFill>
                            <a:srgbClr val="F7F6F2"/>
                          </a:solidFill>
                          <a:latin typeface="Vazirmatn"/>
                          <a:ea typeface="Vazirmatn"/>
                          <a:cs typeface="Vazirmatn"/>
                        </a:rPr>
                        <a:t>مجموعه آزمون</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504825">
                <a:tc>
                  <a:txBody>
                    <a:bodyPr lIns="57150" tIns="57150" rIns="57150" bIns="57150">
                      <a:noAutofit/>
                    </a:bodyPr>
                    <a:lstStyle/>
                    <a:p>
                      <a:pPr algn="ctr" rtl="1"/>
                      <a:r>
                        <a:rPr sz="1800" b="0" lang="fa-IR">
                          <a:solidFill>
                            <a:srgbClr val="1F2933"/>
                          </a:solidFill>
                          <a:latin typeface="Vazirmatn"/>
                          <a:ea typeface="Vazirmatn"/>
                          <a:cs typeface="Vazirmatn"/>
                        </a:rPr>
                        <a:t>۱۴٫۴۵٪</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۲۱٫۸۱٪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۱۴٫۷۹٪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۲۲٫۷۳٪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تجمیعی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04825">
                <a:tc>
                  <a:txBody>
                    <a:bodyPr lIns="57150" tIns="57150" rIns="57150" bIns="57150">
                      <a:noAutofit/>
                    </a:bodyPr>
                    <a:lstStyle/>
                    <a:p>
                      <a:pPr algn="ctr" rtl="1"/>
                      <a:r>
                        <a:rPr sz="1800" b="0" lang="fa-IR">
                          <a:solidFill>
                            <a:srgbClr val="1F2933"/>
                          </a:solidFill>
                          <a:latin typeface="Vazirmatn"/>
                          <a:ea typeface="Vazirmatn"/>
                          <a:cs typeface="Vazirmatn"/>
                        </a:rPr>
                        <a:t>۱۴٫۰۹٪</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۳۰٫۴۸٪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۱۴٫۸۱٪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۳۱٫۰۷٪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875" b="0" lang="en-US">
                          <a:solidFill>
                            <a:srgbClr val="1F2933"/>
                          </a:solidFill>
                          <a:latin typeface="Vazirmatn"/>
                          <a:ea typeface="Vazirmatn"/>
                          <a:cs typeface="Vazirmatn"/>
                        </a:rPr>
                        <a:t>AGFarsdat</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04825">
                <a:tc>
                  <a:txBody>
                    <a:bodyPr lIns="57150" tIns="57150" rIns="57150" bIns="57150">
                      <a:noAutofit/>
                    </a:bodyPr>
                    <a:lstStyle/>
                    <a:p>
                      <a:pPr algn="ctr" rtl="1"/>
                      <a:r>
                        <a:rPr sz="1800" b="0" lang="fa-IR">
                          <a:solidFill>
                            <a:srgbClr val="1F2933"/>
                          </a:solidFill>
                          <a:latin typeface="Vazirmatn"/>
                          <a:ea typeface="Vazirmatn"/>
                          <a:cs typeface="Vazirmatn"/>
                        </a:rPr>
                        <a:t>۱۶٫۱۰٪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۱۰٫۰۱٪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۱۶٫۴۶٪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۱۱٫۶۸٪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کامن‌وویس فارسی ۲۵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04825">
                <a:tc>
                  <a:txBody>
                    <a:bodyPr lIns="57150" tIns="57150" rIns="57150" bIns="57150">
                      <a:noAutofit/>
                    </a:bodyPr>
                    <a:lstStyle/>
                    <a:p>
                      <a:pPr algn="ctr" rtl="1"/>
                      <a:r>
                        <a:rPr sz="1800" b="0" lang="fa-IR">
                          <a:solidFill>
                            <a:srgbClr val="1F2933"/>
                          </a:solidFill>
                          <a:latin typeface="Vazirmatn"/>
                          <a:ea typeface="Vazirmatn"/>
                          <a:cs typeface="Vazirmatn"/>
                        </a:rPr>
                        <a:t>۱۰٫۲۲٪</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۲۹٫۴۰٪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۹٫۹۴٪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۲۹٫۲۲٪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فلورز فارسی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04825">
                <a:tc>
                  <a:txBody>
                    <a:bodyPr lIns="57150" tIns="57150" rIns="57150" bIns="57150">
                      <a:noAutofit/>
                    </a:bodyPr>
                    <a:lstStyle/>
                    <a:p>
                      <a:pPr algn="ctr" rtl="1"/>
                      <a:r>
                        <a:rPr sz="1800" b="0" lang="fa-IR">
                          <a:solidFill>
                            <a:srgbClr val="1F2933"/>
                          </a:solidFill>
                          <a:latin typeface="Vazirmatn"/>
                          <a:ea typeface="Vazirmatn"/>
                          <a:cs typeface="Vazirmatn"/>
                        </a:rPr>
                        <a:t>۱۳٫۵۶٪</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۳۱٫۴۱٪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۱۳٫۵۰٪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۳۰٫۷۰٪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پرشین‌اسپیچ</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04825">
                <a:tc>
                  <a:txBody>
                    <a:bodyPr lIns="57150" tIns="57150" rIns="57150" bIns="57150">
                      <a:noAutofit/>
                    </a:bodyPr>
                    <a:lstStyle/>
                    <a:p>
                      <a:pPr algn="ctr" rtl="1"/>
                      <a:r>
                        <a:rPr sz="1800" b="0" lang="fa-IR">
                          <a:solidFill>
                            <a:srgbClr val="1F2933"/>
                          </a:solidFill>
                          <a:latin typeface="Vazirmatn"/>
                          <a:ea typeface="Vazirmatn"/>
                          <a:cs typeface="Vazirmatn"/>
                        </a:rPr>
                        <a:t>۱۲٫۶۸٪</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۳۳٫۵۹٪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۱۲٫۲۲٪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800" b="0" lang="fa-IR">
                          <a:solidFill>
                            <a:srgbClr val="1F2933"/>
                          </a:solidFill>
                          <a:latin typeface="Vazirmatn"/>
                          <a:ea typeface="Vazirmatn"/>
                          <a:cs typeface="Vazirmatn"/>
                        </a:rPr>
                        <a:t>۳۳٫۶۹٪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875" b="0" lang="fa-IR">
                          <a:solidFill>
                            <a:srgbClr val="1F2933"/>
                          </a:solidFill>
                          <a:latin typeface="Vazirmatn"/>
                          <a:ea typeface="Vazirmatn"/>
                          <a:cs typeface="Vazirmatn"/>
                        </a:rPr>
                        <a:t>پیکره گفتار فارسی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کاهش WER تجمیعی: ۰٫۹۲ واحد درصد، حدود ۴٪ کاهش نسبی">
            <a:extLst xmlns:a="http://schemas.openxmlformats.org/drawingml/2006/main">
              <a:ext uri="{FF2B5EF4-FFF2-40B4-BE49-F238E27FC236}">
                <a16:creationId xmlns:a16="http://schemas.microsoft.com/office/drawing/2014/main" id="{9A1A1B22-C441-4187-8639-A49BAD254F1C}"/>
              </a:ext>
            </a:extLst>
          </p:cNvPr>
          <p:cNvSpPr>
            <a:spLocks xmlns:a="http://schemas.openxmlformats.org/drawingml/2006/main" noGrp="1"/>
          </p:cNvSpPr>
          <p:nvPr/>
        </p:nvSpPr>
        <p:spPr>
          <a:xfrm xmlns:a="http://schemas.openxmlformats.org/drawingml/2006/main">
            <a:off x="685800" y="5638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D6F8A"/>
                </a:solidFill>
                <a:latin typeface="Vazirmatn"/>
                <a:ea typeface="Vazirmatn"/>
                <a:cs typeface="Vazirmatn"/>
              </a:defRPr>
            </a:defPPr>
          </a:lstStyle>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کاهش WER تجمیعی: ۰٫۹۲ واحد درصد، حدود ۴٪ کاهش نسبی</a:t>
            </a:r>
          </a:p>
        </p:txBody>
      </p:sp>
      <p:sp>
        <p:nvSpPr>
          <p:cNvPr id="7" name="مقایسه درون فست کانفورمر است. تفاوت پیش‌آموزش و آموزش، انتساب فاصله با ویسپر را محدود می‌کند">
            <a:extLst xmlns:a="http://schemas.openxmlformats.org/drawingml/2006/main">
              <a:ext uri="{FF2B5EF4-FFF2-40B4-BE49-F238E27FC236}">
                <a16:creationId xmlns:a16="http://schemas.microsoft.com/office/drawing/2014/main" id="{8D4236C2-BE4E-40E9-ACC0-BBD1BD284BA7}"/>
              </a:ext>
            </a:extLst>
          </p:cNvPr>
          <p:cNvSpPr>
            <a:spLocks xmlns:a="http://schemas.openxmlformats.org/drawingml/2006/main" noGrp="1"/>
          </p:cNvSpPr>
          <p:nvPr/>
        </p:nvSpPr>
        <p:spPr>
          <a:xfrm xmlns:a="http://schemas.openxmlformats.org/drawingml/2006/main">
            <a:off x="685800" y="610552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مقایسه درون فست کانفورمر است. تفاوت پیش‌آموزش و آموزش، انتساب فاصله با ویسپر را محدود می‌کند</a:t>
            </a:r>
          </a:p>
        </p:txBody>
      </p:sp>
    </p:spTree>
    <p:extLst>
      <p:ext uri="{BB962C8B-B14F-4D97-AF65-F5344CB8AC3E}">
        <p14:creationId xmlns:p14="http://schemas.microsoft.com/office/powerpoint/2010/main" val="11943035"/>
      </p:ext>
    </p:extLst>
  </p:cSld>
</p:sld>
</file>

<file path=ppt/slides/slide2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مطالب تکمیلی">
            <a:extLst xmlns:a="http://schemas.openxmlformats.org/drawingml/2006/main">
              <a:ext uri="{FF2B5EF4-FFF2-40B4-BE49-F238E27FC236}">
                <a16:creationId xmlns:a16="http://schemas.microsoft.com/office/drawing/2014/main" id="{551188E0-531D-470D-94CE-6823D8DC4ABF}"/>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مطالب تکمیلی</a:t>
            </a:r>
          </a:p>
        </p:txBody>
      </p:sp>
      <p:sp>
        <p:nvSpPr>
          <p:cNvPr id="2" name="آزمایش کامل مؤلفه‌ها در ویسپر بسیار کوچک">
            <a:extLst xmlns:a="http://schemas.openxmlformats.org/drawingml/2006/main">
              <a:ext uri="{FF2B5EF4-FFF2-40B4-BE49-F238E27FC236}">
                <a16:creationId xmlns:a16="http://schemas.microsoft.com/office/drawing/2014/main" id="{58832757-1630-4B1A-BAC0-885CF1E210FF}"/>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آزمایش کامل مؤلفه‌ها در ویسپر بسیار کوچک</a:t>
            </a:r>
          </a:p>
        </p:txBody>
      </p:sp>
      <p:sp>
        <p:nvSpPr>
          <p:cNvPr id="3" name="">
            <a:extLst xmlns:a="http://schemas.openxmlformats.org/drawingml/2006/main">
              <a:ext uri="{FF2B5EF4-FFF2-40B4-BE49-F238E27FC236}">
                <a16:creationId xmlns:a16="http://schemas.microsoft.com/office/drawing/2014/main" id="{CF71A786-D45A-4D48-A680-A11808976AE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۷ از ۲۸">
            <a:extLst xmlns:a="http://schemas.openxmlformats.org/drawingml/2006/main">
              <a:ext uri="{FF2B5EF4-FFF2-40B4-BE49-F238E27FC236}">
                <a16:creationId xmlns:a16="http://schemas.microsoft.com/office/drawing/2014/main" id="{C451AFF1-7461-4C56-9FDB-414936EDF8C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۲۷ از ۲۸</a:t>
            </a:r>
          </a:p>
        </p:txBody>
      </p:sp>
      <p:graphicFrame>
        <p:nvGraphicFramePr>
          <p:cNvPr id="5" name="">
            <a:extLst xmlns:a="http://schemas.openxmlformats.org/drawingml/2006/main">
              <a:ext uri="{FF2B5EF4-FFF2-40B4-BE49-F238E27FC236}">
                <a16:creationId xmlns:a16="http://schemas.microsoft.com/office/drawing/2014/main" id="{D3DF0934-FB9E-4A00-AE1C-50BDD74F0181}"/>
              </a:ext>
            </a:extLst>
          </p:cNvPr>
          <p:cNvGraphicFramePr/>
          <p:nvPr/>
        </p:nvGraphicFramePr>
        <p:xfrm>
          <a:off xmlns:a="http://schemas.openxmlformats.org/drawingml/2006/main" x="685800" y="1657350"/>
          <a:ext xmlns:a="http://schemas.openxmlformats.org/drawingml/2006/main" cx="10820400" cy="4438650"/>
        </p:xfrm>
        <a:graphic xmlns:a="http://schemas.openxmlformats.org/drawingml/2006/main">
          <a:graphicData uri="http://schemas.openxmlformats.org/drawingml/2006/table">
            <a:tbl>
              <a:tblPr/>
              <a:tblGrid>
                <a:gridCol w="1666875"/>
                <a:gridCol w="1666875"/>
                <a:gridCol w="1666875"/>
                <a:gridCol w="1666875"/>
                <a:gridCol w="4152900"/>
              </a:tblGrid>
              <a:tr h="666750">
                <a:tc>
                  <a:txBody>
                    <a:bodyPr lIns="57150" tIns="57150" rIns="57150" bIns="57150">
                      <a:noAutofit/>
                    </a:bodyPr>
                    <a:lstStyle/>
                    <a:p>
                      <a:pPr algn="ctr" rtl="0"/>
                      <a:r>
                        <a:rPr sz="1650" b="1" lang="en-US">
                          <a:solidFill>
                            <a:srgbClr val="F7F6F2"/>
                          </a:solidFill>
                          <a:latin typeface="Vazirmatn"/>
                          <a:ea typeface="Vazirmatn"/>
                          <a:cs typeface="Vazirmatn"/>
                        </a:rPr>
                        <a:t>AGFarsdat</a:t>
                      </a:r>
                    </a:p>
                    <a:p>
                      <a:pPr algn="ctr" rtl="0"/>
                      <a:r>
                        <a:rPr sz="1650" b="1" lang="en-US">
                          <a:solidFill>
                            <a:srgbClr val="F7F6F2"/>
                          </a:solidFill>
                          <a:latin typeface="Vazirmatn"/>
                          <a:ea typeface="Vazirmatn"/>
                          <a:cs typeface="Vazirmatn"/>
                        </a:rPr>
                        <a:t>CER</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AGFarsdat</a:t>
                      </a:r>
                    </a:p>
                    <a:p>
                      <a:pPr algn="ctr" rtl="0"/>
                      <a:r>
                        <a:rPr sz="1650" b="1" lang="en-US">
                          <a:solidFill>
                            <a:srgbClr val="F7F6F2"/>
                          </a:solidFill>
                          <a:latin typeface="Vazirmatn"/>
                          <a:ea typeface="Vazirmatn"/>
                          <a:cs typeface="Vazirmatn"/>
                        </a:rPr>
                        <a:t>WER</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Common Voice</a:t>
                      </a:r>
                    </a:p>
                    <a:p>
                      <a:pPr algn="ctr" rtl="0"/>
                      <a:r>
                        <a:rPr sz="1650" b="1" lang="en-US">
                          <a:solidFill>
                            <a:srgbClr val="F7F6F2"/>
                          </a:solidFill>
                          <a:latin typeface="Vazirmatn"/>
                          <a:ea typeface="Vazirmatn"/>
                          <a:cs typeface="Vazirmatn"/>
                        </a:rPr>
                        <a:t>CER</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Common Voice</a:t>
                      </a:r>
                    </a:p>
                    <a:p>
                      <a:pPr algn="ctr" rtl="0"/>
                      <a:r>
                        <a:rPr sz="1650" b="1" lang="en-US">
                          <a:solidFill>
                            <a:srgbClr val="F7F6F2"/>
                          </a:solidFill>
                          <a:latin typeface="Vazirmatn"/>
                          <a:ea typeface="Vazirmatn"/>
                          <a:cs typeface="Vazirmatn"/>
                        </a:rPr>
                        <a:t>WER</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r" rtl="1"/>
                      <a:r>
                        <a:rPr sz="1650" b="1" lang="fa-IR">
                          <a:solidFill>
                            <a:srgbClr val="F7F6F2"/>
                          </a:solidFill>
                          <a:latin typeface="Vazirmatn"/>
                          <a:ea typeface="Vazirmatn"/>
                          <a:cs typeface="Vazirmatn"/>
                        </a:rPr>
                        <a:t>پیکربندی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۳۵٫۰۴٪</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۷۶٫۸۵٪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۳۸٫۰۳٪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۷۴٫۹۲٪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خط مبنای چندشرایطی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۲۸٫۴۲٪</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۶۵٫۸۸٪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۳۲٫۸۷٪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۶۲٫۳۵٪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همجوشی فقط دروازه‌ای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۲۸٫۳۵٪</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۶۵٫۴۸٪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۳۱٫۹۰٪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۶۰٫۲۶٪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توجه متقاطع باقیمانده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۳۰٫۳۹٪</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۶۹٫۲۳٪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۳۳٫۲۱٪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۶۴٫۱۰٪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فقط نمای اصلی¹</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۳۰٫۷۳٪</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۶۹٫۶۹٪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۳۳٫۰۵٪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۶۳٫۸۱٪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فقط نمای بهسازی‌شده¹</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1" lang="fa-IR">
                          <a:solidFill>
                            <a:srgbClr val="1D6F8A"/>
                          </a:solidFill>
                          <a:latin typeface="Vazirmatn"/>
                          <a:ea typeface="Vazirmatn"/>
                          <a:cs typeface="Vazirmatn"/>
                        </a:rPr>
                        <a:t>۲۷٫۰۲٪</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1" lang="fa-IR">
                          <a:solidFill>
                            <a:srgbClr val="1D6F8A"/>
                          </a:solidFill>
                          <a:latin typeface="Vazirmatn"/>
                          <a:ea typeface="Vazirmatn"/>
                          <a:cs typeface="Vazirmatn"/>
                        </a:rPr>
                        <a:t>۶۳٫۵۰٪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1" lang="fa-IR">
                          <a:solidFill>
                            <a:srgbClr val="1D6F8A"/>
                          </a:solidFill>
                          <a:latin typeface="Vazirmatn"/>
                          <a:ea typeface="Vazirmatn"/>
                          <a:cs typeface="Vazirmatn"/>
                        </a:rPr>
                        <a:t>۳۰٫۵۷٪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1" lang="fa-IR">
                          <a:solidFill>
                            <a:srgbClr val="1D6F8A"/>
                          </a:solidFill>
                          <a:latin typeface="Vazirmatn"/>
                          <a:ea typeface="Vazirmatn"/>
                          <a:cs typeface="Vazirmatn"/>
                        </a:rPr>
                        <a:t>۵۷٫۸۲٪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همجوشی دوسویه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۳۴٫۸۳٪</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۷۶٫۶۳٪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۳۷٫۸۱٪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۷۴٫۴۸٪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پل: فقط PQ</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۳۵٫۵۳٪</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۷۷٫۶۷٪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۳۸٫۷۹٪</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۷۵٫۹۰٪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پل: فقط صوت بهسازی‌شده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۳۴٫۹۴٪</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۷۶٫۸۱٪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۳۷٫۸۱٪</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۷۴٫۴۰٪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پل: PQ + RI</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¹ حذف مسیر در استنتاج. آموزش فقط با کامن‌وویس است. بودجه آموزش و ظرفیت گونه‌ها برابر نیست">
            <a:extLst xmlns:a="http://schemas.openxmlformats.org/drawingml/2006/main">
              <a:ext uri="{FF2B5EF4-FFF2-40B4-BE49-F238E27FC236}">
                <a16:creationId xmlns:a16="http://schemas.microsoft.com/office/drawing/2014/main" id="{40F44BB1-5D4F-46C2-859D-70F3290EBCEF}"/>
              </a:ext>
            </a:extLst>
          </p:cNvPr>
          <p:cNvSpPr>
            <a:spLocks xmlns:a="http://schemas.openxmlformats.org/drawingml/2006/main" noGrp="1"/>
          </p:cNvSpPr>
          <p:nvPr/>
        </p:nvSpPr>
        <p:spPr>
          <a:xfrm xmlns:a="http://schemas.openxmlformats.org/drawingml/2006/main">
            <a:off x="685800" y="61722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حذف مسیر در استنتاج. آموزش فقط با کامن‌وویس است. بودجه آموزش و ظرفیت گونه‌ها برابر نیست</a:t>
            </a:r>
          </a:p>
        </p:txBody>
      </p:sp>
    </p:spTree>
    <p:extLst>
      <p:ext uri="{BB962C8B-B14F-4D97-AF65-F5344CB8AC3E}">
        <p14:creationId xmlns:p14="http://schemas.microsoft.com/office/powerpoint/2010/main" val="1813115304"/>
      </p:ext>
    </p:extLst>
  </p:cSld>
</p:sld>
</file>

<file path=ppt/slides/slide2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مطالب تکمیلی">
            <a:extLst xmlns:a="http://schemas.openxmlformats.org/drawingml/2006/main">
              <a:ext uri="{FF2B5EF4-FFF2-40B4-BE49-F238E27FC236}">
                <a16:creationId xmlns:a16="http://schemas.microsoft.com/office/drawing/2014/main" id="{710122BD-7483-41C4-8EEE-028553FC570B}"/>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مطالب تکمیلی</a:t>
            </a:r>
          </a:p>
        </p:txBody>
      </p:sp>
      <p:sp>
        <p:nvSpPr>
          <p:cNvPr id="2" name="مقایسه مدل‌ها روی زیرمجموعه مشترک">
            <a:extLst xmlns:a="http://schemas.openxmlformats.org/drawingml/2006/main">
              <a:ext uri="{FF2B5EF4-FFF2-40B4-BE49-F238E27FC236}">
                <a16:creationId xmlns:a16="http://schemas.microsoft.com/office/drawing/2014/main" id="{711D1DBF-5E3A-4B19-B431-4ED377A140B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مقایسه مدل‌ها روی زیرمجموعه مشترک</a:t>
            </a:r>
          </a:p>
        </p:txBody>
      </p:sp>
      <p:sp>
        <p:nvSpPr>
          <p:cNvPr id="3" name="">
            <a:extLst xmlns:a="http://schemas.openxmlformats.org/drawingml/2006/main">
              <a:ext uri="{FF2B5EF4-FFF2-40B4-BE49-F238E27FC236}">
                <a16:creationId xmlns:a16="http://schemas.microsoft.com/office/drawing/2014/main" id="{D7FD575F-3A58-4CA7-9467-08A3B8831DD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۸ از ۲۸">
            <a:extLst xmlns:a="http://schemas.openxmlformats.org/drawingml/2006/main">
              <a:ext uri="{FF2B5EF4-FFF2-40B4-BE49-F238E27FC236}">
                <a16:creationId xmlns:a16="http://schemas.microsoft.com/office/drawing/2014/main" id="{1E76BB8B-4371-411F-A7F5-6F7F7A344A0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۲۸ از ۲۸</a:t>
            </a:r>
          </a:p>
        </p:txBody>
      </p:sp>
      <p:graphicFrame>
        <p:nvGraphicFramePr>
          <p:cNvPr id="5" name="">
            <a:extLst xmlns:a="http://schemas.openxmlformats.org/drawingml/2006/main">
              <a:ext uri="{FF2B5EF4-FFF2-40B4-BE49-F238E27FC236}">
                <a16:creationId xmlns:a16="http://schemas.microsoft.com/office/drawing/2014/main" id="{02E1C467-6677-4776-A639-07FE131F643E}"/>
              </a:ext>
            </a:extLst>
          </p:cNvPr>
          <p:cNvGraphicFramePr/>
          <p:nvPr/>
        </p:nvGraphicFramePr>
        <p:xfrm>
          <a:off xmlns:a="http://schemas.openxmlformats.org/drawingml/2006/main" x="685800" y="1657350"/>
          <a:ext xmlns:a="http://schemas.openxmlformats.org/drawingml/2006/main" cx="10820400" cy="4438650"/>
        </p:xfrm>
        <a:graphic xmlns:a="http://schemas.openxmlformats.org/drawingml/2006/main">
          <a:graphicData uri="http://schemas.openxmlformats.org/drawingml/2006/table">
            <a:tbl>
              <a:tblPr/>
              <a:tblGrid>
                <a:gridCol w="2000250"/>
                <a:gridCol w="1762125"/>
                <a:gridCol w="1762125"/>
                <a:gridCol w="5295900"/>
              </a:tblGrid>
              <a:tr h="666750">
                <a:tc>
                  <a:txBody>
                    <a:bodyPr lIns="57150" tIns="57150" rIns="57150" bIns="57150">
                      <a:noAutofit/>
                    </a:bodyPr>
                    <a:lstStyle/>
                    <a:p>
                      <a:pPr algn="ctr" rtl="0"/>
                      <a:r>
                        <a:rPr sz="1650" b="1" lang="en-US">
                          <a:solidFill>
                            <a:srgbClr val="F7F6F2"/>
                          </a:solidFill>
                          <a:latin typeface="Vazirmatn"/>
                          <a:ea typeface="Vazirmatn"/>
                          <a:cs typeface="Vazirmatn"/>
                        </a:rPr>
                        <a:t>WER</a:t>
                      </a:r>
                    </a:p>
                    <a:p>
                      <a:pPr algn="ctr" rtl="1"/>
                      <a:r>
                        <a:rPr sz="1650" b="1" lang="fa-IR">
                          <a:solidFill>
                            <a:srgbClr val="F7F6F2"/>
                          </a:solidFill>
                          <a:latin typeface="Vazirmatn"/>
                          <a:ea typeface="Vazirmatn"/>
                          <a:cs typeface="Vazirmatn"/>
                        </a:rPr>
                        <a:t>تماس واقعی</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CER</a:t>
                      </a:r>
                    </a:p>
                    <a:p>
                      <a:pPr algn="ctr" rtl="1"/>
                      <a:r>
                        <a:rPr sz="1650" b="1" lang="fa-IR">
                          <a:solidFill>
                            <a:srgbClr val="F7F6F2"/>
                          </a:solidFill>
                          <a:latin typeface="Vazirmatn"/>
                          <a:ea typeface="Vazirmatn"/>
                          <a:cs typeface="Vazirmatn"/>
                        </a:rPr>
                        <a:t>تجمیعی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ctr" rtl="0"/>
                      <a:r>
                        <a:rPr sz="1650" b="1" lang="en-US">
                          <a:solidFill>
                            <a:srgbClr val="F7F6F2"/>
                          </a:solidFill>
                          <a:latin typeface="Vazirmatn"/>
                          <a:ea typeface="Vazirmatn"/>
                          <a:cs typeface="Vazirmatn"/>
                        </a:rPr>
                        <a:t>WER</a:t>
                      </a:r>
                    </a:p>
                    <a:p>
                      <a:pPr algn="ctr" rtl="1"/>
                      <a:r>
                        <a:rPr sz="1650" b="1" lang="fa-IR">
                          <a:solidFill>
                            <a:srgbClr val="F7F6F2"/>
                          </a:solidFill>
                          <a:latin typeface="Vazirmatn"/>
                          <a:ea typeface="Vazirmatn"/>
                          <a:cs typeface="Vazirmatn"/>
                        </a:rPr>
                        <a:t>تجمیعی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57150" tIns="57150" rIns="57150" bIns="57150">
                      <a:noAutofit/>
                    </a:bodyPr>
                    <a:lstStyle/>
                    <a:p>
                      <a:pPr algn="r" rtl="1"/>
                      <a:r>
                        <a:rPr sz="1650" b="1" lang="fa-IR">
                          <a:solidFill>
                            <a:srgbClr val="F7F6F2"/>
                          </a:solidFill>
                          <a:latin typeface="Vazirmatn"/>
                          <a:ea typeface="Vazirmatn"/>
                          <a:cs typeface="Vazirmatn"/>
                        </a:rPr>
                        <a:t>مدل</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419100">
                <a:tc>
                  <a:txBody>
                    <a:bodyPr lIns="57150" tIns="57150" rIns="57150" bIns="57150">
                      <a:noAutofit/>
                    </a:bodyPr>
                    <a:lstStyle/>
                    <a:p>
                      <a:pPr algn="ctr" rtl="1"/>
                      <a:r>
                        <a:rPr sz="1725" b="1" lang="fa-IR">
                          <a:solidFill>
                            <a:srgbClr val="1D6F8A"/>
                          </a:solidFill>
                          <a:latin typeface="Vazirmatn"/>
                          <a:ea typeface="Vazirmatn"/>
                          <a:cs typeface="Vazirmatn"/>
                        </a:rPr>
                        <a:t>۲۲٫۹۴٪</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1" lang="fa-IR">
                          <a:solidFill>
                            <a:srgbClr val="1D6F8A"/>
                          </a:solidFill>
                          <a:latin typeface="Vazirmatn"/>
                          <a:ea typeface="Vazirmatn"/>
                          <a:cs typeface="Vazirmatn"/>
                        </a:rPr>
                        <a:t>۵٫۱۴٪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1" lang="fa-IR">
                          <a:solidFill>
                            <a:srgbClr val="1D6F8A"/>
                          </a:solidFill>
                          <a:latin typeface="Vazirmatn"/>
                          <a:ea typeface="Vazirmatn"/>
                          <a:cs typeface="Vazirmatn"/>
                        </a:rPr>
                        <a:t>۱۶٫۴۴٪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Chirp 3</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۴۸٫۶۲٪</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۶٫۹۴٪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۱۸٫۵۵٪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GPT-4o Transcribe</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۲۶٫۶۱٪</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۱۰٫۷۲٪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۲۰٫۷۲٪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کوچک: چندشرایطی و ایران‌صدا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۲۵٫۳۱٪</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۱۰٫۹۷٪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۲۱٫۷۲٪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همجوشی دوجریانه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۲۴٫۷۷٪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۱۱٫۲۴٪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۲۳٫۱۳٪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1"/>
                      <a:r>
                        <a:rPr sz="1725" b="0" lang="fa-IR">
                          <a:solidFill>
                            <a:srgbClr val="1F2933"/>
                          </a:solidFill>
                          <a:latin typeface="Vazirmatn"/>
                          <a:ea typeface="Vazirmatn"/>
                          <a:cs typeface="Vazirmatn"/>
                        </a:rPr>
                        <a:t>ویسپر متوسط</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۴۵٫۸۷٪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۱۰٫۷۵٪</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۲۶٫۹۲٪</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Voxtral Small 24B</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۶۳٫۳۰٪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۱۵٫۶۸٪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۳۶٫۶۶٪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Qwen3-ASR 1.7B</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۶۷٫۸۹٪</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۲۳٫۶۸٪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۴۰٫۸۸٪</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Grok STT 1.0</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419100">
                <a:tc>
                  <a:txBody>
                    <a:bodyPr lIns="57150" tIns="57150" rIns="57150" bIns="57150">
                      <a:noAutofit/>
                    </a:bodyPr>
                    <a:lstStyle/>
                    <a:p>
                      <a:pPr algn="ctr" rtl="1"/>
                      <a:r>
                        <a:rPr sz="1725" b="0" lang="fa-IR">
                          <a:solidFill>
                            <a:srgbClr val="1F2933"/>
                          </a:solidFill>
                          <a:latin typeface="Vazirmatn"/>
                          <a:ea typeface="Vazirmatn"/>
                          <a:cs typeface="Vazirmatn"/>
                        </a:rPr>
                        <a:t>۱۰۴٫۵۹٪</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۸۰٫۸۶٪</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ctr" rtl="1"/>
                      <a:r>
                        <a:rPr sz="1725" b="0" lang="fa-IR">
                          <a:solidFill>
                            <a:srgbClr val="1F2933"/>
                          </a:solidFill>
                          <a:latin typeface="Vazirmatn"/>
                          <a:ea typeface="Vazirmatn"/>
                          <a:cs typeface="Vazirmatn"/>
                        </a:rPr>
                        <a:t>۹۸٫۷۰٪</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57150" tIns="57150" rIns="57150" bIns="57150">
                      <a:noAutofit/>
                    </a:bodyPr>
                    <a:lstStyle/>
                    <a:p>
                      <a:pPr algn="r" rtl="0"/>
                      <a:r>
                        <a:rPr sz="1725" b="0" lang="en-US">
                          <a:solidFill>
                            <a:srgbClr val="1F2933"/>
                          </a:solidFill>
                          <a:latin typeface="Vazirmatn"/>
                          <a:ea typeface="Vazirmatn"/>
                          <a:cs typeface="Vazirmatn"/>
                        </a:rPr>
                        <a:t>Nemotron 3.5 ASR 0.6B</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۱۰۰ نمونه ثابت، ۲۰ نمونه از هر مجموعه. این مقایسه جایگزین ارزیابی کامل نیست">
            <a:extLst xmlns:a="http://schemas.openxmlformats.org/drawingml/2006/main">
              <a:ext uri="{FF2B5EF4-FFF2-40B4-BE49-F238E27FC236}">
                <a16:creationId xmlns:a16="http://schemas.microsoft.com/office/drawing/2014/main" id="{EB41FF90-071F-4DB4-894E-5D281C25724C}"/>
              </a:ext>
            </a:extLst>
          </p:cNvPr>
          <p:cNvSpPr>
            <a:spLocks xmlns:a="http://schemas.openxmlformats.org/drawingml/2006/main" noGrp="1"/>
          </p:cNvSpPr>
          <p:nvPr/>
        </p:nvSpPr>
        <p:spPr>
          <a:xfrm xmlns:a="http://schemas.openxmlformats.org/drawingml/2006/main">
            <a:off x="685800" y="61722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۱۰۰ نمونه ثابت، ۲۰ نمونه از هر مجموعه. این مقایسه جایگزین ارزیابی کامل نیست</a:t>
            </a:r>
          </a:p>
        </p:txBody>
      </p:sp>
    </p:spTree>
    <p:extLst>
      <p:ext uri="{BB962C8B-B14F-4D97-AF65-F5344CB8AC3E}">
        <p14:creationId xmlns:p14="http://schemas.microsoft.com/office/powerpoint/2010/main" val="4976460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Vazirmatn"/>
      </a:majorFont>
      <a:minorFont>
        <a:latin typeface="Vazirmatn"/>
        <a:ea typeface=""/>
        <a:cs typeface="Vazirmat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2026-10-15T11:59:32.1100000Z</dcterms:created>
  <dcterms:modified xsi:type="dcterms:W3CDTF">2026-10-15T11:59:32.1100000Z</dcterms:modified>
</coreProperties>
</file>