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8.xml" ContentType="application/vnd.openxmlformats-officedocument.presentationml.slideMaster+xml"/>
  <Override PartName="/ppt/slideMasters/slideMaster18.xml" ContentType="application/vnd.openxmlformats-officedocument.presentationml.slideMaster+xml"/>
  <Override PartName="/ppt/slideMasters/slideMaster6.xml" ContentType="application/vnd.openxmlformats-officedocument.presentationml.slideMaster+xml"/>
  <Override PartName="/ppt/slideMasters/slideMaster17.xml" ContentType="application/vnd.openxmlformats-officedocument.presentationml.slideMaster+xml"/>
  <Override PartName="/ppt/slideMasters/slideMaster5.xml" ContentType="application/vnd.openxmlformats-officedocument.presentationml.slideMaster+xml"/>
  <Override PartName="/ppt/slideMasters/slideMaster16.xml" ContentType="application/vnd.openxmlformats-officedocument.presentationml.slideMaster+xml"/>
  <Override PartName="/ppt/slideMasters/slideMaster4.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11.xml.rels" ContentType="application/vnd.openxmlformats-package.relationships+xml"/>
  <Override PartName="/ppt/slideMasters/_rels/slideMaster10.xml.rels" ContentType="application/vnd.openxmlformats-package.relationships+xml"/>
  <Override PartName="/ppt/slideMasters/_rels/slideMaster9.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18.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8.xml" ContentType="application/vnd.openxmlformats-officedocument.theme+xml"/>
  <Override PartName="/ppt/theme/theme7.xml" ContentType="application/vnd.openxmlformats-officedocument.theme+xml"/>
  <Override PartName="/ppt/theme/theme6.xml" ContentType="application/vnd.openxmlformats-officedocument.theme+xml"/>
  <Override PartName="/ppt/theme/theme5.xml" ContentType="application/vnd.openxmlformats-officedocument.theme+xml"/>
  <Override PartName="/ppt/theme/theme19.xml" ContentType="application/vnd.openxmlformats-officedocument.theme+xml"/>
  <Override PartName="/ppt/theme/theme18.xml" ContentType="application/vnd.openxmlformats-officedocument.theme+xml"/>
  <Override PartName="/ppt/theme/theme17.xml" ContentType="application/vnd.openxmlformats-officedocument.theme+xml"/>
  <Override PartName="/ppt/theme/theme16.xml" ContentType="application/vnd.openxmlformats-officedocument.theme+xml"/>
  <Override PartName="/ppt/theme/theme1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10.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18.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_rels/slide10.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_rels/notesSlide24.xml.rels" ContentType="application/vnd.openxmlformats-package.relationships+xml"/>
  <Override PartName="/ppt/notesSlides/_rels/notesSlide14.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14.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Lst>
  <p:notesMasterIdLst>
    <p:notesMasterId r:id="rId20"/>
  </p:notesMasterIdLst>
  <p:sldIdLst>
    <p:sldId id="256"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0" r:id="rId55"/>
    <p:sldId id="291" r:id="rId56"/>
    <p:sldId id="292" r:id="rId57"/>
    <p:sldId id="293" r:id="rId58"/>
    <p:sldId id="294" r:id="rId59"/>
    <p:sldId id="295" r:id="rId60"/>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notesMaster" Target="notesMasters/notesMaster1.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4.xml"/><Relationship Id="rId25" Type="http://schemas.openxmlformats.org/officeDocument/2006/relationships/slide" Target="slides/slide5.xml"/><Relationship Id="rId26" Type="http://schemas.openxmlformats.org/officeDocument/2006/relationships/slide" Target="slides/slide6.xml"/><Relationship Id="rId27" Type="http://schemas.openxmlformats.org/officeDocument/2006/relationships/slide" Target="slides/slide7.xml"/><Relationship Id="rId28" Type="http://schemas.openxmlformats.org/officeDocument/2006/relationships/slide" Target="slides/slide8.xml"/><Relationship Id="rId29" Type="http://schemas.openxmlformats.org/officeDocument/2006/relationships/slide" Target="slides/slide9.xml"/><Relationship Id="rId30" Type="http://schemas.openxmlformats.org/officeDocument/2006/relationships/slide" Target="slides/slide10.xml"/><Relationship Id="rId31" Type="http://schemas.openxmlformats.org/officeDocument/2006/relationships/slide" Target="slides/slide11.xml"/><Relationship Id="rId32" Type="http://schemas.openxmlformats.org/officeDocument/2006/relationships/slide" Target="slides/slide12.xml"/><Relationship Id="rId33" Type="http://schemas.openxmlformats.org/officeDocument/2006/relationships/slide" Target="slides/slide13.xml"/><Relationship Id="rId34" Type="http://schemas.openxmlformats.org/officeDocument/2006/relationships/slide" Target="slides/slide14.xml"/><Relationship Id="rId35" Type="http://schemas.openxmlformats.org/officeDocument/2006/relationships/slide" Target="slides/slide15.xml"/><Relationship Id="rId36" Type="http://schemas.openxmlformats.org/officeDocument/2006/relationships/slide" Target="slides/slide16.xml"/><Relationship Id="rId37" Type="http://schemas.openxmlformats.org/officeDocument/2006/relationships/slide" Target="slides/slide17.xml"/><Relationship Id="rId38" Type="http://schemas.openxmlformats.org/officeDocument/2006/relationships/slide" Target="slides/slide18.xml"/><Relationship Id="rId39" Type="http://schemas.openxmlformats.org/officeDocument/2006/relationships/slide" Target="slides/slide19.xml"/><Relationship Id="rId40" Type="http://schemas.openxmlformats.org/officeDocument/2006/relationships/slide" Target="slides/slide20.xml"/><Relationship Id="rId41" Type="http://schemas.openxmlformats.org/officeDocument/2006/relationships/slide" Target="slides/slide21.xml"/><Relationship Id="rId42" Type="http://schemas.openxmlformats.org/officeDocument/2006/relationships/slide" Target="slides/slide22.xml"/><Relationship Id="rId43" Type="http://schemas.openxmlformats.org/officeDocument/2006/relationships/slide" Target="slides/slide23.xml"/><Relationship Id="rId44" Type="http://schemas.openxmlformats.org/officeDocument/2006/relationships/slide" Target="slides/slide24.xml"/><Relationship Id="rId45" Type="http://schemas.openxmlformats.org/officeDocument/2006/relationships/slide" Target="slides/slide25.xml"/><Relationship Id="rId46" Type="http://schemas.openxmlformats.org/officeDocument/2006/relationships/slide" Target="slides/slide26.xml"/><Relationship Id="rId47" Type="http://schemas.openxmlformats.org/officeDocument/2006/relationships/slide" Target="slides/slide27.xml"/><Relationship Id="rId48" Type="http://schemas.openxmlformats.org/officeDocument/2006/relationships/slide" Target="slides/slide28.xml"/><Relationship Id="rId49" Type="http://schemas.openxmlformats.org/officeDocument/2006/relationships/slide" Target="slides/slide29.xml"/><Relationship Id="rId50" Type="http://schemas.openxmlformats.org/officeDocument/2006/relationships/slide" Target="slides/slide30.xml"/><Relationship Id="rId51" Type="http://schemas.openxmlformats.org/officeDocument/2006/relationships/slide" Target="slides/slide31.xml"/><Relationship Id="rId52" Type="http://schemas.openxmlformats.org/officeDocument/2006/relationships/slide" Target="slides/slide32.xml"/><Relationship Id="rId53" Type="http://schemas.openxmlformats.org/officeDocument/2006/relationships/slide" Target="slides/slide33.xml"/><Relationship Id="rId54" Type="http://schemas.openxmlformats.org/officeDocument/2006/relationships/slide" Target="slides/slide34.xml"/><Relationship Id="rId55" Type="http://schemas.openxmlformats.org/officeDocument/2006/relationships/slide" Target="slides/slide35.xml"/><Relationship Id="rId56" Type="http://schemas.openxmlformats.org/officeDocument/2006/relationships/slide" Target="slides/slide36.xml"/><Relationship Id="rId57" Type="http://schemas.openxmlformats.org/officeDocument/2006/relationships/slide" Target="slides/slide37.xml"/><Relationship Id="rId58" Type="http://schemas.openxmlformats.org/officeDocument/2006/relationships/slide" Target="slides/slide38.xml"/><Relationship Id="rId59" Type="http://schemas.openxmlformats.org/officeDocument/2006/relationships/slide" Target="slides/slide39.xml"/><Relationship Id="rId60" Type="http://schemas.openxmlformats.org/officeDocument/2006/relationships/slide" Target="slides/slide40.xml"/><Relationship Id="rId61"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spPr>
            <a:solidFill>
              <a:srgbClr val="1d6f8a"/>
            </a:solidFill>
            <a:ln w="0">
              <a:noFill/>
            </a:ln>
          </c:spPr>
          <c:invertIfNegative val="0"/>
          <c:dPt>
            <c:idx val="0"/>
            <c:spPr>
              <a:solidFill>
                <a:srgbClr val="aab6bb"/>
              </a:solidFill>
              <a:ln w="0">
                <a:noFill/>
              </a:ln>
            </c:spPr>
          </c:dPt>
          <c:dPt>
            <c:idx val="1"/>
            <c:spPr>
              <a:solidFill>
                <a:srgbClr val="8da1a9"/>
              </a:solidFill>
              <a:ln w="0">
                <a:noFill/>
              </a:ln>
            </c:spPr>
          </c:dPt>
          <c:dPt>
            <c:idx val="2"/>
            <c:spPr>
              <a:solidFill>
                <a:srgbClr val="63828e"/>
              </a:solidFill>
              <a:ln w="0">
                <a:noFill/>
              </a:ln>
            </c:spPr>
          </c:dPt>
          <c:dPt>
            <c:idx val="3"/>
            <c:spPr>
              <a:solidFill>
                <a:srgbClr val="1d6f8a"/>
              </a:solidFill>
              <a:ln w="0">
                <a:noFill/>
              </a:ln>
            </c:spPr>
          </c:dPt>
          <c:dLbls>
            <c:numFmt formatCode="0.00%" sourceLinked="0"/>
            <c:dLbl>
              <c:idx val="0"/>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۳۵٫۶۳٪</a:t>
                    </a:r>
                  </a:p>
                </c:rich>
              </c:tx>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۳۲٫۶۷٪</a:t>
                    </a:r>
                  </a:p>
                </c:rich>
              </c:tx>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۳۰٫۰۱٪</a:t>
                    </a:r>
                  </a:p>
                </c:rich>
              </c:tx>
              <c:dLblPos val="outEnd"/>
              <c:showLegendKey val="0"/>
              <c:showVal val="0"/>
              <c:showCatName val="0"/>
              <c:showSerName val="0"/>
              <c:showPercent val="0"/>
              <c:separator>; </c:separator>
            </c:dLbl>
            <c:dLbl>
              <c:idx val="3"/>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۲۵٫۸۰٪</a:t>
                    </a:r>
                  </a:p>
                </c:rich>
              </c:tx>
              <c:dLblPos val="outEnd"/>
              <c:showLegendKey val="0"/>
              <c:showVal val="0"/>
              <c:showCatName val="0"/>
              <c:showSerName val="0"/>
              <c:showPercent val="0"/>
              <c:separator>; </c:separator>
            </c:dLbl>
            <c:txPr>
              <a:bodyPr wrap="square"/>
              <a:lstStyle/>
              <a:p>
                <a:pPr>
                  <a:defRPr b="0" sz="1000" spc="-1" strike="noStrike">
                    <a:solidFill>
                      <a:srgbClr val="000000"/>
                    </a:solidFill>
                    <a:latin typeface="Vazirmatn"/>
                    <a:ea typeface="Vazirmatn"/>
                  </a:defRPr>
                </a:pPr>
              </a:p>
            </c:txPr>
            <c:dLblPos val="outEnd"/>
            <c:showLegendKey val="0"/>
            <c:showVal val="1"/>
            <c:showCatName val="1"/>
            <c:showSerName val="1"/>
            <c:showPercent val="0"/>
            <c:separator>; </c:separator>
            <c:showLeaderLines val="1"/>
            <c:extLst>
              <c:ext xmlns:c15="http://schemas.microsoft.com/office/drawing/2012/chart" uri="{CE6537A1-D6FC-4f65-9D91-7224C49458BB}">
                <c15:showLeaderLines val="1"/>
              </c:ext>
            </c:extLst>
          </c:dLbls>
          <c:cat>
            <c:strRef>
              <c:f>categories</c:f>
              <c:strCache>
                <c:ptCount val="4"/>
                <c:pt idx="0">
                  <c:v>معمولی</c:v>
                </c:pt>
                <c:pt idx="1">
                  <c:v>فقط نویز</c:v>
                </c:pt>
                <c:pt idx="2">
                  <c:v>pMCT</c:v>
                </c:pt>
                <c:pt idx="3">
                  <c:v>چندشرایطی
مخابراتی</c:v>
                </c:pt>
              </c:strCache>
            </c:strRef>
          </c:cat>
          <c:val>
            <c:numRef>
              <c:f>0</c:f>
              <c:numCache>
                <c:formatCode>0.00%</c:formatCode>
                <c:ptCount val="4"/>
                <c:pt idx="0">
                  <c:v>0.3563</c:v>
                </c:pt>
                <c:pt idx="1">
                  <c:v>0.3267</c:v>
                </c:pt>
                <c:pt idx="2">
                  <c:v>0.3001</c:v>
                </c:pt>
                <c:pt idx="3">
                  <c:v>0.258</c:v>
                </c:pt>
              </c:numCache>
            </c:numRef>
          </c:val>
        </c:ser>
        <c:gapWidth val="100"/>
        <c:overlap val="0"/>
        <c:axId val="27983822"/>
        <c:axId val="49681448"/>
      </c:barChart>
      <c:catAx>
        <c:axId val="27983822"/>
        <c:scaling>
          <c:orientation val="minMax"/>
        </c:scaling>
        <c:delete val="0"/>
        <c:axPos val="b"/>
        <c:numFmt formatCode="General" sourceLinked="0"/>
        <c:majorTickMark val="none"/>
        <c:minorTickMark val="none"/>
        <c:tickLblPos val="low"/>
        <c:spPr>
          <a:ln w="9360">
            <a:solidFill>
              <a:srgbClr val="d5dcdd"/>
            </a:solidFill>
            <a:round/>
          </a:ln>
        </c:spPr>
        <c:txPr>
          <a:bodyPr/>
          <a:lstStyle/>
          <a:p>
            <a:pPr>
              <a:defRPr b="0" sz="1725" spc="-1" strike="noStrike">
                <a:solidFill>
                  <a:srgbClr val="153d42"/>
                </a:solidFill>
                <a:latin typeface="Vazirmatn"/>
                <a:ea typeface="Vazirmatn"/>
              </a:defRPr>
            </a:pPr>
          </a:p>
        </c:txPr>
        <c:crossAx val="49681448"/>
        <c:crosses val="autoZero"/>
        <c:auto val="1"/>
        <c:lblAlgn val="ctr"/>
        <c:lblOffset val="100"/>
        <c:noMultiLvlLbl val="0"/>
      </c:catAx>
      <c:valAx>
        <c:axId val="49681448"/>
        <c:scaling>
          <c:orientation val="minMax"/>
          <c:max val="0.42"/>
          <c:min val="0"/>
        </c:scaling>
        <c:delete val="1"/>
        <c:axPos val="l"/>
        <c:numFmt formatCode="0.00%" sourceLinked="1"/>
        <c:majorTickMark val="none"/>
        <c:minorTickMark val="none"/>
        <c:tickLblPos val="nextTo"/>
        <c:spPr>
          <a:ln w="0">
            <a:noFill/>
          </a:ln>
        </c:spPr>
        <c:txPr>
          <a:bodyPr/>
          <a:lstStyle/>
          <a:p>
            <a:pPr>
              <a:defRPr b="0" sz="1350" spc="-1" strike="noStrike">
                <a:solidFill>
                  <a:srgbClr val="52606d"/>
                </a:solidFill>
                <a:latin typeface="Vazirmatn"/>
                <a:ea typeface="Vazirmatn"/>
              </a:defRPr>
            </a:pPr>
          </a:p>
        </c:txPr>
        <c:crossAx val="27983822"/>
        <c:crossBetween val="between"/>
        <c:majorUnit val="0.105"/>
      </c:valAx>
      <c:spPr>
        <a:noFill/>
        <a:ln w="0">
          <a:noFill/>
        </a:ln>
      </c:spPr>
    </c:plotArea>
    <c:plotVisOnly val="1"/>
    <c:dispBlanksAs val="zero"/>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spPr>
            <a:solidFill>
              <a:srgbClr val="1d6f8a"/>
            </a:solidFill>
            <a:ln w="0">
              <a:noFill/>
            </a:ln>
          </c:spPr>
          <c:invertIfNegative val="0"/>
          <c:dPt>
            <c:idx val="0"/>
            <c:spPr>
              <a:solidFill>
                <a:srgbClr val="aab6bb"/>
              </a:solidFill>
              <a:ln w="0">
                <a:noFill/>
              </a:ln>
            </c:spPr>
          </c:dPt>
          <c:dPt>
            <c:idx val="1"/>
            <c:spPr>
              <a:solidFill>
                <a:srgbClr val="63828e"/>
              </a:solidFill>
              <a:ln w="0">
                <a:noFill/>
              </a:ln>
            </c:spPr>
          </c:dPt>
          <c:dPt>
            <c:idx val="2"/>
            <c:spPr>
              <a:solidFill>
                <a:srgbClr val="1d6f8a"/>
              </a:solidFill>
              <a:ln w="0">
                <a:noFill/>
              </a:ln>
            </c:spPr>
          </c:dPt>
          <c:dLbls>
            <c:numFmt formatCode="0.00%" sourceLinked="0"/>
            <c:dLbl>
              <c:idx val="0"/>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۱۷٫۸۳٪</a:t>
                    </a:r>
                  </a:p>
                </c:rich>
              </c:tx>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۱۷٫۷۴٪</a:t>
                    </a:r>
                  </a:p>
                </c:rich>
              </c:tx>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۱۷٫۶۴٪</a:t>
                    </a:r>
                  </a:p>
                </c:rich>
              </c:tx>
              <c:dLblPos val="outEnd"/>
              <c:showLegendKey val="0"/>
              <c:showVal val="0"/>
              <c:showCatName val="0"/>
              <c:showSerName val="0"/>
              <c:showPercent val="0"/>
              <c:separator>; </c:separator>
            </c:dLbl>
            <c:txPr>
              <a:bodyPr wrap="square"/>
              <a:lstStyle/>
              <a:p>
                <a:pPr>
                  <a:defRPr b="0" sz="1000" spc="-1" strike="noStrike">
                    <a:solidFill>
                      <a:srgbClr val="000000"/>
                    </a:solidFill>
                    <a:latin typeface="Vazirmatn"/>
                    <a:ea typeface="Vazirmatn"/>
                  </a:defRPr>
                </a:pPr>
              </a:p>
            </c:txPr>
            <c:dLblPos val="outEnd"/>
            <c:showLegendKey val="0"/>
            <c:showVal val="1"/>
            <c:showCatName val="1"/>
            <c:showSerName val="1"/>
            <c:showPercent val="0"/>
            <c:separator>; </c:separator>
            <c:showLeaderLines val="1"/>
            <c:extLst>
              <c:ext xmlns:c15="http://schemas.microsoft.com/office/drawing/2012/chart" uri="{CE6537A1-D6FC-4f65-9D91-7224C49458BB}">
                <c15:showLeaderLines val="1"/>
              </c:ext>
            </c:extLst>
          </c:dLbls>
          <c:cat>
            <c:strRef>
              <c:f>categories</c:f>
              <c:strCache>
                <c:ptCount val="3"/>
                <c:pt idx="0">
                  <c:v>چندشرایطی</c:v>
                </c:pt>
                <c:pt idx="1">
                  <c:v>پل تطبیقی</c:v>
                </c:pt>
                <c:pt idx="2">
                  <c:v>همجوشی</c:v>
                </c:pt>
              </c:strCache>
            </c:strRef>
          </c:cat>
          <c:val>
            <c:numRef>
              <c:f>0</c:f>
              <c:numCache>
                <c:formatCode>0.00%</c:formatCode>
                <c:ptCount val="3"/>
                <c:pt idx="0">
                  <c:v>0.1783</c:v>
                </c:pt>
                <c:pt idx="1">
                  <c:v>0.1774</c:v>
                </c:pt>
                <c:pt idx="2">
                  <c:v>0.1764</c:v>
                </c:pt>
              </c:numCache>
            </c:numRef>
          </c:val>
        </c:ser>
        <c:gapWidth val="90"/>
        <c:overlap val="0"/>
        <c:axId val="6096142"/>
        <c:axId val="79417521"/>
      </c:barChart>
      <c:catAx>
        <c:axId val="6096142"/>
        <c:scaling>
          <c:orientation val="minMax"/>
        </c:scaling>
        <c:delete val="0"/>
        <c:axPos val="b"/>
        <c:numFmt formatCode="General" sourceLinked="0"/>
        <c:majorTickMark val="none"/>
        <c:minorTickMark val="none"/>
        <c:tickLblPos val="low"/>
        <c:spPr>
          <a:ln w="9360">
            <a:solidFill>
              <a:srgbClr val="d5dcdd"/>
            </a:solidFill>
            <a:round/>
          </a:ln>
        </c:spPr>
        <c:txPr>
          <a:bodyPr/>
          <a:lstStyle/>
          <a:p>
            <a:pPr>
              <a:defRPr b="0" sz="1650" spc="-1" strike="noStrike">
                <a:solidFill>
                  <a:srgbClr val="153d42"/>
                </a:solidFill>
                <a:latin typeface="Vazirmatn"/>
                <a:ea typeface="Vazirmatn"/>
              </a:defRPr>
            </a:pPr>
          </a:p>
        </c:txPr>
        <c:crossAx val="79417521"/>
        <c:crosses val="autoZero"/>
        <c:auto val="1"/>
        <c:lblAlgn val="ctr"/>
        <c:lblOffset val="100"/>
        <c:noMultiLvlLbl val="0"/>
      </c:catAx>
      <c:valAx>
        <c:axId val="79417521"/>
        <c:scaling>
          <c:orientation val="minMax"/>
          <c:max val="0.22"/>
          <c:min val="0"/>
        </c:scaling>
        <c:delete val="1"/>
        <c:axPos val="l"/>
        <c:numFmt formatCode="0.00%" sourceLinked="1"/>
        <c:majorTickMark val="none"/>
        <c:minorTickMark val="none"/>
        <c:tickLblPos val="nextTo"/>
        <c:spPr>
          <a:ln w="0">
            <a:noFill/>
          </a:ln>
        </c:spPr>
        <c:txPr>
          <a:bodyPr/>
          <a:lstStyle/>
          <a:p>
            <a:pPr>
              <a:defRPr b="0" sz="1350" spc="-1" strike="noStrike">
                <a:solidFill>
                  <a:srgbClr val="52606d"/>
                </a:solidFill>
                <a:latin typeface="Vazirmatn"/>
                <a:ea typeface="Vazirmatn"/>
              </a:defRPr>
            </a:pPr>
          </a:p>
        </c:txPr>
        <c:crossAx val="6096142"/>
        <c:crossBetween val="between"/>
        <c:majorUnit val="0.055"/>
      </c:valAx>
      <c:spPr>
        <a:noFill/>
        <a:ln w="0">
          <a:noFill/>
        </a:ln>
      </c:spPr>
    </c:plotArea>
    <c:plotVisOnly val="1"/>
    <c:dispBlanksAs val="zero"/>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spPr>
            <a:solidFill>
              <a:srgbClr val="1d6f8a"/>
            </a:solidFill>
            <a:ln w="0">
              <a:noFill/>
            </a:ln>
          </c:spPr>
          <c:invertIfNegative val="0"/>
          <c:dPt>
            <c:idx val="0"/>
            <c:spPr>
              <a:solidFill>
                <a:srgbClr val="aab6bb"/>
              </a:solidFill>
              <a:ln w="0">
                <a:noFill/>
              </a:ln>
            </c:spPr>
          </c:dPt>
          <c:dPt>
            <c:idx val="1"/>
            <c:spPr>
              <a:solidFill>
                <a:srgbClr val="63828e"/>
              </a:solidFill>
              <a:ln w="0">
                <a:noFill/>
              </a:ln>
            </c:spPr>
          </c:dPt>
          <c:dPt>
            <c:idx val="2"/>
            <c:spPr>
              <a:solidFill>
                <a:srgbClr val="1d6f8a"/>
              </a:solidFill>
              <a:ln w="0">
                <a:noFill/>
              </a:ln>
            </c:spPr>
          </c:dPt>
          <c:dLbls>
            <c:numFmt formatCode="0.00%" sourceLinked="0"/>
            <c:dLbl>
              <c:idx val="0"/>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۲۵٫۸۰٪</a:t>
                    </a:r>
                  </a:p>
                </c:rich>
              </c:tx>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۲۵٫۸۴٪</a:t>
                    </a:r>
                  </a:p>
                </c:rich>
              </c:tx>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۲۵٫۳۷٪</a:t>
                    </a:r>
                  </a:p>
                </c:rich>
              </c:tx>
              <c:dLblPos val="outEnd"/>
              <c:showLegendKey val="0"/>
              <c:showVal val="0"/>
              <c:showCatName val="0"/>
              <c:showSerName val="0"/>
              <c:showPercent val="0"/>
              <c:separator>; </c:separator>
            </c:dLbl>
            <c:txPr>
              <a:bodyPr wrap="square"/>
              <a:lstStyle/>
              <a:p>
                <a:pPr>
                  <a:defRPr b="0" sz="1000" spc="-1" strike="noStrike">
                    <a:solidFill>
                      <a:srgbClr val="000000"/>
                    </a:solidFill>
                    <a:latin typeface="Vazirmatn"/>
                    <a:ea typeface="Vazirmatn"/>
                  </a:defRPr>
                </a:pPr>
              </a:p>
            </c:txPr>
            <c:dLblPos val="outEnd"/>
            <c:showLegendKey val="0"/>
            <c:showVal val="1"/>
            <c:showCatName val="1"/>
            <c:showSerName val="1"/>
            <c:showPercent val="0"/>
            <c:separator>; </c:separator>
            <c:showLeaderLines val="1"/>
            <c:extLst>
              <c:ext xmlns:c15="http://schemas.microsoft.com/office/drawing/2012/chart" uri="{CE6537A1-D6FC-4f65-9D91-7224C49458BB}">
                <c15:showLeaderLines val="1"/>
              </c:ext>
            </c:extLst>
          </c:dLbls>
          <c:cat>
            <c:strRef>
              <c:f>categories</c:f>
              <c:strCache>
                <c:ptCount val="3"/>
                <c:pt idx="0">
                  <c:v>چندشرایطی</c:v>
                </c:pt>
                <c:pt idx="1">
                  <c:v>پل تطبیقی</c:v>
                </c:pt>
                <c:pt idx="2">
                  <c:v>همجوشی</c:v>
                </c:pt>
              </c:strCache>
            </c:strRef>
          </c:cat>
          <c:val>
            <c:numRef>
              <c:f>0</c:f>
              <c:numCache>
                <c:formatCode>0.00%</c:formatCode>
                <c:ptCount val="3"/>
                <c:pt idx="0">
                  <c:v>0.258</c:v>
                </c:pt>
                <c:pt idx="1">
                  <c:v>0.2584</c:v>
                </c:pt>
                <c:pt idx="2">
                  <c:v>0.2537</c:v>
                </c:pt>
              </c:numCache>
            </c:numRef>
          </c:val>
        </c:ser>
        <c:gapWidth val="90"/>
        <c:overlap val="0"/>
        <c:axId val="58006171"/>
        <c:axId val="74986080"/>
      </c:barChart>
      <c:catAx>
        <c:axId val="58006171"/>
        <c:scaling>
          <c:orientation val="minMax"/>
        </c:scaling>
        <c:delete val="0"/>
        <c:axPos val="b"/>
        <c:numFmt formatCode="General" sourceLinked="0"/>
        <c:majorTickMark val="none"/>
        <c:minorTickMark val="none"/>
        <c:tickLblPos val="low"/>
        <c:spPr>
          <a:ln w="9360">
            <a:solidFill>
              <a:srgbClr val="d5dcdd"/>
            </a:solidFill>
            <a:round/>
          </a:ln>
        </c:spPr>
        <c:txPr>
          <a:bodyPr/>
          <a:lstStyle/>
          <a:p>
            <a:pPr>
              <a:defRPr b="0" sz="1650" spc="-1" strike="noStrike">
                <a:solidFill>
                  <a:srgbClr val="153d42"/>
                </a:solidFill>
                <a:latin typeface="Vazirmatn"/>
                <a:ea typeface="Vazirmatn"/>
              </a:defRPr>
            </a:pPr>
          </a:p>
        </c:txPr>
        <c:crossAx val="74986080"/>
        <c:crosses val="autoZero"/>
        <c:auto val="1"/>
        <c:lblAlgn val="ctr"/>
        <c:lblOffset val="100"/>
        <c:noMultiLvlLbl val="0"/>
      </c:catAx>
      <c:valAx>
        <c:axId val="74986080"/>
        <c:scaling>
          <c:orientation val="minMax"/>
          <c:max val="0.32"/>
          <c:min val="0"/>
        </c:scaling>
        <c:delete val="1"/>
        <c:axPos val="l"/>
        <c:numFmt formatCode="0.00%" sourceLinked="1"/>
        <c:majorTickMark val="none"/>
        <c:minorTickMark val="none"/>
        <c:tickLblPos val="nextTo"/>
        <c:spPr>
          <a:ln w="0">
            <a:noFill/>
          </a:ln>
        </c:spPr>
        <c:txPr>
          <a:bodyPr/>
          <a:lstStyle/>
          <a:p>
            <a:pPr>
              <a:defRPr b="0" sz="1350" spc="-1" strike="noStrike">
                <a:solidFill>
                  <a:srgbClr val="52606d"/>
                </a:solidFill>
                <a:latin typeface="Vazirmatn"/>
                <a:ea typeface="Vazirmatn"/>
              </a:defRPr>
            </a:pPr>
          </a:p>
        </c:txPr>
        <c:crossAx val="58006171"/>
        <c:crossBetween val="between"/>
        <c:majorUnit val="0.08"/>
      </c:valAx>
      <c:spPr>
        <a:noFill/>
        <a:ln w="0">
          <a:noFill/>
        </a:ln>
      </c:spPr>
    </c:plotArea>
    <c:plotVisOnly val="1"/>
    <c:dispBlanksAs val="zero"/>
  </c:chart>
  <c:spPr>
    <a:noFill/>
    <a:ln w="0">
      <a:noFill/>
    </a:ln>
  </c:spPr>
</c:chartSpace>
</file>

<file path=ppt/charts/chart4.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spPr>
            <a:solidFill>
              <a:srgbClr val="1d6f8a"/>
            </a:solidFill>
            <a:ln w="0">
              <a:noFill/>
            </a:ln>
          </c:spPr>
          <c:invertIfNegative val="0"/>
          <c:dPt>
            <c:idx val="0"/>
            <c:spPr>
              <a:solidFill>
                <a:srgbClr val="1d6f8a"/>
              </a:solidFill>
              <a:ln w="0">
                <a:noFill/>
              </a:ln>
            </c:spPr>
          </c:dPt>
          <c:dPt>
            <c:idx val="1"/>
            <c:spPr>
              <a:solidFill>
                <a:srgbClr val="63828e"/>
              </a:solidFill>
              <a:ln w="0">
                <a:noFill/>
              </a:ln>
            </c:spPr>
          </c:dPt>
          <c:dPt>
            <c:idx val="2"/>
            <c:spPr>
              <a:solidFill>
                <a:srgbClr val="8da1a9"/>
              </a:solidFill>
              <a:ln w="0">
                <a:noFill/>
              </a:ln>
            </c:spPr>
          </c:dPt>
          <c:dPt>
            <c:idx val="3"/>
            <c:spPr>
              <a:solidFill>
                <a:srgbClr val="aab6bb"/>
              </a:solidFill>
              <a:ln w="0">
                <a:noFill/>
              </a:ln>
            </c:spPr>
          </c:dPt>
          <c:dPt>
            <c:idx val="4"/>
            <c:spPr>
              <a:solidFill>
                <a:srgbClr val="bdc7cb"/>
              </a:solidFill>
              <a:ln w="0">
                <a:noFill/>
              </a:ln>
            </c:spPr>
          </c:dPt>
          <c:dLbls>
            <c:numFmt formatCode="0.00%" sourceLinked="0"/>
            <c:dLbl>
              <c:idx val="0"/>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۶۳٫۵۰٪</a:t>
                    </a:r>
                  </a:p>
                </c:rich>
              </c:tx>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۶۵٫۸۸٪</a:t>
                    </a:r>
                  </a:p>
                </c:rich>
              </c:tx>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۶۹٫۲۳٪</a:t>
                    </a:r>
                  </a:p>
                </c:rich>
              </c:tx>
              <c:dLblPos val="outEnd"/>
              <c:showLegendKey val="0"/>
              <c:showVal val="0"/>
              <c:showCatName val="0"/>
              <c:showSerName val="0"/>
              <c:showPercent val="0"/>
              <c:separator>; </c:separator>
            </c:dLbl>
            <c:dLbl>
              <c:idx val="3"/>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۶۹٫۶۹٪</a:t>
                    </a:r>
                  </a:p>
                </c:rich>
              </c:tx>
              <c:dLblPos val="outEnd"/>
              <c:showLegendKey val="0"/>
              <c:showVal val="0"/>
              <c:showCatName val="0"/>
              <c:showSerName val="0"/>
              <c:showPercent val="0"/>
              <c:separator>; </c:separator>
            </c:dLbl>
            <c:dLbl>
              <c:idx val="4"/>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۷۶٫۸۵٪</a:t>
                    </a:r>
                  </a:p>
                </c:rich>
              </c:tx>
              <c:dLblPos val="outEnd"/>
              <c:showLegendKey val="0"/>
              <c:showVal val="0"/>
              <c:showCatName val="0"/>
              <c:showSerName val="0"/>
              <c:showPercent val="0"/>
              <c:separator>; </c:separator>
            </c:dLbl>
            <c:txPr>
              <a:bodyPr wrap="square"/>
              <a:lstStyle/>
              <a:p>
                <a:pPr>
                  <a:defRPr b="0" sz="1000" spc="-1" strike="noStrike">
                    <a:solidFill>
                      <a:srgbClr val="000000"/>
                    </a:solidFill>
                    <a:latin typeface="Vazirmatn"/>
                    <a:ea typeface="Vazirmatn"/>
                  </a:defRPr>
                </a:pPr>
              </a:p>
            </c:txPr>
            <c:dLblPos val="outEnd"/>
            <c:showLegendKey val="0"/>
            <c:showVal val="1"/>
            <c:showCatName val="1"/>
            <c:showSerName val="1"/>
            <c:showPercent val="0"/>
            <c:separator>; </c:separator>
            <c:showLeaderLines val="1"/>
            <c:extLst>
              <c:ext xmlns:c15="http://schemas.microsoft.com/office/drawing/2012/chart" uri="{CE6537A1-D6FC-4f65-9D91-7224C49458BB}">
                <c15:showLeaderLines val="1"/>
              </c:ext>
            </c:extLst>
          </c:dLbls>
          <c:cat>
            <c:strRef>
              <c:f>categories</c:f>
              <c:strCache>
                <c:ptCount val="5"/>
                <c:pt idx="0">
                  <c:v>همجوشی
دوسویه</c:v>
                </c:pt>
                <c:pt idx="1">
                  <c:v>فقط دروازه</c:v>
                </c:pt>
                <c:pt idx="2">
                  <c:v>فقط بازنمایی
اصلی¹</c:v>
                </c:pt>
                <c:pt idx="3">
                  <c:v>فقط بازنمایی
بهسازی‌شده¹</c:v>
                </c:pt>
                <c:pt idx="4">
                  <c:v>خط مبنای
چندشرایطی</c:v>
                </c:pt>
              </c:strCache>
            </c:strRef>
          </c:cat>
          <c:val>
            <c:numRef>
              <c:f>0</c:f>
              <c:numCache>
                <c:formatCode>0.00%</c:formatCode>
                <c:ptCount val="5"/>
                <c:pt idx="0">
                  <c:v>0.635</c:v>
                </c:pt>
                <c:pt idx="1">
                  <c:v>0.6588</c:v>
                </c:pt>
                <c:pt idx="2">
                  <c:v>0.6923</c:v>
                </c:pt>
                <c:pt idx="3">
                  <c:v>0.6969</c:v>
                </c:pt>
                <c:pt idx="4">
                  <c:v>0.7685</c:v>
                </c:pt>
              </c:numCache>
            </c:numRef>
          </c:val>
        </c:ser>
        <c:gapWidth val="90"/>
        <c:overlap val="0"/>
        <c:axId val="98094509"/>
        <c:axId val="17445192"/>
      </c:barChart>
      <c:catAx>
        <c:axId val="98094509"/>
        <c:scaling>
          <c:orientation val="minMax"/>
        </c:scaling>
        <c:delete val="0"/>
        <c:axPos val="b"/>
        <c:numFmt formatCode="General" sourceLinked="0"/>
        <c:majorTickMark val="none"/>
        <c:minorTickMark val="none"/>
        <c:tickLblPos val="low"/>
        <c:spPr>
          <a:ln w="9360">
            <a:solidFill>
              <a:srgbClr val="d5dcdd"/>
            </a:solidFill>
            <a:round/>
          </a:ln>
        </c:spPr>
        <c:txPr>
          <a:bodyPr/>
          <a:lstStyle/>
          <a:p>
            <a:pPr>
              <a:defRPr b="0" sz="1575" spc="-1" strike="noStrike">
                <a:solidFill>
                  <a:srgbClr val="153d42"/>
                </a:solidFill>
                <a:latin typeface="Vazirmatn"/>
                <a:ea typeface="Vazirmatn"/>
              </a:defRPr>
            </a:pPr>
          </a:p>
        </c:txPr>
        <c:crossAx val="17445192"/>
        <c:crosses val="autoZero"/>
        <c:auto val="1"/>
        <c:lblAlgn val="ctr"/>
        <c:lblOffset val="100"/>
        <c:noMultiLvlLbl val="0"/>
      </c:catAx>
      <c:valAx>
        <c:axId val="17445192"/>
        <c:scaling>
          <c:orientation val="minMax"/>
          <c:max val="0.83"/>
          <c:min val="0"/>
        </c:scaling>
        <c:delete val="1"/>
        <c:axPos val="l"/>
        <c:numFmt formatCode="0.00%" sourceLinked="1"/>
        <c:majorTickMark val="none"/>
        <c:minorTickMark val="none"/>
        <c:tickLblPos val="nextTo"/>
        <c:spPr>
          <a:ln w="0">
            <a:noFill/>
          </a:ln>
        </c:spPr>
        <c:txPr>
          <a:bodyPr/>
          <a:lstStyle/>
          <a:p>
            <a:pPr>
              <a:defRPr b="0" sz="1350" spc="-1" strike="noStrike">
                <a:solidFill>
                  <a:srgbClr val="52606d"/>
                </a:solidFill>
                <a:latin typeface="Vazirmatn"/>
                <a:ea typeface="Vazirmatn"/>
              </a:defRPr>
            </a:pPr>
          </a:p>
        </c:txPr>
        <c:crossAx val="98094509"/>
        <c:crossBetween val="between"/>
        <c:majorUnit val="0.2075"/>
      </c:valAx>
      <c:spPr>
        <a:noFill/>
        <a:ln w="0">
          <a:noFill/>
        </a:ln>
      </c:spPr>
    </c:plotArea>
    <c:plotVisOnly val="1"/>
    <c:dispBlanksAs val="zero"/>
  </c:chart>
  <c:spPr>
    <a:noFill/>
    <a:ln w="0">
      <a:noFill/>
    </a:ln>
  </c:spPr>
</c:chartSpace>
</file>

<file path=ppt/charts/chart5.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1"/>
        <c:ser>
          <c:idx val="0"/>
          <c:order val="0"/>
          <c:spPr>
            <a:solidFill>
              <a:srgbClr val="1d6f8a"/>
            </a:solidFill>
            <a:ln w="0">
              <a:noFill/>
            </a:ln>
          </c:spPr>
          <c:invertIfNegative val="0"/>
          <c:dPt>
            <c:idx val="0"/>
            <c:spPr>
              <a:solidFill>
                <a:srgbClr val="7b8794"/>
              </a:solidFill>
              <a:ln w="0">
                <a:noFill/>
              </a:ln>
            </c:spPr>
          </c:dPt>
          <c:dPt>
            <c:idx val="1"/>
            <c:spPr>
              <a:solidFill>
                <a:srgbClr val="aab6bb"/>
              </a:solidFill>
              <a:ln w="0">
                <a:noFill/>
              </a:ln>
            </c:spPr>
          </c:dPt>
          <c:dPt>
            <c:idx val="2"/>
            <c:spPr>
              <a:solidFill>
                <a:srgbClr val="1d6f8a"/>
              </a:solidFill>
              <a:ln w="0">
                <a:noFill/>
              </a:ln>
            </c:spPr>
          </c:dPt>
          <c:dPt>
            <c:idx val="3"/>
            <c:spPr>
              <a:solidFill>
                <a:srgbClr val="1d6f8a"/>
              </a:solidFill>
              <a:ln w="0">
                <a:noFill/>
              </a:ln>
            </c:spPr>
          </c:dPt>
          <c:dPt>
            <c:idx val="4"/>
            <c:spPr>
              <a:solidFill>
                <a:srgbClr val="1d6f8a"/>
              </a:solidFill>
              <a:ln w="0">
                <a:noFill/>
              </a:ln>
            </c:spPr>
          </c:dPt>
          <c:dLbls>
            <c:numFmt formatCode="\+0.00;\-0.00;0" sourceLinked="0"/>
            <c:dLbl>
              <c:idx val="0"/>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+۰٫۸۶</a:t>
                    </a:r>
                  </a:p>
                </c:rich>
              </c:tx>
              <c:dLblPos val="outEnd"/>
              <c:showLegendKey val="0"/>
              <c:showVal val="0"/>
              <c:showCatName val="0"/>
              <c:showSerName val="0"/>
              <c:showPercent val="0"/>
              <c:separator>; </c:separator>
            </c:dLbl>
            <c:dLbl>
              <c:idx val="1"/>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+۰٫۳۵</a:t>
                    </a:r>
                  </a:p>
                </c:rich>
              </c:tx>
              <c:dLblPos val="outEnd"/>
              <c:showLegendKey val="0"/>
              <c:showVal val="0"/>
              <c:showCatName val="0"/>
              <c:showSerName val="0"/>
              <c:showPercent val="0"/>
              <c:separator>; </c:separator>
            </c:dLbl>
            <c:dLbl>
              <c:idx val="2"/>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−۶٫۰۴</a:t>
                    </a:r>
                  </a:p>
                </c:rich>
              </c:tx>
              <c:dLblPos val="outEnd"/>
              <c:showLegendKey val="0"/>
              <c:showVal val="0"/>
              <c:showCatName val="0"/>
              <c:showSerName val="0"/>
              <c:showPercent val="0"/>
              <c:separator>; </c:separator>
            </c:dLbl>
            <c:dLbl>
              <c:idx val="3"/>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−۸٫۳۹</a:t>
                    </a:r>
                  </a:p>
                </c:rich>
              </c:tx>
              <c:dLblPos val="outEnd"/>
              <c:showLegendKey val="0"/>
              <c:showVal val="0"/>
              <c:showCatName val="0"/>
              <c:showSerName val="0"/>
              <c:showPercent val="0"/>
              <c:separator>; </c:separator>
            </c:dLbl>
            <c:dLbl>
              <c:idx val="4"/>
              <c:txPr>
                <a:bodyPr wrap="square"/>
                <a:lstStyle/>
                <a:p>
                  <a:pPr>
                    <a:defRPr b="0" sz="1000" spc="-1" strike="noStrike">
                      <a:solidFill>
                        <a:srgbClr val="000000"/>
                      </a:solidFill>
                      <a:latin typeface="Vazirmatn"/>
                      <a:ea typeface="Vazirmatn"/>
                    </a:defRPr>
                  </a:pPr>
                </a:p>
              </c:txPr>
              <c:tx>
                <c:rich>
                  <a:bodyPr/>
                  <a:p>
                    <a:r>
                      <a:rPr b="1" sz="1875" spc="-1" strike="noStrike">
                        <a:solidFill>
                          <a:srgbClr val="153d42"/>
                        </a:solidFill>
                        <a:latin typeface="Vazirmatn"/>
                        <a:ea typeface="Vazirmatn"/>
                      </a:rPr>
                      <a:t>−۵٫۰۳</a:t>
                    </a:r>
                  </a:p>
                </c:rich>
              </c:tx>
              <c:dLblPos val="outEnd"/>
              <c:showLegendKey val="0"/>
              <c:showVal val="0"/>
              <c:showCatName val="0"/>
              <c:showSerName val="0"/>
              <c:showPercent val="0"/>
              <c:separator>; </c:separator>
            </c:dLbl>
            <c:txPr>
              <a:bodyPr wrap="square"/>
              <a:lstStyle/>
              <a:p>
                <a:pPr>
                  <a:defRPr b="0" sz="1000" spc="-1" strike="noStrike">
                    <a:solidFill>
                      <a:srgbClr val="000000"/>
                    </a:solidFill>
                    <a:latin typeface="Vazirmatn"/>
                    <a:ea typeface="Vazirmatn"/>
                  </a:defRPr>
                </a:pPr>
              </a:p>
            </c:txPr>
            <c:dLblPos val="outEnd"/>
            <c:showLegendKey val="0"/>
            <c:showVal val="1"/>
            <c:showCatName val="1"/>
            <c:showSerName val="1"/>
            <c:showPercent val="0"/>
            <c:separator>; </c:separator>
            <c:showLeaderLines val="1"/>
            <c:extLst>
              <c:ext xmlns:c15="http://schemas.microsoft.com/office/drawing/2012/chart" uri="{CE6537A1-D6FC-4f65-9D91-7224C49458BB}">
                <c15:showLeaderLines val="1"/>
              </c:ext>
            </c:extLst>
          </c:dLbls>
          <c:cat>
            <c:strRef>
              <c:f>categories</c:f>
              <c:strCache>
                <c:ptCount val="5"/>
                <c:pt idx="0">
                  <c:v>AGFarsdat</c:v>
                </c:pt>
                <c:pt idx="1">
                  <c:v>Common Voice</c:v>
                </c:pt>
                <c:pt idx="2">
                  <c:v>FLEURS</c:v>
                </c:pt>
                <c:pt idx="3">
                  <c:v>PersianSpeech¹</c:v>
                </c:pt>
                <c:pt idx="4">
                  <c:v>Persian Speech
Corpus</c:v>
                </c:pt>
              </c:strCache>
            </c:strRef>
          </c:cat>
          <c:val>
            <c:numRef>
              <c:f>0</c:f>
              <c:numCache>
                <c:formatCode>\+0.00;\-0.00;0</c:formatCode>
                <c:ptCount val="5"/>
                <c:pt idx="0">
                  <c:v>0.86</c:v>
                </c:pt>
                <c:pt idx="1">
                  <c:v>0.35</c:v>
                </c:pt>
                <c:pt idx="2">
                  <c:v>-6.04</c:v>
                </c:pt>
                <c:pt idx="3">
                  <c:v>-8.39</c:v>
                </c:pt>
                <c:pt idx="4">
                  <c:v>-5.03</c:v>
                </c:pt>
              </c:numCache>
            </c:numRef>
          </c:val>
        </c:ser>
        <c:gapWidth val="120"/>
        <c:overlap val="0"/>
        <c:axId val="85502123"/>
        <c:axId val="77181607"/>
      </c:barChart>
      <c:catAx>
        <c:axId val="85502123"/>
        <c:scaling>
          <c:orientation val="minMax"/>
        </c:scaling>
        <c:delete val="0"/>
        <c:axPos val="b"/>
        <c:numFmt formatCode="General" sourceLinked="0"/>
        <c:majorTickMark val="none"/>
        <c:minorTickMark val="none"/>
        <c:tickLblPos val="low"/>
        <c:spPr>
          <a:ln w="17280">
            <a:solidFill>
              <a:srgbClr val="153d42"/>
            </a:solidFill>
            <a:round/>
          </a:ln>
        </c:spPr>
        <c:txPr>
          <a:bodyPr/>
          <a:lstStyle/>
          <a:p>
            <a:pPr>
              <a:defRPr b="0" sz="1575" spc="-1" strike="noStrike">
                <a:solidFill>
                  <a:srgbClr val="153d42"/>
                </a:solidFill>
                <a:latin typeface="Vazirmatn"/>
                <a:ea typeface="Vazirmatn"/>
              </a:defRPr>
            </a:pPr>
          </a:p>
        </c:txPr>
        <c:crossAx val="77181607"/>
        <c:crosses val="autoZero"/>
        <c:auto val="1"/>
        <c:lblAlgn val="ctr"/>
        <c:lblOffset val="100"/>
        <c:noMultiLvlLbl val="0"/>
      </c:catAx>
      <c:valAx>
        <c:axId val="77181607"/>
        <c:scaling>
          <c:orientation val="minMax"/>
          <c:max val="2"/>
          <c:min val="-10"/>
        </c:scaling>
        <c:delete val="0"/>
        <c:axPos val="l"/>
        <c:majorGridlines>
          <c:spPr>
            <a:ln w="6840">
              <a:solidFill>
                <a:srgbClr val="d5dcdd"/>
              </a:solidFill>
              <a:round/>
            </a:ln>
          </c:spPr>
        </c:majorGridlines>
        <c:numFmt formatCode="0" sourceLinked="0"/>
        <c:majorTickMark val="none"/>
        <c:minorTickMark val="none"/>
        <c:tickLblPos val="nextTo"/>
        <c:spPr>
          <a:ln w="0">
            <a:noFill/>
          </a:ln>
        </c:spPr>
        <c:txPr>
          <a:bodyPr/>
          <a:lstStyle/>
          <a:p>
            <a:pPr>
              <a:defRPr b="0" sz="1350" spc="-1" strike="noStrike">
                <a:solidFill>
                  <a:srgbClr val="52606d"/>
                </a:solidFill>
                <a:latin typeface="Vazirmatn"/>
                <a:ea typeface="Vazirmatn"/>
              </a:defRPr>
            </a:pPr>
          </a:p>
        </c:txPr>
        <c:crossAx val="85502123"/>
        <c:crosses val="autoZero"/>
        <c:crossBetween val="between"/>
        <c:majorUnit val="2"/>
      </c:valAx>
      <c:spPr>
        <a:noFill/>
        <a:ln w="0">
          <a:noFill/>
        </a:ln>
      </c:spPr>
    </c:plotArea>
    <c:plotVisOnly val="1"/>
    <c:dispBlanksAs val="zero"/>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19.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mov</a:t>
            </a:r>
            <a:r>
              <a:rPr b="0" lang="en-US" sz="4400" spc="-1" strike="noStrike">
                <a:solidFill>
                  <a:srgbClr val="000000"/>
                </a:solidFill>
                <a:latin typeface="Arial"/>
              </a:rPr>
              <a:t>e the </a:t>
            </a:r>
            <a:r>
              <a:rPr b="0" lang="en-US" sz="4400" spc="-1" strike="noStrike">
                <a:solidFill>
                  <a:srgbClr val="000000"/>
                </a:solidFill>
                <a:latin typeface="Arial"/>
              </a:rPr>
              <a:t>slide</a:t>
            </a:r>
            <a:endParaRPr b="0" lang="en-US" sz="4400" spc="-1" strike="noStrike">
              <a:solidFill>
                <a:srgbClr val="000000"/>
              </a:solidFill>
              <a:latin typeface="Arial"/>
            </a:endParaRPr>
          </a:p>
        </p:txBody>
      </p:sp>
      <p:sp>
        <p:nvSpPr>
          <p:cNvPr id="1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a:t>
            </a:r>
            <a:r>
              <a:rPr b="0" lang="en-US" sz="2000" spc="-1" strike="noStrike">
                <a:solidFill>
                  <a:srgbClr val="000000"/>
                </a:solidFill>
                <a:latin typeface="Arial"/>
              </a:rPr>
              <a:t>edit the </a:t>
            </a:r>
            <a:r>
              <a:rPr b="0" lang="en-US" sz="2000" spc="-1" strike="noStrike">
                <a:solidFill>
                  <a:srgbClr val="000000"/>
                </a:solidFill>
                <a:latin typeface="Arial"/>
              </a:rPr>
              <a:t>notes </a:t>
            </a:r>
            <a:r>
              <a:rPr b="0" lang="en-US" sz="2000" spc="-1" strike="noStrike">
                <a:solidFill>
                  <a:srgbClr val="000000"/>
                </a:solidFill>
                <a:latin typeface="Arial"/>
              </a:rPr>
              <a:t>format</a:t>
            </a:r>
            <a:endParaRPr b="0" lang="en-US" sz="2000" spc="-1" strike="noStrike">
              <a:solidFill>
                <a:srgbClr val="000000"/>
              </a:solidFill>
              <a:latin typeface="Arial"/>
            </a:endParaRPr>
          </a:p>
        </p:txBody>
      </p:sp>
      <p:sp>
        <p:nvSpPr>
          <p:cNvPr id="1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8"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9"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929F0BA-9818-4A49-B888-A788E3B4F2A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216000" y="812520"/>
            <a:ext cx="7126560" cy="4008240"/>
          </a:xfrm>
          <a:prstGeom prst="rect">
            <a:avLst/>
          </a:prstGeom>
          <a:ln w="0">
            <a:noFill/>
          </a:ln>
        </p:spPr>
      </p:sp>
      <p:sp>
        <p:nvSpPr>
          <p:cNvPr id="441" name="PlaceHolder 2"/>
          <p:cNvSpPr>
            <a:spLocks noGrp="1"/>
          </p:cNvSpPr>
          <p:nvPr>
            <p:ph type="body"/>
          </p:nvPr>
        </p:nvSpPr>
        <p:spPr>
          <a:xfrm>
            <a:off x="756000" y="5078520"/>
            <a:ext cx="6046920" cy="4810320"/>
          </a:xfrm>
          <a:prstGeom prst="rect">
            <a:avLst/>
          </a:prstGeom>
          <a:noFill/>
          <a:ln w="0">
            <a:noFill/>
          </a:ln>
        </p:spPr>
        <p:txBody>
          <a:bodyPr lIns="0" rIns="0" tIns="0" bIns="0" anchor="t">
            <a:noAutofit/>
          </a:bodyPr>
          <a:p>
            <a:pPr marL="216000" indent="0">
              <a:lnSpc>
                <a:spcPct val="100000"/>
              </a:lnSpc>
              <a:buNone/>
              <a:tabLst>
                <a:tab algn="l" pos="0"/>
              </a:tabLst>
            </a:pPr>
            <a:r>
              <a:rPr b="0" lang="hi-IN" sz="2000" spc="-1" strike="noStrike">
                <a:solidFill>
                  <a:srgbClr val="000000"/>
                </a:solidFill>
                <a:latin typeface="Arial"/>
              </a:rPr>
              <a:t>اهمیت این مسئله در کاربردهایی مثل رونویسی تماس‌های مرکز تماس، جست‌وجو در آرشیو مکالمات و استخراج اطلاعات برای ارزیابی کیفیت خدمات مشخص می‌شود. برای مثال، اگر نام یک خدمت یا عددی در مکالمه اشتباه تشخیص داده شود، نتیجه تحلیل بعدی هم ممکن است تغییر کند. بنابراین، دقت تبدیل صوت به متن، پایه استفاده قابل‌اعتماد از این داده‌هاست</a:t>
            </a: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hi-IN" sz="2000" spc="-1" strike="noStrike">
                <a:solidFill>
                  <a:srgbClr val="000000"/>
                </a:solidFill>
                <a:latin typeface="Arial"/>
              </a:rPr>
              <a:t>از طرف دیگر، گردآوری تماس واقعی و تهیه رونویسی دقیق برای آن پرهزینه است و به‌دلیل وجود اطلاعات شخصی، ملاحظات حریم خصوصی دارد. برای فارسی نیز دسترسی به داده رونویسی‌شده متنوع محدود است</a:t>
            </a:r>
            <a:r>
              <a:rPr b="0" lang="en-US" sz="2000" spc="-1" strike="noStrike">
                <a:solidFill>
                  <a:srgbClr val="000000"/>
                </a:solidFill>
                <a:latin typeface="Arial"/>
              </a:rPr>
              <a:t>.</a:t>
            </a:r>
            <a:endParaRPr b="0" lang="en-US" sz="2000" spc="-1" strike="noStrike">
              <a:solidFill>
                <a:srgbClr val="000000"/>
              </a:solidFill>
              <a:latin typeface="Arial"/>
            </a:endParaRPr>
          </a:p>
          <a:p>
            <a:pPr marL="216000" indent="0">
              <a:lnSpc>
                <a:spcPct val="100000"/>
              </a:lnSpc>
              <a:buNone/>
              <a:tabLst>
                <a:tab algn="l" pos="0"/>
              </a:tabLst>
            </a:pPr>
            <a:r>
              <a:rPr b="0" lang="hi-IN" sz="2000" spc="-1" strike="noStrike">
                <a:solidFill>
                  <a:srgbClr val="000000"/>
                </a:solidFill>
                <a:latin typeface="Arial"/>
              </a:rPr>
              <a:t>بنابراین مسئله این پژوهش این است که از داده‌های موجود بهتر استفاده کنیم، مدل را با شرایط نزدیک به کانال مخابراتی آموزش دهیم و بعد بررسی کنیم که آیا این تغییر واقعاً روی تماس‌های واقعی هم به کاهش خطا منجر می‌شود</a:t>
            </a:r>
            <a:r>
              <a:rPr b="0" lang="en-US" sz="2000" spc="-1" strike="noStrike">
                <a:solidFill>
                  <a:srgbClr val="000000"/>
                </a:solidFill>
                <a:latin typeface="Arial"/>
              </a:rPr>
              <a:t>.</a:t>
            </a:r>
            <a:endParaRPr b="0" lang="en-US" sz="2000" spc="-1" strike="noStrike">
              <a:solidFill>
                <a:srgbClr val="000000"/>
              </a:solidFill>
              <a:latin typeface="Arial"/>
            </a:endParaRPr>
          </a:p>
        </p:txBody>
      </p:sp>
      <p:sp>
        <p:nvSpPr>
          <p:cNvPr id="442" name="PlaceHolder 3"/>
          <p:cNvSpPr>
            <a:spLocks noGrp="1"/>
          </p:cNvSpPr>
          <p:nvPr>
            <p:ph type="sldNum" idx="4"/>
          </p:nvPr>
        </p:nvSpPr>
        <p:spPr>
          <a:xfrm>
            <a:off x="4278960" y="10157400"/>
            <a:ext cx="3279960" cy="533520"/>
          </a:xfrm>
          <a:prstGeom prst="rect">
            <a:avLst/>
          </a:prstGeom>
          <a:noFill/>
          <a:ln w="0">
            <a:noFill/>
          </a:ln>
        </p:spPr>
        <p:txBody>
          <a:bodyPr lIns="0" rIns="0" tIns="0" bIns="0" anchor="b">
            <a:noAutofit/>
          </a:bodyPr>
          <a:p>
            <a:pPr indent="0">
              <a:buNone/>
            </a:pPr>
            <a:endParaRPr b="0" lang="en-US"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0" y="0"/>
            <a:ext cx="0" cy="0"/>
          </a:xfrm>
          <a:prstGeom prst="rect">
            <a:avLst/>
          </a:prstGeom>
          <a:ln w="0">
            <a:noFill/>
          </a:ln>
        </p:spPr>
      </p:sp>
      <p:sp>
        <p:nvSpPr>
          <p:cNvPr id="44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rtl="1">
              <a:lnSpc>
                <a:spcPct val="100000"/>
              </a:lnSpc>
              <a:buNone/>
              <a:tabLst>
                <a:tab algn="l" pos="0"/>
              </a:tabLst>
            </a:pPr>
            <a:r>
              <a:rPr b="0" lang="hi-IN" sz="2000" spc="-1" strike="noStrike">
                <a:solidFill>
                  <a:srgbClr val="000000"/>
                </a:solidFill>
                <a:latin typeface="Arial"/>
              </a:rPr>
              <a:t>هر مرحله یک دوره کامل است. نرخ یادگیری ماژول‌های جدید در مرحله نهایی </a:t>
            </a:r>
            <a:r>
              <a:rPr b="0" lang="en-US" sz="2000" spc="-1" strike="noStrike">
                <a:solidFill>
                  <a:srgbClr val="000000"/>
                </a:solidFill>
                <a:latin typeface="Arial"/>
              </a:rPr>
              <a:t>1e-4</a:t>
            </a:r>
            <a:r>
              <a:rPr b="0" lang="en-US" sz="2000" spc="-1" strike="noStrike">
                <a:solidFill>
                  <a:srgbClr val="000000"/>
                </a:solidFill>
                <a:latin typeface="Arial"/>
              </a:rPr>
              <a:t> و ویسپر </a:t>
            </a:r>
            <a:r>
              <a:rPr b="0" lang="en-US" sz="2000" spc="-1" strike="noStrike">
                <a:solidFill>
                  <a:srgbClr val="000000"/>
                </a:solidFill>
                <a:latin typeface="Arial"/>
              </a:rPr>
              <a:t>5e-6</a:t>
            </a:r>
            <a:r>
              <a:rPr b="0" lang="en-US" sz="2000" spc="-1" strike="noStrike">
                <a:solidFill>
                  <a:srgbClr val="000000"/>
                </a:solidFill>
                <a:latin typeface="Arial"/>
              </a:rPr>
              <a:t> است. نرخ‌ها و وزن‌های زیان بی‌واحدند.</a:t>
            </a:r>
            <a:endParaRPr b="0" lang="en-US" sz="2000" spc="-1" strike="noStrike">
              <a:solidFill>
                <a:srgbClr val="000000"/>
              </a:solidFill>
              <a:latin typeface="Arial"/>
            </a:endParaRPr>
          </a:p>
          <a:p>
            <a:pPr marL="216000" indent="0" rtl="1">
              <a:lnSpc>
                <a:spcPct val="100000"/>
              </a:lnSpc>
              <a:buNone/>
              <a:tabLst>
                <a:tab algn="l" pos="0"/>
              </a:tabLst>
            </a:pPr>
            <a:r>
              <a:rPr b="0" lang="hi-IN" sz="2000" spc="-1" strike="noStrike">
                <a:solidFill>
                  <a:srgbClr val="000000"/>
                </a:solidFill>
                <a:latin typeface="Arial"/>
              </a:rPr>
              <a:t>منبع: </a:t>
            </a:r>
            <a:r>
              <a:rPr b="0" lang="en-US" sz="2000" spc="-1" strike="noStrike">
                <a:solidFill>
                  <a:srgbClr val="000000"/>
                </a:solidFill>
                <a:latin typeface="Arial"/>
              </a:rPr>
              <a:t>Thesis/chapters/work.tex</a:t>
            </a:r>
            <a:r>
              <a:rPr b="0" lang="hi-IN" sz="2000" spc="-1" strike="noStrike">
                <a:solidFill>
                  <a:srgbClr val="000000"/>
                </a:solidFill>
                <a:latin typeface="Arial"/>
              </a:rPr>
              <a:t>؛ تصویر اصلی </a:t>
            </a:r>
            <a:r>
              <a:rPr b="0" lang="en-US" sz="2000" spc="-1" strike="noStrike">
                <a:solidFill>
                  <a:srgbClr val="000000"/>
                </a:solidFill>
                <a:latin typeface="Arial"/>
              </a:rPr>
              <a:t>fusion-training.png</a:t>
            </a:r>
            <a:r>
              <a:rPr b="0" lang="en-US" sz="2000" spc="-1" strike="noStrike">
                <a:solidFill>
                  <a:srgbClr val="000000"/>
                </a:solidFill>
                <a:latin typeface="Arial"/>
              </a:rPr>
              <a:t>.</a:t>
            </a:r>
            <a:endParaRPr b="0" lang="en-US" sz="2000" spc="-1" strike="noStrike">
              <a:solidFill>
                <a:srgbClr val="000000"/>
              </a:solidFill>
              <a:latin typeface="Arial"/>
            </a:endParaRPr>
          </a:p>
        </p:txBody>
      </p:sp>
      <p:sp>
        <p:nvSpPr>
          <p:cNvPr id="445"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b="0" lang="en-US" sz="1400" spc="-1" strike="noStrike">
              <a:solidFill>
                <a:srgbClr val="000000"/>
              </a:solidFill>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0" y="0"/>
            <a:ext cx="0" cy="0"/>
          </a:xfrm>
          <a:prstGeom prst="rect">
            <a:avLst/>
          </a:prstGeom>
          <a:ln w="0">
            <a:noFill/>
          </a:ln>
        </p:spPr>
      </p:sp>
      <p:sp>
        <p:nvSpPr>
          <p:cNvPr id="44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marL="216000" indent="0" rtl="1">
              <a:lnSpc>
                <a:spcPct val="100000"/>
              </a:lnSpc>
              <a:buNone/>
              <a:tabLst>
                <a:tab algn="l" pos="0"/>
              </a:tabLst>
            </a:pPr>
            <a:r>
              <a:rPr b="0" lang="hi-IN" sz="2000" spc="-1" strike="noStrike">
                <a:solidFill>
                  <a:srgbClr val="000000"/>
                </a:solidFill>
                <a:latin typeface="Arial"/>
              </a:rPr>
              <a:t>این موارد دستاوردهای پیاده‌سازی و ارزیابی این پایان‌نامه‌اند و ادعای ابداع مستقل اجزای شناخته‌شده نیستند.</a:t>
            </a:r>
            <a:endParaRPr b="0" lang="en-US" sz="2000" spc="-1" strike="noStrike">
              <a:solidFill>
                <a:srgbClr val="000000"/>
              </a:solidFill>
              <a:latin typeface="Arial"/>
            </a:endParaRPr>
          </a:p>
          <a:p>
            <a:pPr marL="216000" indent="0" rtl="1">
              <a:lnSpc>
                <a:spcPct val="100000"/>
              </a:lnSpc>
              <a:buNone/>
              <a:tabLst>
                <a:tab algn="l" pos="0"/>
              </a:tabLst>
            </a:pPr>
            <a:r>
              <a:rPr b="0" lang="hi-IN" sz="2000" spc="-1" strike="noStrike">
                <a:solidFill>
                  <a:srgbClr val="000000"/>
                </a:solidFill>
                <a:latin typeface="Arial"/>
              </a:rPr>
              <a:t>منبع: </a:t>
            </a:r>
            <a:r>
              <a:rPr b="0" lang="en-US" sz="2000" spc="-1" strike="noStrike">
                <a:solidFill>
                  <a:srgbClr val="000000"/>
                </a:solidFill>
                <a:latin typeface="Arial"/>
              </a:rPr>
              <a:t>Thesis/chapters/conclusions.tex</a:t>
            </a:r>
            <a:r>
              <a:rPr b="0" lang="hi-IN" sz="2000" spc="-1" strike="noStrike">
                <a:solidFill>
                  <a:srgbClr val="000000"/>
                </a:solidFill>
                <a:latin typeface="Arial"/>
              </a:rPr>
              <a:t>، بخش دستاوردهای پژوهش.</a:t>
            </a:r>
            <a:endParaRPr b="0" lang="en-US" sz="2000" spc="-1" strike="noStrike">
              <a:solidFill>
                <a:srgbClr val="000000"/>
              </a:solidFill>
              <a:latin typeface="Arial"/>
            </a:endParaRPr>
          </a:p>
        </p:txBody>
      </p:sp>
      <p:sp>
        <p:nvSpPr>
          <p:cNvPr id="448" name="PlaceHolder 3"/>
          <p:cNvSpPr>
            <a:spLocks noGrp="1"/>
          </p:cNvSpPr>
          <p:nvPr>
            <p:ph type="sldNum" idx="6"/>
          </p:nvPr>
        </p:nvSpPr>
        <p:spPr>
          <a:xfrm>
            <a:off x="0" y="0"/>
            <a:ext cx="0" cy="0"/>
          </a:xfrm>
          <a:prstGeom prst="rect">
            <a:avLst/>
          </a:prstGeom>
          <a:noFill/>
          <a:ln w="0">
            <a:noFill/>
          </a:ln>
        </p:spPr>
        <p:txBody>
          <a:bodyPr lIns="90000" rIns="90000" tIns="-45000" bIns="-45000" anchor="t">
            <a:noAutofit/>
          </a:bodyPr>
          <a:p>
            <a:pPr indent="0">
              <a:buNone/>
            </a:pPr>
            <a:endParaRPr b="0" lang="en-US"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spTree>
      <p:nvGrpSpPr>
        <p:cNvPr id="1" name=""/>
        <p:cNvGrpSpPr/>
        <p:nvPr/>
      </p:nvGrpSpPr>
      <p:grpSpPr>
        <a:xfrm>
          <a:off x="0" y="0"/>
          <a:ext cx="0" cy="0"/>
          <a:chOff x="0" y="0"/>
          <a:chExt cx="0" cy="0"/>
        </a:xfrm>
      </p:grpSpPr>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2"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8">
    <p:spTree>
      <p:nvGrpSpPr>
        <p:cNvPr id="1" name=""/>
        <p:cNvGrpSpPr/>
        <p:nvPr/>
      </p:nvGrpSpPr>
      <p:grpSpPr>
        <a:xfrm>
          <a:off x="0" y="0"/>
          <a:ext cx="0" cy="0"/>
          <a:chOff x="0" y="0"/>
          <a:chExt cx="0" cy="0"/>
        </a:xfrm>
      </p:grpSpPr>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9">
    <p:spTree>
      <p:nvGrpSpPr>
        <p:cNvPr id="1" name=""/>
        <p:cNvGrpSpPr/>
        <p:nvPr/>
      </p:nvGrpSpPr>
      <p:grpSpPr>
        <a:xfrm>
          <a:off x="0" y="0"/>
          <a:ext cx="0" cy="0"/>
          <a:chOff x="0" y="0"/>
          <a:chExt cx="0" cy="0"/>
        </a:xfrm>
      </p:grpSpPr>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0">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slideLayout" Target="../slideLayouts/slideLayout1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a:t>
            </a:r>
            <a:r>
              <a:rPr b="0" lang="en-US" sz="4400" spc="-1" strike="noStrike">
                <a:solidFill>
                  <a:srgbClr val="000000"/>
                </a:solidFill>
                <a:latin typeface="Arial"/>
              </a:rPr>
              <a:t>k to </a:t>
            </a:r>
            <a:r>
              <a:rPr b="0" lang="en-US" sz="4400" spc="-1" strike="noStrike">
                <a:solidFill>
                  <a:srgbClr val="000000"/>
                </a:solidFill>
                <a:latin typeface="Arial"/>
              </a:rPr>
              <a:t>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a:t>
            </a:r>
            <a:r>
              <a:rPr b="0" lang="en-US" sz="4400" spc="-1" strike="noStrike">
                <a:solidFill>
                  <a:srgbClr val="000000"/>
                </a:solidFill>
                <a:latin typeface="Arial"/>
              </a:rPr>
              <a:t>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a:t>
            </a:r>
            <a:r>
              <a:rPr b="0" lang="en-US" sz="1800" spc="-1" strike="noStrike">
                <a:solidFill>
                  <a:srgbClr val="000000"/>
                </a:solidFill>
                <a:latin typeface="Arial"/>
              </a:rPr>
              <a:t>edit the </a:t>
            </a:r>
            <a:r>
              <a:rPr b="0" lang="en-US" sz="1800" spc="-1" strike="noStrike">
                <a:solidFill>
                  <a:srgbClr val="000000"/>
                </a:solidFill>
                <a:latin typeface="Arial"/>
              </a:rPr>
              <a:t>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a:t>
            </a:r>
            <a:r>
              <a:rPr b="0" lang="en-US" sz="1800" spc="-1" strike="noStrike">
                <a:solidFill>
                  <a:srgbClr val="000000"/>
                </a:solidFill>
                <a:latin typeface="Arial"/>
              </a:rPr>
              <a:t>edit the </a:t>
            </a:r>
            <a:r>
              <a:rPr b="0" lang="en-US" sz="1800" spc="-1" strike="noStrike">
                <a:solidFill>
                  <a:srgbClr val="000000"/>
                </a:solidFill>
                <a:latin typeface="Arial"/>
              </a:rPr>
              <a:t>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
            </a:r>
            <a:r>
              <a:rPr b="0" lang="en-US" sz="4400" spc="-1" strike="noStrike">
                <a:solidFill>
                  <a:srgbClr val="000000"/>
                </a:solidFill>
                <a:latin typeface="Arial"/>
              </a:rPr>
              <a:t>at</a:t>
            </a:r>
            <a:endParaRPr b="0" lang="en-US" sz="4400" spc="-1" strike="noStrike">
              <a:solidFill>
                <a:srgbClr val="000000"/>
              </a:solidFill>
              <a:latin typeface="Arial"/>
            </a:endParaRPr>
          </a:p>
        </p:txBody>
      </p:sp>
      <p:sp>
        <p:nvSpPr>
          <p:cNvPr id="9"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1" r:id="rId2"/>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3" r:id="rId2"/>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a:t>
            </a:r>
            <a:r>
              <a:rPr b="0" lang="en-US" sz="1800" spc="-1" strike="noStrike">
                <a:solidFill>
                  <a:srgbClr val="000000"/>
                </a:solidFill>
                <a:latin typeface="Arial"/>
              </a:rPr>
              <a:t>the title text </a:t>
            </a:r>
            <a:r>
              <a:rPr b="0" lang="en-US" sz="1800" spc="-1" strike="noStrike">
                <a:solidFill>
                  <a:srgbClr val="000000"/>
                </a:solidFill>
                <a:latin typeface="Arial"/>
              </a:rPr>
              <a:t>format</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77" r:id="rId2"/>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a:t>
            </a:r>
            <a:r>
              <a:rPr b="0" lang="en-US" sz="4400" spc="-1" strike="noStrike">
                <a:solidFill>
                  <a:srgbClr val="000000"/>
                </a:solidFill>
                <a:latin typeface="Arial"/>
              </a:rPr>
              <a:t>to </a:t>
            </a:r>
            <a:r>
              <a:rPr b="0" lang="en-US" sz="4400" spc="-1" strike="noStrike">
                <a:solidFill>
                  <a:srgbClr val="000000"/>
                </a:solidFill>
                <a:latin typeface="Arial"/>
              </a:rPr>
              <a:t>edit </a:t>
            </a:r>
            <a:r>
              <a:rPr b="0" lang="en-US" sz="4400" spc="-1" strike="noStrike">
                <a:solidFill>
                  <a:srgbClr val="000000"/>
                </a:solidFill>
                <a:latin typeface="Arial"/>
              </a:rPr>
              <a:t>the </a:t>
            </a:r>
            <a:r>
              <a:rPr b="0" lang="en-US" sz="4400" spc="-1" strike="noStrike">
                <a:solidFill>
                  <a:srgbClr val="000000"/>
                </a:solidFill>
                <a:latin typeface="Arial"/>
              </a:rPr>
              <a:t>title </a:t>
            </a:r>
            <a:r>
              <a:rPr b="0" lang="en-US" sz="4400" spc="-1" strike="noStrike">
                <a:solidFill>
                  <a:srgbClr val="000000"/>
                </a:solidFill>
                <a:latin typeface="Arial"/>
              </a:rPr>
              <a:t>text </a:t>
            </a:r>
            <a:r>
              <a:rPr b="0" lang="en-US" sz="4400" spc="-1" strike="noStrike">
                <a:solidFill>
                  <a:srgbClr val="000000"/>
                </a:solidFill>
                <a:latin typeface="Arial"/>
              </a:rPr>
              <a:t>form</a:t>
            </a:r>
            <a:r>
              <a:rPr b="0" lang="en-US" sz="4400" spc="-1" strike="noStrike">
                <a:solidFill>
                  <a:srgbClr val="000000"/>
                </a:solidFill>
                <a:latin typeface="Arial"/>
              </a:rPr>
              <a:t>at</a:t>
            </a:r>
            <a:endParaRPr b="0" lang="en-US" sz="4400" spc="-1" strike="noStrike">
              <a:solidFill>
                <a:srgbClr val="000000"/>
              </a:solidFill>
              <a:latin typeface="Arial"/>
            </a:endParaRPr>
          </a:p>
        </p:txBody>
      </p:sp>
      <p:sp>
        <p:nvSpPr>
          <p:cNvPr id="1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1" r:id="rId2"/>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Tree>
  </p:cSld>
  <p:clrMap bg1="lt1" bg2="lt2" tx1="dk1" tx2="dk2" accent1="accent1" accent2="accent2" accent3="accent3" accent4="accent4" accent5="accent5" accent6="accent6" hlink="hlink" folHlink="folHlink"/>
  <p:sldLayoutIdLst>
    <p:sldLayoutId id="2147483683"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1" name=""/>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a:lnSpc>
                <a:spcPct val="100000"/>
              </a:lnSpc>
            </a:pPr>
            <a:endParaRPr b="0" lang="en-US" sz="1350" spc="-1" strike="noStrike">
              <a:solidFill>
                <a:srgbClr val="000000"/>
              </a:solidFill>
              <a:latin typeface="Vazirmatn"/>
              <a:ea typeface="Vazirmatn"/>
            </a:endParaRPr>
          </a:p>
        </p:txBody>
      </p:sp>
      <p:sp>
        <p:nvSpPr>
          <p:cNvPr id="22" name=""/>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a:lnSpc>
                <a:spcPct val="100000"/>
              </a:lnSpc>
            </a:pPr>
            <a:endParaRPr b="0" lang="en-US" sz="3150" spc="-1" strike="noStrike">
              <a:solidFill>
                <a:srgbClr val="000000"/>
              </a:solidFill>
              <a:latin typeface="Vazirmatn"/>
              <a:ea typeface="Vazirmatn"/>
            </a:endParaRPr>
          </a:p>
        </p:txBody>
      </p:sp>
      <p:sp>
        <p:nvSpPr>
          <p:cNvPr id="2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4" name="۱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pic>
        <p:nvPicPr>
          <p:cNvPr id="25" name="" descr=""/>
          <p:cNvPicPr/>
          <p:nvPr/>
        </p:nvPicPr>
        <p:blipFill>
          <a:blip r:embed="rId1"/>
          <a:stretch/>
        </p:blipFill>
        <p:spPr>
          <a:xfrm>
            <a:off x="685800" y="476280"/>
            <a:ext cx="1252440" cy="1252440"/>
          </a:xfrm>
          <a:prstGeom prst="rect">
            <a:avLst/>
          </a:prstGeom>
          <a:ln w="0">
            <a:noFill/>
          </a:ln>
        </p:spPr>
      </p:pic>
      <p:sp>
        <p:nvSpPr>
          <p:cNvPr id="26" name="دانشگاه صنعتی شریف"/>
          <p:cNvSpPr/>
          <p:nvPr/>
        </p:nvSpPr>
        <p:spPr>
          <a:xfrm>
            <a:off x="4762440" y="504720"/>
            <a:ext cx="6738840" cy="4712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دانشگاه صنعتی شریف</a:t>
            </a:r>
            <a:endParaRPr b="0" lang="en-US" sz="2170" spc="-1" strike="noStrike">
              <a:solidFill>
                <a:srgbClr val="000000"/>
              </a:solidFill>
              <a:latin typeface="Arial"/>
            </a:endParaRPr>
          </a:p>
        </p:txBody>
      </p:sp>
      <p:sp>
        <p:nvSpPr>
          <p:cNvPr id="27" name="دانشکده مهندسی کامپیوتر"/>
          <p:cNvSpPr/>
          <p:nvPr/>
        </p:nvSpPr>
        <p:spPr>
          <a:xfrm>
            <a:off x="4762440" y="1009800"/>
            <a:ext cx="6738840" cy="3758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650" spc="-1" strike="noStrike">
                <a:solidFill>
                  <a:srgbClr val="52606d"/>
                </a:solidFill>
                <a:latin typeface="Vazirmatn"/>
                <a:cs typeface="Vazirmatn"/>
              </a:rPr>
              <a:t>دانشکده مهندسی کامپیوتر</a:t>
            </a:r>
            <a:endParaRPr b="0" lang="en-US" sz="1650" spc="-1" strike="noStrike">
              <a:solidFill>
                <a:srgbClr val="000000"/>
              </a:solidFill>
              <a:latin typeface="Arial"/>
            </a:endParaRPr>
          </a:p>
        </p:txBody>
      </p:sp>
      <p:sp>
        <p:nvSpPr>
          <p:cNvPr id="28" name=""/>
          <p:cNvSpPr/>
          <p:nvPr/>
        </p:nvSpPr>
        <p:spPr>
          <a:xfrm>
            <a:off x="2571480" y="1733400"/>
            <a:ext cx="893448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9" name="بازشناسی مقاوم گفتار"/>
          <p:cNvSpPr/>
          <p:nvPr/>
        </p:nvSpPr>
        <p:spPr>
          <a:xfrm>
            <a:off x="2190600" y="2324160"/>
            <a:ext cx="9310320" cy="10904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4800" spc="-1" strike="noStrike">
                <a:solidFill>
                  <a:srgbClr val="153d42"/>
                </a:solidFill>
                <a:latin typeface="Vazirmatn"/>
                <a:cs typeface="Vazirmatn"/>
              </a:rPr>
              <a:t>بازشناسی مقاوم گفتار</a:t>
            </a:r>
            <a:endParaRPr b="0" lang="en-US" sz="4800" spc="-1" strike="noStrike">
              <a:solidFill>
                <a:srgbClr val="000000"/>
              </a:solidFill>
              <a:latin typeface="Arial"/>
            </a:endParaRPr>
          </a:p>
        </p:txBody>
      </p:sp>
      <p:sp>
        <p:nvSpPr>
          <p:cNvPr id="30" name="در زبان فارسی"/>
          <p:cNvSpPr/>
          <p:nvPr/>
        </p:nvSpPr>
        <p:spPr>
          <a:xfrm>
            <a:off x="2190600" y="3476520"/>
            <a:ext cx="9310320" cy="10904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4800" spc="-1" strike="noStrike">
                <a:solidFill>
                  <a:srgbClr val="153d42"/>
                </a:solidFill>
                <a:latin typeface="Vazirmatn"/>
                <a:cs typeface="Vazirmatn"/>
              </a:rPr>
              <a:t>در زبان فارسی</a:t>
            </a:r>
            <a:endParaRPr b="0" lang="en-US" sz="4800" spc="-1" strike="noStrike">
              <a:solidFill>
                <a:srgbClr val="000000"/>
              </a:solidFill>
              <a:latin typeface="Arial"/>
            </a:endParaRPr>
          </a:p>
        </p:txBody>
      </p:sp>
      <p:sp>
        <p:nvSpPr>
          <p:cNvPr id="31" name="پویا فلاح سیچانی"/>
          <p:cNvSpPr/>
          <p:nvPr/>
        </p:nvSpPr>
        <p:spPr>
          <a:xfrm>
            <a:off x="6191280" y="5238720"/>
            <a:ext cx="5310000" cy="5094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پویا فلاح سیچانی</a:t>
            </a:r>
            <a:endParaRPr b="0" lang="en-US" sz="2170" spc="-1" strike="noStrike">
              <a:solidFill>
                <a:srgbClr val="000000"/>
              </a:solidFill>
              <a:latin typeface="Arial"/>
            </a:endParaRPr>
          </a:p>
        </p:txBody>
      </p:sp>
      <p:sp>
        <p:nvSpPr>
          <p:cNvPr id="32" name="استاد راهنما: دکتر حسین صامتی"/>
          <p:cNvSpPr/>
          <p:nvPr/>
        </p:nvSpPr>
        <p:spPr>
          <a:xfrm>
            <a:off x="6191280" y="5762520"/>
            <a:ext cx="5310000" cy="414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729" spc="-1" strike="noStrike">
                <a:solidFill>
                  <a:srgbClr val="52606d"/>
                </a:solidFill>
                <a:latin typeface="Vazirmatn"/>
                <a:cs typeface="Vazirmatn"/>
              </a:rPr>
              <a:t>استاد راهنما: دکتر حسین صامتی</a:t>
            </a:r>
            <a:endParaRPr b="0" lang="en-US" sz="1729" spc="-1" strike="noStrike">
              <a:solidFill>
                <a:srgbClr val="000000"/>
              </a:solidFill>
              <a:latin typeface="Arial"/>
            </a:endParaRPr>
          </a:p>
        </p:txBody>
      </p:sp>
      <p:sp>
        <p:nvSpPr>
          <p:cNvPr id="33" name="دفاع پایان‌نامه کارشناسی ارشد"/>
          <p:cNvSpPr/>
          <p:nvPr/>
        </p:nvSpPr>
        <p:spPr>
          <a:xfrm>
            <a:off x="685800" y="5381640"/>
            <a:ext cx="4186080" cy="56664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729" spc="-1" strike="noStrike">
                <a:solidFill>
                  <a:srgbClr val="52606d"/>
                </a:solidFill>
                <a:latin typeface="Vazirmatn"/>
                <a:cs typeface="Vazirmatn"/>
              </a:rPr>
              <a:t>دفاع پایان‌نامه کارشناسی ارشد</a:t>
            </a:r>
            <a:endParaRPr b="0" lang="en-US" sz="172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4" name="مسئله پژوهش"/>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مسئله پژوهش</a:t>
            </a:r>
            <a:endParaRPr b="0" lang="en-US" sz="1350" spc="-1" strike="noStrike">
              <a:solidFill>
                <a:srgbClr val="000000"/>
              </a:solidFill>
              <a:latin typeface="Arial"/>
            </a:endParaRPr>
          </a:p>
        </p:txBody>
      </p:sp>
      <p:sp>
        <p:nvSpPr>
          <p:cNvPr id="35" name="شکاف میان گفتار آموزشی و تماس واقع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شکاف میان گفتار آموزشی و تماس واقعی</a:t>
            </a:r>
            <a:endParaRPr b="0" lang="en-US" sz="3150" spc="-1" strike="noStrike">
              <a:solidFill>
                <a:srgbClr val="000000"/>
              </a:solidFill>
              <a:latin typeface="Arial"/>
            </a:endParaRPr>
          </a:p>
        </p:txBody>
      </p:sp>
      <p:sp>
        <p:nvSpPr>
          <p:cNvPr id="36"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37" name="۲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۲</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38" name="گفتار در دسترس"/>
          <p:cNvSpPr/>
          <p:nvPr/>
        </p:nvSpPr>
        <p:spPr>
          <a:xfrm>
            <a:off x="6667560" y="2095560"/>
            <a:ext cx="483372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470" spc="-1" strike="noStrike">
                <a:solidFill>
                  <a:srgbClr val="153d42"/>
                </a:solidFill>
                <a:latin typeface="Vazirmatn"/>
                <a:cs typeface="Vazirmatn"/>
              </a:rPr>
              <a:t>گفتار در دسترس</a:t>
            </a:r>
            <a:endParaRPr b="0" lang="en-US" sz="2470" spc="-1" strike="noStrike">
              <a:solidFill>
                <a:srgbClr val="000000"/>
              </a:solidFill>
              <a:latin typeface="Arial"/>
            </a:endParaRPr>
          </a:p>
        </p:txBody>
      </p:sp>
      <p:sp>
        <p:nvSpPr>
          <p:cNvPr id="39" name="پیکره‌های عمومی فارسی&#10;قطعه‌های عمدتاً کوتاه&#10;سبک‌ها و شرایط ضبط متنوع"/>
          <p:cNvSpPr/>
          <p:nvPr/>
        </p:nvSpPr>
        <p:spPr>
          <a:xfrm>
            <a:off x="6667560" y="2905200"/>
            <a:ext cx="4833720" cy="1900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170" spc="-1" strike="noStrike">
                <a:solidFill>
                  <a:srgbClr val="1f2933"/>
                </a:solidFill>
                <a:latin typeface="Vazirmatn"/>
                <a:cs typeface="Vazirmatn"/>
              </a:rPr>
              <a:t>پیکره‌های عمومی فارسی</a:t>
            </a:r>
            <a:endParaRPr b="0" lang="en-US" sz="2170" spc="-1" strike="noStrike">
              <a:solidFill>
                <a:srgbClr val="000000"/>
              </a:solidFill>
              <a:latin typeface="Arial"/>
            </a:endParaRPr>
          </a:p>
          <a:p>
            <a:pPr algn="r" rtl="1">
              <a:lnSpc>
                <a:spcPct val="100000"/>
              </a:lnSpc>
            </a:pPr>
            <a:r>
              <a:rPr b="0" lang="fa-IR" sz="2170" spc="-1" strike="noStrike">
                <a:solidFill>
                  <a:srgbClr val="1f2933"/>
                </a:solidFill>
                <a:latin typeface="Vazirmatn"/>
                <a:cs typeface="Vazirmatn"/>
              </a:rPr>
              <a:t>قطعه‌های عمدتاً کوتاه</a:t>
            </a:r>
            <a:endParaRPr b="0" lang="en-US" sz="2170" spc="-1" strike="noStrike">
              <a:solidFill>
                <a:srgbClr val="000000"/>
              </a:solidFill>
              <a:latin typeface="Arial"/>
            </a:endParaRPr>
          </a:p>
          <a:p>
            <a:pPr algn="r" rtl="1">
              <a:lnSpc>
                <a:spcPct val="100000"/>
              </a:lnSpc>
            </a:pPr>
            <a:r>
              <a:rPr b="0" lang="fa-IR" sz="2170" spc="-1" strike="noStrike">
                <a:solidFill>
                  <a:srgbClr val="1f2933"/>
                </a:solidFill>
                <a:latin typeface="Vazirmatn"/>
                <a:cs typeface="Vazirmatn"/>
              </a:rPr>
              <a:t>سبک‌ها و شرایط ضبط متنوع</a:t>
            </a:r>
            <a:endParaRPr b="0" lang="en-US" sz="2170" spc="-1" strike="noStrike">
              <a:solidFill>
                <a:srgbClr val="000000"/>
              </a:solidFill>
              <a:latin typeface="Arial"/>
            </a:endParaRPr>
          </a:p>
        </p:txBody>
      </p:sp>
      <p:sp>
        <p:nvSpPr>
          <p:cNvPr id="40" name=""/>
          <p:cNvSpPr/>
          <p:nvPr/>
        </p:nvSpPr>
        <p:spPr>
          <a:xfrm>
            <a:off x="685800" y="1952640"/>
            <a:ext cx="5252760" cy="3233520"/>
          </a:xfrm>
          <a:prstGeom prst="rect">
            <a:avLst/>
          </a:prstGeom>
          <a:solidFill>
            <a:srgbClr val="153d4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Vazirmatn"/>
              <a:ea typeface="Vazirmatn"/>
            </a:endParaRPr>
          </a:p>
        </p:txBody>
      </p:sp>
      <p:sp>
        <p:nvSpPr>
          <p:cNvPr id="41" name="شرایط تماس"/>
          <p:cNvSpPr/>
          <p:nvPr/>
        </p:nvSpPr>
        <p:spPr>
          <a:xfrm>
            <a:off x="990720" y="2143080"/>
            <a:ext cx="460512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470" spc="-1" strike="noStrike">
                <a:solidFill>
                  <a:srgbClr val="f7f6f2"/>
                </a:solidFill>
                <a:latin typeface="Vazirmatn"/>
                <a:cs typeface="Vazirmatn"/>
              </a:rPr>
              <a:t>شرایط تماس</a:t>
            </a:r>
            <a:endParaRPr b="0" lang="en-US" sz="2470" spc="-1" strike="noStrike">
              <a:solidFill>
                <a:srgbClr val="000000"/>
              </a:solidFill>
              <a:latin typeface="Arial"/>
            </a:endParaRPr>
          </a:p>
        </p:txBody>
      </p:sp>
      <p:sp>
        <p:nvSpPr>
          <p:cNvPr id="42" name="نویز و پهنای‌باند محدود&#10;اعوجاج کدک و افت بسته&#10;تلفن و تماس اینترنتی"/>
          <p:cNvSpPr/>
          <p:nvPr/>
        </p:nvSpPr>
        <p:spPr>
          <a:xfrm>
            <a:off x="990720" y="2952720"/>
            <a:ext cx="4605120" cy="1900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170" spc="-1" strike="noStrike">
                <a:solidFill>
                  <a:srgbClr val="f7f6f2"/>
                </a:solidFill>
                <a:latin typeface="Vazirmatn"/>
                <a:cs typeface="Vazirmatn"/>
              </a:rPr>
              <a:t>نویز و پهنای‌باند محدود</a:t>
            </a:r>
            <a:endParaRPr b="0" lang="en-US" sz="2170" spc="-1" strike="noStrike">
              <a:solidFill>
                <a:srgbClr val="000000"/>
              </a:solidFill>
              <a:latin typeface="Arial"/>
            </a:endParaRPr>
          </a:p>
          <a:p>
            <a:pPr algn="r" rtl="1">
              <a:lnSpc>
                <a:spcPct val="100000"/>
              </a:lnSpc>
            </a:pPr>
            <a:r>
              <a:rPr b="0" lang="fa-IR" sz="2170" spc="-1" strike="noStrike">
                <a:solidFill>
                  <a:srgbClr val="f7f6f2"/>
                </a:solidFill>
                <a:latin typeface="Vazirmatn"/>
                <a:cs typeface="Vazirmatn"/>
              </a:rPr>
              <a:t>اعوجاج کدک و افت بسته</a:t>
            </a:r>
            <a:endParaRPr b="0" lang="en-US" sz="2170" spc="-1" strike="noStrike">
              <a:solidFill>
                <a:srgbClr val="000000"/>
              </a:solidFill>
              <a:latin typeface="Arial"/>
            </a:endParaRPr>
          </a:p>
          <a:p>
            <a:pPr algn="r" rtl="1">
              <a:lnSpc>
                <a:spcPct val="100000"/>
              </a:lnSpc>
            </a:pPr>
            <a:r>
              <a:rPr b="0" lang="fa-IR" sz="2170" spc="-1" strike="noStrike">
                <a:solidFill>
                  <a:srgbClr val="f7f6f2"/>
                </a:solidFill>
                <a:latin typeface="Vazirmatn"/>
                <a:cs typeface="Vazirmatn"/>
              </a:rPr>
              <a:t>تلفن و تماس اینترنتی</a:t>
            </a:r>
            <a:endParaRPr b="0" lang="en-US" sz="2170" spc="-1" strike="noStrike">
              <a:solidFill>
                <a:srgbClr val="000000"/>
              </a:solidFill>
              <a:latin typeface="Arial"/>
            </a:endParaRPr>
          </a:p>
        </p:txBody>
      </p:sp>
      <p:sp>
        <p:nvSpPr>
          <p:cNvPr id="43" name="هدف: کاهش خطای تماس واقعی با داده‌های موجود"/>
          <p:cNvSpPr/>
          <p:nvPr/>
        </p:nvSpPr>
        <p:spPr>
          <a:xfrm>
            <a:off x="685800" y="5391000"/>
            <a:ext cx="1081548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d6f8a"/>
                </a:solidFill>
                <a:latin typeface="Vazirmatn"/>
                <a:cs typeface="Vazirmatn"/>
              </a:rPr>
              <a:t>هدف: کاهش خطای تماس واقعی با داده‌های موجود</a:t>
            </a:r>
            <a:endParaRPr b="0" lang="en-US" sz="2170" spc="-1" strike="noStrike">
              <a:solidFill>
                <a:srgbClr val="000000"/>
              </a:solidFill>
              <a:latin typeface="Arial"/>
            </a:endParaRPr>
          </a:p>
        </p:txBody>
      </p:sp>
      <p:sp>
        <p:nvSpPr>
          <p:cNvPr id="44" name="گردآوری تماس رونویسی‌شده پرهزینه و حساس به حریم خصوصی است"/>
          <p:cNvSpPr/>
          <p:nvPr/>
        </p:nvSpPr>
        <p:spPr>
          <a:xfrm>
            <a:off x="685800" y="6019920"/>
            <a:ext cx="10815480" cy="280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گردآوری تماس رونویسی‌شده پرهزینه و حساس به حریم خصوصی است</a:t>
            </a:r>
            <a:endParaRPr b="0" lang="en-US" sz="1500" spc="-1" strike="noStrike">
              <a:solidFill>
                <a:srgbClr val="000000"/>
              </a:solidFill>
              <a:latin typeface="Arial"/>
            </a:endParaRPr>
          </a:p>
        </p:txBody>
      </p:sp>
      <p:sp>
        <p:nvSpPr>
          <p:cNvPr id="45"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اعوجاج کدک (</a:t>
            </a:r>
            <a:r>
              <a:rPr b="0" lang="en-US" sz="1430" spc="-1" strike="noStrike">
                <a:solidFill>
                  <a:srgbClr val="52606d"/>
                </a:solidFill>
                <a:latin typeface="Vazirmatn"/>
                <a:ea typeface="Vazirmatn"/>
              </a:rPr>
              <a:t>Codec Distortion</a:t>
            </a:r>
            <a:r>
              <a:rPr b="0" lang="en-US" sz="1430" spc="-1" strike="noStrike">
                <a:solidFill>
                  <a:srgbClr val="52606d"/>
                </a:solidFill>
                <a:latin typeface="Vazirmatn"/>
                <a:ea typeface="Vazirmatn"/>
              </a:rPr>
              <a:t>) و اتلاف بسته (</a:t>
            </a:r>
            <a:r>
              <a:rPr b="0" lang="en-US" sz="1430" spc="-1" strike="noStrike">
                <a:solidFill>
                  <a:srgbClr val="52606d"/>
                </a:solidFill>
                <a:latin typeface="Vazirmatn"/>
                <a:ea typeface="Vazirmatn"/>
              </a:rPr>
              <a:t>Packet Loss</a:t>
            </a:r>
            <a:r>
              <a:rPr b="0" lang="en-US" sz="1430" spc="-1" strike="noStrike">
                <a:solidFill>
                  <a:srgbClr val="52606d"/>
                </a:solidFill>
                <a:latin typeface="Vazirmatn"/>
                <a:ea typeface="Vazirmatn"/>
              </a:rPr>
              <a:t>) در تماس اینترنتی (</a:t>
            </a:r>
            <a:r>
              <a:rPr b="0" lang="en-US" sz="1430" spc="-1" strike="noStrike">
                <a:solidFill>
                  <a:srgbClr val="52606d"/>
                </a:solidFill>
                <a:latin typeface="Vazirmatn"/>
                <a:ea typeface="Vazirmatn"/>
              </a:rPr>
              <a:t>VoIP</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6"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47" name=""/>
          <p:cNvSpPr/>
          <p:nvPr/>
        </p:nvSpPr>
        <p:spPr>
          <a:xfrm>
            <a:off x="685800" y="1952640"/>
            <a:ext cx="5252760" cy="3047400"/>
          </a:xfrm>
          <a:prstGeom prst="rect">
            <a:avLst/>
          </a:prstGeom>
          <a:solidFill>
            <a:srgbClr val="153d42"/>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Vazirmatn"/>
              <a:ea typeface="Vazirmatn"/>
            </a:endParaRPr>
          </a:p>
        </p:txBody>
      </p:sp>
      <p:sp>
        <p:nvSpPr>
          <p:cNvPr id="48" name="section"/>
          <p:cNvSpPr/>
          <p:nvPr/>
        </p:nvSpPr>
        <p:spPr>
          <a:xfrm>
            <a:off x="4191120" y="285840"/>
            <a:ext cx="7314480" cy="30420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1" lang="fa-IR" sz="1350" spc="-1" strike="noStrike">
                <a:solidFill>
                  <a:srgbClr val="1d6f8a"/>
                </a:solidFill>
                <a:latin typeface="Vazirmatn"/>
                <a:cs typeface="Vazirmatn"/>
              </a:rPr>
              <a:t>مسئله پژوهش</a:t>
            </a:r>
            <a:endParaRPr b="0" lang="en-US" sz="1350" spc="-1" strike="noStrike">
              <a:solidFill>
                <a:srgbClr val="000000"/>
              </a:solidFill>
              <a:latin typeface="Arial"/>
            </a:endParaRPr>
          </a:p>
        </p:txBody>
      </p:sp>
      <p:sp>
        <p:nvSpPr>
          <p:cNvPr id="49" name="title"/>
          <p:cNvSpPr/>
          <p:nvPr/>
        </p:nvSpPr>
        <p:spPr>
          <a:xfrm>
            <a:off x="685800" y="714240"/>
            <a:ext cx="10819800" cy="83736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1" lang="fa-IR" sz="3150" spc="-1" strike="noStrike">
                <a:solidFill>
                  <a:srgbClr val="153d42"/>
                </a:solidFill>
                <a:latin typeface="Vazirmatn"/>
                <a:cs typeface="Vazirmatn"/>
              </a:rPr>
              <a:t>اهمیت مسئله </a:t>
            </a:r>
            <a:endParaRPr b="0" lang="en-US" sz="3150" spc="-1" strike="noStrike">
              <a:solidFill>
                <a:srgbClr val="000000"/>
              </a:solidFill>
              <a:latin typeface="Arial"/>
            </a:endParaRPr>
          </a:p>
        </p:txBody>
      </p:sp>
      <p:sp>
        <p:nvSpPr>
          <p:cNvPr id="50" name="application-heading"/>
          <p:cNvSpPr/>
          <p:nvPr/>
        </p:nvSpPr>
        <p:spPr>
          <a:xfrm>
            <a:off x="6667560" y="2000160"/>
            <a:ext cx="4838040" cy="523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1" lang="fa-IR" sz="2470" spc="-1" strike="noStrike">
                <a:solidFill>
                  <a:srgbClr val="153d42"/>
                </a:solidFill>
                <a:latin typeface="Vazirmatn"/>
                <a:cs typeface="Vazirmatn"/>
              </a:rPr>
              <a:t>کاربرد و پیامد خطا</a:t>
            </a:r>
            <a:endParaRPr b="0" lang="en-US" sz="2470" spc="-1" strike="noStrike">
              <a:solidFill>
                <a:srgbClr val="000000"/>
              </a:solidFill>
              <a:latin typeface="Arial"/>
            </a:endParaRPr>
          </a:p>
        </p:txBody>
      </p:sp>
      <p:sp>
        <p:nvSpPr>
          <p:cNvPr id="51" name="application-1"/>
          <p:cNvSpPr/>
          <p:nvPr/>
        </p:nvSpPr>
        <p:spPr>
          <a:xfrm>
            <a:off x="6286680" y="2762280"/>
            <a:ext cx="5218920" cy="361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2170" spc="-1" strike="noStrike">
                <a:solidFill>
                  <a:srgbClr val="1f2933"/>
                </a:solidFill>
                <a:latin typeface="Vazirmatn"/>
                <a:cs typeface="Vazirmatn"/>
              </a:rPr>
              <a:t>رونویسی تماس‌های مرکز تماس</a:t>
            </a:r>
            <a:endParaRPr b="0" lang="en-US" sz="2170" spc="-1" strike="noStrike">
              <a:solidFill>
                <a:srgbClr val="000000"/>
              </a:solidFill>
              <a:latin typeface="Arial"/>
            </a:endParaRPr>
          </a:p>
        </p:txBody>
      </p:sp>
      <p:sp>
        <p:nvSpPr>
          <p:cNvPr id="52" name="application-2"/>
          <p:cNvSpPr/>
          <p:nvPr/>
        </p:nvSpPr>
        <p:spPr>
          <a:xfrm>
            <a:off x="6286680" y="3143160"/>
            <a:ext cx="5218920" cy="361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2170" spc="-1" strike="noStrike">
                <a:solidFill>
                  <a:srgbClr val="1f2933"/>
                </a:solidFill>
                <a:latin typeface="Vazirmatn"/>
                <a:cs typeface="Vazirmatn"/>
              </a:rPr>
              <a:t>جست‌وجو در آرشیو مکالمات</a:t>
            </a:r>
            <a:endParaRPr b="0" lang="en-US" sz="2170" spc="-1" strike="noStrike">
              <a:solidFill>
                <a:srgbClr val="000000"/>
              </a:solidFill>
              <a:latin typeface="Arial"/>
            </a:endParaRPr>
          </a:p>
        </p:txBody>
      </p:sp>
      <p:sp>
        <p:nvSpPr>
          <p:cNvPr id="53" name="application-3"/>
          <p:cNvSpPr/>
          <p:nvPr/>
        </p:nvSpPr>
        <p:spPr>
          <a:xfrm>
            <a:off x="6286680" y="3524400"/>
            <a:ext cx="5218920" cy="361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2050" spc="-1" strike="noStrike">
                <a:solidFill>
                  <a:srgbClr val="1f2933"/>
                </a:solidFill>
                <a:latin typeface="Vazirmatn"/>
                <a:cs typeface="Vazirmatn"/>
              </a:rPr>
              <a:t>استخراج اطلاعات برای ارزیابی کیفیت خدمات</a:t>
            </a:r>
            <a:endParaRPr b="0" lang="en-US" sz="2050" spc="-1" strike="noStrike">
              <a:solidFill>
                <a:srgbClr val="000000"/>
              </a:solidFill>
              <a:latin typeface="Arial"/>
            </a:endParaRPr>
          </a:p>
        </p:txBody>
      </p:sp>
      <p:sp>
        <p:nvSpPr>
          <p:cNvPr id="54" name="consequence"/>
          <p:cNvSpPr/>
          <p:nvPr/>
        </p:nvSpPr>
        <p:spPr>
          <a:xfrm>
            <a:off x="6286680" y="4095720"/>
            <a:ext cx="5218920" cy="685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1" lang="fa-IR" sz="1900" spc="-1" strike="noStrike">
                <a:solidFill>
                  <a:srgbClr val="1d6f8a"/>
                </a:solidFill>
                <a:latin typeface="Vazirmatn"/>
                <a:cs typeface="Vazirmatn"/>
              </a:rPr>
              <a:t>خطا در نام خدمت یا عدد، می‌تواند</a:t>
            </a:r>
            <a:endParaRPr b="0" lang="en-US" sz="1900" spc="-1" strike="noStrike">
              <a:solidFill>
                <a:srgbClr val="000000"/>
              </a:solidFill>
              <a:latin typeface="Arial"/>
            </a:endParaRPr>
          </a:p>
          <a:p>
            <a:pPr algn="r" rtl="1">
              <a:lnSpc>
                <a:spcPct val="100000"/>
              </a:lnSpc>
            </a:pPr>
            <a:r>
              <a:rPr b="1" lang="fa-IR" sz="1900" spc="-1" strike="noStrike">
                <a:solidFill>
                  <a:srgbClr val="1d6f8a"/>
                </a:solidFill>
                <a:latin typeface="Vazirmatn"/>
                <a:cs typeface="Vazirmatn"/>
              </a:rPr>
              <a:t>نتیجه تحلیل بعدی را تغییر دهد.</a:t>
            </a:r>
            <a:endParaRPr b="0" lang="en-US" sz="1900" spc="-1" strike="noStrike">
              <a:solidFill>
                <a:srgbClr val="000000"/>
              </a:solidFill>
              <a:latin typeface="Arial"/>
            </a:endParaRPr>
          </a:p>
        </p:txBody>
      </p:sp>
      <p:sp>
        <p:nvSpPr>
          <p:cNvPr id="55" name="constraint-heading"/>
          <p:cNvSpPr/>
          <p:nvPr/>
        </p:nvSpPr>
        <p:spPr>
          <a:xfrm>
            <a:off x="990720" y="2000160"/>
            <a:ext cx="4609440" cy="52308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1" lang="fa-IR" sz="2470" spc="-1" strike="noStrike">
                <a:solidFill>
                  <a:srgbClr val="f7f6f2"/>
                </a:solidFill>
                <a:latin typeface="Vazirmatn"/>
                <a:cs typeface="Vazirmatn"/>
              </a:rPr>
              <a:t>محدودیت داده فارسی</a:t>
            </a:r>
            <a:endParaRPr b="0" lang="en-US" sz="2470" spc="-1" strike="noStrike">
              <a:solidFill>
                <a:srgbClr val="000000"/>
              </a:solidFill>
              <a:latin typeface="Arial"/>
            </a:endParaRPr>
          </a:p>
        </p:txBody>
      </p:sp>
      <p:sp>
        <p:nvSpPr>
          <p:cNvPr id="56" name="constraint-1"/>
          <p:cNvSpPr/>
          <p:nvPr/>
        </p:nvSpPr>
        <p:spPr>
          <a:xfrm>
            <a:off x="990720" y="2733840"/>
            <a:ext cx="4609440" cy="69444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2170" spc="-1" strike="noStrike">
                <a:solidFill>
                  <a:srgbClr val="f7f6f2"/>
                </a:solidFill>
                <a:latin typeface="Vazirmatn"/>
                <a:cs typeface="Vazirmatn"/>
              </a:rPr>
              <a:t>هزینه بالای گردآوری تماس واقعی</a:t>
            </a:r>
            <a:endParaRPr b="0" lang="en-US" sz="2170" spc="-1" strike="noStrike">
              <a:solidFill>
                <a:srgbClr val="000000"/>
              </a:solidFill>
              <a:latin typeface="Arial"/>
            </a:endParaRPr>
          </a:p>
          <a:p>
            <a:pPr algn="r" rtl="1">
              <a:lnSpc>
                <a:spcPct val="100000"/>
              </a:lnSpc>
            </a:pPr>
            <a:r>
              <a:rPr b="0" lang="fa-IR" sz="2170" spc="-1" strike="noStrike">
                <a:solidFill>
                  <a:srgbClr val="f7f6f2"/>
                </a:solidFill>
                <a:latin typeface="Vazirmatn"/>
                <a:cs typeface="Vazirmatn"/>
              </a:rPr>
              <a:t>و تهیه رونویسی دقیق</a:t>
            </a:r>
            <a:endParaRPr b="0" lang="en-US" sz="2170" spc="-1" strike="noStrike">
              <a:solidFill>
                <a:srgbClr val="000000"/>
              </a:solidFill>
              <a:latin typeface="Arial"/>
            </a:endParaRPr>
          </a:p>
        </p:txBody>
      </p:sp>
      <p:sp>
        <p:nvSpPr>
          <p:cNvPr id="57" name="constraint-2"/>
          <p:cNvSpPr/>
          <p:nvPr/>
        </p:nvSpPr>
        <p:spPr>
          <a:xfrm>
            <a:off x="990720" y="3524400"/>
            <a:ext cx="4609440" cy="38016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1950" spc="-1" strike="noStrike">
                <a:solidFill>
                  <a:srgbClr val="f7f6f2"/>
                </a:solidFill>
                <a:latin typeface="Vazirmatn"/>
                <a:cs typeface="Vazirmatn"/>
              </a:rPr>
              <a:t>اطلاعات شخصی و ملاحظات حریم خصوصی</a:t>
            </a:r>
            <a:endParaRPr b="0" lang="en-US" sz="1950" spc="-1" strike="noStrike">
              <a:solidFill>
                <a:srgbClr val="000000"/>
              </a:solidFill>
              <a:latin typeface="Arial"/>
            </a:endParaRPr>
          </a:p>
        </p:txBody>
      </p:sp>
      <p:sp>
        <p:nvSpPr>
          <p:cNvPr id="58" name="constraint-3"/>
          <p:cNvSpPr/>
          <p:nvPr/>
        </p:nvSpPr>
        <p:spPr>
          <a:xfrm>
            <a:off x="990720" y="4095720"/>
            <a:ext cx="4609440" cy="69444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2170" spc="-1" strike="noStrike">
                <a:solidFill>
                  <a:srgbClr val="f7f6f2"/>
                </a:solidFill>
                <a:latin typeface="Vazirmatn"/>
                <a:cs typeface="Vazirmatn"/>
              </a:rPr>
              <a:t>دسترسی محدود به داده رونویسی‌شده</a:t>
            </a:r>
            <a:endParaRPr b="0" lang="en-US" sz="2170" spc="-1" strike="noStrike">
              <a:solidFill>
                <a:srgbClr val="000000"/>
              </a:solidFill>
              <a:latin typeface="Arial"/>
            </a:endParaRPr>
          </a:p>
          <a:p>
            <a:pPr algn="r" rtl="1">
              <a:lnSpc>
                <a:spcPct val="100000"/>
              </a:lnSpc>
            </a:pPr>
            <a:r>
              <a:rPr b="0" lang="fa-IR" sz="2170" spc="-1" strike="noStrike">
                <a:solidFill>
                  <a:srgbClr val="f7f6f2"/>
                </a:solidFill>
                <a:latin typeface="Vazirmatn"/>
                <a:cs typeface="Vazirmatn"/>
              </a:rPr>
              <a:t>متنوع برای زبان فارسی</a:t>
            </a:r>
            <a:endParaRPr b="0" lang="en-US" sz="2170" spc="-1" strike="noStrike">
              <a:solidFill>
                <a:srgbClr val="000000"/>
              </a:solidFill>
              <a:latin typeface="Arial"/>
            </a:endParaRPr>
          </a:p>
        </p:txBody>
      </p:sp>
      <p:sp>
        <p:nvSpPr>
          <p:cNvPr id="59" name="page-number"/>
          <p:cNvSpPr/>
          <p:nvPr/>
        </p:nvSpPr>
        <p:spPr>
          <a:xfrm>
            <a:off x="685800" y="6486480"/>
            <a:ext cx="951840" cy="237240"/>
          </a:xfrm>
          <a:prstGeom prst="rect">
            <a:avLst/>
          </a:prstGeom>
          <a:noFill/>
          <a:ln w="0">
            <a:noFill/>
          </a:ln>
        </p:spPr>
        <p:style>
          <a:lnRef idx="0"/>
          <a:fillRef idx="0"/>
          <a:effectRef idx="0"/>
          <a:fontRef idx="minor"/>
        </p:style>
        <p:txBody>
          <a:bodyPr wrap="none" lIns="0" rIns="0" tIns="0" bIns="0" anchor="ctr">
            <a:noAutofit/>
          </a:bodyPr>
          <a:p>
            <a:pPr algn="r" rtl="1">
              <a:lnSpc>
                <a:spcPct val="100000"/>
              </a:lnSpc>
            </a:pPr>
            <a:r>
              <a:rPr b="0" lang="fa-IR" sz="1200" spc="-1" strike="noStrike">
                <a:solidFill>
                  <a:srgbClr val="7b8794"/>
                </a:solidFill>
                <a:latin typeface="Vazirmatn"/>
                <a:cs typeface="Vazirmatn"/>
              </a:rPr>
              <a:t>۳</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60" name="مرور روش‌های نوین بازشناسی گفتار"/>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مرور روش‌های نوین بازشناسی گفتار</a:t>
            </a:r>
            <a:endParaRPr b="0" lang="en-US" sz="1350" spc="-1" strike="noStrike">
              <a:solidFill>
                <a:srgbClr val="000000"/>
              </a:solidFill>
              <a:latin typeface="Arial"/>
            </a:endParaRPr>
          </a:p>
        </p:txBody>
      </p:sp>
      <p:sp>
        <p:nvSpPr>
          <p:cNvPr id="61" name="آموزش، سازگارسازی و اصلاح خروج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آموزش، سازگارسازی و اصلاح خروجی</a:t>
            </a:r>
            <a:endParaRPr b="0" lang="en-US" sz="3150" spc="-1" strike="noStrike">
              <a:solidFill>
                <a:srgbClr val="000000"/>
              </a:solidFill>
              <a:latin typeface="Arial"/>
            </a:endParaRPr>
          </a:p>
        </p:txBody>
      </p:sp>
      <p:sp>
        <p:nvSpPr>
          <p:cNvPr id="62"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63" name="۳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۴</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graphicFrame>
        <p:nvGraphicFramePr>
          <p:cNvPr id="64" name=""/>
          <p:cNvGraphicFramePr/>
          <p:nvPr/>
        </p:nvGraphicFramePr>
        <p:xfrm>
          <a:off x="685800" y="1866960"/>
          <a:ext cx="10819800" cy="3828240"/>
        </p:xfrm>
        <a:graphic>
          <a:graphicData uri="http://schemas.openxmlformats.org/drawingml/2006/table">
            <a:tbl>
              <a:tblPr/>
              <a:tblGrid>
                <a:gridCol w="4000320"/>
                <a:gridCol w="4114800"/>
                <a:gridCol w="2705040"/>
              </a:tblGrid>
              <a:tr h="475920">
                <a:tc>
                  <a:txBody>
                    <a:bodyPr anchor="ctr">
                      <a:noAutofit/>
                    </a:bodyPr>
                    <a:p>
                      <a:pPr algn="r" rtl="1">
                        <a:lnSpc>
                          <a:spcPct val="100000"/>
                        </a:lnSpc>
                      </a:pPr>
                      <a:r>
                        <a:rPr b="1" lang="fa-IR" sz="1800" spc="-1" strike="noStrike">
                          <a:solidFill>
                            <a:srgbClr val="f7f6f2"/>
                          </a:solidFill>
                          <a:latin typeface="Vazirmatn"/>
                          <a:cs typeface="Vazirmatn"/>
                        </a:rPr>
                        <a:t>نمونه پژوهش‌ها</a:t>
                      </a:r>
                      <a:endParaRPr b="0" lang="en-US" sz="180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800" spc="-1" strike="noStrike">
                          <a:solidFill>
                            <a:srgbClr val="f7f6f2"/>
                          </a:solidFill>
                          <a:latin typeface="Vazirmatn"/>
                          <a:cs typeface="Vazirmatn"/>
                        </a:rPr>
                        <a:t>ایده اصلی</a:t>
                      </a:r>
                      <a:endParaRPr b="0" lang="en-US" sz="180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800" spc="-1" strike="noStrike">
                          <a:solidFill>
                            <a:srgbClr val="f7f6f2"/>
                          </a:solidFill>
                          <a:latin typeface="Vazirmatn"/>
                          <a:cs typeface="Vazirmatn"/>
                        </a:rPr>
                        <a:t>خانواده روش</a:t>
                      </a:r>
                      <a:endParaRPr b="0" lang="en-US" sz="180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838080">
                <a:tc>
                  <a:txBody>
                    <a:bodyPr anchor="ctr">
                      <a:noAutofit/>
                    </a:bodyPr>
                    <a:p>
                      <a:pPr>
                        <a:lnSpc>
                          <a:spcPct val="100000"/>
                        </a:lnSpc>
                      </a:pPr>
                      <a:r>
                        <a:rPr b="0" lang="en-US" sz="1580" spc="-1" strike="noStrike">
                          <a:solidFill>
                            <a:srgbClr val="1f2933"/>
                          </a:solidFill>
                          <a:latin typeface="Vazirmatn"/>
                          <a:ea typeface="Vazirmatn"/>
                        </a:rPr>
                        <a:t>pMCT (2022)</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Acoustic-aware Aug. (2025*)</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آموزش با نویز و تخریب کانال،</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همراه با تنوع آکوستیکی هدفمند</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آموزش چندشرایطی</a:t>
                      </a:r>
                      <a:endParaRPr b="0" lang="en-US" sz="1729" spc="-1" strike="noStrike">
                        <a:solidFill>
                          <a:srgbClr val="000000"/>
                        </a:solidFill>
                        <a:latin typeface="Arial"/>
                      </a:endParaRPr>
                    </a:p>
                    <a:p>
                      <a:pPr algn="r" rtl="1">
                        <a:lnSpc>
                          <a:spcPct val="100000"/>
                        </a:lnSpc>
                      </a:pPr>
                      <a:r>
                        <a:rPr b="1" lang="fa-IR" sz="1729" spc="-1" strike="noStrike">
                          <a:solidFill>
                            <a:srgbClr val="153d42"/>
                          </a:solidFill>
                          <a:latin typeface="Vazirmatn"/>
                          <a:cs typeface="Vazirmatn"/>
                        </a:rPr>
                        <a:t>و داده‌افزایی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838080">
                <a:tc>
                  <a:txBody>
                    <a:bodyPr anchor="ctr">
                      <a:noAutofit/>
                    </a:bodyPr>
                    <a:p>
                      <a:pPr>
                        <a:lnSpc>
                          <a:spcPct val="100000"/>
                        </a:lnSpc>
                      </a:pPr>
                      <a:r>
                        <a:rPr b="0" lang="en-US" sz="1580" spc="-1" strike="noStrike">
                          <a:solidFill>
                            <a:srgbClr val="1f2933"/>
                          </a:solidFill>
                          <a:latin typeface="Vazirmatn"/>
                          <a:ea typeface="Vazirmatn"/>
                        </a:rPr>
                        <a:t>MCAT–LoRA (2025) / SPS (2026)</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Neyshekar (2026*)</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ریزتنظیم کامل یا کم‌پارامتر،</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با داده متناسب با زبان و دامنه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انطباق مدل‌های پایه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838080">
                <a:tc>
                  <a:txBody>
                    <a:bodyPr anchor="ctr">
                      <a:noAutofit/>
                    </a:bodyPr>
                    <a:p>
                      <a:pPr>
                        <a:lnSpc>
                          <a:spcPct val="100000"/>
                        </a:lnSpc>
                      </a:pPr>
                      <a:r>
                        <a:rPr b="0" lang="en-US" sz="1580" spc="-1" strike="noStrike">
                          <a:solidFill>
                            <a:srgbClr val="1f2933"/>
                          </a:solidFill>
                          <a:latin typeface="Vazirmatn"/>
                          <a:ea typeface="Vazirmatn"/>
                        </a:rPr>
                        <a:t>Bhogale et al. (2024)</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Cross-lingual (2025) / DASH (2026)</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پیش‌آموزش با صوت بی‌برچسب،</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خودتقطیر و پالایش شبه‌برچسب‌ها</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یادگیری خودنظارتی</a:t>
                      </a:r>
                      <a:endParaRPr b="0" lang="en-US" sz="1729" spc="-1" strike="noStrike">
                        <a:solidFill>
                          <a:srgbClr val="000000"/>
                        </a:solidFill>
                        <a:latin typeface="Arial"/>
                      </a:endParaRPr>
                    </a:p>
                    <a:p>
                      <a:pPr algn="r" rtl="1">
                        <a:lnSpc>
                          <a:spcPct val="100000"/>
                        </a:lnSpc>
                      </a:pPr>
                      <a:r>
                        <a:rPr b="1" lang="fa-IR" sz="1729" spc="-1" strike="noStrike">
                          <a:solidFill>
                            <a:srgbClr val="153d42"/>
                          </a:solidFill>
                          <a:latin typeface="Vazirmatn"/>
                          <a:cs typeface="Vazirmatn"/>
                        </a:rPr>
                        <a:t>و نیمه‌نظارتی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838080">
                <a:tc>
                  <a:txBody>
                    <a:bodyPr anchor="ctr">
                      <a:noAutofit/>
                    </a:bodyPr>
                    <a:p>
                      <a:pPr>
                        <a:lnSpc>
                          <a:spcPct val="100000"/>
                        </a:lnSpc>
                      </a:pPr>
                      <a:r>
                        <a:rPr b="0" lang="en-US" sz="1580" spc="-1" strike="noStrike">
                          <a:solidFill>
                            <a:srgbClr val="1f2933"/>
                          </a:solidFill>
                          <a:latin typeface="Vazirmatn"/>
                          <a:ea typeface="Vazirmatn"/>
                        </a:rPr>
                        <a:t>ClozeGER / Listen Again (2024)</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Conservative Filtering (2024)</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اصلاح فرضیه‌های بازشناس با</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مدل زبانی و شواهد صوتی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اصلاح با مدل زبانی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65"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آموزش چندشرایطی (</a:t>
            </a:r>
            <a:r>
              <a:rPr b="0" lang="en-US" sz="1430" spc="-1" strike="noStrike">
                <a:solidFill>
                  <a:srgbClr val="52606d"/>
                </a:solidFill>
                <a:latin typeface="Vazirmatn"/>
                <a:ea typeface="Vazirmatn"/>
              </a:rPr>
              <a:t>Multi-condition Training</a:t>
            </a:r>
            <a:r>
              <a:rPr b="0" lang="en-US" sz="1430" spc="-1" strike="noStrike">
                <a:solidFill>
                  <a:srgbClr val="52606d"/>
                </a:solidFill>
                <a:latin typeface="Vazirmatn"/>
                <a:ea typeface="Vazirmatn"/>
              </a:rPr>
              <a:t>)، داده‌افزایی (</a:t>
            </a:r>
            <a:r>
              <a:rPr b="0" lang="en-US" sz="1430" spc="-1" strike="noStrike">
                <a:solidFill>
                  <a:srgbClr val="52606d"/>
                </a:solidFill>
                <a:latin typeface="Vazirmatn"/>
                <a:ea typeface="Vazirmatn"/>
              </a:rPr>
              <a:t>Data Augmentation</a:t>
            </a:r>
            <a:r>
              <a:rPr b="0" lang="en-US" sz="1430" spc="-1" strike="noStrike">
                <a:solidFill>
                  <a:srgbClr val="52606d"/>
                </a:solidFill>
                <a:latin typeface="Vazirmatn"/>
                <a:ea typeface="Vazirmatn"/>
              </a:rPr>
              <a:t>) و ریزتنظیم (</a:t>
            </a:r>
            <a:r>
              <a:rPr b="0" lang="en-US" sz="1430" spc="-1" strike="noStrike">
                <a:solidFill>
                  <a:srgbClr val="52606d"/>
                </a:solidFill>
                <a:latin typeface="Vazirmatn"/>
                <a:ea typeface="Vazirmatn"/>
              </a:rPr>
              <a:t>Fine-tuning</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66" name="مرور روش‌های نوین بازشناسی گفتار"/>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مرور روش‌های نوین بازشناسی گفتار</a:t>
            </a:r>
            <a:endParaRPr b="0" lang="en-US" sz="1350" spc="-1" strike="noStrike">
              <a:solidFill>
                <a:srgbClr val="000000"/>
              </a:solidFill>
              <a:latin typeface="Arial"/>
            </a:endParaRPr>
          </a:p>
        </p:txBody>
      </p:sp>
      <p:sp>
        <p:nvSpPr>
          <p:cNvPr id="67" name="بهسازی گفتار و ادغام نماها"/>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بهسازی گفتار و ادغام بازنماها</a:t>
            </a:r>
            <a:endParaRPr b="0" lang="en-US" sz="3150" spc="-1" strike="noStrike">
              <a:solidFill>
                <a:srgbClr val="000000"/>
              </a:solidFill>
              <a:latin typeface="Arial"/>
            </a:endParaRPr>
          </a:p>
        </p:txBody>
      </p:sp>
      <p:sp>
        <p:nvSpPr>
          <p:cNvPr id="68"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69" name="۴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۵</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graphicFrame>
        <p:nvGraphicFramePr>
          <p:cNvPr id="70" name=""/>
          <p:cNvGraphicFramePr/>
          <p:nvPr/>
        </p:nvGraphicFramePr>
        <p:xfrm>
          <a:off x="685800" y="1866960"/>
          <a:ext cx="10819800" cy="4133520"/>
        </p:xfrm>
        <a:graphic>
          <a:graphicData uri="http://schemas.openxmlformats.org/drawingml/2006/table">
            <a:tbl>
              <a:tblPr/>
              <a:tblGrid>
                <a:gridCol w="4000320"/>
                <a:gridCol w="4114800"/>
                <a:gridCol w="2705040"/>
              </a:tblGrid>
              <a:tr h="475920">
                <a:tc>
                  <a:txBody>
                    <a:bodyPr anchor="ctr">
                      <a:noAutofit/>
                    </a:bodyPr>
                    <a:p>
                      <a:pPr algn="r" rtl="1">
                        <a:lnSpc>
                          <a:spcPct val="100000"/>
                        </a:lnSpc>
                      </a:pPr>
                      <a:r>
                        <a:rPr b="1" lang="fa-IR" sz="1800" spc="-1" strike="noStrike">
                          <a:solidFill>
                            <a:srgbClr val="f7f6f2"/>
                          </a:solidFill>
                          <a:latin typeface="Vazirmatn"/>
                          <a:cs typeface="Vazirmatn"/>
                        </a:rPr>
                        <a:t>نمونه پژوهش‌ها</a:t>
                      </a:r>
                      <a:endParaRPr b="0" lang="en-US" sz="180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800" spc="-1" strike="noStrike">
                          <a:solidFill>
                            <a:srgbClr val="f7f6f2"/>
                          </a:solidFill>
                          <a:latin typeface="Vazirmatn"/>
                          <a:cs typeface="Vazirmatn"/>
                        </a:rPr>
                        <a:t>ایده اصلی</a:t>
                      </a:r>
                      <a:endParaRPr b="0" lang="en-US" sz="180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800" spc="-1" strike="noStrike">
                          <a:solidFill>
                            <a:srgbClr val="f7f6f2"/>
                          </a:solidFill>
                          <a:latin typeface="Vazirmatn"/>
                          <a:cs typeface="Vazirmatn"/>
                        </a:rPr>
                        <a:t>خانواده روش</a:t>
                      </a:r>
                      <a:endParaRPr b="0" lang="en-US" sz="180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914400">
                <a:tc>
                  <a:txBody>
                    <a:bodyPr anchor="ctr">
                      <a:noAutofit/>
                    </a:bodyPr>
                    <a:p>
                      <a:pPr>
                        <a:lnSpc>
                          <a:spcPct val="100000"/>
                        </a:lnSpc>
                      </a:pPr>
                      <a:r>
                        <a:rPr b="0" lang="en-US" sz="1580" spc="-1" strike="noStrike">
                          <a:solidFill>
                            <a:srgbClr val="1f2933"/>
                          </a:solidFill>
                          <a:latin typeface="Vazirmatn"/>
                          <a:ea typeface="Vazirmatn"/>
                        </a:rPr>
                        <a:t>Schrödinger Bridge (2025)</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Decoupled SE–ASR (2026)</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بازسازی گفتار با بهساز</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پیش‌بینی‌گر یا مولد پیش از بازشناسی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بهسازی پیش از</a:t>
                      </a:r>
                      <a:endParaRPr b="0" lang="en-US" sz="1729" spc="-1" strike="noStrike">
                        <a:solidFill>
                          <a:srgbClr val="000000"/>
                        </a:solidFill>
                        <a:latin typeface="Arial"/>
                      </a:endParaRPr>
                    </a:p>
                    <a:p>
                      <a:pPr algn="r" rtl="1">
                        <a:lnSpc>
                          <a:spcPct val="100000"/>
                        </a:lnSpc>
                      </a:pPr>
                      <a:r>
                        <a:rPr b="1" lang="fa-IR" sz="1729" spc="-1" strike="noStrike">
                          <a:solidFill>
                            <a:srgbClr val="153d42"/>
                          </a:solidFill>
                          <a:latin typeface="Vazirmatn"/>
                          <a:cs typeface="Vazirmatn"/>
                        </a:rPr>
                        <a:t>بازشناسی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914400">
                <a:tc>
                  <a:txBody>
                    <a:bodyPr anchor="ctr">
                      <a:noAutofit/>
                    </a:bodyPr>
                    <a:p>
                      <a:pPr>
                        <a:lnSpc>
                          <a:spcPct val="100000"/>
                        </a:lnSpc>
                      </a:pPr>
                      <a:r>
                        <a:rPr b="0" lang="en-US" sz="1580" spc="-1" strike="noStrike">
                          <a:solidFill>
                            <a:srgbClr val="1f2933"/>
                          </a:solidFill>
                          <a:latin typeface="Vazirmatn"/>
                          <a:ea typeface="Vazirmatn"/>
                        </a:rPr>
                        <a:t>Dissen et al. (2025)</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SSL-MSE / Sato et al. (2025)</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آموزش بهساز با زیان بازشناسی</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یا بازنمایی‌های خودنظارتی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بهسازی وظیفه‌محور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914400">
                <a:tc>
                  <a:txBody>
                    <a:bodyPr anchor="ctr">
                      <a:noAutofit/>
                    </a:bodyPr>
                    <a:p>
                      <a:pPr>
                        <a:lnSpc>
                          <a:spcPct val="100000"/>
                        </a:lnSpc>
                      </a:pPr>
                      <a:r>
                        <a:rPr b="0" lang="en-US" sz="1580" spc="-1" strike="noStrike">
                          <a:solidFill>
                            <a:srgbClr val="1f2933"/>
                          </a:solidFill>
                          <a:latin typeface="Vazirmatn"/>
                          <a:ea typeface="Vazirmatn"/>
                        </a:rPr>
                        <a:t>Adaptive Bridge (2024, 2025)</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Conf-OA / Rethink-and-Refine (2026)</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آمیختن تطبیقی دو موج با پل،</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اطمینان بازشناس یا پالایش قطعه‌ای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ترکیب در</a:t>
                      </a:r>
                      <a:endParaRPr b="0" lang="en-US" sz="1729" spc="-1" strike="noStrike">
                        <a:solidFill>
                          <a:srgbClr val="000000"/>
                        </a:solidFill>
                        <a:latin typeface="Arial"/>
                      </a:endParaRPr>
                    </a:p>
                    <a:p>
                      <a:pPr algn="r" rtl="1">
                        <a:lnSpc>
                          <a:spcPct val="100000"/>
                        </a:lnSpc>
                      </a:pPr>
                      <a:r>
                        <a:rPr b="1" lang="fa-IR" sz="1729" spc="-1" strike="noStrike">
                          <a:solidFill>
                            <a:srgbClr val="153d42"/>
                          </a:solidFill>
                          <a:latin typeface="Vazirmatn"/>
                          <a:cs typeface="Vazirmatn"/>
                        </a:rPr>
                        <a:t>سطح موج</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914400">
                <a:tc>
                  <a:txBody>
                    <a:bodyPr anchor="ctr">
                      <a:noAutofit/>
                    </a:bodyPr>
                    <a:p>
                      <a:pPr>
                        <a:lnSpc>
                          <a:spcPct val="100000"/>
                        </a:lnSpc>
                      </a:pPr>
                      <a:r>
                        <a:rPr b="0" lang="en-US" sz="1580" spc="-1" strike="noStrike">
                          <a:solidFill>
                            <a:srgbClr val="1f2933"/>
                          </a:solidFill>
                          <a:latin typeface="Vazirmatn"/>
                          <a:ea typeface="Vazirmatn"/>
                        </a:rPr>
                        <a:t>FAT-HuBERT (2023)</a:t>
                      </a:r>
                      <a:endParaRPr b="0" lang="en-US" sz="1580" spc="-1" strike="noStrike">
                        <a:solidFill>
                          <a:srgbClr val="000000"/>
                        </a:solidFill>
                        <a:latin typeface="Arial"/>
                      </a:endParaRPr>
                    </a:p>
                    <a:p>
                      <a:pPr>
                        <a:lnSpc>
                          <a:spcPct val="100000"/>
                        </a:lnSpc>
                      </a:pPr>
                      <a:r>
                        <a:rPr b="0" lang="en-US" sz="1580" spc="-1" strike="noStrike">
                          <a:solidFill>
                            <a:srgbClr val="1f2933"/>
                          </a:solidFill>
                          <a:latin typeface="Vazirmatn"/>
                          <a:ea typeface="Vazirmatn"/>
                        </a:rPr>
                        <a:t>Wav2code (2024)</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تعامل و ترکیب ویژگی‌های</a:t>
                      </a:r>
                      <a:endParaRPr b="0" lang="en-US" sz="1729" spc="-1" strike="noStrike">
                        <a:solidFill>
                          <a:srgbClr val="000000"/>
                        </a:solidFill>
                        <a:latin typeface="Arial"/>
                      </a:endParaRPr>
                    </a:p>
                    <a:p>
                      <a:pPr algn="r" rtl="1">
                        <a:lnSpc>
                          <a:spcPct val="100000"/>
                        </a:lnSpc>
                      </a:pPr>
                      <a:r>
                        <a:rPr b="0" lang="fa-IR" sz="1729" spc="-1" strike="noStrike">
                          <a:solidFill>
                            <a:srgbClr val="1f2933"/>
                          </a:solidFill>
                          <a:latin typeface="Vazirmatn"/>
                          <a:cs typeface="Vazirmatn"/>
                        </a:rPr>
                        <a:t>بازنمایی اصلی و بهسازی‌شده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1" lang="fa-IR" sz="1729" spc="-1" strike="noStrike">
                          <a:solidFill>
                            <a:srgbClr val="153d42"/>
                          </a:solidFill>
                          <a:latin typeface="Vazirmatn"/>
                          <a:cs typeface="Vazirmatn"/>
                        </a:rPr>
                        <a:t>همجوشی در</a:t>
                      </a:r>
                      <a:endParaRPr b="0" lang="en-US" sz="1729" spc="-1" strike="noStrike">
                        <a:solidFill>
                          <a:srgbClr val="000000"/>
                        </a:solidFill>
                        <a:latin typeface="Arial"/>
                      </a:endParaRPr>
                    </a:p>
                    <a:p>
                      <a:pPr algn="r" rtl="1">
                        <a:lnSpc>
                          <a:spcPct val="100000"/>
                        </a:lnSpc>
                      </a:pPr>
                      <a:r>
                        <a:rPr b="1" lang="fa-IR" sz="1729" spc="-1" strike="noStrike">
                          <a:solidFill>
                            <a:srgbClr val="153d42"/>
                          </a:solidFill>
                          <a:latin typeface="Vazirmatn"/>
                          <a:cs typeface="Vazirmatn"/>
                        </a:rPr>
                        <a:t>فضای بازنمایی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71" name="افزایش کیفیت شنیداری الزاماً به کاهش خطای بازشناسی منجر نمی‌شود"/>
          <p:cNvSpPr/>
          <p:nvPr/>
        </p:nvSpPr>
        <p:spPr>
          <a:xfrm>
            <a:off x="685800" y="6114960"/>
            <a:ext cx="10815480" cy="232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افزایش کیفیت شنیداری الزاماً به کاهش خطای بازشناسی منجر نمی‌شود</a:t>
            </a:r>
            <a:endParaRPr b="0" lang="en-US" sz="1500" spc="-1" strike="noStrike">
              <a:solidFill>
                <a:srgbClr val="000000"/>
              </a:solidFill>
              <a:latin typeface="Arial"/>
            </a:endParaRPr>
          </a:p>
        </p:txBody>
      </p:sp>
      <p:sp>
        <p:nvSpPr>
          <p:cNvPr id="72"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بهسازی گفتار (</a:t>
            </a:r>
            <a:r>
              <a:rPr b="0" lang="en-US" sz="1430" spc="-1" strike="noStrike">
                <a:solidFill>
                  <a:srgbClr val="52606d"/>
                </a:solidFill>
                <a:latin typeface="Vazirmatn"/>
                <a:ea typeface="Vazirmatn"/>
              </a:rPr>
              <a:t>Speech Enhancement</a:t>
            </a:r>
            <a:r>
              <a:rPr b="0" lang="en-US" sz="1430" spc="-1" strike="noStrike">
                <a:solidFill>
                  <a:srgbClr val="52606d"/>
                </a:solidFill>
                <a:latin typeface="Vazirmatn"/>
                <a:ea typeface="Vazirmatn"/>
              </a:rPr>
              <a:t>) و همجوشی بازنمایی‌ها (</a:t>
            </a:r>
            <a:r>
              <a:rPr b="0" lang="en-US" sz="1430" spc="-1" strike="noStrike">
                <a:solidFill>
                  <a:srgbClr val="52606d"/>
                </a:solidFill>
                <a:latin typeface="Vazirmatn"/>
                <a:ea typeface="Vazirmatn"/>
              </a:rPr>
              <a:t>Representation Fusion</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cxnSp>
        <p:nvCxnSpPr>
          <p:cNvPr id="73" name=""/>
          <p:cNvCxnSpPr>
            <a:stCxn id="74" idx="1"/>
            <a:endCxn id="75" idx="3"/>
          </p:cNvCxnSpPr>
          <p:nvPr/>
        </p:nvCxnSpPr>
        <p:spPr>
          <a:xfrm flipV="1" rot="10800000">
            <a:off x="3709800" y="3759840"/>
            <a:ext cx="1958040" cy="1333800"/>
          </a:xfrm>
          <a:prstGeom prst="bentConnector3">
            <a:avLst>
              <a:gd name="adj1" fmla="val 49779"/>
            </a:avLst>
          </a:prstGeom>
          <a:ln w="16193">
            <a:solidFill>
              <a:srgbClr val="52606d"/>
            </a:solidFill>
            <a:round/>
            <a:tailEnd len="sm" type="triangle" w="sm"/>
          </a:ln>
        </p:spPr>
      </p:cxnSp>
      <p:cxnSp>
        <p:nvCxnSpPr>
          <p:cNvPr id="76" name=""/>
          <p:cNvCxnSpPr>
            <a:stCxn id="74" idx="1"/>
            <a:endCxn id="77" idx="3"/>
          </p:cNvCxnSpPr>
          <p:nvPr/>
        </p:nvCxnSpPr>
        <p:spPr>
          <a:xfrm flipH="1">
            <a:off x="3709800" y="3759840"/>
            <a:ext cx="1958040" cy="28800"/>
          </a:xfrm>
          <a:prstGeom prst="straightConnector1">
            <a:avLst/>
          </a:prstGeom>
          <a:ln w="16193">
            <a:solidFill>
              <a:srgbClr val="52606d"/>
            </a:solidFill>
            <a:prstDash val="dash"/>
            <a:round/>
            <a:tailEnd len="sm" type="triangle" w="sm"/>
          </a:ln>
        </p:spPr>
      </p:cxnSp>
      <p:cxnSp>
        <p:nvCxnSpPr>
          <p:cNvPr id="78" name=""/>
          <p:cNvCxnSpPr>
            <a:stCxn id="74" idx="1"/>
            <a:endCxn id="79" idx="3"/>
          </p:cNvCxnSpPr>
          <p:nvPr/>
        </p:nvCxnSpPr>
        <p:spPr>
          <a:xfrm rot="10800000">
            <a:off x="3709800" y="2483280"/>
            <a:ext cx="1958040" cy="1276560"/>
          </a:xfrm>
          <a:prstGeom prst="bentConnector3">
            <a:avLst>
              <a:gd name="adj1" fmla="val 49779"/>
            </a:avLst>
          </a:prstGeom>
          <a:ln w="16193">
            <a:solidFill>
              <a:srgbClr val="52606d"/>
            </a:solidFill>
            <a:round/>
            <a:tailEnd len="sm" type="triangle" w="sm"/>
          </a:ln>
        </p:spPr>
      </p:cxnSp>
      <p:cxnSp>
        <p:nvCxnSpPr>
          <p:cNvPr id="80" name=""/>
          <p:cNvCxnSpPr>
            <a:stCxn id="81" idx="1"/>
            <a:endCxn id="74" idx="3"/>
          </p:cNvCxnSpPr>
          <p:nvPr/>
        </p:nvCxnSpPr>
        <p:spPr>
          <a:xfrm flipH="1">
            <a:off x="8377200" y="3759840"/>
            <a:ext cx="748080" cy="360"/>
          </a:xfrm>
          <a:prstGeom prst="straightConnector1">
            <a:avLst/>
          </a:prstGeom>
          <a:ln w="16193">
            <a:solidFill>
              <a:srgbClr val="52606d"/>
            </a:solidFill>
            <a:round/>
            <a:tailEnd len="sm" type="triangle" w="sm"/>
          </a:ln>
        </p:spPr>
      </p:cxnSp>
      <p:sp>
        <p:nvSpPr>
          <p:cNvPr id="82" name="طرح پژوهش"/>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طرح پژوهش</a:t>
            </a:r>
            <a:endParaRPr b="0" lang="en-US" sz="1350" spc="-1" strike="noStrike">
              <a:solidFill>
                <a:srgbClr val="000000"/>
              </a:solidFill>
              <a:latin typeface="Arial"/>
            </a:endParaRPr>
          </a:p>
        </p:txBody>
      </p:sp>
      <p:sp>
        <p:nvSpPr>
          <p:cNvPr id="83" name="ساختار آزمایش‌ها و خط مبنا"/>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ساختار آزمایش‌ها و خط مبنا</a:t>
            </a:r>
            <a:endParaRPr b="0" lang="en-US" sz="3150" spc="-1" strike="noStrike">
              <a:solidFill>
                <a:srgbClr val="000000"/>
              </a:solidFill>
              <a:latin typeface="Arial"/>
            </a:endParaRPr>
          </a:p>
        </p:txBody>
      </p:sp>
      <p:sp>
        <p:nvSpPr>
          <p:cNvPr id="84"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85" name="۵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۶</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81" name="ویسپر کوچک معمولی&#10;گفتار پایه و نمونه‌های بلند"/>
          <p:cNvSpPr/>
          <p:nvPr/>
        </p:nvSpPr>
        <p:spPr>
          <a:xfrm>
            <a:off x="9124920" y="3191040"/>
            <a:ext cx="2376360" cy="1137960"/>
          </a:xfrm>
          <a:prstGeom prst="roundRect">
            <a:avLst>
              <a:gd name="adj" fmla="val 6667"/>
            </a:avLst>
          </a:prstGeom>
          <a:solidFill>
            <a:srgbClr val="ffffff"/>
          </a:solidFill>
          <a:ln w="9525">
            <a:solidFill>
              <a:srgbClr val="d5dcdd"/>
            </a:solidFill>
            <a:round/>
          </a:ln>
        </p:spPr>
        <p:style>
          <a:lnRef idx="0"/>
          <a:fillRef idx="0"/>
          <a:effectRef idx="0"/>
          <a:fontRef idx="minor"/>
        </p:style>
        <p:txBody>
          <a:bodyPr lIns="114480" rIns="114480" tIns="114480" bIns="114480" anchor="ctr">
            <a:noAutofit/>
          </a:bodyPr>
          <a:p>
            <a:pPr algn="ctr" rtl="1">
              <a:lnSpc>
                <a:spcPct val="100000"/>
              </a:lnSpc>
            </a:pPr>
            <a:r>
              <a:rPr b="0" lang="fa-IR" sz="1729" spc="-1" strike="noStrike">
                <a:solidFill>
                  <a:srgbClr val="1f2933"/>
                </a:solidFill>
                <a:latin typeface="Vazirmatn"/>
                <a:cs typeface="Vazirmatn"/>
              </a:rPr>
              <a:t>ویسپر کوچک معمولی</a:t>
            </a:r>
            <a:endParaRPr b="0" lang="en-US" sz="1729" spc="-1" strike="noStrike">
              <a:solidFill>
                <a:srgbClr val="000000"/>
              </a:solidFill>
              <a:latin typeface="Arial"/>
            </a:endParaRPr>
          </a:p>
          <a:p>
            <a:pPr algn="ctr" rtl="1">
              <a:lnSpc>
                <a:spcPct val="100000"/>
              </a:lnSpc>
            </a:pPr>
            <a:r>
              <a:rPr b="0" lang="fa-IR" sz="1729" spc="-1" strike="noStrike">
                <a:solidFill>
                  <a:srgbClr val="1f2933"/>
                </a:solidFill>
                <a:latin typeface="Vazirmatn"/>
                <a:cs typeface="Vazirmatn"/>
              </a:rPr>
              <a:t>گفتار پایه و نمونه‌های بلند</a:t>
            </a:r>
            <a:endParaRPr b="0" lang="en-US" sz="1729" spc="-1" strike="noStrike">
              <a:solidFill>
                <a:srgbClr val="000000"/>
              </a:solidFill>
              <a:latin typeface="Arial"/>
            </a:endParaRPr>
          </a:p>
        </p:txBody>
      </p:sp>
      <p:sp>
        <p:nvSpPr>
          <p:cNvPr id="74" name="ویسپر کوچک&#10;چندشرایطی"/>
          <p:cNvSpPr/>
          <p:nvPr/>
        </p:nvSpPr>
        <p:spPr>
          <a:xfrm>
            <a:off x="5667480" y="3191040"/>
            <a:ext cx="2709720" cy="1137960"/>
          </a:xfrm>
          <a:prstGeom prst="roundRect">
            <a:avLst>
              <a:gd name="adj" fmla="val 6667"/>
            </a:avLst>
          </a:prstGeom>
          <a:solidFill>
            <a:srgbClr val="e8f3f6"/>
          </a:solidFill>
          <a:ln w="19050">
            <a:solidFill>
              <a:srgbClr val="1d6f8a"/>
            </a:solidFill>
            <a:round/>
          </a:ln>
        </p:spPr>
        <p:style>
          <a:lnRef idx="0"/>
          <a:fillRef idx="0"/>
          <a:effectRef idx="0"/>
          <a:fontRef idx="minor"/>
        </p:style>
        <p:txBody>
          <a:bodyPr lIns="114480" rIns="114480" tIns="114480" bIns="114480" anchor="ctr">
            <a:noAutofit/>
          </a:bodyPr>
          <a:p>
            <a:pPr algn="ctr" rtl="1">
              <a:lnSpc>
                <a:spcPct val="100000"/>
              </a:lnSpc>
            </a:pPr>
            <a:r>
              <a:rPr b="1" lang="fa-IR" sz="2170" spc="-1" strike="noStrike">
                <a:solidFill>
                  <a:srgbClr val="1d6f8a"/>
                </a:solidFill>
                <a:latin typeface="Vazirmatn"/>
                <a:cs typeface="Vazirmatn"/>
              </a:rPr>
              <a:t>ویسپر کوچک</a:t>
            </a:r>
            <a:endParaRPr b="0" lang="en-US" sz="2170" spc="-1" strike="noStrike">
              <a:solidFill>
                <a:srgbClr val="000000"/>
              </a:solidFill>
              <a:latin typeface="Arial"/>
            </a:endParaRPr>
          </a:p>
          <a:p>
            <a:pPr algn="ctr" rtl="1">
              <a:lnSpc>
                <a:spcPct val="100000"/>
              </a:lnSpc>
            </a:pPr>
            <a:r>
              <a:rPr b="1" lang="fa-IR" sz="2170" spc="-1" strike="noStrike">
                <a:solidFill>
                  <a:srgbClr val="1d6f8a"/>
                </a:solidFill>
                <a:latin typeface="Vazirmatn"/>
                <a:cs typeface="Vazirmatn"/>
              </a:rPr>
              <a:t>چندشرایطی</a:t>
            </a:r>
            <a:endParaRPr b="0" lang="en-US" sz="2170" spc="-1" strike="noStrike">
              <a:solidFill>
                <a:srgbClr val="000000"/>
              </a:solidFill>
              <a:latin typeface="Arial"/>
            </a:endParaRPr>
          </a:p>
        </p:txBody>
      </p:sp>
      <p:sp>
        <p:nvSpPr>
          <p:cNvPr id="86" name="افزودن گفتار تخریب‌شده"/>
          <p:cNvSpPr/>
          <p:nvPr/>
        </p:nvSpPr>
        <p:spPr>
          <a:xfrm>
            <a:off x="5667480" y="4467240"/>
            <a:ext cx="2709720" cy="518760"/>
          </a:xfrm>
          <a:prstGeom prst="rect">
            <a:avLst/>
          </a:prstGeom>
          <a:noFill/>
          <a:ln w="0">
            <a:noFill/>
          </a:ln>
        </p:spPr>
        <p:style>
          <a:lnRef idx="0"/>
          <a:fillRef idx="0"/>
          <a:effectRef idx="0"/>
          <a:fontRef idx="minor"/>
        </p:style>
        <p:txBody>
          <a:bodyPr lIns="0" rIns="0" tIns="0" bIns="0" anchor="ctr">
            <a:noAutofit/>
          </a:bodyPr>
          <a:p>
            <a:pPr algn="ctr" rtl="1">
              <a:lnSpc>
                <a:spcPct val="100000"/>
              </a:lnSpc>
            </a:pPr>
            <a:r>
              <a:rPr b="0" lang="fa-IR" sz="1650" spc="-1" strike="noStrike">
                <a:solidFill>
                  <a:srgbClr val="52606d"/>
                </a:solidFill>
                <a:latin typeface="Vazirmatn"/>
                <a:cs typeface="Vazirmatn"/>
              </a:rPr>
              <a:t>افزودن گفتار تخریب‌شده</a:t>
            </a:r>
            <a:endParaRPr b="0" lang="en-US" sz="1650" spc="-1" strike="noStrike">
              <a:solidFill>
                <a:srgbClr val="000000"/>
              </a:solidFill>
              <a:latin typeface="Arial"/>
            </a:endParaRPr>
          </a:p>
        </p:txBody>
      </p:sp>
      <p:sp>
        <p:nvSpPr>
          <p:cNvPr id="79" name="بهسازی و همجوشی"/>
          <p:cNvSpPr/>
          <p:nvPr/>
        </p:nvSpPr>
        <p:spPr>
          <a:xfrm>
            <a:off x="857160" y="2048040"/>
            <a:ext cx="2852640" cy="871200"/>
          </a:xfrm>
          <a:prstGeom prst="roundRect">
            <a:avLst>
              <a:gd name="adj" fmla="val 8696"/>
            </a:avLst>
          </a:prstGeom>
          <a:solidFill>
            <a:srgbClr val="ffffff"/>
          </a:solidFill>
          <a:ln w="9525">
            <a:solidFill>
              <a:srgbClr val="d5dcdd"/>
            </a:solidFill>
            <a:round/>
          </a:ln>
        </p:spPr>
        <p:style>
          <a:lnRef idx="0"/>
          <a:fillRef idx="0"/>
          <a:effectRef idx="0"/>
          <a:fontRef idx="minor"/>
        </p:style>
        <p:txBody>
          <a:bodyPr lIns="114480" rIns="114480" tIns="114480" bIns="114480" anchor="ctr">
            <a:noAutofit/>
          </a:bodyPr>
          <a:p>
            <a:pPr algn="ctr" rtl="1">
              <a:lnSpc>
                <a:spcPct val="100000"/>
              </a:lnSpc>
            </a:pPr>
            <a:r>
              <a:rPr b="0" lang="fa-IR" sz="1870" spc="-1" strike="noStrike">
                <a:solidFill>
                  <a:srgbClr val="1f2933"/>
                </a:solidFill>
                <a:latin typeface="Vazirmatn"/>
                <a:cs typeface="Vazirmatn"/>
              </a:rPr>
              <a:t>بهسازی و همجوشی</a:t>
            </a:r>
            <a:endParaRPr b="0" lang="en-US" sz="1870" spc="-1" strike="noStrike">
              <a:solidFill>
                <a:srgbClr val="000000"/>
              </a:solidFill>
              <a:latin typeface="Arial"/>
            </a:endParaRPr>
          </a:p>
        </p:txBody>
      </p:sp>
      <p:sp>
        <p:nvSpPr>
          <p:cNvPr id="77" name="پل تطبیقی&#10;روش مقایسه‌ای همجوشی"/>
          <p:cNvSpPr/>
          <p:nvPr/>
        </p:nvSpPr>
        <p:spPr>
          <a:xfrm>
            <a:off x="857160" y="3352680"/>
            <a:ext cx="2852640" cy="871200"/>
          </a:xfrm>
          <a:prstGeom prst="roundRect">
            <a:avLst>
              <a:gd name="adj" fmla="val 8696"/>
            </a:avLst>
          </a:prstGeom>
          <a:solidFill>
            <a:srgbClr val="ffffff"/>
          </a:solidFill>
          <a:ln w="9525">
            <a:solidFill>
              <a:srgbClr val="d5dcdd"/>
            </a:solidFill>
            <a:round/>
          </a:ln>
        </p:spPr>
        <p:style>
          <a:lnRef idx="0"/>
          <a:fillRef idx="0"/>
          <a:effectRef idx="0"/>
          <a:fontRef idx="minor"/>
        </p:style>
        <p:txBody>
          <a:bodyPr lIns="114480" rIns="114480" tIns="114480" bIns="114480" anchor="ctr">
            <a:noAutofit/>
          </a:bodyPr>
          <a:p>
            <a:pPr algn="ctr" rtl="1">
              <a:lnSpc>
                <a:spcPct val="100000"/>
              </a:lnSpc>
            </a:pPr>
            <a:r>
              <a:rPr b="0" lang="fa-IR" sz="1729" spc="-1" strike="noStrike">
                <a:solidFill>
                  <a:srgbClr val="1f2933"/>
                </a:solidFill>
                <a:latin typeface="Vazirmatn"/>
                <a:cs typeface="Vazirmatn"/>
              </a:rPr>
              <a:t>پل تطبیقی</a:t>
            </a:r>
            <a:endParaRPr b="0" lang="en-US" sz="1729" spc="-1" strike="noStrike">
              <a:solidFill>
                <a:srgbClr val="000000"/>
              </a:solidFill>
              <a:latin typeface="Arial"/>
            </a:endParaRPr>
          </a:p>
          <a:p>
            <a:pPr algn="ctr" rtl="1">
              <a:lnSpc>
                <a:spcPct val="100000"/>
              </a:lnSpc>
            </a:pPr>
            <a:r>
              <a:rPr b="0" lang="fa-IR" sz="1729" spc="-1" strike="noStrike">
                <a:solidFill>
                  <a:srgbClr val="1f2933"/>
                </a:solidFill>
                <a:latin typeface="Vazirmatn"/>
                <a:cs typeface="Vazirmatn"/>
              </a:rPr>
              <a:t>روش مقایسه‌ای همجوشی</a:t>
            </a:r>
            <a:endParaRPr b="0" lang="en-US" sz="1729" spc="-1" strike="noStrike">
              <a:solidFill>
                <a:srgbClr val="000000"/>
              </a:solidFill>
              <a:latin typeface="Arial"/>
            </a:endParaRPr>
          </a:p>
        </p:txBody>
      </p:sp>
      <p:sp>
        <p:nvSpPr>
          <p:cNvPr id="75" name="افزودن ایران‌صدا&#10;حفظ ترکیب کامل داده‌ها"/>
          <p:cNvSpPr/>
          <p:nvPr/>
        </p:nvSpPr>
        <p:spPr>
          <a:xfrm>
            <a:off x="857160" y="4657680"/>
            <a:ext cx="2852640" cy="871200"/>
          </a:xfrm>
          <a:prstGeom prst="roundRect">
            <a:avLst>
              <a:gd name="adj" fmla="val 8696"/>
            </a:avLst>
          </a:prstGeom>
          <a:solidFill>
            <a:srgbClr val="ffffff"/>
          </a:solidFill>
          <a:ln w="9525">
            <a:solidFill>
              <a:srgbClr val="d5dcdd"/>
            </a:solidFill>
            <a:round/>
          </a:ln>
        </p:spPr>
        <p:style>
          <a:lnRef idx="0"/>
          <a:fillRef idx="0"/>
          <a:effectRef idx="0"/>
          <a:fontRef idx="minor"/>
        </p:style>
        <p:txBody>
          <a:bodyPr lIns="114480" rIns="114480" tIns="114480" bIns="114480" anchor="ctr">
            <a:noAutofit/>
          </a:bodyPr>
          <a:p>
            <a:pPr algn="ctr" rtl="1">
              <a:lnSpc>
                <a:spcPct val="100000"/>
              </a:lnSpc>
            </a:pPr>
            <a:r>
              <a:rPr b="0" lang="fa-IR" sz="1729" spc="-1" strike="noStrike">
                <a:solidFill>
                  <a:srgbClr val="1f2933"/>
                </a:solidFill>
                <a:latin typeface="Vazirmatn"/>
                <a:cs typeface="Vazirmatn"/>
              </a:rPr>
              <a:t>افزودن ایران‌صدا</a:t>
            </a:r>
            <a:endParaRPr b="0" lang="en-US" sz="1729" spc="-1" strike="noStrike">
              <a:solidFill>
                <a:srgbClr val="000000"/>
              </a:solidFill>
              <a:latin typeface="Arial"/>
            </a:endParaRPr>
          </a:p>
          <a:p>
            <a:pPr algn="ctr" rtl="1">
              <a:lnSpc>
                <a:spcPct val="100000"/>
              </a:lnSpc>
            </a:pPr>
            <a:r>
              <a:rPr b="0" lang="fa-IR" sz="1729" spc="-1" strike="noStrike">
                <a:solidFill>
                  <a:srgbClr val="1f2933"/>
                </a:solidFill>
                <a:latin typeface="Vazirmatn"/>
                <a:cs typeface="Vazirmatn"/>
              </a:rPr>
              <a:t>حفظ ترکیب کامل داده‌ها</a:t>
            </a:r>
            <a:endParaRPr b="0" lang="en-US" sz="1729" spc="-1" strike="noStrike">
              <a:solidFill>
                <a:srgbClr val="000000"/>
              </a:solidFill>
              <a:latin typeface="Arial"/>
            </a:endParaRPr>
          </a:p>
        </p:txBody>
      </p:sp>
      <p:sp>
        <p:nvSpPr>
          <p:cNvPr id="87" name="همجوشی و ایران‌صدا دو مسیر مستقل‌اند. سامانه ترکیبی آن‌ها ارزیابی نشده است"/>
          <p:cNvSpPr/>
          <p:nvPr/>
        </p:nvSpPr>
        <p:spPr>
          <a:xfrm>
            <a:off x="685800" y="5905440"/>
            <a:ext cx="10815480" cy="414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همجوشی و ایران‌صدا دو مسیر مستقل‌اند. سامانه ترکیبی آن‌ها ارزیابی نشده است</a:t>
            </a:r>
            <a:endParaRPr b="0" lang="en-US" sz="1500" spc="-1" strike="noStrike">
              <a:solidFill>
                <a:srgbClr val="000000"/>
              </a:solidFill>
              <a:latin typeface="Arial"/>
            </a:endParaRPr>
          </a:p>
        </p:txBody>
      </p:sp>
      <p:sp>
        <p:nvSpPr>
          <p:cNvPr id="88"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خط مبنا (</a:t>
            </a:r>
            <a:r>
              <a:rPr b="0" lang="en-US" sz="1430" spc="-1" strike="noStrike">
                <a:solidFill>
                  <a:srgbClr val="52606d"/>
                </a:solidFill>
                <a:latin typeface="Vazirmatn"/>
                <a:ea typeface="Vazirmatn"/>
              </a:rPr>
              <a:t>Baseline</a:t>
            </a:r>
            <a:r>
              <a:rPr b="0" lang="en-US" sz="1430" spc="-1" strike="noStrike">
                <a:solidFill>
                  <a:srgbClr val="52606d"/>
                </a:solidFill>
                <a:latin typeface="Vazirmatn"/>
                <a:ea typeface="Vazirmatn"/>
              </a:rPr>
              <a:t>)، همجوشی دوجریانه (</a:t>
            </a:r>
            <a:r>
              <a:rPr b="0" lang="en-US" sz="1430" spc="-1" strike="noStrike">
                <a:solidFill>
                  <a:srgbClr val="52606d"/>
                </a:solidFill>
                <a:latin typeface="Vazirmatn"/>
                <a:ea typeface="Vazirmatn"/>
              </a:rPr>
              <a:t>Dual-stream Fusion</a:t>
            </a:r>
            <a:r>
              <a:rPr b="0" lang="en-US" sz="1430" spc="-1" strike="noStrike">
                <a:solidFill>
                  <a:srgbClr val="52606d"/>
                </a:solidFill>
                <a:latin typeface="Vazirmatn"/>
                <a:ea typeface="Vazirmatn"/>
              </a:rPr>
              <a:t>) و شبه‌برچسب‌گذاری (</a:t>
            </a:r>
            <a:r>
              <a:rPr b="0" lang="en-US" sz="1430" spc="-1" strike="noStrike">
                <a:solidFill>
                  <a:srgbClr val="52606d"/>
                </a:solidFill>
                <a:latin typeface="Vazirmatn"/>
                <a:ea typeface="Vazirmatn"/>
              </a:rPr>
              <a:t>Pseudo-labeling</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89" name="داده و ارزیاب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داده و ارزیابی</a:t>
            </a:r>
            <a:endParaRPr b="0" lang="en-US" sz="1350" spc="-1" strike="noStrike">
              <a:solidFill>
                <a:srgbClr val="000000"/>
              </a:solidFill>
              <a:latin typeface="Arial"/>
            </a:endParaRPr>
          </a:p>
        </p:txBody>
      </p:sp>
      <p:sp>
        <p:nvSpPr>
          <p:cNvPr id="90" name="داده‌های آموزش"/>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داده‌های آموزش</a:t>
            </a:r>
            <a:endParaRPr b="0" lang="en-US" sz="3150" spc="-1" strike="noStrike">
              <a:solidFill>
                <a:srgbClr val="000000"/>
              </a:solidFill>
              <a:latin typeface="Arial"/>
            </a:endParaRPr>
          </a:p>
        </p:txBody>
      </p:sp>
      <p:sp>
        <p:nvSpPr>
          <p:cNvPr id="91"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92" name="۶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۷</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93" name="گفتار پایه فارسی"/>
          <p:cNvSpPr/>
          <p:nvPr/>
        </p:nvSpPr>
        <p:spPr>
          <a:xfrm>
            <a:off x="6572160" y="1952640"/>
            <a:ext cx="492876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400" spc="-1" strike="noStrike">
                <a:solidFill>
                  <a:srgbClr val="153d42"/>
                </a:solidFill>
                <a:latin typeface="Vazirmatn"/>
                <a:cs typeface="Vazirmatn"/>
              </a:rPr>
              <a:t>گفتار پایه فارسی</a:t>
            </a:r>
            <a:endParaRPr b="0" lang="en-US" sz="2400" spc="-1" strike="noStrike">
              <a:solidFill>
                <a:srgbClr val="000000"/>
              </a:solidFill>
              <a:latin typeface="Arial"/>
            </a:endParaRPr>
          </a:p>
        </p:txBody>
      </p:sp>
      <p:sp>
        <p:nvSpPr>
          <p:cNvPr id="94" name="۲ تا ۴"/>
          <p:cNvSpPr/>
          <p:nvPr/>
        </p:nvSpPr>
        <p:spPr>
          <a:xfrm>
            <a:off x="685800" y="1952640"/>
            <a:ext cx="4795560" cy="11379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5850" spc="-1" strike="noStrike">
                <a:solidFill>
                  <a:srgbClr val="1d6f8a"/>
                </a:solidFill>
                <a:latin typeface="Vazirmatn"/>
                <a:cs typeface="Vazirmatn"/>
              </a:rPr>
              <a:t>۲</a:t>
            </a:r>
            <a:r>
              <a:rPr b="1" lang="en-US" sz="5850" spc="-1" strike="noStrike">
                <a:solidFill>
                  <a:srgbClr val="1d6f8a"/>
                </a:solidFill>
                <a:latin typeface="Vazirmatn"/>
                <a:ea typeface="Vazirmatn"/>
              </a:rPr>
              <a:t> تا </a:t>
            </a:r>
            <a:r>
              <a:rPr b="1" lang="fa-IR" sz="5850" spc="-1" strike="noStrike">
                <a:solidFill>
                  <a:srgbClr val="1d6f8a"/>
                </a:solidFill>
                <a:latin typeface="Vazirmatn"/>
                <a:cs typeface="Vazirmatn"/>
              </a:rPr>
              <a:t>۴</a:t>
            </a:r>
            <a:endParaRPr b="0" lang="en-US" sz="5850" spc="-1" strike="noStrike">
              <a:solidFill>
                <a:srgbClr val="000000"/>
              </a:solidFill>
              <a:latin typeface="Arial"/>
            </a:endParaRPr>
          </a:p>
        </p:txBody>
      </p:sp>
      <p:sp>
        <p:nvSpPr>
          <p:cNvPr id="95" name="قطعه برای ساخت هر نمونه بلند"/>
          <p:cNvSpPr/>
          <p:nvPr/>
        </p:nvSpPr>
        <p:spPr>
          <a:xfrm>
            <a:off x="685800" y="3152880"/>
            <a:ext cx="4795560" cy="6616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00" spc="-1" strike="noStrike">
                <a:solidFill>
                  <a:srgbClr val="153d42"/>
                </a:solidFill>
                <a:latin typeface="Vazirmatn"/>
                <a:cs typeface="Vazirmatn"/>
              </a:rPr>
              <a:t>قطعه برای ساخت هر نمونه بلند</a:t>
            </a:r>
            <a:endParaRPr b="0" lang="en-US" sz="2100" spc="-1" strike="noStrike">
              <a:solidFill>
                <a:srgbClr val="000000"/>
              </a:solidFill>
              <a:latin typeface="Arial"/>
            </a:endParaRPr>
          </a:p>
          <a:p>
            <a:pPr algn="r" rtl="1">
              <a:lnSpc>
                <a:spcPct val="100000"/>
              </a:lnSpc>
            </a:pPr>
            <a:r>
              <a:rPr b="1" lang="en-US" sz="2100" spc="-1" strike="noStrike">
                <a:solidFill>
                  <a:srgbClr val="153d42"/>
                </a:solidFill>
                <a:latin typeface="Vazirmatn"/>
                <a:ea typeface="Vazirmatn"/>
              </a:rPr>
              <a:t>(حدود </a:t>
            </a:r>
            <a:r>
              <a:rPr b="1" lang="fa-IR" sz="2100" spc="-1" strike="noStrike">
                <a:solidFill>
                  <a:srgbClr val="153d42"/>
                </a:solidFill>
                <a:latin typeface="Vazirmatn"/>
                <a:cs typeface="Vazirmatn"/>
              </a:rPr>
              <a:t>۱۰۰,۰۰۰</a:t>
            </a:r>
            <a:r>
              <a:rPr b="1" lang="en-US" sz="2100" spc="-1" strike="noStrike">
                <a:solidFill>
                  <a:srgbClr val="153d42"/>
                </a:solidFill>
                <a:latin typeface="Vazirmatn"/>
                <a:ea typeface="Vazirmatn"/>
              </a:rPr>
              <a:t> نمونه)</a:t>
            </a:r>
            <a:endParaRPr b="0" lang="en-US" sz="2100" spc="-1" strike="noStrike">
              <a:solidFill>
                <a:srgbClr val="000000"/>
              </a:solidFill>
              <a:latin typeface="Arial"/>
            </a:endParaRPr>
          </a:p>
        </p:txBody>
      </p:sp>
      <p:sp>
        <p:nvSpPr>
          <p:cNvPr id="96" name="اتصال درون همان بخش داده&#10;بیش از ۵ و حداکثر ۲۰ ثانیه&#10;حضور در خط مبنای معمولی"/>
          <p:cNvSpPr/>
          <p:nvPr/>
        </p:nvSpPr>
        <p:spPr>
          <a:xfrm>
            <a:off x="685800" y="3990960"/>
            <a:ext cx="4795560" cy="15188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70" spc="-1" strike="noStrike">
                <a:solidFill>
                  <a:srgbClr val="1f2933"/>
                </a:solidFill>
                <a:latin typeface="Vazirmatn"/>
                <a:cs typeface="Vazirmatn"/>
              </a:rPr>
              <a:t>اتصال درون همان گروه داده</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حداقل </a:t>
            </a:r>
            <a:r>
              <a:rPr b="0" lang="fa-IR" sz="1870" spc="-1" strike="noStrike">
                <a:solidFill>
                  <a:srgbClr val="1f2933"/>
                </a:solidFill>
                <a:latin typeface="Vazirmatn"/>
                <a:cs typeface="Vazirmatn"/>
              </a:rPr>
              <a:t>۵</a:t>
            </a:r>
            <a:r>
              <a:rPr b="0" lang="en-US" sz="1870" spc="-1" strike="noStrike">
                <a:solidFill>
                  <a:srgbClr val="1f2933"/>
                </a:solidFill>
                <a:latin typeface="Vazirmatn"/>
                <a:ea typeface="Vazirmatn"/>
              </a:rPr>
              <a:t> و حداکثر </a:t>
            </a:r>
            <a:r>
              <a:rPr b="0" lang="fa-IR" sz="1870" spc="-1" strike="noStrike">
                <a:solidFill>
                  <a:srgbClr val="1f2933"/>
                </a:solidFill>
                <a:latin typeface="Vazirmatn"/>
                <a:cs typeface="Vazirmatn"/>
              </a:rPr>
              <a:t>۲۰</a:t>
            </a:r>
            <a:r>
              <a:rPr b="0" lang="en-US" sz="1870" spc="-1" strike="noStrike">
                <a:solidFill>
                  <a:srgbClr val="1f2933"/>
                </a:solidFill>
                <a:latin typeface="Vazirmatn"/>
                <a:ea typeface="Vazirmatn"/>
              </a:rPr>
              <a:t> ثانیه</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حضور در تمام آزمایش‌ها</a:t>
            </a:r>
            <a:endParaRPr b="0" lang="en-US" sz="1870" spc="-1" strike="noStrike">
              <a:solidFill>
                <a:srgbClr val="000000"/>
              </a:solidFill>
              <a:latin typeface="Arial"/>
            </a:endParaRPr>
          </a:p>
        </p:txBody>
      </p:sp>
      <p:graphicFrame>
        <p:nvGraphicFramePr>
          <p:cNvPr id="97" name=""/>
          <p:cNvGraphicFramePr/>
          <p:nvPr/>
        </p:nvGraphicFramePr>
        <p:xfrm>
          <a:off x="6134040" y="2685960"/>
          <a:ext cx="5371200" cy="2905200"/>
        </p:xfrm>
        <a:graphic>
          <a:graphicData uri="http://schemas.openxmlformats.org/drawingml/2006/table">
            <a:tbl>
              <a:tblPr/>
              <a:tblGrid>
                <a:gridCol w="1199880"/>
                <a:gridCol w="1314360"/>
                <a:gridCol w="2857320"/>
              </a:tblGrid>
              <a:tr h="419040">
                <a:tc>
                  <a:txBody>
                    <a:bodyPr anchor="ctr">
                      <a:noAutofit/>
                    </a:bodyPr>
                    <a:p>
                      <a:pPr algn="ctr" rtl="1">
                        <a:lnSpc>
                          <a:spcPct val="100000"/>
                        </a:lnSpc>
                      </a:pPr>
                      <a:r>
                        <a:rPr b="1" lang="fa-IR" sz="1280" spc="-1" strike="noStrike">
                          <a:solidFill>
                            <a:srgbClr val="f7f6f2"/>
                          </a:solidFill>
                          <a:latin typeface="Vazirmatn"/>
                          <a:cs typeface="Vazirmatn"/>
                        </a:rPr>
                        <a:t>اعتبارسنجی (نمونه)</a:t>
                      </a:r>
                      <a:endParaRPr b="0" lang="en-US" sz="128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280" spc="-1" strike="noStrike">
                          <a:solidFill>
                            <a:srgbClr val="f7f6f2"/>
                          </a:solidFill>
                          <a:latin typeface="Vazirmatn"/>
                          <a:cs typeface="Vazirmatn"/>
                        </a:rPr>
                        <a:t>آموزش (نمونه)</a:t>
                      </a:r>
                      <a:endParaRPr b="0" lang="en-US" sz="12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پیکره</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552240">
                <a:tc>
                  <a:txBody>
                    <a:bodyPr anchor="ctr">
                      <a:noAutofit/>
                    </a:bodyPr>
                    <a:p>
                      <a:pPr algn="ctr">
                        <a:lnSpc>
                          <a:spcPct val="100000"/>
                        </a:lnSpc>
                      </a:pPr>
                      <a:r>
                        <a:rPr b="0" lang="fa-IR" sz="1950" spc="-1" strike="noStrike">
                          <a:solidFill>
                            <a:srgbClr val="1f2933"/>
                          </a:solidFill>
                          <a:latin typeface="Vazirmatn"/>
                          <a:cs typeface="Vazirmatn"/>
                        </a:rPr>
                        <a:t>۱۰٬۰۰۶</a:t>
                      </a:r>
                      <a:endParaRPr b="0" lang="en-US" sz="195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fa-IR" sz="1950" spc="-1" strike="noStrike">
                          <a:solidFill>
                            <a:srgbClr val="1f2933"/>
                          </a:solidFill>
                          <a:latin typeface="Vazirmatn"/>
                          <a:cs typeface="Vazirmatn"/>
                        </a:rPr>
                        <a:t>۲۹۹٬۴۳۰</a:t>
                      </a:r>
                      <a:endParaRPr b="0" lang="en-US" sz="195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Common Voice 25</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666720">
                <a:tc>
                  <a:txBody>
                    <a:bodyPr anchor="ctr">
                      <a:noAutofit/>
                    </a:bodyPr>
                    <a:p>
                      <a:pPr algn="ctr">
                        <a:lnSpc>
                          <a:spcPct val="100000"/>
                        </a:lnSpc>
                      </a:pPr>
                      <a:r>
                        <a:rPr b="0" lang="fa-IR" sz="1950" spc="-1" strike="noStrike">
                          <a:solidFill>
                            <a:srgbClr val="1f2933"/>
                          </a:solidFill>
                          <a:latin typeface="Vazirmatn"/>
                          <a:cs typeface="Vazirmatn"/>
                        </a:rPr>
                        <a:t>۶٬۰۴۴</a:t>
                      </a:r>
                      <a:endParaRPr b="0" lang="en-US" sz="195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fa-IR" sz="1950" spc="-1" strike="noStrike">
                          <a:solidFill>
                            <a:srgbClr val="1f2933"/>
                          </a:solidFill>
                          <a:latin typeface="Vazirmatn"/>
                          <a:cs typeface="Vazirmatn"/>
                        </a:rPr>
                        <a:t>۶۰۰٬۶۷۲</a:t>
                      </a:r>
                      <a:endParaRPr b="0" lang="en-US" sz="195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FarsSpon</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52240">
                <a:tc>
                  <a:txBody>
                    <a:bodyPr anchor="ctr">
                      <a:noAutofit/>
                    </a:bodyPr>
                    <a:p>
                      <a:pPr algn="ctr">
                        <a:lnSpc>
                          <a:spcPct val="100000"/>
                        </a:lnSpc>
                      </a:pPr>
                      <a:r>
                        <a:rPr b="0" lang="fa-IR" sz="1950" spc="-1" strike="noStrike">
                          <a:solidFill>
                            <a:srgbClr val="1f2933"/>
                          </a:solidFill>
                          <a:latin typeface="Vazirmatn"/>
                          <a:cs typeface="Vazirmatn"/>
                        </a:rPr>
                        <a:t>۳۶۲</a:t>
                      </a:r>
                      <a:endParaRPr b="0" lang="en-US" sz="195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fa-IR" sz="1950" spc="-1" strike="noStrike">
                          <a:solidFill>
                            <a:srgbClr val="1f2933"/>
                          </a:solidFill>
                          <a:latin typeface="Vazirmatn"/>
                          <a:cs typeface="Vazirmatn"/>
                        </a:rPr>
                        <a:t>۳٬۰۱۹</a:t>
                      </a:r>
                      <a:endParaRPr b="0" lang="en-US" sz="195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FLEURS Persian</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33160">
                <a:tc>
                  <a:txBody>
                    <a:bodyPr anchor="ctr">
                      <a:noAutofit/>
                    </a:bodyPr>
                    <a:p>
                      <a:pPr algn="ctr">
                        <a:lnSpc>
                          <a:spcPct val="100000"/>
                        </a:lnSpc>
                      </a:pPr>
                      <a:r>
                        <a:rPr b="1" lang="fa-IR" sz="1950" spc="-1" strike="noStrike">
                          <a:solidFill>
                            <a:srgbClr val="1d6f8a"/>
                          </a:solidFill>
                          <a:latin typeface="Vazirmatn"/>
                          <a:cs typeface="Vazirmatn"/>
                        </a:rPr>
                        <a:t>۱۶٬۴۱۲</a:t>
                      </a:r>
                      <a:endParaRPr b="0" lang="en-US" sz="195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e7efee"/>
                    </a:solidFill>
                  </a:tcPr>
                </a:tc>
                <a:tc>
                  <a:txBody>
                    <a:bodyPr anchor="ctr">
                      <a:noAutofit/>
                    </a:bodyPr>
                    <a:p>
                      <a:pPr algn="ctr">
                        <a:lnSpc>
                          <a:spcPct val="100000"/>
                        </a:lnSpc>
                      </a:pPr>
                      <a:r>
                        <a:rPr b="1" lang="fa-IR" sz="1950" spc="-1" strike="noStrike">
                          <a:solidFill>
                            <a:srgbClr val="1d6f8a"/>
                          </a:solidFill>
                          <a:latin typeface="Vazirmatn"/>
                          <a:cs typeface="Vazirmatn"/>
                        </a:rPr>
                        <a:t>۹۰۳٬۱۲۱</a:t>
                      </a:r>
                      <a:endParaRPr b="0" lang="en-US" sz="195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e7efee"/>
                    </a:solidFill>
                  </a:tcPr>
                </a:tc>
                <a:tc>
                  <a:txBody>
                    <a:bodyPr anchor="ctr">
                      <a:noAutofit/>
                    </a:bodyPr>
                    <a:p>
                      <a:pPr algn="r" rtl="1">
                        <a:lnSpc>
                          <a:spcPct val="100000"/>
                        </a:lnSpc>
                      </a:pPr>
                      <a:r>
                        <a:rPr b="1" lang="fa-IR" sz="1800" spc="-1" strike="noStrike">
                          <a:solidFill>
                            <a:srgbClr val="1d6f8a"/>
                          </a:solidFill>
                          <a:latin typeface="Vazirmatn"/>
                          <a:cs typeface="Vazirmatn"/>
                        </a:rPr>
                        <a:t>مجموع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e7efee"/>
                    </a:solidFill>
                  </a:tcPr>
                </a:tc>
              </a:tr>
            </a:tbl>
          </a:graphicData>
        </a:graphic>
      </p:graphicFrame>
      <p:sp>
        <p:nvSpPr>
          <p:cNvPr id="98" name="dataset-caption-6"/>
          <p:cNvSpPr/>
          <p:nvPr/>
        </p:nvSpPr>
        <p:spPr>
          <a:xfrm>
            <a:off x="685800" y="5781600"/>
            <a:ext cx="10815840" cy="5288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واحد شمارش جدول: نمونه گفتار (</a:t>
            </a:r>
            <a:r>
              <a:rPr b="0" lang="en-US" sz="1430" spc="-1" strike="noStrike">
                <a:solidFill>
                  <a:srgbClr val="52606d"/>
                </a:solidFill>
                <a:latin typeface="Vazirmatn"/>
                <a:ea typeface="Vazirmatn"/>
              </a:rPr>
              <a:t>Utterance</a:t>
            </a:r>
            <a:r>
              <a:rPr b="0" lang="en-US" sz="1430" spc="-1" strike="noStrike">
                <a:solidFill>
                  <a:srgbClr val="52606d"/>
                </a:solidFill>
                <a:latin typeface="Vazirmatn"/>
                <a:ea typeface="Vazirmatn"/>
              </a:rPr>
              <a:t>)، پیش از ساخت گونه‌های بلند و تخریب‌شده و افزودن ایران‌صدا</a:t>
            </a:r>
            <a:endParaRPr b="0" lang="en-US" sz="1430" spc="-1" strike="noStrike">
              <a:solidFill>
                <a:srgbClr val="000000"/>
              </a:solidFill>
              <a:latin typeface="Arial"/>
            </a:endParaRPr>
          </a:p>
          <a:p>
            <a:pPr algn="r" rtl="1">
              <a:lnSpc>
                <a:spcPct val="100000"/>
              </a:lnSpc>
            </a:pPr>
            <a:r>
              <a:rPr b="0" lang="fa-IR" sz="1500" spc="-1" strike="noStrike">
                <a:solidFill>
                  <a:srgbClr val="52606d"/>
                </a:solidFill>
                <a:latin typeface="Vazirmatn"/>
                <a:cs typeface="Vazirmatn"/>
              </a:rPr>
              <a:t>صوت تک‌کاناله </a:t>
            </a:r>
            <a:r>
              <a:rPr b="0" lang="fa-IR" sz="1500" spc="-1" strike="noStrike">
                <a:solidFill>
                  <a:srgbClr val="52606d"/>
                </a:solidFill>
                <a:latin typeface="Vazirmatn"/>
                <a:cs typeface="Vazirmatn"/>
              </a:rPr>
              <a:t>۱۶</a:t>
            </a:r>
            <a:r>
              <a:rPr b="0" lang="en-US" sz="1500" spc="-1" strike="noStrike">
                <a:solidFill>
                  <a:srgbClr val="52606d"/>
                </a:solidFill>
                <a:latin typeface="Vazirmatn"/>
                <a:ea typeface="Vazirmatn"/>
              </a:rPr>
              <a:t> کیلوهرتزی و نرمال‌سازی مشترک متن فارسی</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99" name="داده و ارزیاب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داده و ارزیابی</a:t>
            </a:r>
            <a:endParaRPr b="0" lang="en-US" sz="1350" spc="-1" strike="noStrike">
              <a:solidFill>
                <a:srgbClr val="000000"/>
              </a:solidFill>
              <a:latin typeface="Arial"/>
            </a:endParaRPr>
          </a:p>
        </p:txBody>
      </p:sp>
      <p:sp>
        <p:nvSpPr>
          <p:cNvPr id="100" name="ارزیابی روی تماس واقعی و گفتار عموم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ارزیابی روی تماس واقعی و گفتار عمومی</a:t>
            </a:r>
            <a:endParaRPr b="0" lang="en-US" sz="3150" spc="-1" strike="noStrike">
              <a:solidFill>
                <a:srgbClr val="000000"/>
              </a:solidFill>
              <a:latin typeface="Arial"/>
            </a:endParaRPr>
          </a:p>
        </p:txBody>
      </p:sp>
      <p:sp>
        <p:nvSpPr>
          <p:cNvPr id="101"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02" name="۷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۸</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103" name="۱۰٬۰۴۴"/>
          <p:cNvSpPr/>
          <p:nvPr/>
        </p:nvSpPr>
        <p:spPr>
          <a:xfrm>
            <a:off x="6381720" y="1828800"/>
            <a:ext cx="5119560" cy="13284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6600" spc="-1" strike="noStrike">
                <a:solidFill>
                  <a:srgbClr val="1d6f8a"/>
                </a:solidFill>
                <a:latin typeface="Vazirmatn"/>
                <a:cs typeface="Vazirmatn"/>
              </a:rPr>
              <a:t>۱۰٬۰۴۴</a:t>
            </a:r>
            <a:endParaRPr b="0" lang="en-US" sz="6600" spc="-1" strike="noStrike">
              <a:solidFill>
                <a:srgbClr val="000000"/>
              </a:solidFill>
              <a:latin typeface="Arial"/>
            </a:endParaRPr>
          </a:p>
        </p:txBody>
      </p:sp>
      <p:sp>
        <p:nvSpPr>
          <p:cNvPr id="104" name="نمونه تماس واقعی در AGFarsdat"/>
          <p:cNvSpPr/>
          <p:nvPr/>
        </p:nvSpPr>
        <p:spPr>
          <a:xfrm>
            <a:off x="6381720" y="3238560"/>
            <a:ext cx="511956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نمونه تماس واقعی در </a:t>
            </a:r>
            <a:r>
              <a:rPr b="1" lang="en-US" sz="2170" spc="-1" strike="noStrike">
                <a:solidFill>
                  <a:srgbClr val="153d42"/>
                </a:solidFill>
                <a:latin typeface="Vazirmatn"/>
                <a:ea typeface="Vazirmatn"/>
              </a:rPr>
              <a:t>AGFarsdat</a:t>
            </a:r>
            <a:endParaRPr b="0" lang="en-US" sz="2170" spc="-1" strike="noStrike">
              <a:solidFill>
                <a:srgbClr val="000000"/>
              </a:solidFill>
              <a:latin typeface="Arial"/>
            </a:endParaRPr>
          </a:p>
        </p:txBody>
      </p:sp>
      <p:sp>
        <p:nvSpPr>
          <p:cNvPr id="105" name="آزمون‌های گفتار عمومی"/>
          <p:cNvSpPr/>
          <p:nvPr/>
        </p:nvSpPr>
        <p:spPr>
          <a:xfrm>
            <a:off x="685800" y="2057400"/>
            <a:ext cx="475740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آزمون‌های گفتار عمومی</a:t>
            </a:r>
            <a:endParaRPr b="0" lang="en-US" sz="2170" spc="-1" strike="noStrike">
              <a:solidFill>
                <a:srgbClr val="000000"/>
              </a:solidFill>
              <a:latin typeface="Arial"/>
            </a:endParaRPr>
          </a:p>
        </p:txBody>
      </p:sp>
      <p:sp>
        <p:nvSpPr>
          <p:cNvPr id="106" name=""/>
          <p:cNvSpPr/>
          <p:nvPr/>
        </p:nvSpPr>
        <p:spPr>
          <a:xfrm>
            <a:off x="685800" y="51433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07" name="نرخ خطای واژه"/>
          <p:cNvSpPr/>
          <p:nvPr/>
        </p:nvSpPr>
        <p:spPr>
          <a:xfrm>
            <a:off x="8096400" y="5257800"/>
            <a:ext cx="3404880" cy="4903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950" spc="-1" strike="noStrike">
                <a:solidFill>
                  <a:srgbClr val="153d42"/>
                </a:solidFill>
                <a:latin typeface="Vazirmatn"/>
                <a:cs typeface="Vazirmatn"/>
              </a:rPr>
              <a:t>نرخ خطای واژه (٪)</a:t>
            </a:r>
            <a:endParaRPr b="0" lang="en-US" sz="1950" spc="-1" strike="noStrike">
              <a:solidFill>
                <a:srgbClr val="000000"/>
              </a:solidFill>
              <a:latin typeface="Arial"/>
            </a:endParaRPr>
          </a:p>
        </p:txBody>
      </p:sp>
      <p:sp>
        <p:nvSpPr>
          <p:cNvPr id="108" name="WER = (S + D + I) / N"/>
          <p:cNvSpPr/>
          <p:nvPr/>
        </p:nvSpPr>
        <p:spPr>
          <a:xfrm>
            <a:off x="685800" y="5257800"/>
            <a:ext cx="6472080" cy="49032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100" spc="-1" strike="noStrike">
                <a:solidFill>
                  <a:srgbClr val="153d42"/>
                </a:solidFill>
                <a:latin typeface="Vazirmatn"/>
                <a:ea typeface="Vazirmatn"/>
              </a:rPr>
              <a:t>WER (%) = 100 × (S + D + I) / N</a:t>
            </a:r>
            <a:endParaRPr b="0" lang="en-US" sz="2100" spc="-1" strike="noStrike">
              <a:solidFill>
                <a:srgbClr val="000000"/>
              </a:solidFill>
              <a:latin typeface="Arial"/>
            </a:endParaRPr>
          </a:p>
        </p:txBody>
      </p:sp>
      <p:sp>
        <p:nvSpPr>
          <p:cNvPr id="109" name="CER بر پایه نویسه است. تجمیع با جمع شمارش خطاها و واحدهای مرجع انجام می‌شود"/>
          <p:cNvSpPr/>
          <p:nvPr/>
        </p:nvSpPr>
        <p:spPr>
          <a:xfrm>
            <a:off x="685800" y="5791320"/>
            <a:ext cx="10815480" cy="280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430" spc="-1" strike="noStrike">
                <a:solidFill>
                  <a:srgbClr val="52606d"/>
                </a:solidFill>
                <a:latin typeface="Vazirmatn"/>
                <a:ea typeface="Vazirmatn"/>
              </a:rPr>
              <a:t>CER: Character Error Rate</a:t>
            </a:r>
            <a:r>
              <a:rPr b="0" lang="fa-IR" sz="1430" spc="-1" strike="noStrike">
                <a:solidFill>
                  <a:srgbClr val="52606d"/>
                </a:solidFill>
                <a:latin typeface="Vazirmatn"/>
                <a:cs typeface="Vazirmatn"/>
              </a:rPr>
              <a:t>، نرخ خطای نویسه (٪)؛ تجمیع با جمع شمارش خطاها و واحدهای مرجع</a:t>
            </a:r>
            <a:endParaRPr b="0" lang="en-US" sz="1430" spc="-1" strike="noStrike">
              <a:solidFill>
                <a:srgbClr val="000000"/>
              </a:solidFill>
              <a:latin typeface="Arial"/>
            </a:endParaRPr>
          </a:p>
        </p:txBody>
      </p:sp>
      <p:graphicFrame>
        <p:nvGraphicFramePr>
          <p:cNvPr id="110" name=""/>
          <p:cNvGraphicFramePr/>
          <p:nvPr/>
        </p:nvGraphicFramePr>
        <p:xfrm>
          <a:off x="685800" y="2752560"/>
          <a:ext cx="4952520" cy="1828800"/>
        </p:xfrm>
        <a:graphic>
          <a:graphicData uri="http://schemas.openxmlformats.org/drawingml/2006/table">
            <a:tbl>
              <a:tblPr/>
              <a:tblGrid>
                <a:gridCol w="1523880"/>
                <a:gridCol w="3429000"/>
              </a:tblGrid>
              <a:tr h="457200">
                <a:tc>
                  <a:txBody>
                    <a:bodyPr anchor="ctr">
                      <a:noAutofit/>
                    </a:bodyPr>
                    <a:p>
                      <a:pPr algn="ctr" rtl="1">
                        <a:lnSpc>
                          <a:spcPct val="100000"/>
                        </a:lnSpc>
                      </a:pPr>
                      <a:r>
                        <a:rPr b="0" lang="fa-IR" sz="1580" spc="-1" strike="noStrike">
                          <a:solidFill>
                            <a:srgbClr val="1f2933"/>
                          </a:solidFill>
                          <a:latin typeface="Vazirmatn"/>
                          <a:cs typeface="Vazirmatn"/>
                        </a:rPr>
                        <a:t>۱۰٬۵۱۸</a:t>
                      </a:r>
                      <a:r>
                        <a:rPr b="0" lang="en-US" sz="1580" spc="-1" strike="noStrike">
                          <a:solidFill>
                            <a:srgbClr val="1f2933"/>
                          </a:solidFill>
                          <a:latin typeface="Vazirmatn"/>
                          <a:ea typeface="Vazirmatn"/>
                        </a:rPr>
                        <a:t> نمونه</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Common Voice Persian 25</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0" lang="fa-IR" sz="1580" spc="-1" strike="noStrike">
                          <a:solidFill>
                            <a:srgbClr val="1f2933"/>
                          </a:solidFill>
                          <a:latin typeface="Vazirmatn"/>
                          <a:cs typeface="Vazirmatn"/>
                        </a:rPr>
                        <a:t>۸۷۱</a:t>
                      </a:r>
                      <a:r>
                        <a:rPr b="0" lang="en-US" sz="1580" spc="-1" strike="noStrike">
                          <a:solidFill>
                            <a:srgbClr val="1f2933"/>
                          </a:solidFill>
                          <a:latin typeface="Vazirmatn"/>
                          <a:ea typeface="Vazirmatn"/>
                        </a:rPr>
                        <a:t> نمونه</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FLEURS Persian</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0" lang="fa-IR" sz="1580" spc="-1" strike="noStrike">
                          <a:solidFill>
                            <a:srgbClr val="1f2933"/>
                          </a:solidFill>
                          <a:latin typeface="Vazirmatn"/>
                          <a:cs typeface="Vazirmatn"/>
                        </a:rPr>
                        <a:t>۲۴</a:t>
                      </a:r>
                      <a:r>
                        <a:rPr b="0" lang="en-US" sz="1580" spc="-1" strike="noStrike">
                          <a:solidFill>
                            <a:srgbClr val="1f2933"/>
                          </a:solidFill>
                          <a:latin typeface="Vazirmatn"/>
                          <a:ea typeface="Vazirmatn"/>
                        </a:rPr>
                        <a:t> نمونه</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PersianSpeech</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0" lang="fa-IR" sz="1580" spc="-1" strike="noStrike">
                          <a:solidFill>
                            <a:srgbClr val="1f2933"/>
                          </a:solidFill>
                          <a:latin typeface="Vazirmatn"/>
                          <a:cs typeface="Vazirmatn"/>
                        </a:rPr>
                        <a:t>۳۹۱</a:t>
                      </a:r>
                      <a:r>
                        <a:rPr b="0" lang="en-US" sz="1580" spc="-1" strike="noStrike">
                          <a:solidFill>
                            <a:srgbClr val="1f2933"/>
                          </a:solidFill>
                          <a:latin typeface="Vazirmatn"/>
                          <a:ea typeface="Vazirmatn"/>
                        </a:rPr>
                        <a:t> نمونه</a:t>
                      </a:r>
                      <a:endParaRPr b="0" lang="en-US" sz="158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Persian Speech Corpus</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111" name="dataset-public-total-7"/>
          <p:cNvSpPr/>
          <p:nvPr/>
        </p:nvSpPr>
        <p:spPr>
          <a:xfrm>
            <a:off x="685800" y="4695840"/>
            <a:ext cx="4948200" cy="3286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580" spc="-1" strike="noStrike">
                <a:solidFill>
                  <a:srgbClr val="1d6f8a"/>
                </a:solidFill>
                <a:latin typeface="Vazirmatn"/>
                <a:cs typeface="Vazirmatn"/>
              </a:rPr>
              <a:t>در مجموع، حدود </a:t>
            </a:r>
            <a:r>
              <a:rPr b="1" lang="fa-IR" sz="1580" spc="-1" strike="noStrike">
                <a:solidFill>
                  <a:srgbClr val="1d6f8a"/>
                </a:solidFill>
                <a:latin typeface="Vazirmatn"/>
                <a:cs typeface="Vazirmatn"/>
              </a:rPr>
              <a:t>۱۱٬۸۰۰</a:t>
            </a:r>
            <a:r>
              <a:rPr b="1" lang="en-US" sz="1580" spc="-1" strike="noStrike">
                <a:solidFill>
                  <a:srgbClr val="1d6f8a"/>
                </a:solidFill>
                <a:latin typeface="Vazirmatn"/>
                <a:ea typeface="Vazirmatn"/>
              </a:rPr>
              <a:t> نمونه گفتار عمومی</a:t>
            </a:r>
            <a:endParaRPr b="0" lang="en-US" sz="1580" spc="-1" strike="noStrike">
              <a:solidFill>
                <a:srgbClr val="000000"/>
              </a:solidFill>
              <a:latin typeface="Arial"/>
            </a:endParaRPr>
          </a:p>
        </p:txBody>
      </p:sp>
      <p:sp>
        <p:nvSpPr>
          <p:cNvPr id="112" name="dataset-call-details-7"/>
          <p:cNvSpPr/>
          <p:nvPr/>
        </p:nvSpPr>
        <p:spPr>
          <a:xfrm>
            <a:off x="6381720" y="3886200"/>
            <a:ext cx="5119920" cy="11383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70" spc="-1" strike="noStrike">
                <a:solidFill>
                  <a:srgbClr val="1f2933"/>
                </a:solidFill>
                <a:latin typeface="Vazirmatn"/>
                <a:cs typeface="Vazirmatn"/>
              </a:rPr>
              <a:t>۵۸۵</a:t>
            </a:r>
            <a:r>
              <a:rPr b="0" lang="en-US" sz="1870" spc="-1" strike="noStrike">
                <a:solidFill>
                  <a:srgbClr val="1f2933"/>
                </a:solidFill>
                <a:latin typeface="Vazirmatn"/>
                <a:ea typeface="Vazirmatn"/>
              </a:rPr>
              <a:t> گوینده و </a:t>
            </a:r>
            <a:r>
              <a:rPr b="0" lang="fa-IR" sz="1870" spc="-1" strike="noStrike">
                <a:solidFill>
                  <a:srgbClr val="1f2933"/>
                </a:solidFill>
                <a:latin typeface="Vazirmatn"/>
                <a:cs typeface="Vazirmatn"/>
              </a:rPr>
              <a:t>۴۹٫۹</a:t>
            </a:r>
            <a:r>
              <a:rPr b="0" lang="en-US" sz="1870" spc="-1" strike="noStrike">
                <a:solidFill>
                  <a:srgbClr val="1f2933"/>
                </a:solidFill>
                <a:latin typeface="Vazirmatn"/>
                <a:ea typeface="Vazirmatn"/>
              </a:rPr>
              <a:t> ساعت صوت</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تلفن و تماس اینترنتی</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مستقل از آموزش و انتخاب مدل</a:t>
            </a:r>
            <a:endParaRPr b="0" lang="en-US" sz="1870" spc="-1" strike="noStrike">
              <a:solidFill>
                <a:srgbClr val="000000"/>
              </a:solidFill>
              <a:latin typeface="Arial"/>
            </a:endParaRPr>
          </a:p>
        </p:txBody>
      </p:sp>
      <p:sp>
        <p:nvSpPr>
          <p:cNvPr id="113" name="dataset-caption-7"/>
          <p:cNvSpPr/>
          <p:nvPr/>
        </p:nvSpPr>
        <p:spPr>
          <a:xfrm>
            <a:off x="685800" y="6105600"/>
            <a:ext cx="10815840" cy="2332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رمزگشایی حریصانه</a:t>
            </a:r>
            <a:endParaRPr b="0" lang="en-US" sz="1500" spc="-1" strike="noStrike">
              <a:solidFill>
                <a:srgbClr val="000000"/>
              </a:solidFill>
              <a:latin typeface="Arial"/>
            </a:endParaRPr>
          </a:p>
        </p:txBody>
      </p:sp>
      <p:sp>
        <p:nvSpPr>
          <p:cNvPr id="114"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نرخ خطای واژه (</a:t>
            </a:r>
            <a:r>
              <a:rPr b="0" lang="en-US" sz="1430" spc="-1" strike="noStrike">
                <a:solidFill>
                  <a:srgbClr val="52606d"/>
                </a:solidFill>
                <a:latin typeface="Vazirmatn"/>
                <a:ea typeface="Vazirmatn"/>
              </a:rPr>
              <a:t>Word Error Rate, WER</a:t>
            </a:r>
            <a:r>
              <a:rPr b="0" lang="en-US" sz="1430" spc="-1" strike="noStrike">
                <a:solidFill>
                  <a:srgbClr val="52606d"/>
                </a:solidFill>
                <a:latin typeface="Vazirmatn"/>
                <a:ea typeface="Vazirmatn"/>
              </a:rPr>
              <a:t>)؛ اندازه هر مجموعه بر حسب نمونه گفتار (</a:t>
            </a:r>
            <a:r>
              <a:rPr b="0" lang="en-US" sz="1430" spc="-1" strike="noStrike">
                <a:solidFill>
                  <a:srgbClr val="52606d"/>
                </a:solidFill>
                <a:latin typeface="Vazirmatn"/>
                <a:ea typeface="Vazirmatn"/>
              </a:rPr>
              <a:t>Utterance</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15" name="مقاوم‌سازی با داده"/>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مقاوم‌سازی با داده</a:t>
            </a:r>
            <a:endParaRPr b="0" lang="en-US" sz="1350" spc="-1" strike="noStrike">
              <a:solidFill>
                <a:srgbClr val="000000"/>
              </a:solidFill>
              <a:latin typeface="Arial"/>
            </a:endParaRPr>
          </a:p>
        </p:txBody>
      </p:sp>
      <p:sp>
        <p:nvSpPr>
          <p:cNvPr id="116" name="داده‌افزایی مخابراتیِ بازتولیدپذیر"/>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داده‌افزایی مخابراتی</a:t>
            </a:r>
            <a:endParaRPr b="0" lang="en-US" sz="3150" spc="-1" strike="noStrike">
              <a:solidFill>
                <a:srgbClr val="000000"/>
              </a:solidFill>
              <a:latin typeface="Arial"/>
            </a:endParaRPr>
          </a:p>
        </p:txBody>
      </p:sp>
      <p:sp>
        <p:nvSpPr>
          <p:cNvPr id="117"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18" name="۸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۹</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119" name="ساخت جفت‌های پاک و تخریب‌شده با رونویسی مشترک"/>
          <p:cNvSpPr/>
          <p:nvPr/>
        </p:nvSpPr>
        <p:spPr>
          <a:xfrm>
            <a:off x="685800" y="1657440"/>
            <a:ext cx="1081548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100" spc="-1" strike="noStrike">
                <a:solidFill>
                  <a:srgbClr val="52606d"/>
                </a:solidFill>
                <a:latin typeface="Vazirmatn"/>
                <a:cs typeface="Vazirmatn"/>
              </a:rPr>
              <a:t>ساخت جفت‌های پاک و تخریب‌شده با رونویسی مشترک</a:t>
            </a:r>
            <a:endParaRPr b="0" lang="en-US" sz="2100" spc="-1" strike="noStrike">
              <a:solidFill>
                <a:srgbClr val="000000"/>
              </a:solidFill>
              <a:latin typeface="Arial"/>
            </a:endParaRPr>
          </a:p>
        </p:txBody>
      </p:sp>
      <p:pic>
        <p:nvPicPr>
          <p:cNvPr id="120" name="" descr=""/>
          <p:cNvPicPr/>
          <p:nvPr/>
        </p:nvPicPr>
        <p:blipFill>
          <a:blip r:embed="rId1"/>
          <a:stretch/>
        </p:blipFill>
        <p:spPr>
          <a:xfrm>
            <a:off x="685800" y="2324160"/>
            <a:ext cx="10815480" cy="2158920"/>
          </a:xfrm>
          <a:prstGeom prst="rect">
            <a:avLst/>
          </a:prstGeom>
          <a:ln w="0">
            <a:noFill/>
          </a:ln>
        </p:spPr>
      </p:pic>
      <p:sp>
        <p:nvSpPr>
          <p:cNvPr id="121" name="نویز و تغییر بهره"/>
          <p:cNvSpPr/>
          <p:nvPr/>
        </p:nvSpPr>
        <p:spPr>
          <a:xfrm>
            <a:off x="6762600" y="4629240"/>
            <a:ext cx="4738320" cy="5094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نویز و تغییر بهره</a:t>
            </a:r>
            <a:endParaRPr b="0" lang="en-US" sz="2170" spc="-1" strike="noStrike">
              <a:solidFill>
                <a:srgbClr val="000000"/>
              </a:solidFill>
              <a:latin typeface="Arial"/>
            </a:endParaRPr>
          </a:p>
        </p:txBody>
      </p:sp>
      <p:sp>
        <p:nvSpPr>
          <p:cNvPr id="122" name="DEMAND     SNR: −5 … 15 dB     Gain: ±6 dB"/>
          <p:cNvSpPr/>
          <p:nvPr/>
        </p:nvSpPr>
        <p:spPr>
          <a:xfrm>
            <a:off x="6191280" y="5248440"/>
            <a:ext cx="5310000" cy="423720"/>
          </a:xfrm>
          <a:prstGeom prst="rect">
            <a:avLst/>
          </a:prstGeom>
          <a:noFill/>
          <a:ln w="0">
            <a:noFill/>
          </a:ln>
        </p:spPr>
        <p:style>
          <a:lnRef idx="0"/>
          <a:fillRef idx="0"/>
          <a:effectRef idx="0"/>
          <a:fontRef idx="minor"/>
        </p:style>
        <p:txBody>
          <a:bodyPr lIns="0" rIns="0" tIns="0" bIns="0" anchor="ctr">
            <a:noAutofit/>
          </a:bodyPr>
          <a:p>
            <a:pPr algn="r">
              <a:lnSpc>
                <a:spcPct val="100000"/>
              </a:lnSpc>
            </a:pPr>
            <a:r>
              <a:rPr b="0" lang="en-US" sz="1729" spc="-1" strike="noStrike">
                <a:solidFill>
                  <a:srgbClr val="1f2933"/>
                </a:solidFill>
                <a:latin typeface="Vazirmatn"/>
                <a:ea typeface="Vazirmatn"/>
              </a:rPr>
              <a:t>DEMAND     SNR: −5 … 15 dB     Gain: ±6 dB</a:t>
            </a:r>
            <a:endParaRPr b="0" lang="en-US" sz="1729" spc="-1" strike="noStrike">
              <a:solidFill>
                <a:srgbClr val="000000"/>
              </a:solidFill>
              <a:latin typeface="Arial"/>
            </a:endParaRPr>
          </a:p>
        </p:txBody>
      </p:sp>
      <p:sp>
        <p:nvSpPr>
          <p:cNvPr id="123"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نسبت سیگنال به نویز (</a:t>
            </a:r>
            <a:r>
              <a:rPr b="0" lang="en-US" sz="1430" spc="-1" strike="noStrike">
                <a:solidFill>
                  <a:srgbClr val="52606d"/>
                </a:solidFill>
                <a:latin typeface="Vazirmatn"/>
                <a:ea typeface="Vazirmatn"/>
              </a:rPr>
              <a:t>Signal-to-Noise Ratio, SNR</a:t>
            </a:r>
            <a:r>
              <a:rPr b="0" lang="en-US" sz="1430" spc="-1" strike="noStrike">
                <a:solidFill>
                  <a:srgbClr val="52606d"/>
                </a:solidFill>
                <a:latin typeface="Vazirmatn"/>
                <a:ea typeface="Vazirmatn"/>
              </a:rPr>
              <a:t>) و تغییر بهره (</a:t>
            </a:r>
            <a:r>
              <a:rPr b="0" lang="en-US" sz="1430" spc="-1" strike="noStrike">
                <a:solidFill>
                  <a:srgbClr val="52606d"/>
                </a:solidFill>
                <a:latin typeface="Vazirmatn"/>
                <a:ea typeface="Vazirmatn"/>
              </a:rPr>
              <a:t>Gain</a:t>
            </a:r>
            <a:r>
              <a:rPr b="0" lang="en-US" sz="1430" spc="-1" strike="noStrike">
                <a:solidFill>
                  <a:srgbClr val="52606d"/>
                </a:solidFill>
                <a:latin typeface="Vazirmatn"/>
                <a:ea typeface="Vazirmatn"/>
              </a:rPr>
              <a:t>)، هر دو بر حسب دسی‌بل (</a:t>
            </a:r>
            <a:r>
              <a:rPr b="0" lang="en-US" sz="1430" spc="-1" strike="noStrike">
                <a:solidFill>
                  <a:srgbClr val="52606d"/>
                </a:solidFill>
                <a:latin typeface="Vazirmatn"/>
                <a:ea typeface="Vazirmatn"/>
              </a:rPr>
              <a:t>dB</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24" name="مقاوم‌سازی با داده"/>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مقاوم‌سازی با داده</a:t>
            </a:r>
            <a:endParaRPr b="0" lang="en-US" sz="1350" spc="-1" strike="noStrike">
              <a:solidFill>
                <a:srgbClr val="000000"/>
              </a:solidFill>
              <a:latin typeface="Arial"/>
            </a:endParaRPr>
          </a:p>
        </p:txBody>
      </p:sp>
      <p:sp>
        <p:nvSpPr>
          <p:cNvPr id="125" name="مسیرهای کدک و جفت‌های هم‌تراز"/>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مسیرهای کدک و جفت‌های هم‌تراز</a:t>
            </a:r>
            <a:endParaRPr b="0" lang="en-US" sz="3150" spc="-1" strike="noStrike">
              <a:solidFill>
                <a:srgbClr val="000000"/>
              </a:solidFill>
              <a:latin typeface="Arial"/>
            </a:endParaRPr>
          </a:p>
        </p:txBody>
      </p:sp>
      <p:sp>
        <p:nvSpPr>
          <p:cNvPr id="126"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27" name="۹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۱۰</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pic>
        <p:nvPicPr>
          <p:cNvPr id="128" name="" descr=""/>
          <p:cNvPicPr/>
          <p:nvPr/>
        </p:nvPicPr>
        <p:blipFill>
          <a:blip r:embed="rId1"/>
          <a:stretch/>
        </p:blipFill>
        <p:spPr>
          <a:xfrm>
            <a:off x="1162080" y="1581120"/>
            <a:ext cx="9853200" cy="4282560"/>
          </a:xfrm>
          <a:prstGeom prst="rect">
            <a:avLst/>
          </a:prstGeom>
          <a:ln w="0">
            <a:noFill/>
          </a:ln>
        </p:spPr>
      </p:pic>
      <p:sp>
        <p:nvSpPr>
          <p:cNvPr id="129" name="G.711، GSM، AMR-NB، AMR-WB و Opus. هدف پاک، پهنای‌باند متناظر با کانال را حفظ می‌کند"/>
          <p:cNvSpPr/>
          <p:nvPr/>
        </p:nvSpPr>
        <p:spPr>
          <a:xfrm>
            <a:off x="685800" y="5924520"/>
            <a:ext cx="10815480" cy="232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G.711</a:t>
            </a:r>
            <a:r>
              <a:rPr b="0" lang="fa-IR" sz="1500" spc="-1" strike="noStrike">
                <a:solidFill>
                  <a:srgbClr val="52606d"/>
                </a:solidFill>
                <a:latin typeface="Vazirmatn"/>
                <a:cs typeface="Vazirmatn"/>
              </a:rPr>
              <a:t>، </a:t>
            </a:r>
            <a:r>
              <a:rPr b="0" lang="en-US" sz="1500" spc="-1" strike="noStrike">
                <a:solidFill>
                  <a:srgbClr val="52606d"/>
                </a:solidFill>
                <a:latin typeface="Vazirmatn"/>
                <a:ea typeface="Vazirmatn"/>
              </a:rPr>
              <a:t>GSM</a:t>
            </a:r>
            <a:r>
              <a:rPr b="0" lang="fa-IR" sz="1500" spc="-1" strike="noStrike">
                <a:solidFill>
                  <a:srgbClr val="52606d"/>
                </a:solidFill>
                <a:latin typeface="Vazirmatn"/>
                <a:cs typeface="Vazirmatn"/>
              </a:rPr>
              <a:t>، </a:t>
            </a:r>
            <a:r>
              <a:rPr b="0" lang="en-US" sz="1500" spc="-1" strike="noStrike">
                <a:solidFill>
                  <a:srgbClr val="52606d"/>
                </a:solidFill>
                <a:latin typeface="Vazirmatn"/>
                <a:ea typeface="Vazirmatn"/>
              </a:rPr>
              <a:t>AMR-NB</a:t>
            </a:r>
            <a:r>
              <a:rPr b="0" lang="fa-IR" sz="1500" spc="-1" strike="noStrike">
                <a:solidFill>
                  <a:srgbClr val="52606d"/>
                </a:solidFill>
                <a:latin typeface="Vazirmatn"/>
                <a:cs typeface="Vazirmatn"/>
              </a:rPr>
              <a:t>، </a:t>
            </a:r>
            <a:r>
              <a:rPr b="0" lang="en-US" sz="1500" spc="-1" strike="noStrike">
                <a:solidFill>
                  <a:srgbClr val="52606d"/>
                </a:solidFill>
                <a:latin typeface="Vazirmatn"/>
                <a:ea typeface="Vazirmatn"/>
              </a:rPr>
              <a:t>AMR-WB</a:t>
            </a:r>
            <a:r>
              <a:rPr b="0" lang="en-US" sz="1500" spc="-1" strike="noStrike">
                <a:solidFill>
                  <a:srgbClr val="52606d"/>
                </a:solidFill>
                <a:latin typeface="Vazirmatn"/>
                <a:ea typeface="Vazirmatn"/>
              </a:rPr>
              <a:t> و </a:t>
            </a:r>
            <a:r>
              <a:rPr b="0" lang="en-US" sz="1500" spc="-1" strike="noStrike">
                <a:solidFill>
                  <a:srgbClr val="52606d"/>
                </a:solidFill>
                <a:latin typeface="Vazirmatn"/>
                <a:ea typeface="Vazirmatn"/>
              </a:rPr>
              <a:t>Opus</a:t>
            </a:r>
            <a:r>
              <a:rPr b="0" lang="en-US" sz="1500" spc="-1" strike="noStrike">
                <a:solidFill>
                  <a:srgbClr val="52606d"/>
                </a:solidFill>
                <a:latin typeface="Vazirmatn"/>
                <a:ea typeface="Vazirmatn"/>
              </a:rPr>
              <a:t>. هدف پاک، پهنای‌باند متناظر با کانال را حفظ می‌کند</a:t>
            </a:r>
            <a:endParaRPr b="0" lang="en-US" sz="1500" spc="-1" strike="noStrike">
              <a:solidFill>
                <a:srgbClr val="000000"/>
              </a:solidFill>
              <a:latin typeface="Arial"/>
            </a:endParaRPr>
          </a:p>
        </p:txBody>
      </p:sp>
      <p:sp>
        <p:nvSpPr>
          <p:cNvPr id="130" name="Opus بومی افت بسته و پنهان‌سازی خطا را مدل می‌کند. در مسیرهای دیگر، حذف موج یک تقریب است"/>
          <p:cNvSpPr/>
          <p:nvPr/>
        </p:nvSpPr>
        <p:spPr>
          <a:xfrm>
            <a:off x="685800" y="6172200"/>
            <a:ext cx="10815480" cy="2142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Opus</a:t>
            </a:r>
            <a:r>
              <a:rPr b="0" lang="en-US" sz="1500" spc="-1" strike="noStrike">
                <a:solidFill>
                  <a:srgbClr val="52606d"/>
                </a:solidFill>
                <a:latin typeface="Vazirmatn"/>
                <a:ea typeface="Vazirmatn"/>
              </a:rPr>
              <a:t> بومی افت بسته و پنهان‌سازی خطا را مدل می‌کند. در مسیرهای دیگر، حذف موج یک تقریب است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31" name="نتیجه داده‌افزایی مخابرات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نتیجه داده‌افزایی مخابراتی</a:t>
            </a:r>
            <a:endParaRPr b="0" lang="en-US" sz="1350" spc="-1" strike="noStrike">
              <a:solidFill>
                <a:srgbClr val="000000"/>
              </a:solidFill>
              <a:latin typeface="Arial"/>
            </a:endParaRPr>
          </a:p>
        </p:txBody>
      </p:sp>
      <p:sp>
        <p:nvSpPr>
          <p:cNvPr id="132" name="انتقال بهبود به تماس‌های واقع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انتقال بهبود به تماس‌های واقعی</a:t>
            </a:r>
            <a:endParaRPr b="0" lang="en-US" sz="3150" spc="-1" strike="noStrike">
              <a:solidFill>
                <a:srgbClr val="000000"/>
              </a:solidFill>
              <a:latin typeface="Arial"/>
            </a:endParaRPr>
          </a:p>
        </p:txBody>
      </p:sp>
      <p:sp>
        <p:nvSpPr>
          <p:cNvPr id="13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34" name="۱۰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۱۱</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135" name="نرخ خطای واژه در AGFarsdat"/>
          <p:cNvSpPr/>
          <p:nvPr/>
        </p:nvSpPr>
        <p:spPr>
          <a:xfrm>
            <a:off x="4286160" y="1657440"/>
            <a:ext cx="721476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53d42"/>
                </a:solidFill>
                <a:latin typeface="Vazirmatn"/>
                <a:cs typeface="Vazirmatn"/>
              </a:rPr>
              <a:t>نرخ خطای واژه در </a:t>
            </a:r>
            <a:r>
              <a:rPr b="1" lang="en-US" sz="2020" spc="-1" strike="noStrike">
                <a:solidFill>
                  <a:srgbClr val="153d42"/>
                </a:solidFill>
                <a:latin typeface="Vazirmatn"/>
                <a:ea typeface="Vazirmatn"/>
              </a:rPr>
              <a:t>AGFarsdat</a:t>
            </a:r>
            <a:r>
              <a:rPr b="1" lang="en-US" sz="2020" spc="-1" strike="noStrike">
                <a:solidFill>
                  <a:srgbClr val="153d42"/>
                </a:solidFill>
                <a:latin typeface="Vazirmatn"/>
                <a:ea typeface="Vazirmatn"/>
              </a:rPr>
              <a:t> (٪)</a:t>
            </a:r>
            <a:endParaRPr b="0" lang="en-US" sz="2020" spc="-1" strike="noStrike">
              <a:solidFill>
                <a:srgbClr val="000000"/>
              </a:solidFill>
              <a:latin typeface="Arial"/>
            </a:endParaRPr>
          </a:p>
        </p:txBody>
      </p:sp>
      <p:graphicFrame>
        <p:nvGraphicFramePr>
          <p:cNvPr id="136" name="Chart"/>
          <p:cNvGraphicFramePr/>
          <p:nvPr/>
        </p:nvGraphicFramePr>
        <p:xfrm>
          <a:off x="4191120" y="2286000"/>
          <a:ext cx="7310160" cy="3233520"/>
        </p:xfrm>
        <a:graphic>
          <a:graphicData uri="http://schemas.openxmlformats.org/drawingml/2006/chart">
            <c:chart xmlns:c="http://schemas.openxmlformats.org/drawingml/2006/chart" xmlns:r="http://schemas.openxmlformats.org/officeDocument/2006/relationships" r:id="rId1"/>
          </a:graphicData>
        </a:graphic>
      </p:graphicFrame>
      <p:sp>
        <p:nvSpPr>
          <p:cNvPr id="137" name="۹٫۸۳"/>
          <p:cNvSpPr/>
          <p:nvPr/>
        </p:nvSpPr>
        <p:spPr>
          <a:xfrm>
            <a:off x="685800" y="2114640"/>
            <a:ext cx="2947680" cy="1233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6600" spc="-1" strike="noStrike">
                <a:solidFill>
                  <a:srgbClr val="1d6f8a"/>
                </a:solidFill>
                <a:latin typeface="Vazirmatn"/>
                <a:cs typeface="Vazirmatn"/>
              </a:rPr>
              <a:t>۹٫۸۳</a:t>
            </a:r>
            <a:endParaRPr b="0" lang="en-US" sz="6600" spc="-1" strike="noStrike">
              <a:solidFill>
                <a:srgbClr val="000000"/>
              </a:solidFill>
              <a:latin typeface="Arial"/>
            </a:endParaRPr>
          </a:p>
        </p:txBody>
      </p:sp>
      <p:sp>
        <p:nvSpPr>
          <p:cNvPr id="138" name="واحد درصد کاهش خطا&#10;در تماس‌های واقعی"/>
          <p:cNvSpPr/>
          <p:nvPr/>
        </p:nvSpPr>
        <p:spPr>
          <a:xfrm>
            <a:off x="685800" y="3467160"/>
            <a:ext cx="2947680" cy="1042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واحد درصد کاهش خطا</a:t>
            </a:r>
            <a:endParaRPr b="0" lang="en-US" sz="2170" spc="-1" strike="noStrike">
              <a:solidFill>
                <a:srgbClr val="000000"/>
              </a:solidFill>
              <a:latin typeface="Arial"/>
            </a:endParaRPr>
          </a:p>
          <a:p>
            <a:pPr algn="r" rtl="1">
              <a:lnSpc>
                <a:spcPct val="100000"/>
              </a:lnSpc>
            </a:pPr>
            <a:r>
              <a:rPr b="1" lang="fa-IR" sz="2170" spc="-1" strike="noStrike">
                <a:solidFill>
                  <a:srgbClr val="153d42"/>
                </a:solidFill>
                <a:latin typeface="Vazirmatn"/>
                <a:cs typeface="Vazirmatn"/>
              </a:rPr>
              <a:t>در تماس‌های واقعی</a:t>
            </a:r>
            <a:endParaRPr b="0" lang="en-US" sz="2170" spc="-1" strike="noStrike">
              <a:solidFill>
                <a:srgbClr val="000000"/>
              </a:solidFill>
              <a:latin typeface="Arial"/>
            </a:endParaRPr>
          </a:p>
        </p:txBody>
      </p:sp>
      <p:sp>
        <p:nvSpPr>
          <p:cNvPr id="139" name="۲۷٫۶٪ کاهش نسبی"/>
          <p:cNvSpPr/>
          <p:nvPr/>
        </p:nvSpPr>
        <p:spPr>
          <a:xfrm>
            <a:off x="685800" y="4791240"/>
            <a:ext cx="294768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950" spc="-1" strike="noStrike">
                <a:solidFill>
                  <a:srgbClr val="52606d"/>
                </a:solidFill>
                <a:latin typeface="Vazirmatn"/>
                <a:cs typeface="Vazirmatn"/>
              </a:rPr>
              <a:t>۲۷٫۶٪</a:t>
            </a:r>
            <a:r>
              <a:rPr b="0" lang="en-US" sz="1950" spc="-1" strike="noStrike">
                <a:solidFill>
                  <a:srgbClr val="52606d"/>
                </a:solidFill>
                <a:latin typeface="Vazirmatn"/>
                <a:ea typeface="Vazirmatn"/>
              </a:rPr>
              <a:t> کاهش نسبی</a:t>
            </a:r>
            <a:endParaRPr b="0" lang="en-US" sz="1950" spc="-1" strike="noStrike">
              <a:solidFill>
                <a:srgbClr val="000000"/>
              </a:solidFill>
              <a:latin typeface="Arial"/>
            </a:endParaRPr>
          </a:p>
        </p:txBody>
      </p:sp>
      <p:sp>
        <p:nvSpPr>
          <p:cNvPr id="140" name="WER تجمیعی نیز از ۲۳٫۲۷٪ به ۱۷٫۸۳٪ کاهش یافت. مقدار کمتر بهتر است"/>
          <p:cNvSpPr/>
          <p:nvPr/>
        </p:nvSpPr>
        <p:spPr>
          <a:xfrm>
            <a:off x="685800" y="5762520"/>
            <a:ext cx="10815480" cy="3189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WER</a:t>
            </a:r>
            <a:r>
              <a:rPr b="0" lang="en-US" sz="1500" spc="-1" strike="noStrike">
                <a:solidFill>
                  <a:srgbClr val="52606d"/>
                </a:solidFill>
                <a:latin typeface="Vazirmatn"/>
                <a:ea typeface="Vazirmatn"/>
              </a:rPr>
              <a:t> تجمیعی نیز از </a:t>
            </a:r>
            <a:r>
              <a:rPr b="0" lang="fa-IR" sz="1500" spc="-1" strike="noStrike">
                <a:solidFill>
                  <a:srgbClr val="52606d"/>
                </a:solidFill>
                <a:latin typeface="Vazirmatn"/>
                <a:cs typeface="Vazirmatn"/>
              </a:rPr>
              <a:t>۲۳٫۲۷</a:t>
            </a:r>
            <a:r>
              <a:rPr b="0" lang="fa-IR" sz="1500" spc="-1" strike="noStrike">
                <a:solidFill>
                  <a:srgbClr val="52606d"/>
                </a:solidFill>
                <a:latin typeface="Vazirmatn"/>
                <a:cs typeface="Vazirmatn"/>
              </a:rPr>
              <a:t>٪ به </a:t>
            </a:r>
            <a:r>
              <a:rPr b="0" lang="fa-IR" sz="1500" spc="-1" strike="noStrike">
                <a:solidFill>
                  <a:srgbClr val="52606d"/>
                </a:solidFill>
                <a:latin typeface="Vazirmatn"/>
                <a:cs typeface="Vazirmatn"/>
              </a:rPr>
              <a:t>۱۷٫۸۳</a:t>
            </a:r>
            <a:r>
              <a:rPr b="0" lang="fa-IR" sz="1500" spc="-1" strike="noStrike">
                <a:solidFill>
                  <a:srgbClr val="52606d"/>
                </a:solidFill>
                <a:latin typeface="Vazirmatn"/>
                <a:cs typeface="Vazirmatn"/>
              </a:rPr>
              <a:t>٪ کاهش یافت. مقدار کمتر بهتر است</a:t>
            </a:r>
            <a:endParaRPr b="0" lang="en-US" sz="1500" spc="-1" strike="noStrike">
              <a:solidFill>
                <a:srgbClr val="000000"/>
              </a:solidFill>
              <a:latin typeface="Arial"/>
            </a:endParaRPr>
          </a:p>
        </p:txBody>
      </p:sp>
      <p:sp>
        <p:nvSpPr>
          <p:cNvPr id="141" name="اثر جداگانه کدک و اختلال شبکه در آزمایش حذفی سنجیده نشده است"/>
          <p:cNvSpPr/>
          <p:nvPr/>
        </p:nvSpPr>
        <p:spPr>
          <a:xfrm>
            <a:off x="685800" y="6124680"/>
            <a:ext cx="10815480" cy="232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اثر جداگانه کدک و اختلال شبکه در آزمایش حذفی سنجیده نشده است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42" name="بهسازی و همجوش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بهسازی و همجوشی</a:t>
            </a:r>
            <a:endParaRPr b="0" lang="en-US" sz="1350" spc="-1" strike="noStrike">
              <a:solidFill>
                <a:srgbClr val="000000"/>
              </a:solidFill>
              <a:latin typeface="Arial"/>
            </a:endParaRPr>
          </a:p>
        </p:txBody>
      </p:sp>
      <p:sp>
        <p:nvSpPr>
          <p:cNvPr id="143" name="معماری بهسازی و همجوشی دوجریانه"/>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معماری بهسازی و همجوشی دوجریانه</a:t>
            </a:r>
            <a:endParaRPr b="0" lang="en-US" sz="3150" spc="-1" strike="noStrike">
              <a:solidFill>
                <a:srgbClr val="000000"/>
              </a:solidFill>
              <a:latin typeface="Arial"/>
            </a:endParaRPr>
          </a:p>
        </p:txBody>
      </p:sp>
      <p:sp>
        <p:nvSpPr>
          <p:cNvPr id="144"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45" name="۱۱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۱۲</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146" name="حفظ نمای اصلی در کنار نمای بهسازی‌شده"/>
          <p:cNvSpPr/>
          <p:nvPr/>
        </p:nvSpPr>
        <p:spPr>
          <a:xfrm>
            <a:off x="685800" y="1549800"/>
            <a:ext cx="1081548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حفظ دو بازنمایی با توجه متقاطع دوسویه (</a:t>
            </a:r>
            <a:r>
              <a:rPr b="0" lang="en-US" sz="1500" spc="-1" strike="noStrike">
                <a:solidFill>
                  <a:srgbClr val="52606d"/>
                </a:solidFill>
                <a:latin typeface="Vazirmatn"/>
                <a:ea typeface="Vazirmatn"/>
              </a:rPr>
              <a:t>Bidirectional Cross-attention</a:t>
            </a:r>
            <a:r>
              <a:rPr b="0" lang="en-US" sz="1500" spc="-1" strike="noStrike">
                <a:solidFill>
                  <a:srgbClr val="52606d"/>
                </a:solidFill>
                <a:latin typeface="Vazirmatn"/>
                <a:ea typeface="Vazirmatn"/>
              </a:rPr>
              <a:t>) و دروازه (</a:t>
            </a:r>
            <a:r>
              <a:rPr b="0" lang="en-US" sz="1500" spc="-1" strike="noStrike">
                <a:solidFill>
                  <a:srgbClr val="52606d"/>
                </a:solidFill>
                <a:latin typeface="Vazirmatn"/>
                <a:ea typeface="Vazirmatn"/>
              </a:rPr>
              <a:t>Gate</a:t>
            </a:r>
            <a:r>
              <a:rPr b="0" lang="en-US" sz="1500" spc="-1" strike="noStrike">
                <a:solidFill>
                  <a:srgbClr val="52606d"/>
                </a:solidFill>
                <a:latin typeface="Vazirmatn"/>
                <a:ea typeface="Vazirmatn"/>
              </a:rPr>
              <a:t>)</a:t>
            </a:r>
            <a:endParaRPr b="0" lang="en-US" sz="1500" spc="-1" strike="noStrike">
              <a:solidFill>
                <a:srgbClr val="000000"/>
              </a:solidFill>
              <a:latin typeface="Arial"/>
            </a:endParaRPr>
          </a:p>
        </p:txBody>
      </p:sp>
      <p:pic>
        <p:nvPicPr>
          <p:cNvPr id="147" name="" descr=""/>
          <p:cNvPicPr/>
          <p:nvPr/>
        </p:nvPicPr>
        <p:blipFill>
          <a:blip r:embed="rId1"/>
          <a:stretch/>
        </p:blipFill>
        <p:spPr>
          <a:xfrm>
            <a:off x="685800" y="2009880"/>
            <a:ext cx="10815120" cy="3801960"/>
          </a:xfrm>
          <a:prstGeom prst="rect">
            <a:avLst/>
          </a:prstGeom>
          <a:ln w="0">
            <a:noFill/>
          </a:ln>
        </p:spPr>
      </p:pic>
      <p:sp>
        <p:nvSpPr>
          <p:cNvPr id="148" name="شروع از ویسپر کوچک چندشرایطی است. بهساز در حوزه لاگ‌مل کار می‌کند و موج صوتی بازسازی نمی‌کند"/>
          <p:cNvSpPr/>
          <p:nvPr/>
        </p:nvSpPr>
        <p:spPr>
          <a:xfrm>
            <a:off x="685800" y="5905440"/>
            <a:ext cx="10815480" cy="414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شروع از ویسپر کوچک چندشرایطی است. بهساز در حوزه لاگ‌مل کار می‌کند و موج صوتی بازسازی نمی‌کند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49" name="section"/>
          <p:cNvSpPr/>
          <p:nvPr/>
        </p:nvSpPr>
        <p:spPr>
          <a:xfrm>
            <a:off x="4191120" y="285840"/>
            <a:ext cx="7312680" cy="3024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بهسازی و همجوشی</a:t>
            </a:r>
            <a:endParaRPr b="0" lang="en-US" sz="1350" spc="-1" strike="noStrike">
              <a:solidFill>
                <a:srgbClr val="000000"/>
              </a:solidFill>
              <a:latin typeface="Arial"/>
            </a:endParaRPr>
          </a:p>
        </p:txBody>
      </p:sp>
      <p:sp>
        <p:nvSpPr>
          <p:cNvPr id="150" name="title"/>
          <p:cNvSpPr/>
          <p:nvPr/>
        </p:nvSpPr>
        <p:spPr>
          <a:xfrm>
            <a:off x="685800" y="714240"/>
            <a:ext cx="10818000" cy="835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روابط مدل بهسازی و همجوشی دوجریانه</a:t>
            </a:r>
            <a:endParaRPr b="0" lang="en-US" sz="3150" spc="-1" strike="noStrike">
              <a:solidFill>
                <a:srgbClr val="000000"/>
              </a:solidFill>
              <a:latin typeface="Arial"/>
            </a:endParaRPr>
          </a:p>
        </p:txBody>
      </p:sp>
      <p:sp>
        <p:nvSpPr>
          <p:cNvPr id="151" name="enh-label"/>
          <p:cNvSpPr/>
          <p:nvPr/>
        </p:nvSpPr>
        <p:spPr>
          <a:xfrm>
            <a:off x="685800" y="1609560"/>
            <a:ext cx="5026680" cy="32148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1" lang="fa-IR" sz="1729" spc="-1" strike="noStrike">
                <a:solidFill>
                  <a:srgbClr val="153d42"/>
                </a:solidFill>
                <a:latin typeface="Vazirmatn"/>
                <a:cs typeface="Vazirmatn"/>
              </a:rPr>
              <a:t>بهساز، اصلاح ورودی را یاد می‌گیرد</a:t>
            </a:r>
            <a:endParaRPr b="0" lang="en-US" sz="1729" spc="-1" strike="noStrike">
              <a:solidFill>
                <a:srgbClr val="000000"/>
              </a:solidFill>
              <a:latin typeface="Arial"/>
            </a:endParaRPr>
          </a:p>
        </p:txBody>
      </p:sp>
      <p:sp>
        <p:nvSpPr>
          <p:cNvPr id="152" name="enc-label"/>
          <p:cNvSpPr/>
          <p:nvPr/>
        </p:nvSpPr>
        <p:spPr>
          <a:xfrm>
            <a:off x="6286680" y="1609560"/>
            <a:ext cx="5217120" cy="32148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1" lang="fa-IR" sz="1729" spc="-1" strike="noStrike">
                <a:solidFill>
                  <a:srgbClr val="153d42"/>
                </a:solidFill>
                <a:latin typeface="Vazirmatn"/>
                <a:cs typeface="Vazirmatn"/>
              </a:rPr>
              <a:t>یک رمزگذار با وزن‌های مشترک برای دو نما</a:t>
            </a:r>
            <a:endParaRPr b="0" lang="en-US" sz="1729" spc="-1" strike="noStrike">
              <a:solidFill>
                <a:srgbClr val="000000"/>
              </a:solidFill>
              <a:latin typeface="Arial"/>
            </a:endParaRPr>
          </a:p>
        </p:txBody>
      </p:sp>
      <p:sp>
        <p:nvSpPr>
          <p:cNvPr id="153" name="eq-me"/>
          <p:cNvSpPr/>
          <p:nvPr/>
        </p:nvSpPr>
        <p:spPr>
          <a:xfrm>
            <a:off x="685800" y="1971720"/>
            <a:ext cx="5026680" cy="3592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M</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 = M</a:t>
            </a:r>
            <a:r>
              <a:rPr b="0" lang="en-US" sz="1518" spc="-1" strike="noStrike" baseline="-25000">
                <a:solidFill>
                  <a:srgbClr val="1f2933"/>
                </a:solidFill>
                <a:latin typeface="Vazirmatn"/>
                <a:ea typeface="Vazirmatn"/>
              </a:rPr>
              <a:t>n</a:t>
            </a:r>
            <a:r>
              <a:rPr b="0" lang="en-US" sz="2020" spc="-1" strike="noStrike">
                <a:solidFill>
                  <a:srgbClr val="1f2933"/>
                </a:solidFill>
                <a:latin typeface="Vazirmatn"/>
                <a:ea typeface="Vazirmatn"/>
              </a:rPr>
              <a:t> + E(M</a:t>
            </a:r>
            <a:r>
              <a:rPr b="0" lang="en-US" sz="1518" spc="-1" strike="noStrike" baseline="-25000">
                <a:solidFill>
                  <a:srgbClr val="1f2933"/>
                </a:solidFill>
                <a:latin typeface="Vazirmatn"/>
                <a:ea typeface="Vazirmatn"/>
              </a:rPr>
              <a:t>n</a:t>
            </a:r>
            <a:r>
              <a:rPr b="0" lang="en-US" sz="2020" spc="-1" strike="noStrike">
                <a:solidFill>
                  <a:srgbClr val="1f2933"/>
                </a:solidFill>
                <a:latin typeface="Vazirmatn"/>
                <a:ea typeface="Vazirmatn"/>
              </a:rPr>
              <a:t>)</a:t>
            </a:r>
            <a:endParaRPr b="0" lang="en-US" sz="2020" spc="-1" strike="noStrike">
              <a:solidFill>
                <a:srgbClr val="000000"/>
              </a:solidFill>
              <a:latin typeface="Arial"/>
            </a:endParaRPr>
          </a:p>
        </p:txBody>
      </p:sp>
      <p:sp>
        <p:nvSpPr>
          <p:cNvPr id="154" name="eq-loss"/>
          <p:cNvSpPr/>
          <p:nvPr/>
        </p:nvSpPr>
        <p:spPr>
          <a:xfrm>
            <a:off x="685800" y="2390760"/>
            <a:ext cx="5026680" cy="3592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ℒ</a:t>
            </a:r>
            <a:r>
              <a:rPr b="0" lang="en-US" sz="1518" spc="-1" strike="noStrike" baseline="-25000">
                <a:solidFill>
                  <a:srgbClr val="1f2933"/>
                </a:solidFill>
                <a:latin typeface="Vazirmatn"/>
                <a:ea typeface="Vazirmatn"/>
              </a:rPr>
              <a:t>enh</a:t>
            </a:r>
            <a:r>
              <a:rPr b="0" lang="en-US" sz="2020" spc="-1" strike="noStrike">
                <a:solidFill>
                  <a:srgbClr val="1f2933"/>
                </a:solidFill>
                <a:latin typeface="Vazirmatn"/>
                <a:ea typeface="Vazirmatn"/>
              </a:rPr>
              <a:t> = ‖M</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 − M</a:t>
            </a:r>
            <a:r>
              <a:rPr b="0" lang="en-US" sz="1518" spc="-1" strike="noStrike" baseline="-25000">
                <a:solidFill>
                  <a:srgbClr val="1f2933"/>
                </a:solidFill>
                <a:latin typeface="Vazirmatn"/>
                <a:ea typeface="Vazirmatn"/>
              </a:rPr>
              <a:t>c</a:t>
            </a:r>
            <a:r>
              <a:rPr b="0" lang="en-US" sz="2020" spc="-1" strike="noStrike">
                <a:solidFill>
                  <a:srgbClr val="1f2933"/>
                </a:solidFill>
                <a:latin typeface="Vazirmatn"/>
                <a:ea typeface="Vazirmatn"/>
              </a:rPr>
              <a:t>‖</a:t>
            </a:r>
            <a:r>
              <a:rPr b="0" lang="en-US" sz="1518" spc="-1" strike="noStrike" baseline="-25000">
                <a:solidFill>
                  <a:srgbClr val="1f2933"/>
                </a:solidFill>
                <a:latin typeface="Vazirmatn"/>
                <a:ea typeface="Vazirmatn"/>
              </a:rPr>
              <a:t>1</a:t>
            </a:r>
            <a:endParaRPr b="0" lang="en-US" sz="1520" spc="-1" strike="noStrike">
              <a:solidFill>
                <a:srgbClr val="000000"/>
              </a:solidFill>
              <a:latin typeface="Arial"/>
            </a:endParaRPr>
          </a:p>
        </p:txBody>
      </p:sp>
      <p:sp>
        <p:nvSpPr>
          <p:cNvPr id="155" name="eq-hn"/>
          <p:cNvSpPr/>
          <p:nvPr/>
        </p:nvSpPr>
        <p:spPr>
          <a:xfrm>
            <a:off x="6286680" y="1971720"/>
            <a:ext cx="5217120" cy="3592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H</a:t>
            </a:r>
            <a:r>
              <a:rPr b="0" lang="en-US" sz="1518" spc="-1" strike="noStrike" baseline="-25000">
                <a:solidFill>
                  <a:srgbClr val="1f2933"/>
                </a:solidFill>
                <a:latin typeface="Vazirmatn"/>
                <a:ea typeface="Vazirmatn"/>
              </a:rPr>
              <a:t>n</a:t>
            </a:r>
            <a:r>
              <a:rPr b="0" lang="en-US" sz="2020" spc="-1" strike="noStrike">
                <a:solidFill>
                  <a:srgbClr val="1f2933"/>
                </a:solidFill>
                <a:latin typeface="Vazirmatn"/>
                <a:ea typeface="Vazirmatn"/>
              </a:rPr>
              <a:t> = Enc</a:t>
            </a:r>
            <a:r>
              <a:rPr b="0" lang="en-US" sz="1518" spc="-1" strike="noStrike" baseline="-25000">
                <a:solidFill>
                  <a:srgbClr val="1f2933"/>
                </a:solidFill>
                <a:latin typeface="Vazirmatn"/>
                <a:ea typeface="Vazirmatn"/>
              </a:rPr>
              <a:t>θ</a:t>
            </a:r>
            <a:r>
              <a:rPr b="0" lang="en-US" sz="2020" spc="-1" strike="noStrike">
                <a:solidFill>
                  <a:srgbClr val="1f2933"/>
                </a:solidFill>
                <a:latin typeface="Vazirmatn"/>
                <a:ea typeface="Vazirmatn"/>
              </a:rPr>
              <a:t>(M</a:t>
            </a:r>
            <a:r>
              <a:rPr b="0" lang="en-US" sz="1518" spc="-1" strike="noStrike" baseline="-25000">
                <a:solidFill>
                  <a:srgbClr val="1f2933"/>
                </a:solidFill>
                <a:latin typeface="Vazirmatn"/>
                <a:ea typeface="Vazirmatn"/>
              </a:rPr>
              <a:t>n</a:t>
            </a:r>
            <a:r>
              <a:rPr b="0" lang="en-US" sz="2020" spc="-1" strike="noStrike">
                <a:solidFill>
                  <a:srgbClr val="1f2933"/>
                </a:solidFill>
                <a:latin typeface="Vazirmatn"/>
                <a:ea typeface="Vazirmatn"/>
              </a:rPr>
              <a:t>)</a:t>
            </a:r>
            <a:endParaRPr b="0" lang="en-US" sz="2020" spc="-1" strike="noStrike">
              <a:solidFill>
                <a:srgbClr val="000000"/>
              </a:solidFill>
              <a:latin typeface="Arial"/>
            </a:endParaRPr>
          </a:p>
        </p:txBody>
      </p:sp>
      <p:sp>
        <p:nvSpPr>
          <p:cNvPr id="156" name="eq-he"/>
          <p:cNvSpPr/>
          <p:nvPr/>
        </p:nvSpPr>
        <p:spPr>
          <a:xfrm>
            <a:off x="6286680" y="2390760"/>
            <a:ext cx="5217120" cy="3592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H</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 = Enc</a:t>
            </a:r>
            <a:r>
              <a:rPr b="0" lang="en-US" sz="1518" spc="-1" strike="noStrike" baseline="-25000">
                <a:solidFill>
                  <a:srgbClr val="1f2933"/>
                </a:solidFill>
                <a:latin typeface="Vazirmatn"/>
                <a:ea typeface="Vazirmatn"/>
              </a:rPr>
              <a:t>θ</a:t>
            </a:r>
            <a:r>
              <a:rPr b="0" lang="en-US" sz="2020" spc="-1" strike="noStrike">
                <a:solidFill>
                  <a:srgbClr val="1f2933"/>
                </a:solidFill>
                <a:latin typeface="Vazirmatn"/>
                <a:ea typeface="Vazirmatn"/>
              </a:rPr>
              <a:t>(M</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a:t>
            </a:r>
            <a:endParaRPr b="0" lang="en-US" sz="2020" spc="-1" strike="noStrike">
              <a:solidFill>
                <a:srgbClr val="000000"/>
              </a:solidFill>
              <a:latin typeface="Arial"/>
            </a:endParaRPr>
          </a:p>
        </p:txBody>
      </p:sp>
      <p:sp>
        <p:nvSpPr>
          <p:cNvPr id="157" name="cross-label"/>
          <p:cNvSpPr/>
          <p:nvPr/>
        </p:nvSpPr>
        <p:spPr>
          <a:xfrm>
            <a:off x="685800" y="2800440"/>
            <a:ext cx="10818000" cy="33084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1" lang="fa-IR" sz="1800" spc="-1" strike="noStrike">
                <a:solidFill>
                  <a:srgbClr val="153d42"/>
                </a:solidFill>
                <a:latin typeface="Vazirmatn"/>
                <a:cs typeface="Vazirmatn"/>
              </a:rPr>
              <a:t>تبادل اطلاعات در دو جهت: هر نما از نمای مقابل کمک می‌گیرد</a:t>
            </a:r>
            <a:endParaRPr b="0" lang="en-US" sz="1800" spc="-1" strike="noStrike">
              <a:solidFill>
                <a:srgbClr val="000000"/>
              </a:solidFill>
              <a:latin typeface="Arial"/>
            </a:endParaRPr>
          </a:p>
        </p:txBody>
      </p:sp>
      <p:sp>
        <p:nvSpPr>
          <p:cNvPr id="158" name="eq-n"/>
          <p:cNvSpPr/>
          <p:nvPr/>
        </p:nvSpPr>
        <p:spPr>
          <a:xfrm>
            <a:off x="685800" y="3209760"/>
            <a:ext cx="5217120" cy="36900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250" spc="-1" strike="noStrike">
                <a:solidFill>
                  <a:srgbClr val="1f2933"/>
                </a:solidFill>
                <a:latin typeface="Vazirmatn"/>
                <a:ea typeface="Vazirmatn"/>
              </a:rPr>
              <a:t>H′</a:t>
            </a:r>
            <a:r>
              <a:rPr b="0" lang="en-US" sz="1689" spc="-1" strike="noStrike" baseline="-25000">
                <a:solidFill>
                  <a:srgbClr val="1f2933"/>
                </a:solidFill>
                <a:latin typeface="Vazirmatn"/>
                <a:ea typeface="Vazirmatn"/>
              </a:rPr>
              <a:t>n</a:t>
            </a:r>
            <a:r>
              <a:rPr b="0" lang="en-US" sz="2250" spc="-1" strike="noStrike">
                <a:solidFill>
                  <a:srgbClr val="1f2933"/>
                </a:solidFill>
                <a:latin typeface="Vazirmatn"/>
                <a:ea typeface="Vazirmatn"/>
              </a:rPr>
              <a:t> = B</a:t>
            </a:r>
            <a:r>
              <a:rPr b="0" lang="en-US" sz="1689" spc="-1" strike="noStrike" baseline="-25000">
                <a:solidFill>
                  <a:srgbClr val="1f2933"/>
                </a:solidFill>
                <a:latin typeface="Vazirmatn"/>
                <a:ea typeface="Vazirmatn"/>
              </a:rPr>
              <a:t>n</a:t>
            </a:r>
            <a:r>
              <a:rPr b="0" lang="en-US" sz="2250" spc="-1" strike="noStrike">
                <a:solidFill>
                  <a:srgbClr val="1f2933"/>
                </a:solidFill>
                <a:latin typeface="Vazirmatn"/>
                <a:ea typeface="Vazirmatn"/>
              </a:rPr>
              <a:t>(H</a:t>
            </a:r>
            <a:r>
              <a:rPr b="0" lang="en-US" sz="1689" spc="-1" strike="noStrike" baseline="-25000">
                <a:solidFill>
                  <a:srgbClr val="1f2933"/>
                </a:solidFill>
                <a:latin typeface="Vazirmatn"/>
                <a:ea typeface="Vazirmatn"/>
              </a:rPr>
              <a:t>n</a:t>
            </a:r>
            <a:r>
              <a:rPr b="0" lang="en-US" sz="2250" spc="-1" strike="noStrike">
                <a:solidFill>
                  <a:srgbClr val="1f2933"/>
                </a:solidFill>
                <a:latin typeface="Vazirmatn"/>
                <a:ea typeface="Vazirmatn"/>
              </a:rPr>
              <a:t>, H</a:t>
            </a:r>
            <a:r>
              <a:rPr b="0" lang="en-US" sz="1689" spc="-1" strike="noStrike" baseline="-25000">
                <a:solidFill>
                  <a:srgbClr val="1f2933"/>
                </a:solidFill>
                <a:latin typeface="Vazirmatn"/>
                <a:ea typeface="Vazirmatn"/>
              </a:rPr>
              <a:t>e</a:t>
            </a:r>
            <a:r>
              <a:rPr b="0" lang="en-US" sz="2250" spc="-1" strike="noStrike">
                <a:solidFill>
                  <a:srgbClr val="1f2933"/>
                </a:solidFill>
                <a:latin typeface="Vazirmatn"/>
                <a:ea typeface="Vazirmatn"/>
              </a:rPr>
              <a:t>)</a:t>
            </a:r>
            <a:endParaRPr b="0" lang="en-US" sz="2250" spc="-1" strike="noStrike">
              <a:solidFill>
                <a:srgbClr val="000000"/>
              </a:solidFill>
              <a:latin typeface="Arial"/>
            </a:endParaRPr>
          </a:p>
        </p:txBody>
      </p:sp>
      <p:sp>
        <p:nvSpPr>
          <p:cNvPr id="159" name="n-explain"/>
          <p:cNvSpPr/>
          <p:nvPr/>
        </p:nvSpPr>
        <p:spPr>
          <a:xfrm>
            <a:off x="685800" y="3600360"/>
            <a:ext cx="5217120" cy="34056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0" lang="en-US" sz="1390" spc="-1" strike="noStrike">
                <a:solidFill>
                  <a:srgbClr val="52606d"/>
                </a:solidFill>
                <a:latin typeface="Vazirmatn"/>
                <a:ea typeface="Vazirmatn"/>
              </a:rPr>
              <a:t>Q</a:t>
            </a:r>
            <a:r>
              <a:rPr b="0" lang="en-US" sz="1390" spc="-1" strike="noStrike">
                <a:solidFill>
                  <a:srgbClr val="52606d"/>
                </a:solidFill>
                <a:latin typeface="Vazirmatn"/>
                <a:ea typeface="Vazirmatn"/>
              </a:rPr>
              <a:t> از نمای اصلی؛ </a:t>
            </a:r>
            <a:r>
              <a:rPr b="0" lang="en-US" sz="1390" spc="-1" strike="noStrike">
                <a:solidFill>
                  <a:srgbClr val="52606d"/>
                </a:solidFill>
                <a:latin typeface="Vazirmatn"/>
                <a:ea typeface="Vazirmatn"/>
              </a:rPr>
              <a:t>K</a:t>
            </a:r>
            <a:r>
              <a:rPr b="0" lang="en-US" sz="1390" spc="-1" strike="noStrike">
                <a:solidFill>
                  <a:srgbClr val="52606d"/>
                </a:solidFill>
                <a:latin typeface="Vazirmatn"/>
                <a:ea typeface="Vazirmatn"/>
              </a:rPr>
              <a:t> و </a:t>
            </a:r>
            <a:r>
              <a:rPr b="0" lang="en-US" sz="1390" spc="-1" strike="noStrike">
                <a:solidFill>
                  <a:srgbClr val="52606d"/>
                </a:solidFill>
                <a:latin typeface="Vazirmatn"/>
                <a:ea typeface="Vazirmatn"/>
              </a:rPr>
              <a:t>V</a:t>
            </a:r>
            <a:r>
              <a:rPr b="0" lang="en-US" sz="1390" spc="-1" strike="noStrike">
                <a:solidFill>
                  <a:srgbClr val="52606d"/>
                </a:solidFill>
                <a:latin typeface="Vazirmatn"/>
                <a:ea typeface="Vazirmatn"/>
              </a:rPr>
              <a:t> از نمای بهسازی‌شده</a:t>
            </a:r>
            <a:endParaRPr b="0" lang="en-US" sz="1390" spc="-1" strike="noStrike">
              <a:solidFill>
                <a:srgbClr val="000000"/>
              </a:solidFill>
              <a:latin typeface="Arial"/>
            </a:endParaRPr>
          </a:p>
        </p:txBody>
      </p:sp>
      <p:sp>
        <p:nvSpPr>
          <p:cNvPr id="160" name="eq-e"/>
          <p:cNvSpPr/>
          <p:nvPr/>
        </p:nvSpPr>
        <p:spPr>
          <a:xfrm>
            <a:off x="685800" y="4010040"/>
            <a:ext cx="5217120" cy="36900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250" spc="-1" strike="noStrike">
                <a:solidFill>
                  <a:srgbClr val="1f2933"/>
                </a:solidFill>
                <a:latin typeface="Vazirmatn"/>
                <a:ea typeface="Vazirmatn"/>
              </a:rPr>
              <a:t>H′</a:t>
            </a:r>
            <a:r>
              <a:rPr b="0" lang="en-US" sz="1689" spc="-1" strike="noStrike" baseline="-25000">
                <a:solidFill>
                  <a:srgbClr val="1f2933"/>
                </a:solidFill>
                <a:latin typeface="Vazirmatn"/>
                <a:ea typeface="Vazirmatn"/>
              </a:rPr>
              <a:t>e</a:t>
            </a:r>
            <a:r>
              <a:rPr b="0" lang="en-US" sz="2250" spc="-1" strike="noStrike">
                <a:solidFill>
                  <a:srgbClr val="1f2933"/>
                </a:solidFill>
                <a:latin typeface="Vazirmatn"/>
                <a:ea typeface="Vazirmatn"/>
              </a:rPr>
              <a:t> = B</a:t>
            </a:r>
            <a:r>
              <a:rPr b="0" lang="en-US" sz="1689" spc="-1" strike="noStrike" baseline="-25000">
                <a:solidFill>
                  <a:srgbClr val="1f2933"/>
                </a:solidFill>
                <a:latin typeface="Vazirmatn"/>
                <a:ea typeface="Vazirmatn"/>
              </a:rPr>
              <a:t>e</a:t>
            </a:r>
            <a:r>
              <a:rPr b="0" lang="en-US" sz="2250" spc="-1" strike="noStrike">
                <a:solidFill>
                  <a:srgbClr val="1f2933"/>
                </a:solidFill>
                <a:latin typeface="Vazirmatn"/>
                <a:ea typeface="Vazirmatn"/>
              </a:rPr>
              <a:t>(H</a:t>
            </a:r>
            <a:r>
              <a:rPr b="0" lang="en-US" sz="1689" spc="-1" strike="noStrike" baseline="-25000">
                <a:solidFill>
                  <a:srgbClr val="1f2933"/>
                </a:solidFill>
                <a:latin typeface="Vazirmatn"/>
                <a:ea typeface="Vazirmatn"/>
              </a:rPr>
              <a:t>e</a:t>
            </a:r>
            <a:r>
              <a:rPr b="0" lang="en-US" sz="2250" spc="-1" strike="noStrike">
                <a:solidFill>
                  <a:srgbClr val="1f2933"/>
                </a:solidFill>
                <a:latin typeface="Vazirmatn"/>
                <a:ea typeface="Vazirmatn"/>
              </a:rPr>
              <a:t>, H</a:t>
            </a:r>
            <a:r>
              <a:rPr b="0" lang="en-US" sz="1689" spc="-1" strike="noStrike" baseline="-25000">
                <a:solidFill>
                  <a:srgbClr val="1f2933"/>
                </a:solidFill>
                <a:latin typeface="Vazirmatn"/>
                <a:ea typeface="Vazirmatn"/>
              </a:rPr>
              <a:t>n</a:t>
            </a:r>
            <a:r>
              <a:rPr b="0" lang="en-US" sz="2250" spc="-1" strike="noStrike">
                <a:solidFill>
                  <a:srgbClr val="1f2933"/>
                </a:solidFill>
                <a:latin typeface="Vazirmatn"/>
                <a:ea typeface="Vazirmatn"/>
              </a:rPr>
              <a:t>)</a:t>
            </a:r>
            <a:endParaRPr b="0" lang="en-US" sz="2250" spc="-1" strike="noStrike">
              <a:solidFill>
                <a:srgbClr val="000000"/>
              </a:solidFill>
              <a:latin typeface="Arial"/>
            </a:endParaRPr>
          </a:p>
        </p:txBody>
      </p:sp>
      <p:sp>
        <p:nvSpPr>
          <p:cNvPr id="161" name="e-explain"/>
          <p:cNvSpPr/>
          <p:nvPr/>
        </p:nvSpPr>
        <p:spPr>
          <a:xfrm>
            <a:off x="685800" y="4400640"/>
            <a:ext cx="5217120" cy="34056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0" lang="en-US" sz="1390" spc="-1" strike="noStrike">
                <a:solidFill>
                  <a:srgbClr val="52606d"/>
                </a:solidFill>
                <a:latin typeface="Vazirmatn"/>
                <a:ea typeface="Vazirmatn"/>
              </a:rPr>
              <a:t>Q</a:t>
            </a:r>
            <a:r>
              <a:rPr b="0" lang="en-US" sz="1390" spc="-1" strike="noStrike">
                <a:solidFill>
                  <a:srgbClr val="52606d"/>
                </a:solidFill>
                <a:latin typeface="Vazirmatn"/>
                <a:ea typeface="Vazirmatn"/>
              </a:rPr>
              <a:t> از نمای بهسازی‌شده؛ </a:t>
            </a:r>
            <a:r>
              <a:rPr b="0" lang="en-US" sz="1390" spc="-1" strike="noStrike">
                <a:solidFill>
                  <a:srgbClr val="52606d"/>
                </a:solidFill>
                <a:latin typeface="Vazirmatn"/>
                <a:ea typeface="Vazirmatn"/>
              </a:rPr>
              <a:t>K</a:t>
            </a:r>
            <a:r>
              <a:rPr b="0" lang="en-US" sz="1390" spc="-1" strike="noStrike">
                <a:solidFill>
                  <a:srgbClr val="52606d"/>
                </a:solidFill>
                <a:latin typeface="Vazirmatn"/>
                <a:ea typeface="Vazirmatn"/>
              </a:rPr>
              <a:t> و </a:t>
            </a:r>
            <a:r>
              <a:rPr b="0" lang="en-US" sz="1390" spc="-1" strike="noStrike">
                <a:solidFill>
                  <a:srgbClr val="52606d"/>
                </a:solidFill>
                <a:latin typeface="Vazirmatn"/>
                <a:ea typeface="Vazirmatn"/>
              </a:rPr>
              <a:t>V</a:t>
            </a:r>
            <a:r>
              <a:rPr b="0" lang="en-US" sz="1390" spc="-1" strike="noStrike">
                <a:solidFill>
                  <a:srgbClr val="52606d"/>
                </a:solidFill>
                <a:latin typeface="Vazirmatn"/>
                <a:ea typeface="Vazirmatn"/>
              </a:rPr>
              <a:t> از نمای اصلی</a:t>
            </a:r>
            <a:endParaRPr b="0" lang="en-US" sz="1390" spc="-1" strike="noStrike">
              <a:solidFill>
                <a:srgbClr val="000000"/>
              </a:solidFill>
              <a:latin typeface="Arial"/>
            </a:endParaRPr>
          </a:p>
        </p:txBody>
      </p:sp>
      <p:sp>
        <p:nvSpPr>
          <p:cNvPr id="162" name="block-label"/>
          <p:cNvSpPr/>
          <p:nvPr/>
        </p:nvSpPr>
        <p:spPr>
          <a:xfrm>
            <a:off x="6286680" y="3181320"/>
            <a:ext cx="5217120" cy="27360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1" lang="fa-IR" sz="1430" spc="-1" strike="noStrike">
                <a:solidFill>
                  <a:srgbClr val="153d42"/>
                </a:solidFill>
                <a:latin typeface="Vazirmatn"/>
                <a:cs typeface="Vazirmatn"/>
              </a:rPr>
              <a:t>ساختار هر بلوک: دریافت اطلاعات، سپس پردازش ویژگی‌ها</a:t>
            </a:r>
            <a:endParaRPr b="0" lang="en-US" sz="1430" spc="-1" strike="noStrike">
              <a:solidFill>
                <a:srgbClr val="000000"/>
              </a:solidFill>
              <a:latin typeface="Arial"/>
            </a:endParaRPr>
          </a:p>
        </p:txBody>
      </p:sp>
      <p:sp>
        <p:nvSpPr>
          <p:cNvPr id="163" name="eq-qkv"/>
          <p:cNvSpPr/>
          <p:nvPr/>
        </p:nvSpPr>
        <p:spPr>
          <a:xfrm>
            <a:off x="6286680" y="3524400"/>
            <a:ext cx="5217120" cy="34056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800" spc="-1" strike="noStrike">
                <a:solidFill>
                  <a:srgbClr val="1f2933"/>
                </a:solidFill>
                <a:latin typeface="Vazirmatn"/>
                <a:ea typeface="Vazirmatn"/>
              </a:rPr>
              <a:t>Q = LN</a:t>
            </a:r>
            <a:r>
              <a:rPr b="0" lang="en-US" sz="1350" spc="-1" strike="noStrike" baseline="-25000">
                <a:solidFill>
                  <a:srgbClr val="1f2933"/>
                </a:solidFill>
                <a:latin typeface="Vazirmatn"/>
                <a:ea typeface="Vazirmatn"/>
              </a:rPr>
              <a:t>q</a:t>
            </a:r>
            <a:r>
              <a:rPr b="0" lang="en-US" sz="1800" spc="-1" strike="noStrike">
                <a:solidFill>
                  <a:srgbClr val="1f2933"/>
                </a:solidFill>
                <a:latin typeface="Vazirmatn"/>
                <a:ea typeface="Vazirmatn"/>
              </a:rPr>
              <a:t>(X), K = V = LN</a:t>
            </a:r>
            <a:r>
              <a:rPr b="0" lang="en-US" sz="1350" spc="-1" strike="noStrike" baseline="-25000">
                <a:solidFill>
                  <a:srgbClr val="1f2933"/>
                </a:solidFill>
                <a:latin typeface="Vazirmatn"/>
                <a:ea typeface="Vazirmatn"/>
              </a:rPr>
              <a:t>kv</a:t>
            </a:r>
            <a:r>
              <a:rPr b="0" lang="en-US" sz="1800" spc="-1" strike="noStrike">
                <a:solidFill>
                  <a:srgbClr val="1f2933"/>
                </a:solidFill>
                <a:latin typeface="Vazirmatn"/>
                <a:ea typeface="Vazirmatn"/>
              </a:rPr>
              <a:t>(Y)</a:t>
            </a:r>
            <a:endParaRPr b="0" lang="en-US" sz="1800" spc="-1" strike="noStrike">
              <a:solidFill>
                <a:srgbClr val="000000"/>
              </a:solidFill>
              <a:latin typeface="Arial"/>
            </a:endParaRPr>
          </a:p>
        </p:txBody>
      </p:sp>
      <p:sp>
        <p:nvSpPr>
          <p:cNvPr id="164" name="eq-residual"/>
          <p:cNvSpPr/>
          <p:nvPr/>
        </p:nvSpPr>
        <p:spPr>
          <a:xfrm>
            <a:off x="6286680" y="3924360"/>
            <a:ext cx="5217120" cy="34056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870" spc="-1" strike="noStrike">
                <a:solidFill>
                  <a:srgbClr val="1f2933"/>
                </a:solidFill>
                <a:latin typeface="Vazirmatn"/>
                <a:ea typeface="Vazirmatn"/>
              </a:rPr>
              <a:t>Z = X + MHA(Q,K,V)</a:t>
            </a:r>
            <a:endParaRPr b="0" lang="en-US" sz="1870" spc="-1" strike="noStrike">
              <a:solidFill>
                <a:srgbClr val="000000"/>
              </a:solidFill>
              <a:latin typeface="Arial"/>
            </a:endParaRPr>
          </a:p>
        </p:txBody>
      </p:sp>
      <p:sp>
        <p:nvSpPr>
          <p:cNvPr id="165" name="eq-block"/>
          <p:cNvSpPr/>
          <p:nvPr/>
        </p:nvSpPr>
        <p:spPr>
          <a:xfrm>
            <a:off x="6286680" y="4324320"/>
            <a:ext cx="5217120" cy="34056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870" spc="-1" strike="noStrike">
                <a:solidFill>
                  <a:srgbClr val="1f2933"/>
                </a:solidFill>
                <a:latin typeface="Vazirmatn"/>
                <a:ea typeface="Vazirmatn"/>
              </a:rPr>
              <a:t>B(X,Y) = Z + FFN(LN(Z))</a:t>
            </a:r>
            <a:endParaRPr b="0" lang="en-US" sz="1870" spc="-1" strike="noStrike">
              <a:solidFill>
                <a:srgbClr val="000000"/>
              </a:solidFill>
              <a:latin typeface="Arial"/>
            </a:endParaRPr>
          </a:p>
        </p:txBody>
      </p:sp>
      <p:sp>
        <p:nvSpPr>
          <p:cNvPr id="166" name="eq-head"/>
          <p:cNvSpPr/>
          <p:nvPr/>
        </p:nvSpPr>
        <p:spPr>
          <a:xfrm>
            <a:off x="685800" y="4829040"/>
            <a:ext cx="7236360" cy="34056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800" spc="-1" strike="noStrike">
                <a:solidFill>
                  <a:srgbClr val="1f2933"/>
                </a:solidFill>
                <a:latin typeface="Vazirmatn"/>
                <a:ea typeface="Vazirmatn"/>
              </a:rPr>
              <a:t>Attn(q,k,v) = softmax(qk</a:t>
            </a:r>
            <a:r>
              <a:rPr b="0" lang="en-US" sz="1350" spc="-1" strike="noStrike" baseline="30000">
                <a:solidFill>
                  <a:srgbClr val="1f2933"/>
                </a:solidFill>
                <a:latin typeface="Vazirmatn"/>
                <a:ea typeface="Vazirmatn"/>
              </a:rPr>
              <a:t>T</a:t>
            </a:r>
            <a:r>
              <a:rPr b="0" lang="en-US" sz="1800" spc="-1" strike="noStrike">
                <a:solidFill>
                  <a:srgbClr val="1f2933"/>
                </a:solidFill>
                <a:latin typeface="Vazirmatn"/>
                <a:ea typeface="Vazirmatn"/>
              </a:rPr>
              <a:t> / √d</a:t>
            </a:r>
            <a:r>
              <a:rPr b="0" lang="en-US" sz="1350" spc="-1" strike="noStrike" baseline="-25000">
                <a:solidFill>
                  <a:srgbClr val="1f2933"/>
                </a:solidFill>
                <a:latin typeface="Vazirmatn"/>
                <a:ea typeface="Vazirmatn"/>
              </a:rPr>
              <a:t>k</a:t>
            </a:r>
            <a:r>
              <a:rPr b="0" lang="en-US" sz="1800" spc="-1" strike="noStrike">
                <a:solidFill>
                  <a:srgbClr val="1f2933"/>
                </a:solidFill>
                <a:latin typeface="Vazirmatn"/>
                <a:ea typeface="Vazirmatn"/>
              </a:rPr>
              <a:t>)v</a:t>
            </a:r>
            <a:endParaRPr b="0" lang="en-US" sz="1800" spc="-1" strike="noStrike">
              <a:solidFill>
                <a:srgbClr val="000000"/>
              </a:solidFill>
              <a:latin typeface="Arial"/>
            </a:endParaRPr>
          </a:p>
        </p:txBody>
      </p:sp>
      <p:sp>
        <p:nvSpPr>
          <p:cNvPr id="167" name="head-note"/>
          <p:cNvSpPr/>
          <p:nvPr/>
        </p:nvSpPr>
        <p:spPr>
          <a:xfrm>
            <a:off x="8077320" y="4829040"/>
            <a:ext cx="3426480" cy="340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280" spc="-1" strike="noStrike">
                <a:solidFill>
                  <a:srgbClr val="52606d"/>
                </a:solidFill>
                <a:latin typeface="Vazirmatn"/>
                <a:cs typeface="Vazirmatn"/>
              </a:rPr>
              <a:t>در هر سر، </a:t>
            </a:r>
            <a:r>
              <a:rPr b="0" lang="en-US" sz="1280" spc="-1" strike="noStrike">
                <a:solidFill>
                  <a:srgbClr val="52606d"/>
                </a:solidFill>
                <a:latin typeface="Vazirmatn"/>
                <a:ea typeface="Vazirmatn"/>
              </a:rPr>
              <a:t>q</a:t>
            </a:r>
            <a:r>
              <a:rPr b="0" lang="en-US" sz="1280" spc="-1" strike="noStrike">
                <a:solidFill>
                  <a:srgbClr val="52606d"/>
                </a:solidFill>
                <a:latin typeface="Vazirmatn"/>
                <a:ea typeface="Vazirmatn"/>
              </a:rPr>
              <a:t> و </a:t>
            </a:r>
            <a:r>
              <a:rPr b="0" lang="en-US" sz="1280" spc="-1" strike="noStrike">
                <a:solidFill>
                  <a:srgbClr val="52606d"/>
                </a:solidFill>
                <a:latin typeface="Vazirmatn"/>
                <a:ea typeface="Vazirmatn"/>
              </a:rPr>
              <a:t>k</a:t>
            </a:r>
            <a:r>
              <a:rPr b="0" lang="en-US" sz="1280" spc="-1" strike="noStrike">
                <a:solidFill>
                  <a:srgbClr val="52606d"/>
                </a:solidFill>
                <a:latin typeface="Vazirmatn"/>
                <a:ea typeface="Vazirmatn"/>
              </a:rPr>
              <a:t> و </a:t>
            </a:r>
            <a:r>
              <a:rPr b="0" lang="en-US" sz="1280" spc="-1" strike="noStrike">
                <a:solidFill>
                  <a:srgbClr val="52606d"/>
                </a:solidFill>
                <a:latin typeface="Vazirmatn"/>
                <a:ea typeface="Vazirmatn"/>
              </a:rPr>
              <a:t>v</a:t>
            </a:r>
            <a:r>
              <a:rPr b="0" lang="en-US" sz="1280" spc="-1" strike="noStrike">
                <a:solidFill>
                  <a:srgbClr val="52606d"/>
                </a:solidFill>
                <a:latin typeface="Vazirmatn"/>
                <a:ea typeface="Vazirmatn"/>
              </a:rPr>
              <a:t> پس از نگاشت خطی‌اند</a:t>
            </a:r>
            <a:endParaRPr b="0" lang="en-US" sz="1280" spc="-1" strike="noStrike">
              <a:solidFill>
                <a:srgbClr val="000000"/>
              </a:solidFill>
              <a:latin typeface="Arial"/>
            </a:endParaRPr>
          </a:p>
        </p:txBody>
      </p:sp>
      <p:sp>
        <p:nvSpPr>
          <p:cNvPr id="168" name="gate-label"/>
          <p:cNvSpPr/>
          <p:nvPr/>
        </p:nvSpPr>
        <p:spPr>
          <a:xfrm>
            <a:off x="685800" y="5219640"/>
            <a:ext cx="10818000" cy="29268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1" lang="fa-IR" sz="1729" spc="-1" strike="noStrike">
                <a:solidFill>
                  <a:srgbClr val="153d42"/>
                </a:solidFill>
                <a:latin typeface="Vazirmatn"/>
                <a:cs typeface="Vazirmatn"/>
              </a:rPr>
              <a:t>دروازه آموختنی: سهم هر نما در هر زمان و ویژگی</a:t>
            </a:r>
            <a:endParaRPr b="0" lang="en-US" sz="1729" spc="-1" strike="noStrike">
              <a:solidFill>
                <a:srgbClr val="000000"/>
              </a:solidFill>
              <a:latin typeface="Arial"/>
            </a:endParaRPr>
          </a:p>
        </p:txBody>
      </p:sp>
      <p:sp>
        <p:nvSpPr>
          <p:cNvPr id="169" name="eq-gate"/>
          <p:cNvSpPr/>
          <p:nvPr/>
        </p:nvSpPr>
        <p:spPr>
          <a:xfrm>
            <a:off x="685800" y="5562720"/>
            <a:ext cx="5217120" cy="36900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g = σ(W</a:t>
            </a:r>
            <a:r>
              <a:rPr b="0" lang="en-US" sz="1518" spc="-1" strike="noStrike" baseline="-25000">
                <a:solidFill>
                  <a:srgbClr val="1f2933"/>
                </a:solidFill>
                <a:latin typeface="Vazirmatn"/>
                <a:ea typeface="Vazirmatn"/>
              </a:rPr>
              <a:t>2</a:t>
            </a:r>
            <a:r>
              <a:rPr b="0" lang="en-US" sz="2020" spc="-1" strike="noStrike">
                <a:solidFill>
                  <a:srgbClr val="1f2933"/>
                </a:solidFill>
                <a:latin typeface="Vazirmatn"/>
                <a:ea typeface="Vazirmatn"/>
              </a:rPr>
              <a:t> GELU(W</a:t>
            </a:r>
            <a:r>
              <a:rPr b="0" lang="en-US" sz="1518" spc="-1" strike="noStrike" baseline="-25000">
                <a:solidFill>
                  <a:srgbClr val="1f2933"/>
                </a:solidFill>
                <a:latin typeface="Vazirmatn"/>
                <a:ea typeface="Vazirmatn"/>
              </a:rPr>
              <a:t>1</a:t>
            </a:r>
            <a:r>
              <a:rPr b="0" lang="en-US" sz="2020" spc="-1" strike="noStrike">
                <a:solidFill>
                  <a:srgbClr val="1f2933"/>
                </a:solidFill>
                <a:latin typeface="Vazirmatn"/>
                <a:ea typeface="Vazirmatn"/>
              </a:rPr>
              <a:t>[H′</a:t>
            </a:r>
            <a:r>
              <a:rPr b="0" lang="en-US" sz="1518" spc="-1" strike="noStrike" baseline="-25000">
                <a:solidFill>
                  <a:srgbClr val="1f2933"/>
                </a:solidFill>
                <a:latin typeface="Vazirmatn"/>
                <a:ea typeface="Vazirmatn"/>
              </a:rPr>
              <a:t>n</a:t>
            </a:r>
            <a:r>
              <a:rPr b="0" lang="en-US" sz="2020" spc="-1" strike="noStrike">
                <a:solidFill>
                  <a:srgbClr val="1f2933"/>
                </a:solidFill>
                <a:latin typeface="Vazirmatn"/>
                <a:ea typeface="Vazirmatn"/>
              </a:rPr>
              <a:t>; H′</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a:t>
            </a:r>
            <a:endParaRPr b="0" lang="en-US" sz="2020" spc="-1" strike="noStrike">
              <a:solidFill>
                <a:srgbClr val="000000"/>
              </a:solidFill>
              <a:latin typeface="Arial"/>
            </a:endParaRPr>
          </a:p>
        </p:txBody>
      </p:sp>
      <p:sp>
        <p:nvSpPr>
          <p:cNvPr id="170" name="eq-fused"/>
          <p:cNvSpPr/>
          <p:nvPr/>
        </p:nvSpPr>
        <p:spPr>
          <a:xfrm>
            <a:off x="6286680" y="5562720"/>
            <a:ext cx="5217120" cy="36900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2020" spc="-1" strike="noStrike">
                <a:solidFill>
                  <a:srgbClr val="1f2933"/>
                </a:solidFill>
                <a:latin typeface="Vazirmatn"/>
                <a:ea typeface="Vazirmatn"/>
              </a:rPr>
              <a:t>H</a:t>
            </a:r>
            <a:r>
              <a:rPr b="0" lang="en-US" sz="1518" spc="-1" strike="noStrike" baseline="-25000">
                <a:solidFill>
                  <a:srgbClr val="1f2933"/>
                </a:solidFill>
                <a:latin typeface="Vazirmatn"/>
                <a:ea typeface="Vazirmatn"/>
              </a:rPr>
              <a:t>f</a:t>
            </a:r>
            <a:r>
              <a:rPr b="0" lang="en-US" sz="2020" spc="-1" strike="noStrike">
                <a:solidFill>
                  <a:srgbClr val="1f2933"/>
                </a:solidFill>
                <a:latin typeface="Vazirmatn"/>
                <a:ea typeface="Vazirmatn"/>
              </a:rPr>
              <a:t> = g ⊙ H′</a:t>
            </a:r>
            <a:r>
              <a:rPr b="0" lang="en-US" sz="1518" spc="-1" strike="noStrike" baseline="-25000">
                <a:solidFill>
                  <a:srgbClr val="1f2933"/>
                </a:solidFill>
                <a:latin typeface="Vazirmatn"/>
                <a:ea typeface="Vazirmatn"/>
              </a:rPr>
              <a:t>e</a:t>
            </a:r>
            <a:r>
              <a:rPr b="0" lang="en-US" sz="2020" spc="-1" strike="noStrike">
                <a:solidFill>
                  <a:srgbClr val="1f2933"/>
                </a:solidFill>
                <a:latin typeface="Vazirmatn"/>
                <a:ea typeface="Vazirmatn"/>
              </a:rPr>
              <a:t> + (1 − g) ⊙ H′</a:t>
            </a:r>
            <a:r>
              <a:rPr b="0" lang="en-US" sz="1518" spc="-1" strike="noStrike" baseline="-25000">
                <a:solidFill>
                  <a:srgbClr val="1f2933"/>
                </a:solidFill>
                <a:latin typeface="Vazirmatn"/>
                <a:ea typeface="Vazirmatn"/>
              </a:rPr>
              <a:t>n</a:t>
            </a:r>
            <a:endParaRPr b="0" lang="en-US" sz="1520" spc="-1" strike="noStrike">
              <a:solidFill>
                <a:srgbClr val="000000"/>
              </a:solidFill>
              <a:latin typeface="Arial"/>
            </a:endParaRPr>
          </a:p>
        </p:txBody>
      </p:sp>
      <p:sp>
        <p:nvSpPr>
          <p:cNvPr id="171" name="block-note"/>
          <p:cNvSpPr/>
          <p:nvPr/>
        </p:nvSpPr>
        <p:spPr>
          <a:xfrm>
            <a:off x="685800" y="6000840"/>
            <a:ext cx="10818000" cy="254520"/>
          </a:xfrm>
          <a:prstGeom prst="rect">
            <a:avLst/>
          </a:prstGeom>
          <a:noFill/>
          <a:ln w="0">
            <a:noFill/>
          </a:ln>
        </p:spPr>
        <p:style>
          <a:lnRef idx="0"/>
          <a:fillRef idx="0"/>
          <a:effectRef idx="0"/>
          <a:fontRef idx="minor"/>
        </p:style>
        <p:txBody>
          <a:bodyPr lIns="0" rIns="0" tIns="0" bIns="0" anchor="ctr">
            <a:noAutofit/>
          </a:bodyPr>
          <a:p>
            <a:pPr algn="r" rtl="1">
              <a:lnSpc>
                <a:spcPct val="105000"/>
              </a:lnSpc>
            </a:pPr>
            <a:r>
              <a:rPr b="0" lang="fa-IR" sz="1350" spc="-1" strike="noStrike">
                <a:solidFill>
                  <a:srgbClr val="52606d"/>
                </a:solidFill>
                <a:latin typeface="Vazirmatn"/>
                <a:cs typeface="Vazirmatn"/>
              </a:rPr>
              <a:t>هر جهت، توجه و </a:t>
            </a:r>
            <a:r>
              <a:rPr b="0" lang="en-US" sz="1350" spc="-1" strike="noStrike">
                <a:solidFill>
                  <a:srgbClr val="52606d"/>
                </a:solidFill>
                <a:latin typeface="Vazirmatn"/>
                <a:ea typeface="Vazirmatn"/>
              </a:rPr>
              <a:t>FFN</a:t>
            </a:r>
            <a:r>
              <a:rPr b="0" lang="en-US" sz="1350" spc="-1" strike="noStrike">
                <a:solidFill>
                  <a:srgbClr val="52606d"/>
                </a:solidFill>
                <a:latin typeface="Vazirmatn"/>
                <a:ea typeface="Vazirmatn"/>
              </a:rPr>
              <a:t> مستقل دارد؛ هر دو از ورودی‌های پیش از به‌روزرسانی استفاده می‌کنند</a:t>
            </a:r>
            <a:endParaRPr b="0" lang="en-US" sz="1350" spc="-1" strike="noStrike">
              <a:solidFill>
                <a:srgbClr val="000000"/>
              </a:solidFill>
              <a:latin typeface="Arial"/>
            </a:endParaRPr>
          </a:p>
        </p:txBody>
      </p:sp>
      <p:sp>
        <p:nvSpPr>
          <p:cNvPr id="172" name="settings"/>
          <p:cNvSpPr/>
          <p:nvPr/>
        </p:nvSpPr>
        <p:spPr>
          <a:xfrm>
            <a:off x="2381400" y="6267600"/>
            <a:ext cx="9122400" cy="428040"/>
          </a:xfrm>
          <a:prstGeom prst="rect">
            <a:avLst/>
          </a:prstGeom>
          <a:noFill/>
          <a:ln w="0">
            <a:noFill/>
          </a:ln>
        </p:spPr>
        <p:style>
          <a:lnRef idx="0"/>
          <a:fillRef idx="0"/>
          <a:effectRef idx="0"/>
          <a:fontRef idx="minor"/>
        </p:style>
        <p:txBody>
          <a:bodyPr lIns="0" rIns="0" tIns="0" bIns="0" anchor="t">
            <a:noAutofit/>
          </a:bodyPr>
          <a:p>
            <a:pPr algn="r" rtl="1">
              <a:lnSpc>
                <a:spcPct val="105000"/>
              </a:lnSpc>
            </a:pPr>
            <a:r>
              <a:rPr b="0" lang="en-US" sz="1280" spc="-1" strike="noStrike">
                <a:solidFill>
                  <a:srgbClr val="52606d"/>
                </a:solidFill>
                <a:latin typeface="Vazirmatn"/>
                <a:ea typeface="Vazirmatn"/>
              </a:rPr>
              <a:t>LN</a:t>
            </a:r>
            <a:r>
              <a:rPr b="0" lang="en-US" sz="1280" spc="-1" strike="noStrike">
                <a:solidFill>
                  <a:srgbClr val="52606d"/>
                </a:solidFill>
                <a:latin typeface="Vazirmatn"/>
                <a:ea typeface="Vazirmatn"/>
              </a:rPr>
              <a:t>: نرمال‌سازی لایه‌ای    </a:t>
            </a:r>
            <a:r>
              <a:rPr b="0" lang="en-US" sz="1280" spc="-1" strike="noStrike">
                <a:solidFill>
                  <a:srgbClr val="52606d"/>
                </a:solidFill>
                <a:latin typeface="Vazirmatn"/>
                <a:ea typeface="Vazirmatn"/>
              </a:rPr>
              <a:t>FFN</a:t>
            </a:r>
            <a:r>
              <a:rPr b="0" lang="en-US" sz="1280" spc="-1" strike="noStrike">
                <a:solidFill>
                  <a:srgbClr val="52606d"/>
                </a:solidFill>
                <a:latin typeface="Vazirmatn"/>
                <a:ea typeface="Vazirmatn"/>
              </a:rPr>
              <a:t>: شبکه پیش‌خور با عرض میانیِ دو برابر ورودی</a:t>
            </a:r>
            <a:endParaRPr b="0" lang="en-US" sz="1280" spc="-1" strike="noStrike">
              <a:solidFill>
                <a:srgbClr val="000000"/>
              </a:solidFill>
              <a:latin typeface="Arial"/>
            </a:endParaRPr>
          </a:p>
          <a:p>
            <a:pPr algn="r" rtl="1">
              <a:lnSpc>
                <a:spcPct val="105000"/>
              </a:lnSpc>
            </a:pPr>
            <a:r>
              <a:rPr b="0" lang="fa-IR" sz="1280" spc="-1" strike="noStrike">
                <a:solidFill>
                  <a:srgbClr val="52606d"/>
                </a:solidFill>
                <a:latin typeface="Vazirmatn"/>
                <a:cs typeface="Vazirmatn"/>
              </a:rPr>
              <a:t>توجه: </a:t>
            </a:r>
            <a:r>
              <a:rPr b="0" lang="fa-IR" sz="1280" spc="-1" strike="noStrike">
                <a:solidFill>
                  <a:srgbClr val="52606d"/>
                </a:solidFill>
                <a:latin typeface="Vazirmatn"/>
                <a:cs typeface="Vazirmatn"/>
              </a:rPr>
              <a:t>۴</a:t>
            </a:r>
            <a:r>
              <a:rPr b="0" lang="en-US" sz="1280" spc="-1" strike="noStrike">
                <a:solidFill>
                  <a:srgbClr val="52606d"/>
                </a:solidFill>
                <a:latin typeface="Vazirmatn"/>
                <a:ea typeface="Vazirmatn"/>
              </a:rPr>
              <a:t> سر در هر جهت    دروازه: شروع از </a:t>
            </a:r>
            <a:r>
              <a:rPr b="0" lang="fa-IR" sz="1280" spc="-1" strike="noStrike">
                <a:solidFill>
                  <a:srgbClr val="52606d"/>
                </a:solidFill>
                <a:latin typeface="Vazirmatn"/>
                <a:cs typeface="Vazirmatn"/>
              </a:rPr>
              <a:t>۰٫۵</a:t>
            </a:r>
            <a:r>
              <a:rPr b="0" lang="en-US" sz="1280" spc="-1" strike="noStrike">
                <a:solidFill>
                  <a:srgbClr val="52606d"/>
                </a:solidFill>
                <a:latin typeface="Vazirmatn"/>
                <a:ea typeface="Vazirmatn"/>
              </a:rPr>
              <a:t> و تغییر وزن‌ها در آموزش</a:t>
            </a:r>
            <a:endParaRPr b="0" lang="en-US" sz="1280" spc="-1" strike="noStrike">
              <a:solidFill>
                <a:srgbClr val="000000"/>
              </a:solidFill>
              <a:latin typeface="Arial"/>
            </a:endParaRPr>
          </a:p>
        </p:txBody>
      </p:sp>
      <p:sp>
        <p:nvSpPr>
          <p:cNvPr id="173" name="folio"/>
          <p:cNvSpPr/>
          <p:nvPr/>
        </p:nvSpPr>
        <p:spPr>
          <a:xfrm>
            <a:off x="685800" y="6486480"/>
            <a:ext cx="950040" cy="23544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۱۳</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74" name="بهسازی و همجوشی"/>
          <p:cNvSpPr/>
          <p:nvPr/>
        </p:nvSpPr>
        <p:spPr>
          <a:xfrm>
            <a:off x="4191120" y="285840"/>
            <a:ext cx="7313040" cy="302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بهسازی و همجوشی</a:t>
            </a:r>
            <a:endParaRPr b="0" lang="en-US" sz="1350" spc="-1" strike="noStrike">
              <a:solidFill>
                <a:srgbClr val="000000"/>
              </a:solidFill>
              <a:latin typeface="Arial"/>
            </a:endParaRPr>
          </a:p>
        </p:txBody>
      </p:sp>
      <p:sp>
        <p:nvSpPr>
          <p:cNvPr id="175" name="آموزش سه‌مرحله‌ای همجوشی"/>
          <p:cNvSpPr/>
          <p:nvPr/>
        </p:nvSpPr>
        <p:spPr>
          <a:xfrm>
            <a:off x="685800" y="714240"/>
            <a:ext cx="10818360" cy="835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آموزش سه‌مرحله‌ای همجوشی</a:t>
            </a:r>
            <a:endParaRPr b="0" lang="en-US" sz="3150" spc="-1" strike="noStrike">
              <a:solidFill>
                <a:srgbClr val="000000"/>
              </a:solidFill>
              <a:latin typeface="Arial"/>
            </a:endParaRPr>
          </a:p>
        </p:txBody>
      </p:sp>
      <p:sp>
        <p:nvSpPr>
          <p:cNvPr id="176"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Arial"/>
              <a:ea typeface="Vazirmatn"/>
            </a:endParaRPr>
          </a:p>
        </p:txBody>
      </p:sp>
      <p:sp>
        <p:nvSpPr>
          <p:cNvPr id="177" name="۱۳ از ۲۴"/>
          <p:cNvSpPr/>
          <p:nvPr/>
        </p:nvSpPr>
        <p:spPr>
          <a:xfrm>
            <a:off x="685800" y="6486480"/>
            <a:ext cx="950400" cy="23580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۱۴</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178" name="گرم‌کردن بهساز (Enhancer Warm-up)، آموزش همجوشی (Fusion Training) و ریزتنظیم مشترک (Joint Fine-tuning)"/>
          <p:cNvSpPr/>
          <p:nvPr/>
        </p:nvSpPr>
        <p:spPr>
          <a:xfrm>
            <a:off x="685800" y="1562040"/>
            <a:ext cx="10818360" cy="2836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گرم‌کردن بهساز (</a:t>
            </a:r>
            <a:r>
              <a:rPr b="0" lang="en-US" sz="1430" spc="-1" strike="noStrike">
                <a:solidFill>
                  <a:srgbClr val="52606d"/>
                </a:solidFill>
                <a:latin typeface="Vazirmatn"/>
                <a:ea typeface="Vazirmatn"/>
              </a:rPr>
              <a:t>Enhancer Warm-up</a:t>
            </a:r>
            <a:r>
              <a:rPr b="0" lang="en-US" sz="1430" spc="-1" strike="noStrike">
                <a:solidFill>
                  <a:srgbClr val="52606d"/>
                </a:solidFill>
                <a:latin typeface="Vazirmatn"/>
                <a:ea typeface="Vazirmatn"/>
              </a:rPr>
              <a:t>)، آموزش همجوشی (</a:t>
            </a:r>
            <a:r>
              <a:rPr b="0" lang="en-US" sz="1430" spc="-1" strike="noStrike">
                <a:solidFill>
                  <a:srgbClr val="52606d"/>
                </a:solidFill>
                <a:latin typeface="Vazirmatn"/>
                <a:ea typeface="Vazirmatn"/>
              </a:rPr>
              <a:t>Fusion Training</a:t>
            </a:r>
            <a:r>
              <a:rPr b="0" lang="en-US" sz="1430" spc="-1" strike="noStrike">
                <a:solidFill>
                  <a:srgbClr val="52606d"/>
                </a:solidFill>
                <a:latin typeface="Vazirmatn"/>
                <a:ea typeface="Vazirmatn"/>
              </a:rPr>
              <a:t>) و ریزتنظیم مشترک (</a:t>
            </a:r>
            <a:r>
              <a:rPr b="0" lang="en-US" sz="1430" spc="-1" strike="noStrike">
                <a:solidFill>
                  <a:srgbClr val="52606d"/>
                </a:solidFill>
                <a:latin typeface="Vazirmatn"/>
                <a:ea typeface="Vazirmatn"/>
              </a:rPr>
              <a:t>Joint Fine-tuning</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pic>
        <p:nvPicPr>
          <p:cNvPr id="179" name="" descr=""/>
          <p:cNvPicPr/>
          <p:nvPr/>
        </p:nvPicPr>
        <p:blipFill>
          <a:blip r:embed="rId1"/>
          <a:stretch/>
        </p:blipFill>
        <p:spPr>
          <a:xfrm>
            <a:off x="685800" y="2096280"/>
            <a:ext cx="10818360" cy="1644480"/>
          </a:xfrm>
          <a:prstGeom prst="rect">
            <a:avLst/>
          </a:prstGeom>
          <a:ln w="0">
            <a:noFill/>
          </a:ln>
        </p:spPr>
      </p:pic>
      <p:sp>
        <p:nvSpPr>
          <p:cNvPr id="180" name="مرحله سوم: آموزش همه اجزا، شامل ویسپر"/>
          <p:cNvSpPr/>
          <p:nvPr/>
        </p:nvSpPr>
        <p:spPr>
          <a:xfrm>
            <a:off x="685800" y="3924360"/>
            <a:ext cx="10818360" cy="455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d6f8a"/>
                </a:solidFill>
                <a:latin typeface="Vazirmatn"/>
                <a:cs typeface="Vazirmatn"/>
              </a:rPr>
              <a:t>مرحله سوم: آموزش همه اجزا، شامل ویسپر</a:t>
            </a:r>
            <a:endParaRPr b="0" lang="en-US" sz="2170" spc="-1" strike="noStrike">
              <a:solidFill>
                <a:srgbClr val="000000"/>
              </a:solidFill>
              <a:latin typeface="Arial"/>
            </a:endParaRPr>
          </a:p>
        </p:txBody>
      </p:sp>
      <p:sp>
        <p:nvSpPr>
          <p:cNvPr id="181" name="هر مرحله: ۱ دوره کامل (Epoch)"/>
          <p:cNvSpPr/>
          <p:nvPr/>
        </p:nvSpPr>
        <p:spPr>
          <a:xfrm>
            <a:off x="6762600" y="4514760"/>
            <a:ext cx="4741200" cy="378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53d42"/>
                </a:solidFill>
                <a:latin typeface="Vazirmatn"/>
                <a:cs typeface="Vazirmatn"/>
              </a:rPr>
              <a:t>هر مرحله: </a:t>
            </a:r>
            <a:r>
              <a:rPr b="1" lang="fa-IR" sz="2020" spc="-1" strike="noStrike">
                <a:solidFill>
                  <a:srgbClr val="153d42"/>
                </a:solidFill>
                <a:latin typeface="Vazirmatn"/>
                <a:cs typeface="Vazirmatn"/>
              </a:rPr>
              <a:t>۱</a:t>
            </a:r>
            <a:r>
              <a:rPr b="1" lang="en-US" sz="2020" spc="-1" strike="noStrike">
                <a:solidFill>
                  <a:srgbClr val="153d42"/>
                </a:solidFill>
                <a:latin typeface="Vazirmatn"/>
                <a:ea typeface="Vazirmatn"/>
              </a:rPr>
              <a:t> دوره کامل (</a:t>
            </a:r>
            <a:r>
              <a:rPr b="1" lang="en-US" sz="2020" spc="-1" strike="noStrike">
                <a:solidFill>
                  <a:srgbClr val="153d42"/>
                </a:solidFill>
                <a:latin typeface="Vazirmatn"/>
                <a:ea typeface="Vazirmatn"/>
              </a:rPr>
              <a:t>Epoch</a:t>
            </a:r>
            <a:r>
              <a:rPr b="1" lang="en-US" sz="2020" spc="-1" strike="noStrike">
                <a:solidFill>
                  <a:srgbClr val="153d42"/>
                </a:solidFill>
                <a:latin typeface="Vazirmatn"/>
                <a:ea typeface="Vazirmatn"/>
              </a:rPr>
              <a:t>)</a:t>
            </a:r>
            <a:endParaRPr b="0" lang="en-US" sz="2020" spc="-1" strike="noStrike">
              <a:solidFill>
                <a:srgbClr val="000000"/>
              </a:solidFill>
              <a:latin typeface="Arial"/>
            </a:endParaRPr>
          </a:p>
        </p:txBody>
      </p:sp>
      <p:sp>
        <p:nvSpPr>
          <p:cNvPr id="182" name="نرخ یادگیری مرحله نهایی (بی‌واحد)"/>
          <p:cNvSpPr/>
          <p:nvPr/>
        </p:nvSpPr>
        <p:spPr>
          <a:xfrm>
            <a:off x="6762600" y="4991040"/>
            <a:ext cx="4741200" cy="340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نرخ یادگیری مرحله نهایی (بی‌واحد)</a:t>
            </a:r>
            <a:endParaRPr b="0" lang="en-US" sz="1800" spc="-1" strike="noStrike">
              <a:solidFill>
                <a:srgbClr val="000000"/>
              </a:solidFill>
              <a:latin typeface="Arial"/>
            </a:endParaRPr>
          </a:p>
        </p:txBody>
      </p:sp>
      <p:sp>
        <p:nvSpPr>
          <p:cNvPr id="183" name="ماژول‌های جدید: ۰٫۰۰۰۱؛ ویسپر: ۰٫۰۰۰۰۰۵"/>
          <p:cNvSpPr/>
          <p:nvPr/>
        </p:nvSpPr>
        <p:spPr>
          <a:xfrm>
            <a:off x="6762600" y="5410080"/>
            <a:ext cx="4741200" cy="359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729" spc="-1" strike="noStrike">
                <a:solidFill>
                  <a:srgbClr val="1f2933"/>
                </a:solidFill>
                <a:latin typeface="Vazirmatn"/>
                <a:cs typeface="Vazirmatn"/>
              </a:rPr>
              <a:t>ماژول‌های جدید: </a:t>
            </a:r>
            <a:r>
              <a:rPr b="0" lang="fa-IR" sz="1729" spc="-1" strike="noStrike">
                <a:solidFill>
                  <a:srgbClr val="1f2933"/>
                </a:solidFill>
                <a:latin typeface="Vazirmatn"/>
                <a:cs typeface="Vazirmatn"/>
              </a:rPr>
              <a:t>۰٫۰۰۰۱</a:t>
            </a:r>
            <a:r>
              <a:rPr b="0" lang="fa-IR" sz="1729" spc="-1" strike="noStrike">
                <a:solidFill>
                  <a:srgbClr val="1f2933"/>
                </a:solidFill>
                <a:latin typeface="Vazirmatn"/>
                <a:cs typeface="Vazirmatn"/>
              </a:rPr>
              <a:t>؛ ویسپر: </a:t>
            </a:r>
            <a:r>
              <a:rPr b="0" lang="fa-IR" sz="1729" spc="-1" strike="noStrike">
                <a:solidFill>
                  <a:srgbClr val="1f2933"/>
                </a:solidFill>
                <a:latin typeface="Vazirmatn"/>
                <a:cs typeface="Vazirmatn"/>
              </a:rPr>
              <a:t>۰٫۰۰۰۰۰۵</a:t>
            </a:r>
            <a:endParaRPr b="0" lang="en-US" sz="1729" spc="-1" strike="noStrike">
              <a:solidFill>
                <a:srgbClr val="000000"/>
              </a:solidFill>
              <a:latin typeface="Arial"/>
            </a:endParaRPr>
          </a:p>
        </p:txBody>
      </p:sp>
      <p:sp>
        <p:nvSpPr>
          <p:cNvPr id="184" name="داده مرحله نهایی"/>
          <p:cNvSpPr/>
          <p:nvPr/>
        </p:nvSpPr>
        <p:spPr>
          <a:xfrm>
            <a:off x="685800" y="4514760"/>
            <a:ext cx="5217480" cy="378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53d42"/>
                </a:solidFill>
                <a:latin typeface="Vazirmatn"/>
                <a:cs typeface="Vazirmatn"/>
              </a:rPr>
              <a:t>داده مرحله نهایی</a:t>
            </a:r>
            <a:endParaRPr b="0" lang="en-US" sz="2020" spc="-1" strike="noStrike">
              <a:solidFill>
                <a:srgbClr val="000000"/>
              </a:solidFill>
              <a:latin typeface="Arial"/>
            </a:endParaRPr>
          </a:p>
        </p:txBody>
      </p:sp>
      <p:sp>
        <p:nvSpPr>
          <p:cNvPr id="185" name="نمونه‌های تخریب‌شده و بلند&#10;زیرمجموعه تصادفی ۲۵٪ از نمونه‌های گفتار پاک"/>
          <p:cNvSpPr/>
          <p:nvPr/>
        </p:nvSpPr>
        <p:spPr>
          <a:xfrm>
            <a:off x="685800" y="5000760"/>
            <a:ext cx="5217480" cy="740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70" spc="-1" strike="noStrike">
                <a:solidFill>
                  <a:srgbClr val="1f2933"/>
                </a:solidFill>
                <a:latin typeface="Vazirmatn"/>
                <a:cs typeface="Vazirmatn"/>
              </a:rPr>
              <a:t>نمونه‌های تخریب‌شده و بلند</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زیرمجموعه تصادفی </a:t>
            </a:r>
            <a:r>
              <a:rPr b="0" lang="fa-IR" sz="1870" spc="-1" strike="noStrike">
                <a:solidFill>
                  <a:srgbClr val="1f2933"/>
                </a:solidFill>
                <a:latin typeface="Vazirmatn"/>
                <a:cs typeface="Vazirmatn"/>
              </a:rPr>
              <a:t>۲۵</a:t>
            </a:r>
            <a:r>
              <a:rPr b="0" lang="fa-IR" sz="1870" spc="-1" strike="noStrike">
                <a:solidFill>
                  <a:srgbClr val="1f2933"/>
                </a:solidFill>
                <a:latin typeface="Vazirmatn"/>
                <a:cs typeface="Vazirmatn"/>
              </a:rPr>
              <a:t>٪ از نمونه‌های گفتار پاک</a:t>
            </a:r>
            <a:endParaRPr b="0" lang="en-US" sz="1870" spc="-1" strike="noStrike">
              <a:solidFill>
                <a:srgbClr val="000000"/>
              </a:solidFill>
              <a:latin typeface="Arial"/>
            </a:endParaRPr>
          </a:p>
        </p:txBody>
      </p:sp>
      <p:sp>
        <p:nvSpPr>
          <p:cNvPr id="186" name="ضرایب زیان بی‌واحدند. این آزمایش هم معماری و هم برنامه آموزش بازشناس را تغییر می‌دهد"/>
          <p:cNvSpPr/>
          <p:nvPr/>
        </p:nvSpPr>
        <p:spPr>
          <a:xfrm>
            <a:off x="685800" y="6019920"/>
            <a:ext cx="1081836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ضرایب زیان بی‌واحدند. این آزمایش هم معماری و هم برنامه آموزش بازشناس را تغییر می‌دهد</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87" name="روش مقایسه‌ا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روش مقایسه‌ای</a:t>
            </a:r>
            <a:endParaRPr b="0" lang="en-US" sz="1350" spc="-1" strike="noStrike">
              <a:solidFill>
                <a:srgbClr val="000000"/>
              </a:solidFill>
              <a:latin typeface="Arial"/>
            </a:endParaRPr>
          </a:p>
        </p:txBody>
      </p:sp>
      <p:sp>
        <p:nvSpPr>
          <p:cNvPr id="188" name="پل تطبیقی پیش از بازشناس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پل تطبیقی پیش از بازشناسی</a:t>
            </a:r>
            <a:endParaRPr b="0" lang="en-US" sz="3150" spc="-1" strike="noStrike">
              <a:solidFill>
                <a:srgbClr val="000000"/>
              </a:solidFill>
              <a:latin typeface="Arial"/>
            </a:endParaRPr>
          </a:p>
        </p:txBody>
      </p:sp>
      <p:sp>
        <p:nvSpPr>
          <p:cNvPr id="189"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190" name="۱۳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۱۵</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pic>
        <p:nvPicPr>
          <p:cNvPr id="191" name="" descr=""/>
          <p:cNvPicPr/>
          <p:nvPr/>
        </p:nvPicPr>
        <p:blipFill>
          <a:blip r:embed="rId1"/>
          <a:stretch/>
        </p:blipFill>
        <p:spPr>
          <a:xfrm>
            <a:off x="685800" y="2117520"/>
            <a:ext cx="7481520" cy="3446640"/>
          </a:xfrm>
          <a:prstGeom prst="rect">
            <a:avLst/>
          </a:prstGeom>
          <a:ln w="0">
            <a:noFill/>
          </a:ln>
        </p:spPr>
      </p:pic>
      <p:sp>
        <p:nvSpPr>
          <p:cNvPr id="192" name="پیاده‌سازی این پایان‌نامه"/>
          <p:cNvSpPr/>
          <p:nvPr/>
        </p:nvSpPr>
        <p:spPr>
          <a:xfrm>
            <a:off x="8648640" y="1981080"/>
            <a:ext cx="2852640" cy="614160"/>
          </a:xfrm>
          <a:prstGeom prst="rect">
            <a:avLst/>
          </a:prstGeom>
          <a:noFill/>
          <a:ln w="0">
            <a:noFill/>
          </a:ln>
        </p:spPr>
        <p:style>
          <a:lnRef idx="0"/>
          <a:fillRef idx="0"/>
          <a:effectRef idx="0"/>
          <a:fontRef idx="minor"/>
        </p:style>
        <p:txBody>
          <a:bodyPr lIns="0" rIns="0" tIns="0" bIns="0" anchor="ctr">
            <a:noAutofit/>
          </a:bodyPr>
          <a:p>
            <a:pPr algn="r" rtl="1">
              <a:lnSpc>
                <a:spcPct val="100000"/>
              </a:lnSpc>
            </a:pPr>
            <a:endParaRPr b="0" lang="en-US" sz="1800" spc="-1" strike="noStrike">
              <a:solidFill>
                <a:srgbClr val="000000"/>
              </a:solidFill>
              <a:latin typeface="Arial"/>
              <a:ea typeface="Vazirmatn"/>
            </a:endParaRPr>
          </a:p>
        </p:txBody>
      </p:sp>
      <p:sp>
        <p:nvSpPr>
          <p:cNvPr id="193" name="بهساز FRCRN ثابت&#10;بازشناس ویسپر ثابت&#10;آموزش فقط ماژول پل"/>
          <p:cNvSpPr/>
          <p:nvPr/>
        </p:nvSpPr>
        <p:spPr>
          <a:xfrm>
            <a:off x="8648640" y="2828880"/>
            <a:ext cx="2852640" cy="1661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70" spc="-1" strike="noStrike">
                <a:solidFill>
                  <a:srgbClr val="1f2933"/>
                </a:solidFill>
                <a:latin typeface="Vazirmatn"/>
                <a:cs typeface="Vazirmatn"/>
              </a:rPr>
              <a:t>بهساز </a:t>
            </a:r>
            <a:r>
              <a:rPr b="0" lang="en-US" sz="1870" spc="-1" strike="noStrike">
                <a:solidFill>
                  <a:srgbClr val="1f2933"/>
                </a:solidFill>
                <a:latin typeface="Vazirmatn"/>
                <a:ea typeface="Vazirmatn"/>
              </a:rPr>
              <a:t>FRCRN</a:t>
            </a:r>
            <a:r>
              <a:rPr b="0" lang="en-US" sz="1870" spc="-1" strike="noStrike">
                <a:solidFill>
                  <a:srgbClr val="1f2933"/>
                </a:solidFill>
                <a:latin typeface="Vazirmatn"/>
                <a:ea typeface="Vazirmatn"/>
              </a:rPr>
              <a:t> ثابت</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بازشناس ویسپر ثابت</a:t>
            </a:r>
            <a:endParaRPr b="0" lang="en-US" sz="187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آموزش فقط ماژول پل</a:t>
            </a:r>
            <a:endParaRPr b="0" lang="en-US" sz="1870" spc="-1" strike="noStrike">
              <a:solidFill>
                <a:srgbClr val="000000"/>
              </a:solidFill>
              <a:latin typeface="Arial"/>
            </a:endParaRPr>
          </a:p>
        </p:txBody>
      </p:sp>
      <p:sp>
        <p:nvSpPr>
          <p:cNvPr id="194" name="یک ضریب ترکیب&#10;برای هر گفتار"/>
          <p:cNvSpPr/>
          <p:nvPr/>
        </p:nvSpPr>
        <p:spPr>
          <a:xfrm>
            <a:off x="8648640" y="4695840"/>
            <a:ext cx="2852640" cy="947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d6f8a"/>
                </a:solidFill>
                <a:latin typeface="Vazirmatn"/>
                <a:cs typeface="Vazirmatn"/>
              </a:rPr>
              <a:t>یک ضریب ترکیب</a:t>
            </a:r>
            <a:endParaRPr b="0" lang="en-US" sz="2020" spc="-1" strike="noStrike">
              <a:solidFill>
                <a:srgbClr val="000000"/>
              </a:solidFill>
              <a:latin typeface="Arial"/>
            </a:endParaRPr>
          </a:p>
          <a:p>
            <a:pPr algn="r" rtl="1">
              <a:lnSpc>
                <a:spcPct val="100000"/>
              </a:lnSpc>
            </a:pPr>
            <a:r>
              <a:rPr b="1" lang="fa-IR" sz="2020" spc="-1" strike="noStrike">
                <a:solidFill>
                  <a:srgbClr val="1d6f8a"/>
                </a:solidFill>
                <a:latin typeface="Vazirmatn"/>
                <a:cs typeface="Vazirmatn"/>
              </a:rPr>
              <a:t>برای هر گفتار</a:t>
            </a:r>
            <a:endParaRPr b="0" lang="en-US" sz="2020" spc="-1" strike="noStrike">
              <a:solidFill>
                <a:srgbClr val="000000"/>
              </a:solidFill>
              <a:latin typeface="Arial"/>
            </a:endParaRPr>
          </a:p>
        </p:txBody>
      </p:sp>
      <p:sp>
        <p:nvSpPr>
          <p:cNvPr id="195" name="Cui et al., ICASSP 2025, Fig. 1 (CC BY 4.0)"/>
          <p:cNvSpPr/>
          <p:nvPr/>
        </p:nvSpPr>
        <p:spPr>
          <a:xfrm>
            <a:off x="685800" y="5638680"/>
            <a:ext cx="7481520" cy="271080"/>
          </a:xfrm>
          <a:prstGeom prst="rect">
            <a:avLst/>
          </a:prstGeom>
          <a:noFill/>
          <a:ln w="0">
            <a:noFill/>
          </a:ln>
        </p:spPr>
        <p:style>
          <a:lnRef idx="0"/>
          <a:fillRef idx="0"/>
          <a:effectRef idx="0"/>
          <a:fontRef idx="minor"/>
        </p:style>
        <p:txBody>
          <a:bodyPr lIns="0" rIns="0" tIns="0" bIns="0" anchor="ctr">
            <a:noAutofit/>
          </a:bodyPr>
          <a:p>
            <a:pPr>
              <a:lnSpc>
                <a:spcPct val="100000"/>
              </a:lnSpc>
            </a:pPr>
            <a:r>
              <a:rPr b="0" lang="en-US" sz="1350" spc="-1" strike="noStrike">
                <a:solidFill>
                  <a:srgbClr val="52606d"/>
                </a:solidFill>
                <a:latin typeface="Vazirmatn"/>
                <a:ea typeface="Vazirmatn"/>
              </a:rPr>
              <a:t>Cui et al., ICASSP 2025, Fig. 1 (CC BY 4.0)</a:t>
            </a:r>
            <a:endParaRPr b="0" lang="en-US" sz="1350" spc="-1" strike="noStrike">
              <a:solidFill>
                <a:srgbClr val="000000"/>
              </a:solidFill>
              <a:latin typeface="Arial"/>
            </a:endParaRPr>
          </a:p>
        </p:txBody>
      </p:sp>
      <p:sp>
        <p:nvSpPr>
          <p:cNvPr id="196" name="اجرای مستقل فارسی است. تفاوت بهساز و برنامه آموزش، انتساب اثر به محل ادغام را محدود می‌کند"/>
          <p:cNvSpPr/>
          <p:nvPr/>
        </p:nvSpPr>
        <p:spPr>
          <a:xfrm>
            <a:off x="685800" y="6048360"/>
            <a:ext cx="10815480" cy="271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تفاوت بهساز و برنامه آموزش، انتساب اثر به محل ادغام را محدود می‌کند</a:t>
            </a:r>
            <a:endParaRPr b="0" lang="en-US" sz="1500" spc="-1" strike="noStrike">
              <a:solidFill>
                <a:srgbClr val="000000"/>
              </a:solidFill>
              <a:latin typeface="Arial"/>
            </a:endParaRPr>
          </a:p>
        </p:txBody>
      </p:sp>
      <p:sp>
        <p:nvSpPr>
          <p:cNvPr id="197"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پل تطبیقی (</a:t>
            </a:r>
            <a:r>
              <a:rPr b="0" lang="en-US" sz="1430" spc="-1" strike="noStrike">
                <a:solidFill>
                  <a:srgbClr val="52606d"/>
                </a:solidFill>
                <a:latin typeface="Vazirmatn"/>
                <a:ea typeface="Vazirmatn"/>
              </a:rPr>
              <a:t>Adaptive Bridge</a:t>
            </a:r>
            <a:r>
              <a:rPr b="0" lang="en-US" sz="1430" spc="-1" strike="noStrike">
                <a:solidFill>
                  <a:srgbClr val="52606d"/>
                </a:solidFill>
                <a:latin typeface="Vazirmatn"/>
                <a:ea typeface="Vazirmatn"/>
              </a:rPr>
              <a:t>): ترکیب آموخته‌شده صوت اصلی و بهسازی‌شده</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198" name="نتایج بهسازی و همجوش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نتایج بهسازی و همجوشی</a:t>
            </a:r>
            <a:endParaRPr b="0" lang="en-US" sz="1350" spc="-1" strike="noStrike">
              <a:solidFill>
                <a:srgbClr val="000000"/>
              </a:solidFill>
              <a:latin typeface="Arial"/>
            </a:endParaRPr>
          </a:p>
        </p:txBody>
      </p:sp>
      <p:sp>
        <p:nvSpPr>
          <p:cNvPr id="199" name="سود افزوده همجوشی و پل تطبیقی"/>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سود افزوده همجوشی و پل تطبیقی</a:t>
            </a:r>
            <a:endParaRPr b="0" lang="en-US" sz="3150" spc="-1" strike="noStrike">
              <a:solidFill>
                <a:srgbClr val="000000"/>
              </a:solidFill>
              <a:latin typeface="Arial"/>
            </a:endParaRPr>
          </a:p>
        </p:txBody>
      </p:sp>
      <p:sp>
        <p:nvSpPr>
          <p:cNvPr id="200"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01" name="۱۴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۱۶</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02" name="نرخ خطای واژه تجمیعی"/>
          <p:cNvSpPr/>
          <p:nvPr/>
        </p:nvSpPr>
        <p:spPr>
          <a:xfrm>
            <a:off x="685800" y="1685880"/>
            <a:ext cx="5043240" cy="566640"/>
          </a:xfrm>
          <a:prstGeom prst="rect">
            <a:avLst/>
          </a:prstGeom>
          <a:noFill/>
          <a:ln w="0">
            <a:noFill/>
          </a:ln>
        </p:spPr>
        <p:style>
          <a:lnRef idx="0"/>
          <a:fillRef idx="0"/>
          <a:effectRef idx="0"/>
          <a:fontRef idx="minor"/>
        </p:style>
        <p:txBody>
          <a:bodyPr lIns="0" rIns="0" tIns="0" bIns="0" anchor="ctr">
            <a:noAutofit/>
          </a:bodyPr>
          <a:p>
            <a:pPr algn="ctr" rtl="1">
              <a:lnSpc>
                <a:spcPct val="100000"/>
              </a:lnSpc>
            </a:pPr>
            <a:r>
              <a:rPr b="1" lang="fa-IR" sz="2020" spc="-1" strike="noStrike">
                <a:solidFill>
                  <a:srgbClr val="153d42"/>
                </a:solidFill>
                <a:latin typeface="Vazirmatn"/>
                <a:cs typeface="Vazirmatn"/>
              </a:rPr>
              <a:t>نرخ خطای واژه تجمیعی (٪)</a:t>
            </a:r>
            <a:endParaRPr b="0" lang="en-US" sz="2020" spc="-1" strike="noStrike">
              <a:solidFill>
                <a:srgbClr val="000000"/>
              </a:solidFill>
              <a:latin typeface="Arial"/>
            </a:endParaRPr>
          </a:p>
        </p:txBody>
      </p:sp>
      <p:sp>
        <p:nvSpPr>
          <p:cNvPr id="203" name="نرخ خطای واژه تماس واقعی"/>
          <p:cNvSpPr/>
          <p:nvPr/>
        </p:nvSpPr>
        <p:spPr>
          <a:xfrm>
            <a:off x="6458040" y="1685880"/>
            <a:ext cx="5043240" cy="566640"/>
          </a:xfrm>
          <a:prstGeom prst="rect">
            <a:avLst/>
          </a:prstGeom>
          <a:noFill/>
          <a:ln w="0">
            <a:noFill/>
          </a:ln>
        </p:spPr>
        <p:style>
          <a:lnRef idx="0"/>
          <a:fillRef idx="0"/>
          <a:effectRef idx="0"/>
          <a:fontRef idx="minor"/>
        </p:style>
        <p:txBody>
          <a:bodyPr lIns="0" rIns="0" tIns="0" bIns="0" anchor="ctr">
            <a:noAutofit/>
          </a:bodyPr>
          <a:p>
            <a:pPr algn="ctr" rtl="1">
              <a:lnSpc>
                <a:spcPct val="100000"/>
              </a:lnSpc>
            </a:pPr>
            <a:r>
              <a:rPr b="1" lang="fa-IR" sz="2020" spc="-1" strike="noStrike">
                <a:solidFill>
                  <a:srgbClr val="153d42"/>
                </a:solidFill>
                <a:latin typeface="Vazirmatn"/>
                <a:cs typeface="Vazirmatn"/>
              </a:rPr>
              <a:t>نرخ خطای واژه تماس واقعی (٪)</a:t>
            </a:r>
            <a:endParaRPr b="0" lang="en-US" sz="2020" spc="-1" strike="noStrike">
              <a:solidFill>
                <a:srgbClr val="000000"/>
              </a:solidFill>
              <a:latin typeface="Arial"/>
            </a:endParaRPr>
          </a:p>
        </p:txBody>
      </p:sp>
      <p:graphicFrame>
        <p:nvGraphicFramePr>
          <p:cNvPr id="204" name="Chart"/>
          <p:cNvGraphicFramePr/>
          <p:nvPr/>
        </p:nvGraphicFramePr>
        <p:xfrm>
          <a:off x="685800" y="2324160"/>
          <a:ext cx="5043240" cy="2947680"/>
        </p:xfrm>
        <a:graphic>
          <a:graphicData uri="http://schemas.openxmlformats.org/drawingml/2006/chart">
            <c:chart xmlns:c="http://schemas.openxmlformats.org/drawingml/2006/chart" xmlns:r="http://schemas.openxmlformats.org/officeDocument/2006/relationships" r:id="rId1"/>
          </a:graphicData>
        </a:graphic>
      </p:graphicFrame>
      <p:graphicFrame>
        <p:nvGraphicFramePr>
          <p:cNvPr id="205" name="Chart"/>
          <p:cNvGraphicFramePr/>
          <p:nvPr/>
        </p:nvGraphicFramePr>
        <p:xfrm>
          <a:off x="6458040" y="2324160"/>
          <a:ext cx="5043240" cy="2947680"/>
        </p:xfrm>
        <a:graphic>
          <a:graphicData uri="http://schemas.openxmlformats.org/drawingml/2006/chart">
            <c:chart xmlns:c="http://schemas.openxmlformats.org/drawingml/2006/chart" xmlns:r="http://schemas.openxmlformats.org/officeDocument/2006/relationships" r:id="rId2"/>
          </a:graphicData>
        </a:graphic>
      </p:graphicFrame>
      <p:sp>
        <p:nvSpPr>
          <p:cNvPr id="206" name="کاهش WER با همجوشی: ۰٫۱۹ واحد درصد تجمیعی و ۰٫۴۳ واحد درصد در تماس واقعی"/>
          <p:cNvSpPr/>
          <p:nvPr/>
        </p:nvSpPr>
        <p:spPr>
          <a:xfrm>
            <a:off x="685800" y="5477040"/>
            <a:ext cx="10815480" cy="414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کاهش </a:t>
            </a:r>
            <a:r>
              <a:rPr b="1" lang="en-US" sz="1870" spc="-1" strike="noStrike">
                <a:solidFill>
                  <a:srgbClr val="1d6f8a"/>
                </a:solidFill>
                <a:latin typeface="Vazirmatn"/>
                <a:ea typeface="Vazirmatn"/>
              </a:rPr>
              <a:t>WER</a:t>
            </a:r>
            <a:r>
              <a:rPr b="1" lang="en-US" sz="1870" spc="-1" strike="noStrike">
                <a:solidFill>
                  <a:srgbClr val="1d6f8a"/>
                </a:solidFill>
                <a:latin typeface="Vazirmatn"/>
                <a:ea typeface="Vazirmatn"/>
              </a:rPr>
              <a:t> با همجوشی: </a:t>
            </a:r>
            <a:r>
              <a:rPr b="1" lang="fa-IR" sz="1870" spc="-1" strike="noStrike">
                <a:solidFill>
                  <a:srgbClr val="1d6f8a"/>
                </a:solidFill>
                <a:latin typeface="Vazirmatn"/>
                <a:cs typeface="Vazirmatn"/>
              </a:rPr>
              <a:t>۰٫۱۹</a:t>
            </a:r>
            <a:r>
              <a:rPr b="1" lang="en-US" sz="1870" spc="-1" strike="noStrike">
                <a:solidFill>
                  <a:srgbClr val="1d6f8a"/>
                </a:solidFill>
                <a:latin typeface="Vazirmatn"/>
                <a:ea typeface="Vazirmatn"/>
              </a:rPr>
              <a:t> واحد درصد تجمیعی و </a:t>
            </a:r>
            <a:r>
              <a:rPr b="1" lang="fa-IR" sz="1870" spc="-1" strike="noStrike">
                <a:solidFill>
                  <a:srgbClr val="1d6f8a"/>
                </a:solidFill>
                <a:latin typeface="Vazirmatn"/>
                <a:cs typeface="Vazirmatn"/>
              </a:rPr>
              <a:t>۰٫۴۳</a:t>
            </a:r>
            <a:r>
              <a:rPr b="1" lang="en-US" sz="1870" spc="-1" strike="noStrike">
                <a:solidFill>
                  <a:srgbClr val="1d6f8a"/>
                </a:solidFill>
                <a:latin typeface="Vazirmatn"/>
                <a:ea typeface="Vazirmatn"/>
              </a:rPr>
              <a:t> واحد درصد در تماس واقعی</a:t>
            </a:r>
            <a:endParaRPr b="0" lang="en-US" sz="1870" spc="-1" strike="noStrike">
              <a:solidFill>
                <a:srgbClr val="000000"/>
              </a:solidFill>
              <a:latin typeface="Arial"/>
            </a:endParaRPr>
          </a:p>
        </p:txBody>
      </p:sp>
      <p:sp>
        <p:nvSpPr>
          <p:cNvPr id="207" name="CER تجمیعی به همین ترتیب: ۷٫۹۳٪، ۸٫۰۰٪ و ۷٫۸۵٪. اختلاف‌ها فاصله اطمینان ندارند"/>
          <p:cNvSpPr/>
          <p:nvPr/>
        </p:nvSpPr>
        <p:spPr>
          <a:xfrm>
            <a:off x="685800" y="6010200"/>
            <a:ext cx="10815480" cy="280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CER</a:t>
            </a:r>
            <a:r>
              <a:rPr b="0" lang="en-US" sz="1500" spc="-1" strike="noStrike">
                <a:solidFill>
                  <a:srgbClr val="52606d"/>
                </a:solidFill>
                <a:latin typeface="Vazirmatn"/>
                <a:ea typeface="Vazirmatn"/>
              </a:rPr>
              <a:t> تجمیعی به همین ترتیب: </a:t>
            </a:r>
            <a:r>
              <a:rPr b="0" lang="fa-IR" sz="1500" spc="-1" strike="noStrike">
                <a:solidFill>
                  <a:srgbClr val="52606d"/>
                </a:solidFill>
                <a:latin typeface="Vazirmatn"/>
                <a:cs typeface="Vazirmatn"/>
              </a:rPr>
              <a:t>۷٫۹۳</a:t>
            </a:r>
            <a:r>
              <a:rPr b="0" lang="fa-IR" sz="1500" spc="-1" strike="noStrike">
                <a:solidFill>
                  <a:srgbClr val="52606d"/>
                </a:solidFill>
                <a:latin typeface="Vazirmatn"/>
                <a:cs typeface="Vazirmatn"/>
              </a:rPr>
              <a:t>٪، </a:t>
            </a:r>
            <a:r>
              <a:rPr b="0" lang="fa-IR" sz="1500" spc="-1" strike="noStrike">
                <a:solidFill>
                  <a:srgbClr val="52606d"/>
                </a:solidFill>
                <a:latin typeface="Vazirmatn"/>
                <a:cs typeface="Vazirmatn"/>
              </a:rPr>
              <a:t>۸٫۰۰</a:t>
            </a:r>
            <a:r>
              <a:rPr b="0" lang="fa-IR" sz="1500" spc="-1" strike="noStrike">
                <a:solidFill>
                  <a:srgbClr val="52606d"/>
                </a:solidFill>
                <a:latin typeface="Vazirmatn"/>
                <a:cs typeface="Vazirmatn"/>
              </a:rPr>
              <a:t>٪ و </a:t>
            </a:r>
            <a:r>
              <a:rPr b="0" lang="fa-IR" sz="1500" spc="-1" strike="noStrike">
                <a:solidFill>
                  <a:srgbClr val="52606d"/>
                </a:solidFill>
                <a:latin typeface="Vazirmatn"/>
                <a:cs typeface="Vazirmatn"/>
              </a:rPr>
              <a:t>۷٫۸۵</a:t>
            </a:r>
            <a:r>
              <a:rPr b="0" lang="fa-IR" sz="1500" spc="-1" strike="noStrike">
                <a:solidFill>
                  <a:srgbClr val="52606d"/>
                </a:solidFill>
                <a:latin typeface="Vazirmatn"/>
                <a:cs typeface="Vazirmatn"/>
              </a:rPr>
              <a:t>٪. </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08" name="مطالعه مؤلفه‌های همجوش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مطالعه مؤلفه‌های همجوشی</a:t>
            </a:r>
            <a:endParaRPr b="0" lang="en-US" sz="1350" spc="-1" strike="noStrike">
              <a:solidFill>
                <a:srgbClr val="000000"/>
              </a:solidFill>
              <a:latin typeface="Arial"/>
            </a:endParaRPr>
          </a:p>
        </p:txBody>
      </p:sp>
      <p:sp>
        <p:nvSpPr>
          <p:cNvPr id="209" name="آزمایش حذفیِ دو بازنمایی و توجه متقاطع"/>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آزمایش حذفیِ دو بازنمایی و توجه متقاطع</a:t>
            </a:r>
            <a:endParaRPr b="0" lang="en-US" sz="3150" spc="-1" strike="noStrike">
              <a:solidFill>
                <a:srgbClr val="000000"/>
              </a:solidFill>
              <a:latin typeface="Arial"/>
            </a:endParaRPr>
          </a:p>
        </p:txBody>
      </p:sp>
      <p:sp>
        <p:nvSpPr>
          <p:cNvPr id="210"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11" name="۱۵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۱۷</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12" name="آزمایش مستقل&#10;ویسپر بسیار کوچک"/>
          <p:cNvSpPr/>
          <p:nvPr/>
        </p:nvSpPr>
        <p:spPr>
          <a:xfrm>
            <a:off x="685800" y="2028960"/>
            <a:ext cx="2804760" cy="11379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250" spc="-1" strike="noStrike">
                <a:solidFill>
                  <a:srgbClr val="153d42"/>
                </a:solidFill>
                <a:latin typeface="Vazirmatn"/>
                <a:cs typeface="Vazirmatn"/>
              </a:rPr>
              <a:t>آزمایش مستقل</a:t>
            </a:r>
            <a:endParaRPr b="0" lang="en-US" sz="2250" spc="-1" strike="noStrike">
              <a:solidFill>
                <a:srgbClr val="000000"/>
              </a:solidFill>
              <a:latin typeface="Arial"/>
            </a:endParaRPr>
          </a:p>
          <a:p>
            <a:pPr algn="r" rtl="1">
              <a:lnSpc>
                <a:spcPct val="100000"/>
              </a:lnSpc>
            </a:pPr>
            <a:r>
              <a:rPr b="1" lang="fa-IR" sz="2250" spc="-1" strike="noStrike">
                <a:solidFill>
                  <a:srgbClr val="153d42"/>
                </a:solidFill>
                <a:latin typeface="Vazirmatn"/>
                <a:cs typeface="Vazirmatn"/>
              </a:rPr>
              <a:t>ویسپر بسیار کوچک</a:t>
            </a:r>
            <a:endParaRPr b="0" lang="en-US" sz="2250" spc="-1" strike="noStrike">
              <a:solidFill>
                <a:srgbClr val="000000"/>
              </a:solidFill>
              <a:latin typeface="Arial"/>
            </a:endParaRPr>
          </a:p>
        </p:txBody>
      </p:sp>
      <p:sp>
        <p:nvSpPr>
          <p:cNvPr id="213" name="آموزش فقط با کامن‌وویس"/>
          <p:cNvSpPr/>
          <p:nvPr/>
        </p:nvSpPr>
        <p:spPr>
          <a:xfrm>
            <a:off x="685800" y="3295800"/>
            <a:ext cx="280476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80" spc="-1" strike="noStrike">
                <a:solidFill>
                  <a:srgbClr val="52606d"/>
                </a:solidFill>
                <a:latin typeface="Vazirmatn"/>
                <a:cs typeface="Vazirmatn"/>
              </a:rPr>
              <a:t>آموزش فقط با کامن‌وویس</a:t>
            </a:r>
            <a:endParaRPr b="0" lang="en-US" sz="1580" spc="-1" strike="noStrike">
              <a:solidFill>
                <a:srgbClr val="000000"/>
              </a:solidFill>
              <a:latin typeface="Arial"/>
            </a:endParaRPr>
          </a:p>
          <a:p>
            <a:pPr algn="r" rtl="1">
              <a:lnSpc>
                <a:spcPct val="100000"/>
              </a:lnSpc>
            </a:pPr>
            <a:r>
              <a:rPr b="0" lang="fa-IR" sz="1580" spc="-1" strike="noStrike">
                <a:solidFill>
                  <a:srgbClr val="52606d"/>
                </a:solidFill>
                <a:latin typeface="Vazirmatn"/>
                <a:cs typeface="Vazirmatn"/>
              </a:rPr>
              <a:t>خط مبنای چندشرایطی:</a:t>
            </a:r>
            <a:endParaRPr b="0" lang="en-US" sz="1580" spc="-1" strike="noStrike">
              <a:solidFill>
                <a:srgbClr val="000000"/>
              </a:solidFill>
              <a:latin typeface="Arial"/>
            </a:endParaRPr>
          </a:p>
          <a:p>
            <a:pPr algn="r" rtl="1">
              <a:lnSpc>
                <a:spcPct val="100000"/>
              </a:lnSpc>
            </a:pPr>
            <a:r>
              <a:rPr b="0" lang="en-US" sz="1580" spc="-1" strike="noStrike">
                <a:solidFill>
                  <a:srgbClr val="52606d"/>
                </a:solidFill>
                <a:latin typeface="Vazirmatn"/>
                <a:ea typeface="Vazirmatn"/>
              </a:rPr>
              <a:t>WER</a:t>
            </a:r>
            <a:r>
              <a:rPr b="0" lang="en-US" sz="1580" spc="-1" strike="noStrike">
                <a:solidFill>
                  <a:srgbClr val="52606d"/>
                </a:solidFill>
                <a:latin typeface="Vazirmatn"/>
                <a:ea typeface="Vazirmatn"/>
              </a:rPr>
              <a:t> کامن‌وویس: </a:t>
            </a:r>
            <a:r>
              <a:rPr b="0" lang="fa-IR" sz="1580" spc="-1" strike="noStrike">
                <a:solidFill>
                  <a:srgbClr val="52606d"/>
                </a:solidFill>
                <a:latin typeface="Vazirmatn"/>
                <a:cs typeface="Vazirmatn"/>
              </a:rPr>
              <a:t>۷۴٫۹۲</a:t>
            </a:r>
            <a:r>
              <a:rPr b="0" lang="fa-IR" sz="1580" spc="-1" strike="noStrike">
                <a:solidFill>
                  <a:srgbClr val="52606d"/>
                </a:solidFill>
                <a:latin typeface="Vazirmatn"/>
                <a:cs typeface="Vazirmatn"/>
              </a:rPr>
              <a:t>٪</a:t>
            </a:r>
            <a:endParaRPr b="0" lang="en-US" sz="1580" spc="-1" strike="noStrike">
              <a:solidFill>
                <a:srgbClr val="000000"/>
              </a:solidFill>
              <a:latin typeface="Arial"/>
            </a:endParaRPr>
          </a:p>
        </p:txBody>
      </p:sp>
      <p:sp>
        <p:nvSpPr>
          <p:cNvPr id="214" name="WER کامن‌وویس&#10;به ترتیب نمودار"/>
          <p:cNvSpPr/>
          <p:nvPr/>
        </p:nvSpPr>
        <p:spPr>
          <a:xfrm>
            <a:off x="685800" y="4248000"/>
            <a:ext cx="2804760" cy="738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en-US" sz="1729" spc="-1" strike="noStrike">
                <a:solidFill>
                  <a:srgbClr val="153d42"/>
                </a:solidFill>
                <a:latin typeface="Vazirmatn"/>
                <a:ea typeface="Vazirmatn"/>
              </a:rPr>
              <a:t>WER</a:t>
            </a:r>
            <a:r>
              <a:rPr b="1" lang="en-US" sz="1729" spc="-1" strike="noStrike">
                <a:solidFill>
                  <a:srgbClr val="153d42"/>
                </a:solidFill>
                <a:latin typeface="Vazirmatn"/>
                <a:ea typeface="Vazirmatn"/>
              </a:rPr>
              <a:t> کامن‌وویس</a:t>
            </a:r>
            <a:endParaRPr b="0" lang="en-US" sz="1729" spc="-1" strike="noStrike">
              <a:solidFill>
                <a:srgbClr val="000000"/>
              </a:solidFill>
              <a:latin typeface="Arial"/>
            </a:endParaRPr>
          </a:p>
          <a:p>
            <a:pPr algn="r" rtl="1">
              <a:lnSpc>
                <a:spcPct val="100000"/>
              </a:lnSpc>
            </a:pPr>
            <a:r>
              <a:rPr b="1" lang="hi-IN" sz="1729" spc="-1" strike="noStrike">
                <a:solidFill>
                  <a:srgbClr val="153d42"/>
                </a:solidFill>
                <a:latin typeface="Vazirmatn"/>
                <a:cs typeface="Vazirmatn"/>
              </a:rPr>
              <a:t>چهار مدل همجوشی</a:t>
            </a:r>
            <a:endParaRPr b="0" lang="en-US" sz="1729" spc="-1" strike="noStrike">
              <a:solidFill>
                <a:srgbClr val="000000"/>
              </a:solidFill>
              <a:latin typeface="Arial"/>
            </a:endParaRPr>
          </a:p>
        </p:txBody>
      </p:sp>
      <p:sp>
        <p:nvSpPr>
          <p:cNvPr id="215" name="۵۷٫۸۲، ۶۲٫۳۵،&#10;۶۴٫۱۰، ۶۳٫۸۱ درصد"/>
          <p:cNvSpPr/>
          <p:nvPr/>
        </p:nvSpPr>
        <p:spPr>
          <a:xfrm>
            <a:off x="685800" y="5076720"/>
            <a:ext cx="2804760" cy="6616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729" spc="-1" strike="noStrike">
                <a:solidFill>
                  <a:srgbClr val="1d6f8a"/>
                </a:solidFill>
                <a:latin typeface="Vazirmatn"/>
                <a:cs typeface="Vazirmatn"/>
              </a:rPr>
              <a:t>۵۷٫۸۲</a:t>
            </a:r>
            <a:r>
              <a:rPr b="0" lang="fa-IR" sz="1729" spc="-1" strike="noStrike">
                <a:solidFill>
                  <a:srgbClr val="1d6f8a"/>
                </a:solidFill>
                <a:latin typeface="Vazirmatn"/>
                <a:cs typeface="Vazirmatn"/>
              </a:rPr>
              <a:t>، </a:t>
            </a:r>
            <a:r>
              <a:rPr b="0" lang="fa-IR" sz="1729" spc="-1" strike="noStrike">
                <a:solidFill>
                  <a:srgbClr val="1d6f8a"/>
                </a:solidFill>
                <a:latin typeface="Vazirmatn"/>
                <a:cs typeface="Vazirmatn"/>
              </a:rPr>
              <a:t>۶۲٫۳۵</a:t>
            </a:r>
            <a:r>
              <a:rPr b="0" lang="fa-IR" sz="1729" spc="-1" strike="noStrike">
                <a:solidFill>
                  <a:srgbClr val="1d6f8a"/>
                </a:solidFill>
                <a:latin typeface="Vazirmatn"/>
                <a:cs typeface="Vazirmatn"/>
              </a:rPr>
              <a:t>،</a:t>
            </a:r>
            <a:endParaRPr b="0" lang="en-US" sz="1729" spc="-1" strike="noStrike">
              <a:solidFill>
                <a:srgbClr val="000000"/>
              </a:solidFill>
              <a:latin typeface="Arial"/>
            </a:endParaRPr>
          </a:p>
          <a:p>
            <a:pPr algn="r" rtl="1">
              <a:lnSpc>
                <a:spcPct val="100000"/>
              </a:lnSpc>
            </a:pPr>
            <a:r>
              <a:rPr b="0" lang="fa-IR" sz="1729" spc="-1" strike="noStrike">
                <a:solidFill>
                  <a:srgbClr val="1d6f8a"/>
                </a:solidFill>
                <a:latin typeface="Vazirmatn"/>
                <a:cs typeface="Vazirmatn"/>
              </a:rPr>
              <a:t>۶۴٫۱۰</a:t>
            </a:r>
            <a:r>
              <a:rPr b="0" lang="fa-IR" sz="1729" spc="-1" strike="noStrike">
                <a:solidFill>
                  <a:srgbClr val="1d6f8a"/>
                </a:solidFill>
                <a:latin typeface="Vazirmatn"/>
                <a:cs typeface="Vazirmatn"/>
              </a:rPr>
              <a:t>، </a:t>
            </a:r>
            <a:r>
              <a:rPr b="0" lang="fa-IR" sz="1729" spc="-1" strike="noStrike">
                <a:solidFill>
                  <a:srgbClr val="1d6f8a"/>
                </a:solidFill>
                <a:latin typeface="Vazirmatn"/>
                <a:cs typeface="Vazirmatn"/>
              </a:rPr>
              <a:t>۶۳٫۸۱</a:t>
            </a:r>
            <a:r>
              <a:rPr b="0" lang="en-US" sz="1729" spc="-1" strike="noStrike">
                <a:solidFill>
                  <a:srgbClr val="1d6f8a"/>
                </a:solidFill>
                <a:latin typeface="Vazirmatn"/>
                <a:ea typeface="Vazirmatn"/>
              </a:rPr>
              <a:t> درصد</a:t>
            </a:r>
            <a:endParaRPr b="0" lang="en-US" sz="1729" spc="-1" strike="noStrike">
              <a:solidFill>
                <a:srgbClr val="000000"/>
              </a:solidFill>
              <a:latin typeface="Arial"/>
            </a:endParaRPr>
          </a:p>
        </p:txBody>
      </p:sp>
      <p:sp>
        <p:nvSpPr>
          <p:cNvPr id="216" name="نرخ خطای واژه در AGFarsdat"/>
          <p:cNvSpPr/>
          <p:nvPr/>
        </p:nvSpPr>
        <p:spPr>
          <a:xfrm>
            <a:off x="3962520" y="1847880"/>
            <a:ext cx="7538760" cy="3312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950" spc="-1" strike="noStrike">
                <a:solidFill>
                  <a:srgbClr val="153d42"/>
                </a:solidFill>
                <a:latin typeface="Vazirmatn"/>
                <a:cs typeface="Vazirmatn"/>
              </a:rPr>
              <a:t>نرخ خطای واژه در </a:t>
            </a:r>
            <a:r>
              <a:rPr b="1" lang="en-US" sz="1950" spc="-1" strike="noStrike">
                <a:solidFill>
                  <a:srgbClr val="153d42"/>
                </a:solidFill>
                <a:latin typeface="Vazirmatn"/>
                <a:ea typeface="Vazirmatn"/>
              </a:rPr>
              <a:t>AGFarsdat</a:t>
            </a:r>
            <a:r>
              <a:rPr b="1" lang="en-US" sz="1950" spc="-1" strike="noStrike">
                <a:solidFill>
                  <a:srgbClr val="153d42"/>
                </a:solidFill>
                <a:latin typeface="Vazirmatn"/>
                <a:ea typeface="Vazirmatn"/>
              </a:rPr>
              <a:t> (٪)</a:t>
            </a:r>
            <a:endParaRPr b="0" lang="en-US" sz="1950" spc="-1" strike="noStrike">
              <a:solidFill>
                <a:srgbClr val="000000"/>
              </a:solidFill>
              <a:latin typeface="Arial"/>
            </a:endParaRPr>
          </a:p>
        </p:txBody>
      </p:sp>
      <p:graphicFrame>
        <p:nvGraphicFramePr>
          <p:cNvPr id="217" name="Chart"/>
          <p:cNvGraphicFramePr/>
          <p:nvPr/>
        </p:nvGraphicFramePr>
        <p:xfrm>
          <a:off x="3886200" y="2343240"/>
          <a:ext cx="7615080" cy="3252600"/>
        </p:xfrm>
        <a:graphic>
          <a:graphicData uri="http://schemas.openxmlformats.org/drawingml/2006/chart">
            <c:chart xmlns:c="http://schemas.openxmlformats.org/drawingml/2006/chart" xmlns:r="http://schemas.openxmlformats.org/officeDocument/2006/relationships" r:id="rId1"/>
          </a:graphicData>
        </a:graphic>
      </p:graphicFrame>
      <p:sp>
        <p:nvSpPr>
          <p:cNvPr id="218" name="¹ حذف بازنمایی در زمان استنتاج از مدل همجوشی آموزش‌دیده، نه آموزش مستقل یک مدل تک‌جریانه"/>
          <p:cNvSpPr/>
          <p:nvPr/>
        </p:nvSpPr>
        <p:spPr>
          <a:xfrm>
            <a:off x="685800" y="5848200"/>
            <a:ext cx="10815480" cy="280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¹</a:t>
            </a:r>
            <a:r>
              <a:rPr b="0" lang="en-US" sz="1500" spc="-1" strike="noStrike">
                <a:solidFill>
                  <a:srgbClr val="52606d"/>
                </a:solidFill>
                <a:latin typeface="Vazirmatn"/>
                <a:ea typeface="Vazirmatn"/>
              </a:rPr>
              <a:t> حذف بازنمایی در زمان استنتاج از مدل همجوشی آموزش‌دیده، نه آموزش مستقل یک مدل تک‌جریانه</a:t>
            </a:r>
            <a:endParaRPr b="0" lang="en-US" sz="1500" spc="-1" strike="noStrike">
              <a:solidFill>
                <a:srgbClr val="000000"/>
              </a:solidFill>
              <a:latin typeface="Arial"/>
            </a:endParaRPr>
          </a:p>
        </p:txBody>
      </p:sp>
      <p:sp>
        <p:nvSpPr>
          <p:cNvPr id="219" name="بودجه آموزش و تعداد پارامترهای نابرابر، تعیین سهم مستقل مؤلفه‌ها را محدود می‌کند"/>
          <p:cNvSpPr/>
          <p:nvPr/>
        </p:nvSpPr>
        <p:spPr>
          <a:xfrm>
            <a:off x="685800" y="6153120"/>
            <a:ext cx="10815480" cy="223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بودجه آموزش و تعداد پارامترهای نابرابر، تعیین سهم مستقل مؤلفه‌ها را محدود می‌کند</a:t>
            </a:r>
            <a:endParaRPr b="0" lang="en-US" sz="1500" spc="-1" strike="noStrike">
              <a:solidFill>
                <a:srgbClr val="000000"/>
              </a:solidFill>
              <a:latin typeface="Arial"/>
            </a:endParaRPr>
          </a:p>
        </p:txBody>
      </p:sp>
      <p:sp>
        <p:nvSpPr>
          <p:cNvPr id="220"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آزمایش حذف مؤلفه (</a:t>
            </a:r>
            <a:r>
              <a:rPr b="0" lang="en-US" sz="1430" spc="-1" strike="noStrike">
                <a:solidFill>
                  <a:srgbClr val="52606d"/>
                </a:solidFill>
                <a:latin typeface="Vazirmatn"/>
                <a:ea typeface="Vazirmatn"/>
              </a:rPr>
              <a:t>Ablation Study</a:t>
            </a:r>
            <a:r>
              <a:rPr b="0" lang="en-US" sz="1430" spc="-1" strike="noStrike">
                <a:solidFill>
                  <a:srgbClr val="52606d"/>
                </a:solidFill>
                <a:latin typeface="Vazirmatn"/>
                <a:ea typeface="Vazirmatn"/>
              </a:rPr>
              <a:t>): بررسی اثر نماها و توجه متقاطع (</a:t>
            </a:r>
            <a:r>
              <a:rPr b="0" lang="en-US" sz="1430" spc="-1" strike="noStrike">
                <a:solidFill>
                  <a:srgbClr val="52606d"/>
                </a:solidFill>
                <a:latin typeface="Vazirmatn"/>
                <a:ea typeface="Vazirmatn"/>
              </a:rPr>
              <a:t>Cross-attention</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21" name="افزایش داده فارس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افزایش داده فارسی</a:t>
            </a:r>
            <a:endParaRPr b="0" lang="en-US" sz="1350" spc="-1" strike="noStrike">
              <a:solidFill>
                <a:srgbClr val="000000"/>
              </a:solidFill>
              <a:latin typeface="Arial"/>
            </a:endParaRPr>
          </a:p>
        </p:txBody>
      </p:sp>
      <p:sp>
        <p:nvSpPr>
          <p:cNvPr id="222" name="گردآوری و قطعه‌بندی ایران‌صدا"/>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گردآوری و قطعه‌بندی ایران‌صدا</a:t>
            </a:r>
            <a:endParaRPr b="0" lang="en-US" sz="3150" spc="-1" strike="noStrike">
              <a:solidFill>
                <a:srgbClr val="000000"/>
              </a:solidFill>
              <a:latin typeface="Arial"/>
            </a:endParaRPr>
          </a:p>
        </p:txBody>
      </p:sp>
      <p:sp>
        <p:nvSpPr>
          <p:cNvPr id="22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24" name="۱۶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۱۸</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pic>
        <p:nvPicPr>
          <p:cNvPr id="225" name="" descr=""/>
          <p:cNvPicPr/>
          <p:nvPr/>
        </p:nvPicPr>
        <p:blipFill>
          <a:blip r:embed="rId1"/>
          <a:stretch/>
        </p:blipFill>
        <p:spPr>
          <a:xfrm>
            <a:off x="685800" y="1724040"/>
            <a:ext cx="3519360" cy="4154400"/>
          </a:xfrm>
          <a:prstGeom prst="rect">
            <a:avLst/>
          </a:prstGeom>
          <a:ln w="0">
            <a:noFill/>
          </a:ln>
        </p:spPr>
      </p:pic>
      <p:sp>
        <p:nvSpPr>
          <p:cNvPr id="226" name="۳٬۷۷۷ کتاب صوتی"/>
          <p:cNvSpPr/>
          <p:nvPr/>
        </p:nvSpPr>
        <p:spPr>
          <a:xfrm>
            <a:off x="4952880" y="2000160"/>
            <a:ext cx="6548040" cy="757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300" spc="-1" strike="noStrike">
                <a:solidFill>
                  <a:srgbClr val="153d42"/>
                </a:solidFill>
                <a:latin typeface="Vazirmatn"/>
                <a:cs typeface="Vazirmatn"/>
              </a:rPr>
              <a:t>۳٬۷۷۷</a:t>
            </a:r>
            <a:r>
              <a:rPr b="1" lang="en-US" sz="3300" spc="-1" strike="noStrike">
                <a:solidFill>
                  <a:srgbClr val="153d42"/>
                </a:solidFill>
                <a:latin typeface="Vazirmatn"/>
                <a:ea typeface="Vazirmatn"/>
              </a:rPr>
              <a:t> کتاب صوتی</a:t>
            </a:r>
            <a:endParaRPr b="0" lang="en-US" sz="3300" spc="-1" strike="noStrike">
              <a:solidFill>
                <a:srgbClr val="000000"/>
              </a:solidFill>
              <a:latin typeface="Arial"/>
            </a:endParaRPr>
          </a:p>
        </p:txBody>
      </p:sp>
      <p:sp>
        <p:nvSpPr>
          <p:cNvPr id="227" name="حدود ۶٬۳۰۰ ساعت صوت خام دریافت‌شده"/>
          <p:cNvSpPr/>
          <p:nvPr/>
        </p:nvSpPr>
        <p:spPr>
          <a:xfrm>
            <a:off x="4952880" y="2933640"/>
            <a:ext cx="654804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100" spc="-1" strike="noStrike">
                <a:solidFill>
                  <a:srgbClr val="1f2933"/>
                </a:solidFill>
                <a:latin typeface="Vazirmatn"/>
                <a:cs typeface="Vazirmatn"/>
              </a:rPr>
              <a:t>حدود </a:t>
            </a:r>
            <a:r>
              <a:rPr b="0" lang="fa-IR" sz="2100" spc="-1" strike="noStrike">
                <a:solidFill>
                  <a:srgbClr val="1f2933"/>
                </a:solidFill>
                <a:latin typeface="Vazirmatn"/>
                <a:cs typeface="Vazirmatn"/>
              </a:rPr>
              <a:t>۶٬۳۰۰</a:t>
            </a:r>
            <a:r>
              <a:rPr b="0" lang="en-US" sz="2100" spc="-1" strike="noStrike">
                <a:solidFill>
                  <a:srgbClr val="1f2933"/>
                </a:solidFill>
                <a:latin typeface="Vazirmatn"/>
                <a:ea typeface="Vazirmatn"/>
              </a:rPr>
              <a:t> ساعت صوت خام دریافت‌شده</a:t>
            </a:r>
            <a:endParaRPr b="0" lang="en-US" sz="2100" spc="-1" strike="noStrike">
              <a:solidFill>
                <a:srgbClr val="000000"/>
              </a:solidFill>
              <a:latin typeface="Arial"/>
            </a:endParaRPr>
          </a:p>
        </p:txBody>
      </p:sp>
      <p:sp>
        <p:nvSpPr>
          <p:cNvPr id="228" name="۲۵۰ ساعت منتخب"/>
          <p:cNvSpPr/>
          <p:nvPr/>
        </p:nvSpPr>
        <p:spPr>
          <a:xfrm>
            <a:off x="4952880" y="3762360"/>
            <a:ext cx="6548040" cy="757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300" spc="-1" strike="noStrike">
                <a:solidFill>
                  <a:srgbClr val="1d6f8a"/>
                </a:solidFill>
                <a:latin typeface="Vazirmatn"/>
                <a:cs typeface="Vazirmatn"/>
              </a:rPr>
              <a:t>۲۵۰</a:t>
            </a:r>
            <a:r>
              <a:rPr b="1" lang="en-US" sz="3300" spc="-1" strike="noStrike">
                <a:solidFill>
                  <a:srgbClr val="1d6f8a"/>
                </a:solidFill>
                <a:latin typeface="Vazirmatn"/>
                <a:ea typeface="Vazirmatn"/>
              </a:rPr>
              <a:t> ساعت منتخب</a:t>
            </a:r>
            <a:endParaRPr b="0" lang="en-US" sz="3300" spc="-1" strike="noStrike">
              <a:solidFill>
                <a:srgbClr val="000000"/>
              </a:solidFill>
              <a:latin typeface="Arial"/>
            </a:endParaRPr>
          </a:p>
        </p:txBody>
      </p:sp>
      <p:sp>
        <p:nvSpPr>
          <p:cNvPr id="229" name="طول هدف قطعه‌ها ۲۰ ثانیه است&#10;بازه ترجیحی ۱۵ تا ۲۵، سقف سخت ۲۸ ثانیه"/>
          <p:cNvSpPr/>
          <p:nvPr/>
        </p:nvSpPr>
        <p:spPr>
          <a:xfrm>
            <a:off x="4952880" y="4714920"/>
            <a:ext cx="6548040" cy="947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020" spc="-1" strike="noStrike">
                <a:solidFill>
                  <a:srgbClr val="1f2933"/>
                </a:solidFill>
                <a:latin typeface="Vazirmatn"/>
                <a:cs typeface="Vazirmatn"/>
              </a:rPr>
              <a:t>طول هدف قطعه‌ها </a:t>
            </a:r>
            <a:r>
              <a:rPr b="0" lang="fa-IR" sz="2020" spc="-1" strike="noStrike">
                <a:solidFill>
                  <a:srgbClr val="1f2933"/>
                </a:solidFill>
                <a:latin typeface="Vazirmatn"/>
                <a:cs typeface="Vazirmatn"/>
              </a:rPr>
              <a:t>۲۰</a:t>
            </a:r>
            <a:r>
              <a:rPr b="0" lang="en-US" sz="2020" spc="-1" strike="noStrike">
                <a:solidFill>
                  <a:srgbClr val="1f2933"/>
                </a:solidFill>
                <a:latin typeface="Vazirmatn"/>
                <a:ea typeface="Vazirmatn"/>
              </a:rPr>
              <a:t> ثانیه است</a:t>
            </a:r>
            <a:endParaRPr b="0" lang="en-US" sz="2020" spc="-1" strike="noStrike">
              <a:solidFill>
                <a:srgbClr val="000000"/>
              </a:solidFill>
              <a:latin typeface="Arial"/>
            </a:endParaRPr>
          </a:p>
          <a:p>
            <a:pPr algn="r" rtl="1">
              <a:lnSpc>
                <a:spcPct val="100000"/>
              </a:lnSpc>
            </a:pPr>
            <a:r>
              <a:rPr b="0" lang="fa-IR" sz="1870" spc="-1" strike="noStrike">
                <a:solidFill>
                  <a:srgbClr val="1f2933"/>
                </a:solidFill>
                <a:latin typeface="Vazirmatn"/>
                <a:cs typeface="Vazirmatn"/>
              </a:rPr>
              <a:t>بازه ترجیحی </a:t>
            </a:r>
            <a:r>
              <a:rPr b="0" lang="fa-IR" sz="1870" spc="-1" strike="noStrike">
                <a:solidFill>
                  <a:srgbClr val="1f2933"/>
                </a:solidFill>
                <a:latin typeface="Vazirmatn"/>
                <a:cs typeface="Vazirmatn"/>
              </a:rPr>
              <a:t>۱۵</a:t>
            </a:r>
            <a:r>
              <a:rPr b="0" lang="en-US" sz="1870" spc="-1" strike="noStrike">
                <a:solidFill>
                  <a:srgbClr val="1f2933"/>
                </a:solidFill>
                <a:latin typeface="Vazirmatn"/>
                <a:ea typeface="Vazirmatn"/>
              </a:rPr>
              <a:t> تا </a:t>
            </a:r>
            <a:r>
              <a:rPr b="0" lang="fa-IR" sz="1870" spc="-1" strike="noStrike">
                <a:solidFill>
                  <a:srgbClr val="1f2933"/>
                </a:solidFill>
                <a:latin typeface="Vazirmatn"/>
                <a:cs typeface="Vazirmatn"/>
              </a:rPr>
              <a:t>۲۵</a:t>
            </a:r>
            <a:r>
              <a:rPr b="0" lang="en-US" sz="1870" spc="-1" strike="noStrike">
                <a:solidFill>
                  <a:srgbClr val="1f2933"/>
                </a:solidFill>
                <a:latin typeface="Vazirmatn"/>
                <a:ea typeface="Vazirmatn"/>
              </a:rPr>
              <a:t> ثانیه، سقف سخت </a:t>
            </a:r>
            <a:r>
              <a:rPr b="0" lang="fa-IR" sz="1870" spc="-1" strike="noStrike">
                <a:solidFill>
                  <a:srgbClr val="1f2933"/>
                </a:solidFill>
                <a:latin typeface="Vazirmatn"/>
                <a:cs typeface="Vazirmatn"/>
              </a:rPr>
              <a:t>۲۸</a:t>
            </a:r>
            <a:r>
              <a:rPr b="0" lang="en-US" sz="1870" spc="-1" strike="noStrike">
                <a:solidFill>
                  <a:srgbClr val="1f2933"/>
                </a:solidFill>
                <a:latin typeface="Vazirmatn"/>
                <a:ea typeface="Vazirmatn"/>
              </a:rPr>
              <a:t> ثانیه</a:t>
            </a:r>
            <a:endParaRPr b="0" lang="en-US" sz="1870" spc="-1" strike="noStrike">
              <a:solidFill>
                <a:srgbClr val="000000"/>
              </a:solidFill>
              <a:latin typeface="Arial"/>
            </a:endParaRPr>
          </a:p>
        </p:txBody>
      </p:sp>
      <p:sp>
        <p:nvSpPr>
          <p:cNvPr id="230" name="مجموعه گردآوری‌شده از زیرمجموعه انتخاب‌شده برای آموزش بزرگ‌تر است"/>
          <p:cNvSpPr/>
          <p:nvPr/>
        </p:nvSpPr>
        <p:spPr>
          <a:xfrm>
            <a:off x="685800" y="5905440"/>
            <a:ext cx="10815480" cy="414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مجموعه گردآوری‌شده از زیرمجموعه انتخاب‌شده برای آموزش بزرگ‌تر است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31" name="افزایش داده فارس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افزایش داده فارسی</a:t>
            </a:r>
            <a:endParaRPr b="0" lang="en-US" sz="1350" spc="-1" strike="noStrike">
              <a:solidFill>
                <a:srgbClr val="000000"/>
              </a:solidFill>
              <a:latin typeface="Arial"/>
            </a:endParaRPr>
          </a:p>
        </p:txBody>
      </p:sp>
      <p:sp>
        <p:nvSpPr>
          <p:cNvPr id="232" name="رونویسی معلم، پالایش و آموزش"/>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رونویسی معلم، پالایش و آموزش</a:t>
            </a:r>
            <a:endParaRPr b="0" lang="en-US" sz="3150" spc="-1" strike="noStrike">
              <a:solidFill>
                <a:srgbClr val="000000"/>
              </a:solidFill>
              <a:latin typeface="Arial"/>
            </a:endParaRPr>
          </a:p>
        </p:txBody>
      </p:sp>
      <p:sp>
        <p:nvSpPr>
          <p:cNvPr id="23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34" name="۱۷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۱۹</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35" name="۱. رونویسی معلم"/>
          <p:cNvSpPr/>
          <p:nvPr/>
        </p:nvSpPr>
        <p:spPr>
          <a:xfrm>
            <a:off x="685800" y="1714680"/>
            <a:ext cx="4947840" cy="394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۱</a:t>
            </a:r>
            <a:r>
              <a:rPr b="1" lang="en-US" sz="1870" spc="-1" strike="noStrike">
                <a:solidFill>
                  <a:srgbClr val="1d6f8a"/>
                </a:solidFill>
                <a:latin typeface="Vazirmatn"/>
                <a:ea typeface="Vazirmatn"/>
              </a:rPr>
              <a:t>. رونویسی معلم</a:t>
            </a:r>
            <a:endParaRPr b="0" lang="en-US" sz="1870" spc="-1" strike="noStrike">
              <a:solidFill>
                <a:srgbClr val="000000"/>
              </a:solidFill>
              <a:latin typeface="Arial"/>
            </a:endParaRPr>
          </a:p>
        </p:txBody>
      </p:sp>
      <p:pic>
        <p:nvPicPr>
          <p:cNvPr id="236" name="" descr=""/>
          <p:cNvPicPr/>
          <p:nvPr/>
        </p:nvPicPr>
        <p:blipFill>
          <a:blip r:embed="rId1"/>
          <a:stretch/>
        </p:blipFill>
        <p:spPr>
          <a:xfrm>
            <a:off x="1262160" y="2143080"/>
            <a:ext cx="3795480" cy="1499760"/>
          </a:xfrm>
          <a:prstGeom prst="rect">
            <a:avLst/>
          </a:prstGeom>
          <a:ln w="0">
            <a:noFill/>
          </a:ln>
        </p:spPr>
      </p:pic>
      <p:sp>
        <p:nvSpPr>
          <p:cNvPr id="237" name="۲. نرمال‌سازی فارسی"/>
          <p:cNvSpPr/>
          <p:nvPr/>
        </p:nvSpPr>
        <p:spPr>
          <a:xfrm>
            <a:off x="6553080" y="1714680"/>
            <a:ext cx="4947840" cy="394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۲</a:t>
            </a:r>
            <a:r>
              <a:rPr b="1" lang="en-US" sz="1870" spc="-1" strike="noStrike">
                <a:solidFill>
                  <a:srgbClr val="1d6f8a"/>
                </a:solidFill>
                <a:latin typeface="Vazirmatn"/>
                <a:ea typeface="Vazirmatn"/>
              </a:rPr>
              <a:t>. نرمال‌سازی فارسی</a:t>
            </a:r>
            <a:endParaRPr b="0" lang="en-US" sz="1870" spc="-1" strike="noStrike">
              <a:solidFill>
                <a:srgbClr val="000000"/>
              </a:solidFill>
              <a:latin typeface="Arial"/>
            </a:endParaRPr>
          </a:p>
        </p:txBody>
      </p:sp>
      <p:pic>
        <p:nvPicPr>
          <p:cNvPr id="238" name="" descr=""/>
          <p:cNvPicPr/>
          <p:nvPr/>
        </p:nvPicPr>
        <p:blipFill>
          <a:blip r:embed="rId2"/>
          <a:stretch/>
        </p:blipFill>
        <p:spPr>
          <a:xfrm>
            <a:off x="7129440" y="2143080"/>
            <a:ext cx="3795480" cy="1499760"/>
          </a:xfrm>
          <a:prstGeom prst="rect">
            <a:avLst/>
          </a:prstGeom>
          <a:ln w="0">
            <a:noFill/>
          </a:ln>
        </p:spPr>
      </p:pic>
      <p:sp>
        <p:nvSpPr>
          <p:cNvPr id="239" name="۳. اصلاح با Qwen"/>
          <p:cNvSpPr/>
          <p:nvPr/>
        </p:nvSpPr>
        <p:spPr>
          <a:xfrm>
            <a:off x="685800" y="3657600"/>
            <a:ext cx="4947840" cy="394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۳</a:t>
            </a:r>
            <a:r>
              <a:rPr b="1" lang="en-US" sz="1870" spc="-1" strike="noStrike">
                <a:solidFill>
                  <a:srgbClr val="1d6f8a"/>
                </a:solidFill>
                <a:latin typeface="Vazirmatn"/>
                <a:ea typeface="Vazirmatn"/>
              </a:rPr>
              <a:t>. اصلاح با </a:t>
            </a:r>
            <a:r>
              <a:rPr b="1" lang="en-US" sz="1870" spc="-1" strike="noStrike">
                <a:solidFill>
                  <a:srgbClr val="1d6f8a"/>
                </a:solidFill>
                <a:latin typeface="Vazirmatn"/>
                <a:ea typeface="Vazirmatn"/>
              </a:rPr>
              <a:t>Qwen</a:t>
            </a:r>
            <a:endParaRPr b="0" lang="en-US" sz="1870" spc="-1" strike="noStrike">
              <a:solidFill>
                <a:srgbClr val="000000"/>
              </a:solidFill>
              <a:latin typeface="Arial"/>
            </a:endParaRPr>
          </a:p>
        </p:txBody>
      </p:sp>
      <p:pic>
        <p:nvPicPr>
          <p:cNvPr id="240" name="" descr=""/>
          <p:cNvPicPr/>
          <p:nvPr/>
        </p:nvPicPr>
        <p:blipFill>
          <a:blip r:embed="rId3"/>
          <a:stretch/>
        </p:blipFill>
        <p:spPr>
          <a:xfrm>
            <a:off x="1262160" y="4086360"/>
            <a:ext cx="3795480" cy="1499760"/>
          </a:xfrm>
          <a:prstGeom prst="rect">
            <a:avLst/>
          </a:prstGeom>
          <a:ln w="0">
            <a:noFill/>
          </a:ln>
        </p:spPr>
      </p:pic>
      <p:sp>
        <p:nvSpPr>
          <p:cNvPr id="241" name="۴. پالایش کیفیت"/>
          <p:cNvSpPr/>
          <p:nvPr/>
        </p:nvSpPr>
        <p:spPr>
          <a:xfrm>
            <a:off x="6553080" y="3657600"/>
            <a:ext cx="4947840" cy="394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۴</a:t>
            </a:r>
            <a:r>
              <a:rPr b="1" lang="en-US" sz="1870" spc="-1" strike="noStrike">
                <a:solidFill>
                  <a:srgbClr val="1d6f8a"/>
                </a:solidFill>
                <a:latin typeface="Vazirmatn"/>
                <a:ea typeface="Vazirmatn"/>
              </a:rPr>
              <a:t>. پالایش کیفیت</a:t>
            </a:r>
            <a:endParaRPr b="0" lang="en-US" sz="1870" spc="-1" strike="noStrike">
              <a:solidFill>
                <a:srgbClr val="000000"/>
              </a:solidFill>
              <a:latin typeface="Arial"/>
            </a:endParaRPr>
          </a:p>
        </p:txBody>
      </p:sp>
      <p:pic>
        <p:nvPicPr>
          <p:cNvPr id="242" name="" descr=""/>
          <p:cNvPicPr/>
          <p:nvPr/>
        </p:nvPicPr>
        <p:blipFill>
          <a:blip r:embed="rId4"/>
          <a:stretch/>
        </p:blipFill>
        <p:spPr>
          <a:xfrm>
            <a:off x="7427880" y="4086360"/>
            <a:ext cx="3198240" cy="1499760"/>
          </a:xfrm>
          <a:prstGeom prst="rect">
            <a:avLst/>
          </a:prstGeom>
          <a:ln w="0">
            <a:noFill/>
          </a:ln>
        </p:spPr>
      </p:pic>
      <p:sp>
        <p:nvSpPr>
          <p:cNvPr id="243" name="افزودن داده پذیرفته‌شده به ترکیب کامل گفتار معمولی، بلند و تخریب‌شده"/>
          <p:cNvSpPr/>
          <p:nvPr/>
        </p:nvSpPr>
        <p:spPr>
          <a:xfrm>
            <a:off x="685800" y="5743440"/>
            <a:ext cx="10815480" cy="3283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53d42"/>
                </a:solidFill>
                <a:latin typeface="Vazirmatn"/>
                <a:cs typeface="Vazirmatn"/>
              </a:rPr>
              <a:t>افزودن داده پذیرفته‌شده به ترکیب کامل گفتار معمولی، بلند و تخریب‌شده</a:t>
            </a:r>
            <a:endParaRPr b="0" lang="en-US" sz="1870" spc="-1" strike="noStrike">
              <a:solidFill>
                <a:srgbClr val="000000"/>
              </a:solidFill>
              <a:latin typeface="Arial"/>
            </a:endParaRPr>
          </a:p>
        </p:txBody>
      </p:sp>
      <p:sp>
        <p:nvSpPr>
          <p:cNvPr id="244" name="معماری ویسپر کوچک، تنظیمات اصلی و تعداد گام‌های آموزش ثابت‌اند"/>
          <p:cNvSpPr/>
          <p:nvPr/>
        </p:nvSpPr>
        <p:spPr>
          <a:xfrm>
            <a:off x="685800" y="6153120"/>
            <a:ext cx="10815480" cy="223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معماری ویسپر کوچک، تنظیمات اصلی و تعداد گام‌های آموزش ثابت‌اند</a:t>
            </a:r>
            <a:endParaRPr b="0" lang="en-US" sz="1500" spc="-1" strike="noStrike">
              <a:solidFill>
                <a:srgbClr val="000000"/>
              </a:solidFill>
              <a:latin typeface="Arial"/>
            </a:endParaRPr>
          </a:p>
        </p:txBody>
      </p:sp>
      <p:sp>
        <p:nvSpPr>
          <p:cNvPr id="245" name="English terminology"/>
          <p:cNvSpPr/>
          <p:nvPr/>
        </p:nvSpPr>
        <p:spPr>
          <a:xfrm>
            <a:off x="685800" y="156204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رونویسی معلم (</a:t>
            </a:r>
            <a:r>
              <a:rPr b="0" lang="en-US" sz="1430" spc="-1" strike="noStrike">
                <a:solidFill>
                  <a:srgbClr val="52606d"/>
                </a:solidFill>
                <a:latin typeface="Vazirmatn"/>
                <a:ea typeface="Vazirmatn"/>
              </a:rPr>
              <a:t>Teacher Transcription</a:t>
            </a:r>
            <a:r>
              <a:rPr b="0" lang="en-US" sz="1430" spc="-1" strike="noStrike">
                <a:solidFill>
                  <a:srgbClr val="52606d"/>
                </a:solidFill>
                <a:latin typeface="Vazirmatn"/>
                <a:ea typeface="Vazirmatn"/>
              </a:rPr>
              <a:t>)، شبه‌برچسب (</a:t>
            </a:r>
            <a:r>
              <a:rPr b="0" lang="en-US" sz="1430" spc="-1" strike="noStrike">
                <a:solidFill>
                  <a:srgbClr val="52606d"/>
                </a:solidFill>
                <a:latin typeface="Vazirmatn"/>
                <a:ea typeface="Vazirmatn"/>
              </a:rPr>
              <a:t>Pseudo-label</a:t>
            </a:r>
            <a:r>
              <a:rPr b="0" lang="en-US" sz="1430" spc="-1" strike="noStrike">
                <a:solidFill>
                  <a:srgbClr val="52606d"/>
                </a:solidFill>
                <a:latin typeface="Vazirmatn"/>
                <a:ea typeface="Vazirmatn"/>
              </a:rPr>
              <a:t>) و پالایش کیفیت (</a:t>
            </a:r>
            <a:r>
              <a:rPr b="0" lang="en-US" sz="1430" spc="-1" strike="noStrike">
                <a:solidFill>
                  <a:srgbClr val="52606d"/>
                </a:solidFill>
                <a:latin typeface="Vazirmatn"/>
                <a:ea typeface="Vazirmatn"/>
              </a:rPr>
              <a:t>Quality Filtering</a:t>
            </a:r>
            <a:r>
              <a:rPr b="0" lang="en-US" sz="1430" spc="-1" strike="noStrike">
                <a:solidFill>
                  <a:srgbClr val="52606d"/>
                </a:solidFill>
                <a:latin typeface="Vazirmatn"/>
                <a:ea typeface="Vazirmatn"/>
              </a:rPr>
              <a:t>)</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46" name="افزایش داده فارس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افزایش داده فارسی</a:t>
            </a:r>
            <a:endParaRPr b="0" lang="en-US" sz="1350" spc="-1" strike="noStrike">
              <a:solidFill>
                <a:srgbClr val="000000"/>
              </a:solidFill>
              <a:latin typeface="Arial"/>
            </a:endParaRPr>
          </a:p>
        </p:txBody>
      </p:sp>
      <p:sp>
        <p:nvSpPr>
          <p:cNvPr id="247" name="پالایش رونویسی و داده پذیرفته‌شده"/>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پالایش رونویسی و داده پذیرفته‌شده</a:t>
            </a:r>
            <a:endParaRPr b="0" lang="en-US" sz="3150" spc="-1" strike="noStrike">
              <a:solidFill>
                <a:srgbClr val="000000"/>
              </a:solidFill>
              <a:latin typeface="Arial"/>
            </a:endParaRPr>
          </a:p>
        </p:txBody>
      </p:sp>
      <p:sp>
        <p:nvSpPr>
          <p:cNvPr id="248"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49" name="۱۸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۲۰</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50" name="۳۹٬۴۵۴"/>
          <p:cNvSpPr/>
          <p:nvPr/>
        </p:nvSpPr>
        <p:spPr>
          <a:xfrm>
            <a:off x="7238880" y="1838160"/>
            <a:ext cx="4262040" cy="11952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5850" spc="-1" strike="noStrike">
                <a:solidFill>
                  <a:srgbClr val="1d6f8a"/>
                </a:solidFill>
                <a:latin typeface="Vazirmatn"/>
                <a:cs typeface="Vazirmatn"/>
              </a:rPr>
              <a:t>۳۹٬۴۵۴</a:t>
            </a:r>
            <a:endParaRPr b="0" lang="en-US" sz="5850" spc="-1" strike="noStrike">
              <a:solidFill>
                <a:srgbClr val="000000"/>
              </a:solidFill>
              <a:latin typeface="Arial"/>
            </a:endParaRPr>
          </a:p>
        </p:txBody>
      </p:sp>
      <p:sp>
        <p:nvSpPr>
          <p:cNvPr id="251" name="قطعه پذیرفته‌شده برای آموزش"/>
          <p:cNvSpPr/>
          <p:nvPr/>
        </p:nvSpPr>
        <p:spPr>
          <a:xfrm>
            <a:off x="7238880" y="3057480"/>
            <a:ext cx="426204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قطعه پذیرفته‌شده برای آموزش</a:t>
            </a:r>
            <a:endParaRPr b="0" lang="en-US" sz="2170" spc="-1" strike="noStrike">
              <a:solidFill>
                <a:srgbClr val="000000"/>
              </a:solidFill>
              <a:latin typeface="Arial"/>
            </a:endParaRPr>
          </a:p>
        </p:txBody>
      </p:sp>
      <p:sp>
        <p:nvSpPr>
          <p:cNvPr id="252" name="۲۱۸٫۵۶۴ ساعت"/>
          <p:cNvSpPr/>
          <p:nvPr/>
        </p:nvSpPr>
        <p:spPr>
          <a:xfrm>
            <a:off x="6667560" y="3772080"/>
            <a:ext cx="4833720" cy="8139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230" spc="-1" strike="noStrike">
                <a:solidFill>
                  <a:srgbClr val="153d42"/>
                </a:solidFill>
                <a:latin typeface="Vazirmatn"/>
                <a:cs typeface="Vazirmatn"/>
              </a:rPr>
              <a:t>۲۱۸٫۵۶۴</a:t>
            </a:r>
            <a:r>
              <a:rPr b="1" lang="en-US" sz="3230" spc="-1" strike="noStrike">
                <a:solidFill>
                  <a:srgbClr val="153d42"/>
                </a:solidFill>
                <a:latin typeface="Vazirmatn"/>
                <a:ea typeface="Vazirmatn"/>
              </a:rPr>
              <a:t> ساعت</a:t>
            </a:r>
            <a:endParaRPr b="0" lang="en-US" sz="3230" spc="-1" strike="noStrike">
              <a:solidFill>
                <a:srgbClr val="000000"/>
              </a:solidFill>
              <a:latin typeface="Arial"/>
            </a:endParaRPr>
          </a:p>
        </p:txBody>
      </p:sp>
      <p:sp>
        <p:nvSpPr>
          <p:cNvPr id="253" name="۴۴٬۸۲۰ قطعه بررسی و ۵٬۳۶۶ قطعه رد شد&#10;۱۳۶ فایل منبع، با تفکیک در سطح کتاب"/>
          <p:cNvSpPr/>
          <p:nvPr/>
        </p:nvSpPr>
        <p:spPr>
          <a:xfrm>
            <a:off x="6667560" y="4838760"/>
            <a:ext cx="4833720" cy="80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۴۴٬۸۲۰</a:t>
            </a:r>
            <a:r>
              <a:rPr b="0" lang="en-US" sz="1800" spc="-1" strike="noStrike">
                <a:solidFill>
                  <a:srgbClr val="1f2933"/>
                </a:solidFill>
                <a:latin typeface="Vazirmatn"/>
                <a:ea typeface="Vazirmatn"/>
              </a:rPr>
              <a:t> قطعه بررسی و </a:t>
            </a:r>
            <a:r>
              <a:rPr b="0" lang="fa-IR" sz="1800" spc="-1" strike="noStrike">
                <a:solidFill>
                  <a:srgbClr val="1f2933"/>
                </a:solidFill>
                <a:latin typeface="Vazirmatn"/>
                <a:cs typeface="Vazirmatn"/>
              </a:rPr>
              <a:t>۵٬۳۶۶</a:t>
            </a:r>
            <a:r>
              <a:rPr b="0" lang="en-US" sz="1800" spc="-1" strike="noStrike">
                <a:solidFill>
                  <a:srgbClr val="1f2933"/>
                </a:solidFill>
                <a:latin typeface="Vazirmatn"/>
                <a:ea typeface="Vazirmatn"/>
              </a:rPr>
              <a:t> قطعه رد شد</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۱۳۶</a:t>
            </a:r>
            <a:r>
              <a:rPr b="0" lang="en-US" sz="1800" spc="-1" strike="noStrike">
                <a:solidFill>
                  <a:srgbClr val="1f2933"/>
                </a:solidFill>
                <a:latin typeface="Vazirmatn"/>
                <a:ea typeface="Vazirmatn"/>
              </a:rPr>
              <a:t> فایل منبع، با تفکیک در سطح کتاب</a:t>
            </a:r>
            <a:endParaRPr b="0" lang="en-US" sz="1800" spc="-1" strike="noStrike">
              <a:solidFill>
                <a:srgbClr val="000000"/>
              </a:solidFill>
              <a:latin typeface="Arial"/>
            </a:endParaRPr>
          </a:p>
        </p:txBody>
      </p:sp>
      <p:sp>
        <p:nvSpPr>
          <p:cNvPr id="254" name="اصلاح محافظه‌کارانه با Qwen"/>
          <p:cNvSpPr/>
          <p:nvPr/>
        </p:nvSpPr>
        <p:spPr>
          <a:xfrm>
            <a:off x="685800" y="1952640"/>
            <a:ext cx="5290920" cy="4712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52606d"/>
                </a:solidFill>
                <a:latin typeface="Vazirmatn"/>
                <a:cs typeface="Vazirmatn"/>
              </a:rPr>
              <a:t>اصلاح محافظه‌کارانه با مدل زبانی </a:t>
            </a:r>
            <a:r>
              <a:rPr b="0" lang="en-US" sz="1800" spc="-1" strike="noStrike">
                <a:solidFill>
                  <a:srgbClr val="52606d"/>
                </a:solidFill>
                <a:latin typeface="Vazirmatn"/>
                <a:ea typeface="Vazirmatn"/>
              </a:rPr>
              <a:t>Qwen</a:t>
            </a:r>
            <a:endParaRPr b="0" lang="en-US" sz="1800" spc="-1" strike="noStrike">
              <a:solidFill>
                <a:srgbClr val="000000"/>
              </a:solidFill>
              <a:latin typeface="Arial"/>
            </a:endParaRPr>
          </a:p>
        </p:txBody>
      </p:sp>
      <p:sp>
        <p:nvSpPr>
          <p:cNvPr id="255" name="اصلاح املا، نیم‌فاصله و نشانه‌گذاری&#10;رفع خطاهای آشکار واژگانی با کمک بافت&#10;حفظ اعداد و پرهیز از افزودن محتوا"/>
          <p:cNvSpPr/>
          <p:nvPr/>
        </p:nvSpPr>
        <p:spPr>
          <a:xfrm>
            <a:off x="685800" y="2657520"/>
            <a:ext cx="5290920" cy="16426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250" spc="-1" strike="noStrike">
                <a:solidFill>
                  <a:srgbClr val="153d42"/>
                </a:solidFill>
                <a:latin typeface="Vazirmatn"/>
                <a:cs typeface="Vazirmatn"/>
              </a:rPr>
              <a:t>اصلاح املا، نیم‌فاصله و نشانه‌گذاری</a:t>
            </a:r>
            <a:endParaRPr b="0" lang="en-US" sz="2250" spc="-1" strike="noStrike">
              <a:solidFill>
                <a:srgbClr val="000000"/>
              </a:solidFill>
              <a:latin typeface="Arial"/>
            </a:endParaRPr>
          </a:p>
          <a:p>
            <a:pPr algn="r" rtl="1">
              <a:lnSpc>
                <a:spcPct val="100000"/>
              </a:lnSpc>
            </a:pPr>
            <a:r>
              <a:rPr b="1" lang="fa-IR" sz="2250" spc="-1" strike="noStrike">
                <a:solidFill>
                  <a:srgbClr val="153d42"/>
                </a:solidFill>
                <a:latin typeface="Vazirmatn"/>
                <a:cs typeface="Vazirmatn"/>
              </a:rPr>
              <a:t>رفع خطاهای آشکار واژگانی با کمک محتوا</a:t>
            </a:r>
            <a:endParaRPr b="0" lang="en-US" sz="2250" spc="-1" strike="noStrike">
              <a:solidFill>
                <a:srgbClr val="000000"/>
              </a:solidFill>
              <a:latin typeface="Arial"/>
            </a:endParaRPr>
          </a:p>
          <a:p>
            <a:pPr algn="r" rtl="1">
              <a:lnSpc>
                <a:spcPct val="100000"/>
              </a:lnSpc>
            </a:pPr>
            <a:r>
              <a:rPr b="1" lang="fa-IR" sz="2250" spc="-1" strike="noStrike">
                <a:solidFill>
                  <a:srgbClr val="153d42"/>
                </a:solidFill>
                <a:latin typeface="Vazirmatn"/>
                <a:cs typeface="Vazirmatn"/>
              </a:rPr>
              <a:t>حفظ اعداد و پرهیز از افزودن محتوا</a:t>
            </a:r>
            <a:endParaRPr b="0" lang="en-US" sz="2250" spc="-1" strike="noStrike">
              <a:solidFill>
                <a:srgbClr val="000000"/>
              </a:solidFill>
              <a:latin typeface="Arial"/>
            </a:endParaRPr>
          </a:p>
        </p:txBody>
      </p:sp>
      <p:sp>
        <p:nvSpPr>
          <p:cNvPr id="256" name="ورودی فقط متن قطعه و بافت قبل و بعد آن&#10;رد خروجی‌های نامطمئن یا دارای تغییر زیاد&#10;ذخیره متن اولیه در کنار نسخه اصلاح‌شده"/>
          <p:cNvSpPr/>
          <p:nvPr/>
        </p:nvSpPr>
        <p:spPr>
          <a:xfrm>
            <a:off x="685800" y="4543560"/>
            <a:ext cx="5290920" cy="1118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ورودی فقط متن قطعه و بافت قبل و بعد آن</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رد خروجی‌های نامطمئن یا دارای تغییر زیاد</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ذخیره متن اولیه در کنار نسخه اصلاح‌شده</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57" name="نتیجه افزایش داده"/>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نتیجه افزایش داده</a:t>
            </a:r>
            <a:endParaRPr b="0" lang="en-US" sz="1350" spc="-1" strike="noStrike">
              <a:solidFill>
                <a:srgbClr val="000000"/>
              </a:solidFill>
              <a:latin typeface="Arial"/>
            </a:endParaRPr>
          </a:p>
        </p:txBody>
      </p:sp>
      <p:sp>
        <p:nvSpPr>
          <p:cNvPr id="258" name="اثر ایران‌صدا به دامنه گفتار وابسته است"/>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اثر ایران‌صدا به دامنه گفتار وابسته است</a:t>
            </a:r>
            <a:endParaRPr b="0" lang="en-US" sz="3150" spc="-1" strike="noStrike">
              <a:solidFill>
                <a:srgbClr val="000000"/>
              </a:solidFill>
              <a:latin typeface="Arial"/>
            </a:endParaRPr>
          </a:p>
        </p:txBody>
      </p:sp>
      <p:sp>
        <p:nvSpPr>
          <p:cNvPr id="259"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60" name="۱۹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۲۱</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61" name="تغییر WER نسبت به مدل چندشرایطی، بر حسب واحد درصد"/>
          <p:cNvSpPr/>
          <p:nvPr/>
        </p:nvSpPr>
        <p:spPr>
          <a:xfrm>
            <a:off x="685800" y="1619280"/>
            <a:ext cx="10815480" cy="566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950" spc="-1" strike="noStrike">
                <a:solidFill>
                  <a:srgbClr val="153d42"/>
                </a:solidFill>
                <a:latin typeface="Vazirmatn"/>
                <a:cs typeface="Vazirmatn"/>
              </a:rPr>
              <a:t>تغییر </a:t>
            </a:r>
            <a:r>
              <a:rPr b="0" lang="en-US" sz="1950" spc="-1" strike="noStrike">
                <a:solidFill>
                  <a:srgbClr val="153d42"/>
                </a:solidFill>
                <a:latin typeface="Vazirmatn"/>
                <a:ea typeface="Vazirmatn"/>
              </a:rPr>
              <a:t>WER</a:t>
            </a:r>
            <a:r>
              <a:rPr b="0" lang="en-US" sz="1950" spc="-1" strike="noStrike">
                <a:solidFill>
                  <a:srgbClr val="153d42"/>
                </a:solidFill>
                <a:latin typeface="Vazirmatn"/>
                <a:ea typeface="Vazirmatn"/>
              </a:rPr>
              <a:t> نسبت به مدل چندشرایطی (واحد درصد)</a:t>
            </a:r>
            <a:endParaRPr b="0" lang="en-US" sz="1950" spc="-1" strike="noStrike">
              <a:solidFill>
                <a:srgbClr val="000000"/>
              </a:solidFill>
              <a:latin typeface="Arial"/>
            </a:endParaRPr>
          </a:p>
        </p:txBody>
      </p:sp>
      <p:graphicFrame>
        <p:nvGraphicFramePr>
          <p:cNvPr id="262" name="Chart"/>
          <p:cNvGraphicFramePr/>
          <p:nvPr/>
        </p:nvGraphicFramePr>
        <p:xfrm>
          <a:off x="685800" y="2276640"/>
          <a:ext cx="10815480" cy="3204720"/>
        </p:xfrm>
        <a:graphic>
          <a:graphicData uri="http://schemas.openxmlformats.org/drawingml/2006/chart">
            <c:chart xmlns:c="http://schemas.openxmlformats.org/drawingml/2006/chart" xmlns:r="http://schemas.openxmlformats.org/officeDocument/2006/relationships" r:id="rId1"/>
          </a:graphicData>
        </a:graphic>
      </p:graphicFrame>
      <p:sp>
        <p:nvSpPr>
          <p:cNvPr id="263" name="مقدار منفی یعنی بهبود. تغییر = با ایران‌صدا منهای خط مبنای چندشرایطی"/>
          <p:cNvSpPr/>
          <p:nvPr/>
        </p:nvSpPr>
        <p:spPr>
          <a:xfrm>
            <a:off x="685800" y="5505480"/>
            <a:ext cx="10815480" cy="423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d6f8a"/>
                </a:solidFill>
                <a:latin typeface="Vazirmatn"/>
                <a:cs typeface="Vazirmatn"/>
              </a:rPr>
              <a:t>مقدار منفی یعنی بهبود. تغییر = با ایران‌صدا منهای خط مبنای چندشرایطی</a:t>
            </a:r>
            <a:endParaRPr b="0" lang="en-US" sz="1800" spc="-1" strike="noStrike">
              <a:solidFill>
                <a:srgbClr val="000000"/>
              </a:solidFill>
              <a:latin typeface="Arial"/>
            </a:endParaRPr>
          </a:p>
        </p:txBody>
      </p:sp>
      <p:sp>
        <p:nvSpPr>
          <p:cNvPr id="264" name="تجمیعی: WER از ۱۷٫۸۳٪ به ۱۷٫۲۲٪ و CER از ۷٫۹۳٪ به ۷٫۷۰٪ رسید"/>
          <p:cNvSpPr/>
          <p:nvPr/>
        </p:nvSpPr>
        <p:spPr>
          <a:xfrm>
            <a:off x="685800" y="5952960"/>
            <a:ext cx="10815480" cy="242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تجمیعی: </a:t>
            </a:r>
            <a:r>
              <a:rPr b="0" lang="en-US" sz="1500" spc="-1" strike="noStrike">
                <a:solidFill>
                  <a:srgbClr val="52606d"/>
                </a:solidFill>
                <a:latin typeface="Vazirmatn"/>
                <a:ea typeface="Vazirmatn"/>
              </a:rPr>
              <a:t>WER</a:t>
            </a:r>
            <a:r>
              <a:rPr b="0" lang="en-US" sz="1500" spc="-1" strike="noStrike">
                <a:solidFill>
                  <a:srgbClr val="52606d"/>
                </a:solidFill>
                <a:latin typeface="Vazirmatn"/>
                <a:ea typeface="Vazirmatn"/>
              </a:rPr>
              <a:t> از </a:t>
            </a:r>
            <a:r>
              <a:rPr b="0" lang="fa-IR" sz="1500" spc="-1" strike="noStrike">
                <a:solidFill>
                  <a:srgbClr val="52606d"/>
                </a:solidFill>
                <a:latin typeface="Vazirmatn"/>
                <a:cs typeface="Vazirmatn"/>
              </a:rPr>
              <a:t>۱۷٫۸۳</a:t>
            </a:r>
            <a:r>
              <a:rPr b="0" lang="fa-IR" sz="1500" spc="-1" strike="noStrike">
                <a:solidFill>
                  <a:srgbClr val="52606d"/>
                </a:solidFill>
                <a:latin typeface="Vazirmatn"/>
                <a:cs typeface="Vazirmatn"/>
              </a:rPr>
              <a:t>٪ به </a:t>
            </a:r>
            <a:r>
              <a:rPr b="0" lang="fa-IR" sz="1500" spc="-1" strike="noStrike">
                <a:solidFill>
                  <a:srgbClr val="52606d"/>
                </a:solidFill>
                <a:latin typeface="Vazirmatn"/>
                <a:cs typeface="Vazirmatn"/>
              </a:rPr>
              <a:t>۱۷٫۲۲</a:t>
            </a:r>
            <a:r>
              <a:rPr b="0" lang="fa-IR" sz="1500" spc="-1" strike="noStrike">
                <a:solidFill>
                  <a:srgbClr val="52606d"/>
                </a:solidFill>
                <a:latin typeface="Vazirmatn"/>
                <a:cs typeface="Vazirmatn"/>
              </a:rPr>
              <a:t>٪ و </a:t>
            </a:r>
            <a:r>
              <a:rPr b="0" lang="en-US" sz="1500" spc="-1" strike="noStrike">
                <a:solidFill>
                  <a:srgbClr val="52606d"/>
                </a:solidFill>
                <a:latin typeface="Vazirmatn"/>
                <a:ea typeface="Vazirmatn"/>
              </a:rPr>
              <a:t>CER</a:t>
            </a:r>
            <a:r>
              <a:rPr b="0" lang="en-US" sz="1500" spc="-1" strike="noStrike">
                <a:solidFill>
                  <a:srgbClr val="52606d"/>
                </a:solidFill>
                <a:latin typeface="Vazirmatn"/>
                <a:ea typeface="Vazirmatn"/>
              </a:rPr>
              <a:t> از </a:t>
            </a:r>
            <a:r>
              <a:rPr b="0" lang="fa-IR" sz="1500" spc="-1" strike="noStrike">
                <a:solidFill>
                  <a:srgbClr val="52606d"/>
                </a:solidFill>
                <a:latin typeface="Vazirmatn"/>
                <a:cs typeface="Vazirmatn"/>
              </a:rPr>
              <a:t>۷٫۹۳</a:t>
            </a:r>
            <a:r>
              <a:rPr b="0" lang="fa-IR" sz="1500" spc="-1" strike="noStrike">
                <a:solidFill>
                  <a:srgbClr val="52606d"/>
                </a:solidFill>
                <a:latin typeface="Vazirmatn"/>
                <a:cs typeface="Vazirmatn"/>
              </a:rPr>
              <a:t>٪ به </a:t>
            </a:r>
            <a:r>
              <a:rPr b="0" lang="fa-IR" sz="1500" spc="-1" strike="noStrike">
                <a:solidFill>
                  <a:srgbClr val="52606d"/>
                </a:solidFill>
                <a:latin typeface="Vazirmatn"/>
                <a:cs typeface="Vazirmatn"/>
              </a:rPr>
              <a:t>۷٫۷۰</a:t>
            </a:r>
            <a:r>
              <a:rPr b="0" lang="fa-IR" sz="1500" spc="-1" strike="noStrike">
                <a:solidFill>
                  <a:srgbClr val="52606d"/>
                </a:solidFill>
                <a:latin typeface="Vazirmatn"/>
                <a:cs typeface="Vazirmatn"/>
              </a:rPr>
              <a:t>٪ رسید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65" name="جمع‌بندی شواهد"/>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جمع‌بندی شواهد</a:t>
            </a:r>
            <a:endParaRPr b="0" lang="en-US" sz="1350" spc="-1" strike="noStrike">
              <a:solidFill>
                <a:srgbClr val="000000"/>
              </a:solidFill>
              <a:latin typeface="Arial"/>
            </a:endParaRPr>
          </a:p>
        </p:txBody>
      </p:sp>
      <p:sp>
        <p:nvSpPr>
          <p:cNvPr id="266" name="نتیجه آزمایش‌های اصلی ویسپر کوچک"/>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نتیجه آزمایش‌های اصلی ویسپر کوچک</a:t>
            </a:r>
            <a:endParaRPr b="0" lang="en-US" sz="3150" spc="-1" strike="noStrike">
              <a:solidFill>
                <a:srgbClr val="000000"/>
              </a:solidFill>
              <a:latin typeface="Arial"/>
            </a:endParaRPr>
          </a:p>
        </p:txBody>
      </p:sp>
      <p:sp>
        <p:nvSpPr>
          <p:cNvPr id="267"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68" name="۲۰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۲۲</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graphicFrame>
        <p:nvGraphicFramePr>
          <p:cNvPr id="269" name=""/>
          <p:cNvGraphicFramePr/>
          <p:nvPr/>
        </p:nvGraphicFramePr>
        <p:xfrm>
          <a:off x="685800" y="2143080"/>
          <a:ext cx="10819800" cy="2952000"/>
        </p:xfrm>
        <a:graphic>
          <a:graphicData uri="http://schemas.openxmlformats.org/drawingml/2006/table">
            <a:tbl>
              <a:tblPr/>
              <a:tblGrid>
                <a:gridCol w="2952720"/>
                <a:gridCol w="2952720"/>
                <a:gridCol w="4914720"/>
              </a:tblGrid>
              <a:tr h="590400">
                <a:tc>
                  <a:txBody>
                    <a:bodyPr anchor="ctr">
                      <a:noAutofit/>
                    </a:bodyPr>
                    <a:p>
                      <a:pPr algn="ctr" rtl="1">
                        <a:lnSpc>
                          <a:spcPct val="100000"/>
                        </a:lnSpc>
                      </a:pPr>
                      <a:r>
                        <a:rPr b="1" lang="en-US" sz="1650" spc="-1" strike="noStrike">
                          <a:solidFill>
                            <a:srgbClr val="f7f6f2"/>
                          </a:solidFill>
                          <a:latin typeface="Vazirmatn"/>
                          <a:ea typeface="Vazirmatn"/>
                        </a:rPr>
                        <a:t>WER</a:t>
                      </a:r>
                      <a:r>
                        <a:rPr b="1" lang="en-US" sz="1650" spc="-1" strike="noStrike">
                          <a:solidFill>
                            <a:srgbClr val="f7f6f2"/>
                          </a:solidFill>
                          <a:latin typeface="Vazirmatn"/>
                          <a:ea typeface="Vazirmatn"/>
                        </a:rPr>
                        <a:t> </a:t>
                      </a:r>
                      <a:r>
                        <a:rPr b="1" lang="fa-IR" sz="1650" spc="-1" strike="noStrike">
                          <a:solidFill>
                            <a:srgbClr val="f7f6f2"/>
                          </a:solidFill>
                          <a:latin typeface="Vazirmatn"/>
                          <a:cs typeface="Vazirmatn"/>
                        </a:rPr>
                        <a:t>تماس واقعی (٪)</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en-US" sz="1650" spc="-1" strike="noStrike">
                          <a:solidFill>
                            <a:srgbClr val="f7f6f2"/>
                          </a:solidFill>
                          <a:latin typeface="Vazirmatn"/>
                          <a:ea typeface="Vazirmatn"/>
                        </a:rPr>
                        <a:t>WER</a:t>
                      </a:r>
                      <a:r>
                        <a:rPr b="1" lang="en-US" sz="1650" spc="-1" strike="noStrike">
                          <a:solidFill>
                            <a:srgbClr val="f7f6f2"/>
                          </a:solidFill>
                          <a:latin typeface="Vazirmatn"/>
                          <a:ea typeface="Vazirmatn"/>
                        </a:rPr>
                        <a:t> </a:t>
                      </a:r>
                      <a:r>
                        <a:rPr b="1" lang="fa-IR" sz="1650" spc="-1" strike="noStrike">
                          <a:solidFill>
                            <a:srgbClr val="f7f6f2"/>
                          </a:solidFill>
                          <a:latin typeface="Vazirmatn"/>
                          <a:cs typeface="Vazirmatn"/>
                        </a:rPr>
                        <a:t>تجمیعی (٪)</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800" spc="-1" strike="noStrike">
                          <a:solidFill>
                            <a:srgbClr val="f7f6f2"/>
                          </a:solidFill>
                          <a:latin typeface="Vazirmatn"/>
                          <a:cs typeface="Vazirmatn"/>
                        </a:rPr>
                        <a:t>سامانه ویسپر کوچک</a:t>
                      </a:r>
                      <a:endParaRPr b="0" lang="en-US" sz="180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590400">
                <a:tc>
                  <a:txBody>
                    <a:bodyPr anchor="ctr">
                      <a:noAutofit/>
                    </a:bodyPr>
                    <a:p>
                      <a:pPr algn="ctr" rtl="1">
                        <a:lnSpc>
                          <a:spcPct val="100000"/>
                        </a:lnSpc>
                      </a:pPr>
                      <a:r>
                        <a:rPr b="0" lang="fa-IR" sz="2100" spc="-1" strike="noStrike">
                          <a:solidFill>
                            <a:srgbClr val="1f2933"/>
                          </a:solidFill>
                          <a:latin typeface="Vazirmatn"/>
                          <a:cs typeface="Vazirmatn"/>
                        </a:rPr>
                        <a:t>۳۵٫۶۳٪</a:t>
                      </a:r>
                      <a:endParaRPr b="0" lang="en-US" sz="21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2100" spc="-1" strike="noStrike">
                          <a:solidFill>
                            <a:srgbClr val="1f2933"/>
                          </a:solidFill>
                          <a:latin typeface="Vazirmatn"/>
                          <a:cs typeface="Vazirmatn"/>
                        </a:rPr>
                        <a:t>۲۳٫۲۷٪</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2100" spc="-1" strike="noStrike">
                          <a:solidFill>
                            <a:srgbClr val="1f2933"/>
                          </a:solidFill>
                          <a:latin typeface="Vazirmatn"/>
                          <a:cs typeface="Vazirmatn"/>
                        </a:rPr>
                        <a:t>معمولی</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90400">
                <a:tc>
                  <a:txBody>
                    <a:bodyPr anchor="ctr">
                      <a:noAutofit/>
                    </a:bodyPr>
                    <a:p>
                      <a:pPr algn="ctr" rtl="1">
                        <a:lnSpc>
                          <a:spcPct val="100000"/>
                        </a:lnSpc>
                      </a:pPr>
                      <a:r>
                        <a:rPr b="0" lang="fa-IR" sz="2100" spc="-1" strike="noStrike">
                          <a:solidFill>
                            <a:srgbClr val="1f2933"/>
                          </a:solidFill>
                          <a:latin typeface="Vazirmatn"/>
                          <a:cs typeface="Vazirmatn"/>
                        </a:rPr>
                        <a:t>۲۵٫۸۰٪</a:t>
                      </a:r>
                      <a:endParaRPr b="0" lang="en-US" sz="21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2100" spc="-1" strike="noStrike">
                          <a:solidFill>
                            <a:srgbClr val="1f2933"/>
                          </a:solidFill>
                          <a:latin typeface="Vazirmatn"/>
                          <a:cs typeface="Vazirmatn"/>
                        </a:rPr>
                        <a:t>۱۷٫۸۳٪</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2100" spc="-1" strike="noStrike">
                          <a:solidFill>
                            <a:srgbClr val="1f2933"/>
                          </a:solidFill>
                          <a:latin typeface="Vazirmatn"/>
                          <a:cs typeface="Vazirmatn"/>
                        </a:rPr>
                        <a:t>چندشرایطی</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90400">
                <a:tc>
                  <a:txBody>
                    <a:bodyPr anchor="ctr">
                      <a:noAutofit/>
                    </a:bodyPr>
                    <a:p>
                      <a:pPr algn="ctr" rtl="1">
                        <a:lnSpc>
                          <a:spcPct val="100000"/>
                        </a:lnSpc>
                      </a:pPr>
                      <a:r>
                        <a:rPr b="1" lang="fa-IR" sz="2170" spc="-1" strike="noStrike">
                          <a:solidFill>
                            <a:srgbClr val="1d6f8a"/>
                          </a:solidFill>
                          <a:latin typeface="Vazirmatn"/>
                          <a:cs typeface="Vazirmatn"/>
                        </a:rPr>
                        <a:t>۲۵٫۳۷٪</a:t>
                      </a:r>
                      <a:endParaRPr b="0" lang="en-US" sz="217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e8f3f6"/>
                    </a:solidFill>
                  </a:tcPr>
                </a:tc>
                <a:tc>
                  <a:txBody>
                    <a:bodyPr anchor="ctr">
                      <a:noAutofit/>
                    </a:bodyPr>
                    <a:p>
                      <a:pPr algn="ctr" rtl="1">
                        <a:lnSpc>
                          <a:spcPct val="100000"/>
                        </a:lnSpc>
                      </a:pPr>
                      <a:r>
                        <a:rPr b="0" lang="fa-IR" sz="2100" spc="-1" strike="noStrike">
                          <a:solidFill>
                            <a:srgbClr val="1f2933"/>
                          </a:solidFill>
                          <a:latin typeface="Vazirmatn"/>
                          <a:cs typeface="Vazirmatn"/>
                        </a:rPr>
                        <a:t>۱۷٫۶۴٪</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2100" spc="-1" strike="noStrike">
                          <a:solidFill>
                            <a:srgbClr val="1f2933"/>
                          </a:solidFill>
                          <a:latin typeface="Vazirmatn"/>
                          <a:cs typeface="Vazirmatn"/>
                        </a:rPr>
                        <a:t>همجوشی پیشنهادی</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90400">
                <a:tc>
                  <a:txBody>
                    <a:bodyPr anchor="ctr">
                      <a:noAutofit/>
                    </a:bodyPr>
                    <a:p>
                      <a:pPr algn="ctr" rtl="1">
                        <a:lnSpc>
                          <a:spcPct val="100000"/>
                        </a:lnSpc>
                      </a:pPr>
                      <a:r>
                        <a:rPr b="0" lang="fa-IR" sz="2100" spc="-1" strike="noStrike">
                          <a:solidFill>
                            <a:srgbClr val="1f2933"/>
                          </a:solidFill>
                          <a:latin typeface="Vazirmatn"/>
                          <a:cs typeface="Vazirmatn"/>
                        </a:rPr>
                        <a:t>۲۶٫۶۶٪</a:t>
                      </a:r>
                      <a:endParaRPr b="0" lang="en-US" sz="21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2170" spc="-1" strike="noStrike">
                          <a:solidFill>
                            <a:srgbClr val="1d6f8a"/>
                          </a:solidFill>
                          <a:latin typeface="Vazirmatn"/>
                          <a:cs typeface="Vazirmatn"/>
                        </a:rPr>
                        <a:t>۱۷٫۲۲٪</a:t>
                      </a:r>
                      <a:endParaRPr b="0" lang="en-US" sz="21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e8f3f6"/>
                    </a:solidFill>
                  </a:tcPr>
                </a:tc>
                <a:tc>
                  <a:txBody>
                    <a:bodyPr anchor="ctr">
                      <a:noAutofit/>
                    </a:bodyPr>
                    <a:p>
                      <a:pPr algn="r" rtl="1">
                        <a:lnSpc>
                          <a:spcPct val="100000"/>
                        </a:lnSpc>
                      </a:pPr>
                      <a:r>
                        <a:rPr b="0" lang="fa-IR" sz="2100" spc="-1" strike="noStrike">
                          <a:solidFill>
                            <a:srgbClr val="1f2933"/>
                          </a:solidFill>
                          <a:latin typeface="Vazirmatn"/>
                          <a:cs typeface="Vazirmatn"/>
                        </a:rPr>
                        <a:t>چندشرایطی و ایران‌صدا</a:t>
                      </a:r>
                      <a:endParaRPr b="0" lang="en-US" sz="21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270" name="کمترین خطای تماس واقعی: همجوشی"/>
          <p:cNvSpPr/>
          <p:nvPr/>
        </p:nvSpPr>
        <p:spPr>
          <a:xfrm>
            <a:off x="685800" y="5381640"/>
            <a:ext cx="518616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کمترین خطای تماس واقعی: همجوشی</a:t>
            </a:r>
            <a:endParaRPr b="0" lang="en-US" sz="1870" spc="-1" strike="noStrike">
              <a:solidFill>
                <a:srgbClr val="000000"/>
              </a:solidFill>
              <a:latin typeface="Arial"/>
            </a:endParaRPr>
          </a:p>
        </p:txBody>
      </p:sp>
      <p:sp>
        <p:nvSpPr>
          <p:cNvPr id="271" name="کمترین خطای تجمیعی: ایران‌صدا"/>
          <p:cNvSpPr/>
          <p:nvPr/>
        </p:nvSpPr>
        <p:spPr>
          <a:xfrm>
            <a:off x="6315120" y="5381640"/>
            <a:ext cx="5186160" cy="518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70" spc="-1" strike="noStrike">
                <a:solidFill>
                  <a:srgbClr val="1d6f8a"/>
                </a:solidFill>
                <a:latin typeface="Vazirmatn"/>
                <a:cs typeface="Vazirmatn"/>
              </a:rPr>
              <a:t>کمترین خطای تجمیعی: ایران‌صدا</a:t>
            </a:r>
            <a:endParaRPr b="0" lang="en-US" sz="1870" spc="-1" strike="noStrike">
              <a:solidFill>
                <a:srgbClr val="000000"/>
              </a:solidFill>
              <a:latin typeface="Arial"/>
            </a:endParaRPr>
          </a:p>
        </p:txBody>
      </p:sp>
      <p:sp>
        <p:nvSpPr>
          <p:cNvPr id="272" name="ویسپر متوسط: ۱۴٫۳۶٪ تجمیعی و ۲۱٫۹۹٪ تماس واقعی، با ظرفیت و آموزش متفاوت"/>
          <p:cNvSpPr/>
          <p:nvPr/>
        </p:nvSpPr>
        <p:spPr>
          <a:xfrm>
            <a:off x="685800" y="6067440"/>
            <a:ext cx="10815480" cy="261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ویسپر متوسط: </a:t>
            </a:r>
            <a:r>
              <a:rPr b="0" lang="fa-IR" sz="1500" spc="-1" strike="noStrike">
                <a:solidFill>
                  <a:srgbClr val="52606d"/>
                </a:solidFill>
                <a:latin typeface="Vazirmatn"/>
                <a:cs typeface="Vazirmatn"/>
              </a:rPr>
              <a:t>۱۴٫۳۶</a:t>
            </a:r>
            <a:r>
              <a:rPr b="0" lang="fa-IR" sz="1500" spc="-1" strike="noStrike">
                <a:solidFill>
                  <a:srgbClr val="52606d"/>
                </a:solidFill>
                <a:latin typeface="Vazirmatn"/>
                <a:cs typeface="Vazirmatn"/>
              </a:rPr>
              <a:t>٪ تجمیعی و </a:t>
            </a:r>
            <a:r>
              <a:rPr b="0" lang="fa-IR" sz="1500" spc="-1" strike="noStrike">
                <a:solidFill>
                  <a:srgbClr val="52606d"/>
                </a:solidFill>
                <a:latin typeface="Vazirmatn"/>
                <a:cs typeface="Vazirmatn"/>
              </a:rPr>
              <a:t>۲۱٫۹۹</a:t>
            </a:r>
            <a:r>
              <a:rPr b="0" lang="fa-IR" sz="1500" spc="-1" strike="noStrike">
                <a:solidFill>
                  <a:srgbClr val="52606d"/>
                </a:solidFill>
                <a:latin typeface="Vazirmatn"/>
                <a:cs typeface="Vazirmatn"/>
              </a:rPr>
              <a:t>٪ تماس واقعی، با ظرفیت متفاوت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73" name="بحث و ادامه پژوهش"/>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بحث و ادامه پژوهش</a:t>
            </a:r>
            <a:endParaRPr b="0" lang="en-US" sz="1350" spc="-1" strike="noStrike">
              <a:solidFill>
                <a:srgbClr val="000000"/>
              </a:solidFill>
              <a:latin typeface="Arial"/>
            </a:endParaRPr>
          </a:p>
        </p:txBody>
      </p:sp>
      <p:sp>
        <p:nvSpPr>
          <p:cNvPr id="274" name="کارهای آینده"/>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کارهای آینده</a:t>
            </a:r>
            <a:endParaRPr b="0" lang="en-US" sz="3150" spc="-1" strike="noStrike">
              <a:solidFill>
                <a:srgbClr val="000000"/>
              </a:solidFill>
              <a:latin typeface="Arial"/>
            </a:endParaRPr>
          </a:p>
        </p:txBody>
      </p:sp>
      <p:sp>
        <p:nvSpPr>
          <p:cNvPr id="275"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76" name="۲۱ از ۲۲"/>
          <p:cNvSpPr/>
          <p:nvPr/>
        </p:nvSpPr>
        <p:spPr>
          <a:xfrm>
            <a:off x="685800" y="6486480"/>
            <a:ext cx="947520" cy="23292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7b8794"/>
                </a:solidFill>
                <a:latin typeface="Vazirmatn"/>
                <a:cs typeface="Vazirmatn"/>
              </a:rPr>
              <a:t>۲۳</a:t>
            </a:r>
            <a:r>
              <a:rPr b="0" lang="en-US" sz="1200" spc="-1" strike="noStrike">
                <a:solidFill>
                  <a:srgbClr val="7b8794"/>
                </a:solidFill>
                <a:latin typeface="Vazirmatn"/>
                <a:ea typeface="Vazirmatn"/>
              </a:rPr>
              <a:t> از </a:t>
            </a:r>
            <a:r>
              <a:rPr b="0" lang="fa-IR" sz="1200" spc="-1" strike="noStrike">
                <a:solidFill>
                  <a:srgbClr val="7b8794"/>
                </a:solidFill>
                <a:latin typeface="Vazirmatn"/>
                <a:cs typeface="Vazirmatn"/>
              </a:rPr>
              <a:t>۲۴</a:t>
            </a:r>
            <a:endParaRPr b="0" lang="en-US" sz="1200" spc="-1" strike="noStrike">
              <a:solidFill>
                <a:srgbClr val="000000"/>
              </a:solidFill>
              <a:latin typeface="Arial"/>
            </a:endParaRPr>
          </a:p>
        </p:txBody>
      </p:sp>
      <p:sp>
        <p:nvSpPr>
          <p:cNvPr id="277" name="۱"/>
          <p:cNvSpPr/>
          <p:nvPr/>
        </p:nvSpPr>
        <p:spPr>
          <a:xfrm>
            <a:off x="10839600" y="1952640"/>
            <a:ext cx="66168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670" spc="-1" strike="noStrike">
                <a:solidFill>
                  <a:srgbClr val="1d6f8a"/>
                </a:solidFill>
                <a:latin typeface="Vazirmatn"/>
                <a:cs typeface="Vazirmatn"/>
              </a:rPr>
              <a:t>۱</a:t>
            </a:r>
            <a:endParaRPr b="0" lang="en-US" sz="3670" spc="-1" strike="noStrike">
              <a:solidFill>
                <a:srgbClr val="000000"/>
              </a:solidFill>
              <a:latin typeface="Arial"/>
            </a:endParaRPr>
          </a:p>
        </p:txBody>
      </p:sp>
      <p:sp>
        <p:nvSpPr>
          <p:cNvPr id="278" name="سهم مستقل تخریب‌ها"/>
          <p:cNvSpPr/>
          <p:nvPr/>
        </p:nvSpPr>
        <p:spPr>
          <a:xfrm>
            <a:off x="7095960" y="1952640"/>
            <a:ext cx="335736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سهم مستقل تخریب‌ها</a:t>
            </a:r>
            <a:endParaRPr b="0" lang="en-US" sz="2170" spc="-1" strike="noStrike">
              <a:solidFill>
                <a:srgbClr val="000000"/>
              </a:solidFill>
              <a:latin typeface="Arial"/>
            </a:endParaRPr>
          </a:p>
        </p:txBody>
      </p:sp>
      <p:sp>
        <p:nvSpPr>
          <p:cNvPr id="279" name="سنجش اثر جداگانه نویز، کدک و افت بسته&#10;آزمایش حذفی هر تخریب با تنظیمات آموزش یکسان"/>
          <p:cNvSpPr/>
          <p:nvPr/>
        </p:nvSpPr>
        <p:spPr>
          <a:xfrm>
            <a:off x="685800" y="1952640"/>
            <a:ext cx="595764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سنجش اثر جداگانه نویز، کدک و افت بسته</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آزمایش حذفی هر تخریب با تنظیمات آموزش یکسان</a:t>
            </a:r>
            <a:endParaRPr b="0" lang="en-US" sz="1800" spc="-1" strike="noStrike">
              <a:solidFill>
                <a:srgbClr val="000000"/>
              </a:solidFill>
              <a:latin typeface="Arial"/>
            </a:endParaRPr>
          </a:p>
        </p:txBody>
      </p:sp>
      <p:sp>
        <p:nvSpPr>
          <p:cNvPr id="280" name=""/>
          <p:cNvSpPr/>
          <p:nvPr/>
        </p:nvSpPr>
        <p:spPr>
          <a:xfrm>
            <a:off x="685800" y="280980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81" name="۲"/>
          <p:cNvSpPr/>
          <p:nvPr/>
        </p:nvSpPr>
        <p:spPr>
          <a:xfrm>
            <a:off x="10839600" y="2943360"/>
            <a:ext cx="66168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670" spc="-1" strike="noStrike">
                <a:solidFill>
                  <a:srgbClr val="1d6f8a"/>
                </a:solidFill>
                <a:latin typeface="Vazirmatn"/>
                <a:cs typeface="Vazirmatn"/>
              </a:rPr>
              <a:t>۲</a:t>
            </a:r>
            <a:endParaRPr b="0" lang="en-US" sz="3670" spc="-1" strike="noStrike">
              <a:solidFill>
                <a:srgbClr val="000000"/>
              </a:solidFill>
              <a:latin typeface="Arial"/>
            </a:endParaRPr>
          </a:p>
        </p:txBody>
      </p:sp>
      <p:sp>
        <p:nvSpPr>
          <p:cNvPr id="282" name="اثر معماری و برنامه آموزش"/>
          <p:cNvSpPr/>
          <p:nvPr/>
        </p:nvSpPr>
        <p:spPr>
          <a:xfrm>
            <a:off x="7095960" y="2943360"/>
            <a:ext cx="335736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اثر معماری و برنامه آموزش</a:t>
            </a:r>
            <a:endParaRPr b="0" lang="en-US" sz="2170" spc="-1" strike="noStrike">
              <a:solidFill>
                <a:srgbClr val="000000"/>
              </a:solidFill>
              <a:latin typeface="Arial"/>
            </a:endParaRPr>
          </a:p>
        </p:txBody>
      </p:sp>
      <p:sp>
        <p:nvSpPr>
          <p:cNvPr id="283" name="تفکیک اثر معماری از برنامه آموزش&#10;مقایسه همجوشی با خط مبنا تحت آموزش یکسان"/>
          <p:cNvSpPr/>
          <p:nvPr/>
        </p:nvSpPr>
        <p:spPr>
          <a:xfrm>
            <a:off x="685800" y="2943360"/>
            <a:ext cx="595764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تفکیک اثر معماری از برنامه آموزش</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مقایسه همجوشی با خط مبنا تحت آموزش یکسان</a:t>
            </a:r>
            <a:endParaRPr b="0" lang="en-US" sz="1800" spc="-1" strike="noStrike">
              <a:solidFill>
                <a:srgbClr val="000000"/>
              </a:solidFill>
              <a:latin typeface="Arial"/>
            </a:endParaRPr>
          </a:p>
        </p:txBody>
      </p:sp>
      <p:sp>
        <p:nvSpPr>
          <p:cNvPr id="284" name=""/>
          <p:cNvSpPr/>
          <p:nvPr/>
        </p:nvSpPr>
        <p:spPr>
          <a:xfrm>
            <a:off x="685800" y="380016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85" name="۳"/>
          <p:cNvSpPr/>
          <p:nvPr/>
        </p:nvSpPr>
        <p:spPr>
          <a:xfrm>
            <a:off x="10839600" y="3933720"/>
            <a:ext cx="66168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670" spc="-1" strike="noStrike">
                <a:solidFill>
                  <a:srgbClr val="1d6f8a"/>
                </a:solidFill>
                <a:latin typeface="Vazirmatn"/>
                <a:cs typeface="Vazirmatn"/>
              </a:rPr>
              <a:t>۳</a:t>
            </a:r>
            <a:endParaRPr b="0" lang="en-US" sz="3670" spc="-1" strike="noStrike">
              <a:solidFill>
                <a:srgbClr val="000000"/>
              </a:solidFill>
              <a:latin typeface="Arial"/>
            </a:endParaRPr>
          </a:p>
        </p:txBody>
      </p:sp>
      <p:sp>
        <p:nvSpPr>
          <p:cNvPr id="286" name="کیفیت و تناسب داده"/>
          <p:cNvSpPr/>
          <p:nvPr/>
        </p:nvSpPr>
        <p:spPr>
          <a:xfrm>
            <a:off x="7095960" y="3933720"/>
            <a:ext cx="335736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کیفیت و تناسب داده</a:t>
            </a:r>
            <a:endParaRPr b="0" lang="en-US" sz="2170" spc="-1" strike="noStrike">
              <a:solidFill>
                <a:srgbClr val="000000"/>
              </a:solidFill>
              <a:latin typeface="Arial"/>
            </a:endParaRPr>
          </a:p>
        </p:txBody>
      </p:sp>
      <p:sp>
        <p:nvSpPr>
          <p:cNvPr id="287" name="ممیزی انسانی متن معلم و اصلاح‌های مدل زبانی&#10;آزمایش نسبت داده و گفتار نزدیک به تماس"/>
          <p:cNvSpPr/>
          <p:nvPr/>
        </p:nvSpPr>
        <p:spPr>
          <a:xfrm>
            <a:off x="685800" y="3933720"/>
            <a:ext cx="595764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ممیزی انسانی متن معلم و اصلاح‌های مدل زبانی</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آزمایش نسبت داده و گفتار نزدیک به تماس</a:t>
            </a:r>
            <a:endParaRPr b="0" lang="en-US" sz="1800" spc="-1" strike="noStrike">
              <a:solidFill>
                <a:srgbClr val="000000"/>
              </a:solidFill>
              <a:latin typeface="Arial"/>
            </a:endParaRPr>
          </a:p>
        </p:txBody>
      </p:sp>
      <p:sp>
        <p:nvSpPr>
          <p:cNvPr id="288" name="گسترش سناریوهای شبیه‌ساز و ایجاد مجموعه‌آزمون عمومی تماس واقعی"/>
          <p:cNvSpPr/>
          <p:nvPr/>
        </p:nvSpPr>
        <p:spPr>
          <a:xfrm>
            <a:off x="685800" y="6048360"/>
            <a:ext cx="10815480" cy="261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گسترش سناریوهای شبیه‌ساز و ایجاد مجموعه‌آزمون عمومی تماس واقعی</a:t>
            </a:r>
            <a:endParaRPr b="0" lang="en-US" sz="1500" spc="-1" strike="noStrike">
              <a:solidFill>
                <a:srgbClr val="000000"/>
              </a:solidFill>
              <a:latin typeface="Arial"/>
            </a:endParaRPr>
          </a:p>
        </p:txBody>
      </p:sp>
      <p:sp>
        <p:nvSpPr>
          <p:cNvPr id="289" name=""/>
          <p:cNvSpPr/>
          <p:nvPr/>
        </p:nvSpPr>
        <p:spPr>
          <a:xfrm>
            <a:off x="685800" y="479088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sp>
        <p:nvSpPr>
          <p:cNvPr id="290" name="۴"/>
          <p:cNvSpPr/>
          <p:nvPr/>
        </p:nvSpPr>
        <p:spPr>
          <a:xfrm>
            <a:off x="10839600" y="4924440"/>
            <a:ext cx="66168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670" spc="-1" strike="noStrike">
                <a:solidFill>
                  <a:srgbClr val="1d6f8a"/>
                </a:solidFill>
                <a:latin typeface="Vazirmatn"/>
                <a:cs typeface="Vazirmatn"/>
              </a:rPr>
              <a:t>۴</a:t>
            </a:r>
            <a:endParaRPr b="0" lang="en-US" sz="3670" spc="-1" strike="noStrike">
              <a:solidFill>
                <a:srgbClr val="000000"/>
              </a:solidFill>
              <a:latin typeface="Arial"/>
            </a:endParaRPr>
          </a:p>
        </p:txBody>
      </p:sp>
      <p:sp>
        <p:nvSpPr>
          <p:cNvPr id="291" name="ترکیب روش‌های پیشنهادی"/>
          <p:cNvSpPr/>
          <p:nvPr/>
        </p:nvSpPr>
        <p:spPr>
          <a:xfrm>
            <a:off x="7095960" y="4924440"/>
            <a:ext cx="335736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70" spc="-1" strike="noStrike">
                <a:solidFill>
                  <a:srgbClr val="153d42"/>
                </a:solidFill>
                <a:latin typeface="Vazirmatn"/>
                <a:cs typeface="Vazirmatn"/>
              </a:rPr>
              <a:t>ترکیب روش‌های پیشنهادی</a:t>
            </a:r>
            <a:endParaRPr b="0" lang="en-US" sz="2170" spc="-1" strike="noStrike">
              <a:solidFill>
                <a:srgbClr val="000000"/>
              </a:solidFill>
              <a:latin typeface="Arial"/>
            </a:endParaRPr>
          </a:p>
        </p:txBody>
      </p:sp>
      <p:sp>
        <p:nvSpPr>
          <p:cNvPr id="292" name="به‌کارگیری همجوشی روی داده‌های ایران‌صدا&#10;آزمون ترکیب آن‌ها و سنجش سود احتمالی"/>
          <p:cNvSpPr/>
          <p:nvPr/>
        </p:nvSpPr>
        <p:spPr>
          <a:xfrm>
            <a:off x="685800" y="4924440"/>
            <a:ext cx="5957640" cy="720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به‌کارگیری همجوشی روی داده‌های ایران‌صدا</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آزمون ترکیب آن‌ها و سنجش سود احتمالی</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3d42"/>
        </a:solidFill>
      </p:bgPr>
    </p:bg>
    <p:spTree>
      <p:nvGrpSpPr>
        <p:cNvPr id="1" name=""/>
        <p:cNvGrpSpPr/>
        <p:nvPr/>
      </p:nvGrpSpPr>
      <p:grpSpPr>
        <a:xfrm>
          <a:off x="0" y="0"/>
          <a:ext cx="0" cy="0"/>
          <a:chOff x="0" y="0"/>
          <a:chExt cx="0" cy="0"/>
        </a:xfrm>
      </p:grpSpPr>
      <p:sp>
        <p:nvSpPr>
          <p:cNvPr id="293" name="نتیجه‌گیری و دستاوردهای پژوهش"/>
          <p:cNvSpPr/>
          <p:nvPr/>
        </p:nvSpPr>
        <p:spPr>
          <a:xfrm>
            <a:off x="4191120" y="285840"/>
            <a:ext cx="7313040" cy="302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b8d8db"/>
                </a:solidFill>
                <a:latin typeface="Vazirmatn"/>
                <a:cs typeface="Vazirmatn"/>
              </a:rPr>
              <a:t>نتیجه‌گیری و دستاوردهای پژوهش</a:t>
            </a:r>
            <a:endParaRPr b="0" lang="en-US" sz="1350" spc="-1" strike="noStrike">
              <a:solidFill>
                <a:srgbClr val="ffffff"/>
              </a:solidFill>
              <a:latin typeface="Arial"/>
            </a:endParaRPr>
          </a:p>
        </p:txBody>
      </p:sp>
      <p:sp>
        <p:nvSpPr>
          <p:cNvPr id="294" name="نوآوری‌ها و دستاوردهای پژوهش"/>
          <p:cNvSpPr/>
          <p:nvPr/>
        </p:nvSpPr>
        <p:spPr>
          <a:xfrm>
            <a:off x="685800" y="714240"/>
            <a:ext cx="10818360" cy="835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f7f6f2"/>
                </a:solidFill>
                <a:latin typeface="Vazirmatn"/>
                <a:cs typeface="Vazirmatn"/>
              </a:rPr>
              <a:t>نوآوری‌ها و دستاوردهای پژوهش</a:t>
            </a:r>
            <a:endParaRPr b="0" lang="en-US" sz="3150" spc="-1" strike="noStrike">
              <a:solidFill>
                <a:srgbClr val="ffffff"/>
              </a:solidFill>
              <a:latin typeface="Arial"/>
            </a:endParaRPr>
          </a:p>
        </p:txBody>
      </p:sp>
      <p:sp>
        <p:nvSpPr>
          <p:cNvPr id="295" name=""/>
          <p:cNvSpPr/>
          <p:nvPr/>
        </p:nvSpPr>
        <p:spPr>
          <a:xfrm>
            <a:off x="685800" y="6419520"/>
            <a:ext cx="10820160" cy="360"/>
          </a:xfrm>
          <a:prstGeom prst="line">
            <a:avLst/>
          </a:prstGeom>
          <a:ln w="9525">
            <a:solidFill>
              <a:srgbClr val="436268"/>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a typeface="Vazirmatn"/>
            </a:endParaRPr>
          </a:p>
        </p:txBody>
      </p:sp>
      <p:sp>
        <p:nvSpPr>
          <p:cNvPr id="296" name="۲۴ از ۲۴"/>
          <p:cNvSpPr/>
          <p:nvPr/>
        </p:nvSpPr>
        <p:spPr>
          <a:xfrm>
            <a:off x="685800" y="6486480"/>
            <a:ext cx="950400" cy="235800"/>
          </a:xfrm>
          <a:prstGeom prst="rect">
            <a:avLst/>
          </a:prstGeom>
          <a:noFill/>
          <a:ln w="0">
            <a:noFill/>
          </a:ln>
        </p:spPr>
        <p:style>
          <a:lnRef idx="0"/>
          <a:fillRef idx="0"/>
          <a:effectRef idx="0"/>
          <a:fontRef idx="minor"/>
        </p:style>
        <p:txBody>
          <a:bodyPr lIns="0" rIns="0" tIns="0" bIns="0" anchor="ctr">
            <a:noAutofit/>
          </a:bodyPr>
          <a:p>
            <a:pPr rtl="1">
              <a:lnSpc>
                <a:spcPct val="100000"/>
              </a:lnSpc>
            </a:pPr>
            <a:r>
              <a:rPr b="0" lang="fa-IR" sz="1200" spc="-1" strike="noStrike">
                <a:solidFill>
                  <a:srgbClr val="b8d8db"/>
                </a:solidFill>
                <a:latin typeface="Vazirmatn"/>
                <a:cs typeface="Vazirmatn"/>
              </a:rPr>
              <a:t>۲۴</a:t>
            </a:r>
            <a:r>
              <a:rPr b="0" lang="en-US" sz="1200" spc="-1" strike="noStrike">
                <a:solidFill>
                  <a:srgbClr val="b8d8db"/>
                </a:solidFill>
                <a:latin typeface="Vazirmatn"/>
                <a:ea typeface="Vazirmatn"/>
              </a:rPr>
              <a:t> از </a:t>
            </a:r>
            <a:r>
              <a:rPr b="0" lang="fa-IR" sz="1200" spc="-1" strike="noStrike">
                <a:solidFill>
                  <a:srgbClr val="b8d8db"/>
                </a:solidFill>
                <a:latin typeface="Vazirmatn"/>
                <a:cs typeface="Vazirmatn"/>
              </a:rPr>
              <a:t>۲۴</a:t>
            </a:r>
            <a:endParaRPr b="0" lang="en-US" sz="1200" spc="-1" strike="noStrike">
              <a:solidFill>
                <a:srgbClr val="ffffff"/>
              </a:solidFill>
              <a:latin typeface="Arial"/>
            </a:endParaRPr>
          </a:p>
        </p:txBody>
      </p:sp>
      <p:sp>
        <p:nvSpPr>
          <p:cNvPr id="297" name="native research bullets"/>
          <p:cNvSpPr/>
          <p:nvPr/>
        </p:nvSpPr>
        <p:spPr>
          <a:xfrm>
            <a:off x="857160" y="2019240"/>
            <a:ext cx="10456200" cy="3474360"/>
          </a:xfrm>
          <a:prstGeom prst="rect">
            <a:avLst/>
          </a:prstGeom>
          <a:noFill/>
          <a:ln w="0">
            <a:noFill/>
          </a:ln>
        </p:spPr>
        <p:style>
          <a:lnRef idx="0"/>
          <a:fillRef idx="0"/>
          <a:effectRef idx="0"/>
          <a:fontRef idx="minor"/>
        </p:style>
        <p:txBody>
          <a:bodyPr lIns="0" rIns="0" tIns="0" bIns="0" anchor="ctr">
            <a:noAutofit/>
          </a:bodyPr>
          <a:p>
            <a:pPr marL="279360" indent="-139680" algn="r" rtl="1">
              <a:lnSpc>
                <a:spcPct val="100000"/>
              </a:lnSpc>
              <a:spcAft>
                <a:spcPts val="2299"/>
              </a:spcAft>
              <a:buClr>
                <a:srgbClr val="f7f6f2"/>
              </a:buClr>
              <a:buFont typeface="Symbol" charset="2"/>
              <a:buChar char=""/>
            </a:pPr>
            <a:r>
              <a:rPr b="0" lang="hi-IN" sz="2170" spc="-1" strike="noStrike">
                <a:solidFill>
                  <a:srgbClr val="f7f6f2"/>
                </a:solidFill>
                <a:latin typeface="Vazirmatn"/>
                <a:cs typeface="Vazirmatn"/>
              </a:rPr>
              <a:t>طراحی خط لوله بازتولیدپذیر ساخت جفت‌های پاک و مخابراتی، با ثبت بذر و فراداده هر نمونه.</a:t>
            </a:r>
            <a:endParaRPr b="0" lang="en-US" sz="2170" spc="-1" strike="noStrike">
              <a:solidFill>
                <a:srgbClr val="ffffff"/>
              </a:solidFill>
              <a:latin typeface="Arial"/>
            </a:endParaRPr>
          </a:p>
          <a:p>
            <a:pPr marL="279360" indent="-139680" algn="r" rtl="1">
              <a:lnSpc>
                <a:spcPct val="100000"/>
              </a:lnSpc>
              <a:spcAft>
                <a:spcPts val="2299"/>
              </a:spcAft>
              <a:buClr>
                <a:srgbClr val="f7f6f2"/>
              </a:buClr>
              <a:buFont typeface="Symbol" charset="2"/>
              <a:buChar char=""/>
            </a:pPr>
            <a:r>
              <a:rPr b="0" lang="hi-IN" sz="2170" spc="-1" strike="noStrike">
                <a:solidFill>
                  <a:srgbClr val="f7f6f2"/>
                </a:solidFill>
                <a:latin typeface="Vazirmatn"/>
                <a:cs typeface="Vazirmatn"/>
              </a:rPr>
              <a:t>ارزیابی انتقال آموزش چندشرایطی به تماس واقعی فارسی و فراهم‌کردن خط مبنایی مقاوم برای مقایسه روش‌ها.</a:t>
            </a:r>
            <a:endParaRPr b="0" lang="en-US" sz="2170" spc="-1" strike="noStrike">
              <a:solidFill>
                <a:srgbClr val="ffffff"/>
              </a:solidFill>
              <a:latin typeface="Arial"/>
            </a:endParaRPr>
          </a:p>
          <a:p>
            <a:pPr marL="279360" indent="-139680" algn="r" rtl="1">
              <a:lnSpc>
                <a:spcPct val="100000"/>
              </a:lnSpc>
              <a:spcAft>
                <a:spcPts val="2299"/>
              </a:spcAft>
              <a:buClr>
                <a:srgbClr val="f7f6f2"/>
              </a:buClr>
              <a:buFont typeface="Symbol" charset="2"/>
              <a:buChar char=""/>
            </a:pPr>
            <a:r>
              <a:rPr b="0" lang="hi-IN" sz="2170" spc="-1" strike="noStrike">
                <a:solidFill>
                  <a:srgbClr val="f7f6f2"/>
                </a:solidFill>
                <a:latin typeface="Vazirmatn"/>
                <a:cs typeface="Vazirmatn"/>
              </a:rPr>
              <a:t>پیاده‌سازی همجوشی دوجریانه با بهساز باقیمانده، رمزگذار مشترک، توجه متقاطع دوسویه و دروازه زمان–ویژگی.</a:t>
            </a:r>
            <a:endParaRPr b="0" lang="en-US" sz="2170" spc="-1" strike="noStrike">
              <a:solidFill>
                <a:srgbClr val="ffffff"/>
              </a:solidFill>
              <a:latin typeface="Arial"/>
            </a:endParaRPr>
          </a:p>
          <a:p>
            <a:pPr marL="279360" indent="-139680" algn="r" rtl="1">
              <a:lnSpc>
                <a:spcPct val="100000"/>
              </a:lnSpc>
              <a:spcAft>
                <a:spcPts val="2299"/>
              </a:spcAft>
              <a:buClr>
                <a:srgbClr val="f7f6f2"/>
              </a:buClr>
              <a:buFont typeface="Symbol" charset="2"/>
              <a:buChar char=""/>
            </a:pPr>
            <a:r>
              <a:rPr b="0" lang="hi-IN" sz="2170" spc="-1" strike="noStrike">
                <a:solidFill>
                  <a:srgbClr val="f7f6f2"/>
                </a:solidFill>
                <a:latin typeface="Vazirmatn"/>
                <a:cs typeface="Vazirmatn"/>
              </a:rPr>
              <a:t>ساخت خط لوله ایران‌صدا برای قطعه‌بندی، تولید و اصلاح شبه‌برچسب‌ها و پالایش کیفیت؛ ارزیابی سود آن به تفکیک دامنه.</a:t>
            </a:r>
            <a:endParaRPr b="0" lang="en-US" sz="2170" spc="-1" strike="noStrike">
              <a:solidFill>
                <a:srgbClr val="ffffff"/>
              </a:solidFill>
              <a:latin typeface="Arial"/>
            </a:endParaRPr>
          </a:p>
        </p:txBody>
      </p:sp>
      <p:sp>
        <p:nvSpPr>
          <p:cNvPr id="298" name="سپاسگزارم؛ پرسش‌ها"/>
          <p:cNvSpPr/>
          <p:nvPr/>
        </p:nvSpPr>
        <p:spPr>
          <a:xfrm>
            <a:off x="685800" y="5838840"/>
            <a:ext cx="10818360" cy="378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b8d8db"/>
                </a:solidFill>
                <a:latin typeface="Vazirmatn"/>
                <a:cs typeface="Vazirmatn"/>
              </a:rPr>
              <a:t>سپاسگزارم؛ پرسش‌ها</a:t>
            </a:r>
            <a:endParaRPr b="0" lang="en-US" sz="202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299" name=""/>
          <p:cNvSpPr/>
          <p:nvPr/>
        </p:nvSpPr>
        <p:spPr>
          <a:xfrm>
            <a:off x="4191120" y="285840"/>
            <a:ext cx="7312320" cy="3020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1350" spc="-1" strike="noStrike">
                <a:solidFill>
                  <a:srgbClr val="1d6f8a"/>
                </a:solidFill>
                <a:latin typeface="Vazirmatn"/>
                <a:cs typeface="Vazirmatn"/>
              </a:rPr>
              <a:t>مرور پیشینه پژوهش، </a:t>
            </a:r>
            <a:r>
              <a:rPr b="1" lang="fa-IR" sz="1350" spc="-1" strike="noStrike">
                <a:solidFill>
                  <a:srgbClr val="1d6f8a"/>
                </a:solidFill>
                <a:latin typeface="Vazirmatn"/>
                <a:cs typeface="Vazirmatn"/>
              </a:rPr>
              <a:t>۱</a:t>
            </a:r>
            <a:r>
              <a:rPr b="1" lang="en-US" sz="1350" spc="-1" strike="noStrike">
                <a:solidFill>
                  <a:srgbClr val="1d6f8a"/>
                </a:solidFill>
                <a:latin typeface="Vazirmatn"/>
                <a:ea typeface="Vazirmatn"/>
              </a:rPr>
              <a:t> از </a:t>
            </a:r>
            <a:r>
              <a:rPr b="1" lang="fa-IR" sz="1350" spc="-1" strike="noStrike">
                <a:solidFill>
                  <a:srgbClr val="1d6f8a"/>
                </a:solidFill>
                <a:latin typeface="Vazirmatn"/>
                <a:cs typeface="Vazirmatn"/>
              </a:rPr>
              <a:t>۳</a:t>
            </a:r>
            <a:endParaRPr b="0" lang="en-US" sz="1350" spc="-1" strike="noStrike">
              <a:solidFill>
                <a:srgbClr val="000000"/>
              </a:solidFill>
              <a:latin typeface="Arial"/>
            </a:endParaRPr>
          </a:p>
        </p:txBody>
      </p:sp>
      <p:sp>
        <p:nvSpPr>
          <p:cNvPr id="300" name=""/>
          <p:cNvSpPr/>
          <p:nvPr/>
        </p:nvSpPr>
        <p:spPr>
          <a:xfrm>
            <a:off x="685800" y="714240"/>
            <a:ext cx="10817640" cy="6638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3150" spc="-1" strike="noStrike">
                <a:solidFill>
                  <a:srgbClr val="153d42"/>
                </a:solidFill>
                <a:latin typeface="Vazirmatn"/>
                <a:cs typeface="Vazirmatn"/>
              </a:rPr>
              <a:t>مراجع</a:t>
            </a:r>
            <a:endParaRPr b="0" lang="en-US" sz="3150" spc="-1" strike="noStrike">
              <a:solidFill>
                <a:srgbClr val="000000"/>
              </a:solidFill>
              <a:latin typeface="Arial"/>
            </a:endParaRPr>
          </a:p>
        </p:txBody>
      </p:sp>
      <p:sp>
        <p:nvSpPr>
          <p:cNvPr id="301" name=""/>
          <p:cNvSpPr/>
          <p:nvPr/>
        </p:nvSpPr>
        <p:spPr>
          <a:xfrm>
            <a:off x="68580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 P. Peso Parada et al., “pMCT: Patched Multi-Condition Training for Robust Speech Recognition,” Interspeech, pp. 3779–3783, 2022.</a:t>
            </a:r>
            <a:endParaRPr b="0" lang="en-US" sz="1390" spc="-1" strike="noStrike">
              <a:solidFill>
                <a:srgbClr val="000000"/>
              </a:solidFill>
              <a:latin typeface="Arial"/>
            </a:endParaRPr>
          </a:p>
        </p:txBody>
      </p:sp>
      <p:sp>
        <p:nvSpPr>
          <p:cNvPr id="302" name=""/>
          <p:cNvSpPr/>
          <p:nvPr/>
        </p:nvSpPr>
        <p:spPr>
          <a:xfrm>
            <a:off x="68580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10.21437/Interspeech.2022-117</a:t>
            </a:r>
            <a:endParaRPr b="0" lang="en-US" sz="1170" spc="-1" strike="noStrike">
              <a:solidFill>
                <a:srgbClr val="000000"/>
              </a:solidFill>
              <a:latin typeface="Arial"/>
            </a:endParaRPr>
          </a:p>
        </p:txBody>
      </p:sp>
      <p:sp>
        <p:nvSpPr>
          <p:cNvPr id="303" name=""/>
          <p:cNvSpPr/>
          <p:nvPr/>
        </p:nvSpPr>
        <p:spPr>
          <a:xfrm>
            <a:off x="68580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[2] D. Liu et al., “Towards Pretraining Robust ASR Foundation Model with Acoustic-Aware Data Augmentation,” arXiv:2505.20606, 2025.</a:t>
            </a:r>
            <a:endParaRPr b="0" lang="en-US" sz="1390" spc="-1" strike="noStrike">
              <a:solidFill>
                <a:srgbClr val="000000"/>
              </a:solidFill>
              <a:latin typeface="Arial"/>
            </a:endParaRPr>
          </a:p>
        </p:txBody>
      </p:sp>
      <p:sp>
        <p:nvSpPr>
          <p:cNvPr id="304" name=""/>
          <p:cNvSpPr/>
          <p:nvPr/>
        </p:nvSpPr>
        <p:spPr>
          <a:xfrm>
            <a:off x="68580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10.48550/arXiv.2505.20606</a:t>
            </a:r>
            <a:endParaRPr b="0" lang="en-US" sz="1170" spc="-1" strike="noStrike">
              <a:solidFill>
                <a:srgbClr val="000000"/>
              </a:solidFill>
              <a:latin typeface="Arial"/>
            </a:endParaRPr>
          </a:p>
        </p:txBody>
      </p:sp>
      <p:sp>
        <p:nvSpPr>
          <p:cNvPr id="305" name=""/>
          <p:cNvSpPr/>
          <p:nvPr/>
        </p:nvSpPr>
        <p:spPr>
          <a:xfrm>
            <a:off x="68580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[3] T. Niu et al., “Parameter-Efficient Adaptation with Multi-Channel Adversarial Training for Far-Field Speech Recognition,” EURASIP JASMP, 2025.</a:t>
            </a:r>
            <a:endParaRPr b="0" lang="en-US" sz="1390" spc="-1" strike="noStrike">
              <a:solidFill>
                <a:srgbClr val="000000"/>
              </a:solidFill>
              <a:latin typeface="Arial"/>
            </a:endParaRPr>
          </a:p>
        </p:txBody>
      </p:sp>
      <p:sp>
        <p:nvSpPr>
          <p:cNvPr id="306" name=""/>
          <p:cNvSpPr/>
          <p:nvPr/>
        </p:nvSpPr>
        <p:spPr>
          <a:xfrm>
            <a:off x="68580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10.1186/s13636-025-00406-5</a:t>
            </a:r>
            <a:endParaRPr b="0" lang="en-US" sz="1170" spc="-1" strike="noStrike">
              <a:solidFill>
                <a:srgbClr val="000000"/>
              </a:solidFill>
              <a:latin typeface="Arial"/>
            </a:endParaRPr>
          </a:p>
        </p:txBody>
      </p:sp>
      <p:sp>
        <p:nvSpPr>
          <p:cNvPr id="307" name=""/>
          <p:cNvSpPr/>
          <p:nvPr/>
        </p:nvSpPr>
        <p:spPr>
          <a:xfrm>
            <a:off x="685800" y="524844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[4] B. Namdarzadeh et al., “Fine-tuning Whisper with Spontaneous Persian Speech (SPS),” SIGUL, pp. 263–269, 2026.</a:t>
            </a:r>
            <a:endParaRPr b="0" lang="en-US" sz="1390" spc="-1" strike="noStrike">
              <a:solidFill>
                <a:srgbClr val="000000"/>
              </a:solidFill>
              <a:latin typeface="Arial"/>
            </a:endParaRPr>
          </a:p>
        </p:txBody>
      </p:sp>
      <p:sp>
        <p:nvSpPr>
          <p:cNvPr id="308" name=""/>
          <p:cNvSpPr/>
          <p:nvPr/>
        </p:nvSpPr>
        <p:spPr>
          <a:xfrm>
            <a:off x="685800" y="62103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10.63317/2ca2yoj8fzgd</a:t>
            </a:r>
            <a:endParaRPr b="0" lang="en-US" sz="1170" spc="-1" strike="noStrike">
              <a:solidFill>
                <a:srgbClr val="000000"/>
              </a:solidFill>
              <a:latin typeface="Arial"/>
            </a:endParaRPr>
          </a:p>
        </p:txBody>
      </p:sp>
      <p:sp>
        <p:nvSpPr>
          <p:cNvPr id="309" name=""/>
          <p:cNvSpPr/>
          <p:nvPr/>
        </p:nvSpPr>
        <p:spPr>
          <a:xfrm>
            <a:off x="628668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[5] A. Amirivojdan et al., “Neyshekar: An Open Persian Read-Speech Corpus for Automatic Speech Recognition,” arXiv:2609.14542, 2026.</a:t>
            </a:r>
            <a:endParaRPr b="0" lang="en-US" sz="1390" spc="-1" strike="noStrike">
              <a:solidFill>
                <a:srgbClr val="000000"/>
              </a:solidFill>
              <a:latin typeface="Arial"/>
            </a:endParaRPr>
          </a:p>
        </p:txBody>
      </p:sp>
      <p:sp>
        <p:nvSpPr>
          <p:cNvPr id="310" name=""/>
          <p:cNvSpPr/>
          <p:nvPr/>
        </p:nvSpPr>
        <p:spPr>
          <a:xfrm>
            <a:off x="628668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10.48550/arXiv.2609.14542</a:t>
            </a:r>
            <a:endParaRPr b="0" lang="en-US" sz="1170" spc="-1" strike="noStrike">
              <a:solidFill>
                <a:srgbClr val="000000"/>
              </a:solidFill>
              <a:latin typeface="Arial"/>
            </a:endParaRPr>
          </a:p>
        </p:txBody>
      </p:sp>
      <p:sp>
        <p:nvSpPr>
          <p:cNvPr id="311" name=""/>
          <p:cNvSpPr/>
          <p:nvPr/>
        </p:nvSpPr>
        <p:spPr>
          <a:xfrm>
            <a:off x="628668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[6] K. S. Bhogale et al., “Empowering Low-Resource Language ASR via Large-Scale Pseudo Labeling,” Interspeech, pp. 2519–2523, 2024.</a:t>
            </a:r>
            <a:endParaRPr b="0" lang="en-US" sz="1390" spc="-1" strike="noStrike">
              <a:solidFill>
                <a:srgbClr val="000000"/>
              </a:solidFill>
              <a:latin typeface="Arial"/>
            </a:endParaRPr>
          </a:p>
        </p:txBody>
      </p:sp>
      <p:sp>
        <p:nvSpPr>
          <p:cNvPr id="312" name=""/>
          <p:cNvSpPr/>
          <p:nvPr/>
        </p:nvSpPr>
        <p:spPr>
          <a:xfrm>
            <a:off x="628668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10.21437/Interspeech.2024-2396</a:t>
            </a:r>
            <a:endParaRPr b="0" lang="en-US" sz="1170" spc="-1" strike="noStrike">
              <a:solidFill>
                <a:srgbClr val="000000"/>
              </a:solidFill>
              <a:latin typeface="Arial"/>
            </a:endParaRPr>
          </a:p>
        </p:txBody>
      </p:sp>
      <p:sp>
        <p:nvSpPr>
          <p:cNvPr id="313" name=""/>
          <p:cNvSpPr/>
          <p:nvPr/>
        </p:nvSpPr>
        <p:spPr>
          <a:xfrm>
            <a:off x="628668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[7] S. Bandarupalli et al., “Efficient ASR for Low-Resource Languages: Leveraging Cross-Lingual Unlabeled Data,” Findings of IJCNLP-AACL, pp. 1611–1617, 2025.</a:t>
            </a:r>
            <a:endParaRPr b="0" lang="en-US" sz="1390" spc="-1" strike="noStrike">
              <a:solidFill>
                <a:srgbClr val="000000"/>
              </a:solidFill>
              <a:latin typeface="Arial"/>
            </a:endParaRPr>
          </a:p>
        </p:txBody>
      </p:sp>
      <p:sp>
        <p:nvSpPr>
          <p:cNvPr id="314" name=""/>
          <p:cNvSpPr/>
          <p:nvPr/>
        </p:nvSpPr>
        <p:spPr>
          <a:xfrm>
            <a:off x="628668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10.18653/v1/2025.findings-ijcnlp.99</a:t>
            </a:r>
            <a:endParaRPr b="0" lang="en-US" sz="1170" spc="-1" strike="noStrike">
              <a:solidFill>
                <a:srgbClr val="000000"/>
              </a:solidFill>
              <a:latin typeface="Arial"/>
            </a:endParaRPr>
          </a:p>
        </p:txBody>
      </p:sp>
      <p:sp>
        <p:nvSpPr>
          <p:cNvPr id="315" name=""/>
          <p:cNvSpPr/>
          <p:nvPr/>
        </p:nvSpPr>
        <p:spPr>
          <a:xfrm>
            <a:off x="6286680" y="524844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[8] J. Baik et al., “DASH: Dual-View Self-Distillation with Multi-Layer Hidden Representations for Robust Speech Recognition,” Interspeech, pp. 3116–3121, 2026.</a:t>
            </a:r>
            <a:endParaRPr b="0" lang="en-US" sz="1390" spc="-1" strike="noStrike">
              <a:solidFill>
                <a:srgbClr val="000000"/>
              </a:solidFill>
              <a:latin typeface="Arial"/>
            </a:endParaRPr>
          </a:p>
        </p:txBody>
      </p:sp>
      <p:sp>
        <p:nvSpPr>
          <p:cNvPr id="316" name=""/>
          <p:cNvSpPr/>
          <p:nvPr/>
        </p:nvSpPr>
        <p:spPr>
          <a:xfrm>
            <a:off x="6286680" y="62103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ISCA Archive, Interspeech 2026</a:t>
            </a:r>
            <a:endParaRPr b="0" lang="en-US" sz="1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17" name=""/>
          <p:cNvSpPr/>
          <p:nvPr/>
        </p:nvSpPr>
        <p:spPr>
          <a:xfrm>
            <a:off x="4191120" y="285840"/>
            <a:ext cx="7312320" cy="3020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1350" spc="-1" strike="noStrike">
                <a:solidFill>
                  <a:srgbClr val="1d6f8a"/>
                </a:solidFill>
                <a:latin typeface="Vazirmatn"/>
                <a:cs typeface="Vazirmatn"/>
              </a:rPr>
              <a:t>مرور پیشینه پژوهش، </a:t>
            </a:r>
            <a:r>
              <a:rPr b="1" lang="fa-IR" sz="1350" spc="-1" strike="noStrike">
                <a:solidFill>
                  <a:srgbClr val="1d6f8a"/>
                </a:solidFill>
                <a:latin typeface="Vazirmatn"/>
                <a:cs typeface="Vazirmatn"/>
              </a:rPr>
              <a:t>۲</a:t>
            </a:r>
            <a:r>
              <a:rPr b="1" lang="en-US" sz="1350" spc="-1" strike="noStrike">
                <a:solidFill>
                  <a:srgbClr val="1d6f8a"/>
                </a:solidFill>
                <a:latin typeface="Vazirmatn"/>
                <a:ea typeface="Vazirmatn"/>
              </a:rPr>
              <a:t> از </a:t>
            </a:r>
            <a:r>
              <a:rPr b="1" lang="fa-IR" sz="1350" spc="-1" strike="noStrike">
                <a:solidFill>
                  <a:srgbClr val="1d6f8a"/>
                </a:solidFill>
                <a:latin typeface="Vazirmatn"/>
                <a:cs typeface="Vazirmatn"/>
              </a:rPr>
              <a:t>۳</a:t>
            </a:r>
            <a:endParaRPr b="0" lang="en-US" sz="1350" spc="-1" strike="noStrike">
              <a:solidFill>
                <a:srgbClr val="000000"/>
              </a:solidFill>
              <a:latin typeface="Arial"/>
            </a:endParaRPr>
          </a:p>
        </p:txBody>
      </p:sp>
      <p:sp>
        <p:nvSpPr>
          <p:cNvPr id="318" name=""/>
          <p:cNvSpPr/>
          <p:nvPr/>
        </p:nvSpPr>
        <p:spPr>
          <a:xfrm>
            <a:off x="685800" y="714240"/>
            <a:ext cx="10817640" cy="6638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3150" spc="-1" strike="noStrike">
                <a:solidFill>
                  <a:srgbClr val="153d42"/>
                </a:solidFill>
                <a:latin typeface="Vazirmatn"/>
                <a:cs typeface="Vazirmatn"/>
              </a:rPr>
              <a:t>مراجع</a:t>
            </a:r>
            <a:endParaRPr b="0" lang="en-US" sz="3150" spc="-1" strike="noStrike">
              <a:solidFill>
                <a:srgbClr val="000000"/>
              </a:solidFill>
              <a:latin typeface="Arial"/>
            </a:endParaRPr>
          </a:p>
        </p:txBody>
      </p:sp>
      <p:sp>
        <p:nvSpPr>
          <p:cNvPr id="319" name=""/>
          <p:cNvSpPr/>
          <p:nvPr/>
        </p:nvSpPr>
        <p:spPr>
          <a:xfrm>
            <a:off x="68580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[9] Y. Hu et al., “Listen Again and Choose the Right Answer: A New Paradigm for Automatic Speech Recognition with Large Language Models,” Findings of ACL, pp. 666–679, 2024.</a:t>
            </a:r>
            <a:endParaRPr b="0" lang="en-US" sz="1390" spc="-1" strike="noStrike">
              <a:solidFill>
                <a:srgbClr val="000000"/>
              </a:solidFill>
              <a:latin typeface="Arial"/>
            </a:endParaRPr>
          </a:p>
        </p:txBody>
      </p:sp>
      <p:sp>
        <p:nvSpPr>
          <p:cNvPr id="320" name=""/>
          <p:cNvSpPr/>
          <p:nvPr/>
        </p:nvSpPr>
        <p:spPr>
          <a:xfrm>
            <a:off x="68580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10.18653/v1/2024.findings-acl.37</a:t>
            </a:r>
            <a:endParaRPr b="0" lang="en-US" sz="1170" spc="-1" strike="noStrike">
              <a:solidFill>
                <a:srgbClr val="000000"/>
              </a:solidFill>
              <a:latin typeface="Arial"/>
            </a:endParaRPr>
          </a:p>
        </p:txBody>
      </p:sp>
      <p:sp>
        <p:nvSpPr>
          <p:cNvPr id="321" name=""/>
          <p:cNvSpPr/>
          <p:nvPr/>
        </p:nvSpPr>
        <p:spPr>
          <a:xfrm>
            <a:off x="68580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[10] T. Udagawa et al., “Robust ASR Error Correction with Conservative Data Filtering,” EMNLP Industry, pp. 256–266, 2024.</a:t>
            </a:r>
            <a:endParaRPr b="0" lang="en-US" sz="1390" spc="-1" strike="noStrike">
              <a:solidFill>
                <a:srgbClr val="000000"/>
              </a:solidFill>
              <a:latin typeface="Arial"/>
            </a:endParaRPr>
          </a:p>
        </p:txBody>
      </p:sp>
      <p:sp>
        <p:nvSpPr>
          <p:cNvPr id="322" name=""/>
          <p:cNvSpPr/>
          <p:nvPr/>
        </p:nvSpPr>
        <p:spPr>
          <a:xfrm>
            <a:off x="68580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10.18653/v1/2024.emnlp-industry.20</a:t>
            </a:r>
            <a:endParaRPr b="0" lang="en-US" sz="1170" spc="-1" strike="noStrike">
              <a:solidFill>
                <a:srgbClr val="000000"/>
              </a:solidFill>
              <a:latin typeface="Arial"/>
            </a:endParaRPr>
          </a:p>
        </p:txBody>
      </p:sp>
      <p:sp>
        <p:nvSpPr>
          <p:cNvPr id="323" name=""/>
          <p:cNvSpPr/>
          <p:nvPr/>
        </p:nvSpPr>
        <p:spPr>
          <a:xfrm>
            <a:off x="68580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[11] M. A. Shah et al., “Speech Robust Bench: A Robustness Benchmark for Speech Recognition,” ICLR, pp. 38625–38651, 2025.</a:t>
            </a:r>
            <a:endParaRPr b="0" lang="en-US" sz="1390" spc="-1" strike="noStrike">
              <a:solidFill>
                <a:srgbClr val="000000"/>
              </a:solidFill>
              <a:latin typeface="Arial"/>
            </a:endParaRPr>
          </a:p>
        </p:txBody>
      </p:sp>
      <p:sp>
        <p:nvSpPr>
          <p:cNvPr id="324" name=""/>
          <p:cNvSpPr/>
          <p:nvPr/>
        </p:nvSpPr>
        <p:spPr>
          <a:xfrm>
            <a:off x="68580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ICLR 2025 proceedings</a:t>
            </a:r>
            <a:endParaRPr b="0" lang="en-US" sz="1170" spc="-1" strike="noStrike">
              <a:solidFill>
                <a:srgbClr val="000000"/>
              </a:solidFill>
              <a:latin typeface="Arial"/>
            </a:endParaRPr>
          </a:p>
        </p:txBody>
      </p:sp>
      <p:sp>
        <p:nvSpPr>
          <p:cNvPr id="325" name=""/>
          <p:cNvSpPr/>
          <p:nvPr/>
        </p:nvSpPr>
        <p:spPr>
          <a:xfrm>
            <a:off x="685800" y="524844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[12] K. Saijo et al., “Interspeech 2025 URGENT Speech Enhancement Challenge,” Interspeech, pp. 858–862, 2025.</a:t>
            </a:r>
            <a:endParaRPr b="0" lang="en-US" sz="1390" spc="-1" strike="noStrike">
              <a:solidFill>
                <a:srgbClr val="000000"/>
              </a:solidFill>
              <a:latin typeface="Arial"/>
            </a:endParaRPr>
          </a:p>
        </p:txBody>
      </p:sp>
      <p:sp>
        <p:nvSpPr>
          <p:cNvPr id="326" name=""/>
          <p:cNvSpPr/>
          <p:nvPr/>
        </p:nvSpPr>
        <p:spPr>
          <a:xfrm>
            <a:off x="685800" y="62103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10.21437/Interspeech.2025-1363</a:t>
            </a:r>
            <a:endParaRPr b="0" lang="en-US" sz="1170" spc="-1" strike="noStrike">
              <a:solidFill>
                <a:srgbClr val="000000"/>
              </a:solidFill>
              <a:latin typeface="Arial"/>
            </a:endParaRPr>
          </a:p>
        </p:txBody>
      </p:sp>
      <p:sp>
        <p:nvSpPr>
          <p:cNvPr id="327" name=""/>
          <p:cNvSpPr/>
          <p:nvPr/>
        </p:nvSpPr>
        <p:spPr>
          <a:xfrm>
            <a:off x="628668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[13] N. Sedghiyeh et al., “PSRB: A Comprehensive Benchmark for Evaluating Persian ASR Systems,” arXiv:2505.21230, 2025.</a:t>
            </a:r>
            <a:endParaRPr b="0" lang="en-US" sz="1390" spc="-1" strike="noStrike">
              <a:solidFill>
                <a:srgbClr val="000000"/>
              </a:solidFill>
              <a:latin typeface="Arial"/>
            </a:endParaRPr>
          </a:p>
        </p:txBody>
      </p:sp>
      <p:sp>
        <p:nvSpPr>
          <p:cNvPr id="328" name=""/>
          <p:cNvSpPr/>
          <p:nvPr/>
        </p:nvSpPr>
        <p:spPr>
          <a:xfrm>
            <a:off x="628668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10.48550/arXiv.2505.21230</a:t>
            </a:r>
            <a:endParaRPr b="0" lang="en-US" sz="1170" spc="-1" strike="noStrike">
              <a:solidFill>
                <a:srgbClr val="000000"/>
              </a:solidFill>
              <a:latin typeface="Arial"/>
            </a:endParaRPr>
          </a:p>
        </p:txBody>
      </p:sp>
      <p:sp>
        <p:nvSpPr>
          <p:cNvPr id="329" name=""/>
          <p:cNvSpPr/>
          <p:nvPr/>
        </p:nvSpPr>
        <p:spPr>
          <a:xfrm>
            <a:off x="628668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[14] R. Nasretdinov et al., “Robust Speech Recognition with Schrödinger Bridge-Based Speech Enhancement,” ICASSP, pp. 1–5, 2025.</a:t>
            </a:r>
            <a:endParaRPr b="0" lang="en-US" sz="1390" spc="-1" strike="noStrike">
              <a:solidFill>
                <a:srgbClr val="000000"/>
              </a:solidFill>
              <a:latin typeface="Arial"/>
            </a:endParaRPr>
          </a:p>
        </p:txBody>
      </p:sp>
      <p:sp>
        <p:nvSpPr>
          <p:cNvPr id="330" name=""/>
          <p:cNvSpPr/>
          <p:nvPr/>
        </p:nvSpPr>
        <p:spPr>
          <a:xfrm>
            <a:off x="628668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10.1109/ICASSP49660.2025.10890638</a:t>
            </a:r>
            <a:endParaRPr b="0" lang="en-US" sz="1170" spc="-1" strike="noStrike">
              <a:solidFill>
                <a:srgbClr val="000000"/>
              </a:solidFill>
              <a:latin typeface="Arial"/>
            </a:endParaRPr>
          </a:p>
        </p:txBody>
      </p:sp>
      <p:sp>
        <p:nvSpPr>
          <p:cNvPr id="331" name=""/>
          <p:cNvSpPr/>
          <p:nvPr/>
        </p:nvSpPr>
        <p:spPr>
          <a:xfrm>
            <a:off x="628668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[15] Y. Yang et al., “Towards Decoupling Frontend Enhancement and Backend Recognition in Monaural Robust ASR,” Comput. Speech Lang., vol. 95, Art. 101821, 2026.</a:t>
            </a:r>
            <a:endParaRPr b="0" lang="en-US" sz="1390" spc="-1" strike="noStrike">
              <a:solidFill>
                <a:srgbClr val="000000"/>
              </a:solidFill>
              <a:latin typeface="Arial"/>
            </a:endParaRPr>
          </a:p>
        </p:txBody>
      </p:sp>
      <p:sp>
        <p:nvSpPr>
          <p:cNvPr id="332" name=""/>
          <p:cNvSpPr/>
          <p:nvPr/>
        </p:nvSpPr>
        <p:spPr>
          <a:xfrm>
            <a:off x="628668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10.1016/j.csl.2025.101821</a:t>
            </a:r>
            <a:endParaRPr b="0" lang="en-US" sz="1170" spc="-1" strike="noStrike">
              <a:solidFill>
                <a:srgbClr val="000000"/>
              </a:solidFill>
              <a:latin typeface="Arial"/>
            </a:endParaRPr>
          </a:p>
        </p:txBody>
      </p:sp>
      <p:sp>
        <p:nvSpPr>
          <p:cNvPr id="333" name=""/>
          <p:cNvSpPr/>
          <p:nvPr/>
        </p:nvSpPr>
        <p:spPr>
          <a:xfrm>
            <a:off x="6286680" y="524844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[16] Y. Dissen et al., “A Front-End Adaptation Network for Improving Speech Recognition Performance in Packet Loss and Noisy Environments,” IEEE TASLPRO, vol. 33, pp. 2175–2188, 2025.</a:t>
            </a:r>
            <a:endParaRPr b="0" lang="en-US" sz="1390" spc="-1" strike="noStrike">
              <a:solidFill>
                <a:srgbClr val="000000"/>
              </a:solidFill>
              <a:latin typeface="Arial"/>
            </a:endParaRPr>
          </a:p>
        </p:txBody>
      </p:sp>
      <p:sp>
        <p:nvSpPr>
          <p:cNvPr id="334" name=""/>
          <p:cNvSpPr/>
          <p:nvPr/>
        </p:nvSpPr>
        <p:spPr>
          <a:xfrm>
            <a:off x="6286680" y="62103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10.1109/TASLPRO.2025.3574840</a:t>
            </a:r>
            <a:endParaRPr b="0" lang="en-US" sz="1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35" name=""/>
          <p:cNvSpPr/>
          <p:nvPr/>
        </p:nvSpPr>
        <p:spPr>
          <a:xfrm>
            <a:off x="4191120" y="285840"/>
            <a:ext cx="7312320" cy="3020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1350" spc="-1" strike="noStrike">
                <a:solidFill>
                  <a:srgbClr val="1d6f8a"/>
                </a:solidFill>
                <a:latin typeface="Vazirmatn"/>
                <a:cs typeface="Vazirmatn"/>
              </a:rPr>
              <a:t>مرور پیشینه پژوهش، </a:t>
            </a:r>
            <a:r>
              <a:rPr b="1" lang="fa-IR" sz="1350" spc="-1" strike="noStrike">
                <a:solidFill>
                  <a:srgbClr val="1d6f8a"/>
                </a:solidFill>
                <a:latin typeface="Vazirmatn"/>
                <a:cs typeface="Vazirmatn"/>
              </a:rPr>
              <a:t>۳</a:t>
            </a:r>
            <a:r>
              <a:rPr b="1" lang="en-US" sz="1350" spc="-1" strike="noStrike">
                <a:solidFill>
                  <a:srgbClr val="1d6f8a"/>
                </a:solidFill>
                <a:latin typeface="Vazirmatn"/>
                <a:ea typeface="Vazirmatn"/>
              </a:rPr>
              <a:t> از </a:t>
            </a:r>
            <a:r>
              <a:rPr b="1" lang="fa-IR" sz="1350" spc="-1" strike="noStrike">
                <a:solidFill>
                  <a:srgbClr val="1d6f8a"/>
                </a:solidFill>
                <a:latin typeface="Vazirmatn"/>
                <a:cs typeface="Vazirmatn"/>
              </a:rPr>
              <a:t>۳</a:t>
            </a:r>
            <a:endParaRPr b="0" lang="en-US" sz="1350" spc="-1" strike="noStrike">
              <a:solidFill>
                <a:srgbClr val="000000"/>
              </a:solidFill>
              <a:latin typeface="Arial"/>
            </a:endParaRPr>
          </a:p>
        </p:txBody>
      </p:sp>
      <p:sp>
        <p:nvSpPr>
          <p:cNvPr id="336" name=""/>
          <p:cNvSpPr/>
          <p:nvPr/>
        </p:nvSpPr>
        <p:spPr>
          <a:xfrm>
            <a:off x="685800" y="714240"/>
            <a:ext cx="10817640" cy="6638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3150" spc="-1" strike="noStrike">
                <a:solidFill>
                  <a:srgbClr val="153d42"/>
                </a:solidFill>
                <a:latin typeface="Vazirmatn"/>
                <a:cs typeface="Vazirmatn"/>
              </a:rPr>
              <a:t>مراجع</a:t>
            </a:r>
            <a:endParaRPr b="0" lang="en-US" sz="3150" spc="-1" strike="noStrike">
              <a:solidFill>
                <a:srgbClr val="000000"/>
              </a:solidFill>
              <a:latin typeface="Arial"/>
            </a:endParaRPr>
          </a:p>
        </p:txBody>
      </p:sp>
      <p:sp>
        <p:nvSpPr>
          <p:cNvPr id="337" name=""/>
          <p:cNvSpPr/>
          <p:nvPr/>
        </p:nvSpPr>
        <p:spPr>
          <a:xfrm>
            <a:off x="68580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[17] H. Sato et al., “Generic Speech Enhancement with Self-Supervised Representation Space Loss,” Front. Signal Process., vol. 5, Art. 1587969, 2025.</a:t>
            </a:r>
            <a:endParaRPr b="0" lang="en-US" sz="1390" spc="-1" strike="noStrike">
              <a:solidFill>
                <a:srgbClr val="000000"/>
              </a:solidFill>
              <a:latin typeface="Arial"/>
            </a:endParaRPr>
          </a:p>
        </p:txBody>
      </p:sp>
      <p:sp>
        <p:nvSpPr>
          <p:cNvPr id="338" name=""/>
          <p:cNvSpPr/>
          <p:nvPr/>
        </p:nvSpPr>
        <p:spPr>
          <a:xfrm>
            <a:off x="68580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10.3389/frsip.2025.1587969</a:t>
            </a:r>
            <a:endParaRPr b="0" lang="en-US" sz="1170" spc="-1" strike="noStrike">
              <a:solidFill>
                <a:srgbClr val="000000"/>
              </a:solidFill>
              <a:latin typeface="Arial"/>
            </a:endParaRPr>
          </a:p>
        </p:txBody>
      </p:sp>
      <p:sp>
        <p:nvSpPr>
          <p:cNvPr id="339" name=""/>
          <p:cNvSpPr/>
          <p:nvPr/>
        </p:nvSpPr>
        <p:spPr>
          <a:xfrm>
            <a:off x="68580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[18] D. Yang et al., “FAT-HuBERT: Front-End Adaptive Training of Hidden-Unit BERT for Distortion-Invariant Robust Speech Recognition,” ASRU, pp. 1–8, 2023.</a:t>
            </a:r>
            <a:endParaRPr b="0" lang="en-US" sz="1390" spc="-1" strike="noStrike">
              <a:solidFill>
                <a:srgbClr val="000000"/>
              </a:solidFill>
              <a:latin typeface="Arial"/>
            </a:endParaRPr>
          </a:p>
        </p:txBody>
      </p:sp>
      <p:sp>
        <p:nvSpPr>
          <p:cNvPr id="340" name=""/>
          <p:cNvSpPr/>
          <p:nvPr/>
        </p:nvSpPr>
        <p:spPr>
          <a:xfrm>
            <a:off x="68580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10.1109/ASRU57964.2023.10389685</a:t>
            </a:r>
            <a:endParaRPr b="0" lang="en-US" sz="1170" spc="-1" strike="noStrike">
              <a:solidFill>
                <a:srgbClr val="000000"/>
              </a:solidFill>
              <a:latin typeface="Arial"/>
            </a:endParaRPr>
          </a:p>
        </p:txBody>
      </p:sp>
      <p:sp>
        <p:nvSpPr>
          <p:cNvPr id="341" name=""/>
          <p:cNvSpPr/>
          <p:nvPr/>
        </p:nvSpPr>
        <p:spPr>
          <a:xfrm>
            <a:off x="68580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[19] Y. Hu et al., “Wav2code: Restore Clean Speech Representations via Codebook Lookup for Noise-Robust ASR,” IEEE/ACM TASLP, vol. 32, pp. 1145–1156, 2024.</a:t>
            </a:r>
            <a:endParaRPr b="0" lang="en-US" sz="1390" spc="-1" strike="noStrike">
              <a:solidFill>
                <a:srgbClr val="000000"/>
              </a:solidFill>
              <a:latin typeface="Arial"/>
            </a:endParaRPr>
          </a:p>
        </p:txBody>
      </p:sp>
      <p:sp>
        <p:nvSpPr>
          <p:cNvPr id="342" name=""/>
          <p:cNvSpPr/>
          <p:nvPr/>
        </p:nvSpPr>
        <p:spPr>
          <a:xfrm>
            <a:off x="68580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10.1109/TASLP.2023.3332545</a:t>
            </a:r>
            <a:endParaRPr b="0" lang="en-US" sz="1170" spc="-1" strike="noStrike">
              <a:solidFill>
                <a:srgbClr val="000000"/>
              </a:solidFill>
              <a:latin typeface="Arial"/>
            </a:endParaRPr>
          </a:p>
        </p:txBody>
      </p:sp>
      <p:sp>
        <p:nvSpPr>
          <p:cNvPr id="343" name=""/>
          <p:cNvSpPr/>
          <p:nvPr/>
        </p:nvSpPr>
        <p:spPr>
          <a:xfrm>
            <a:off x="685800" y="524844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[20] K. Wang et al., “Bridging the Gap: Integrating Pre-Trained Speech Enhancement and Recognition Models for Robust Speech Recognition,” EUSIPCO, pp. 426–430, 2024.</a:t>
            </a:r>
            <a:endParaRPr b="0" lang="en-US" sz="1390" spc="-1" strike="noStrike">
              <a:solidFill>
                <a:srgbClr val="000000"/>
              </a:solidFill>
              <a:latin typeface="Arial"/>
            </a:endParaRPr>
          </a:p>
        </p:txBody>
      </p:sp>
      <p:sp>
        <p:nvSpPr>
          <p:cNvPr id="344" name=""/>
          <p:cNvSpPr/>
          <p:nvPr/>
        </p:nvSpPr>
        <p:spPr>
          <a:xfrm>
            <a:off x="685800" y="62103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10.23919/EUSIPCO63174.2024.10715447</a:t>
            </a:r>
            <a:endParaRPr b="0" lang="en-US" sz="1170" spc="-1" strike="noStrike">
              <a:solidFill>
                <a:srgbClr val="000000"/>
              </a:solidFill>
              <a:latin typeface="Arial"/>
            </a:endParaRPr>
          </a:p>
        </p:txBody>
      </p:sp>
      <p:sp>
        <p:nvSpPr>
          <p:cNvPr id="345" name=""/>
          <p:cNvSpPr/>
          <p:nvPr/>
        </p:nvSpPr>
        <p:spPr>
          <a:xfrm>
            <a:off x="6286680" y="16192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[21] Z. Cui et al., “Reducing the Gap Between Pretrained Speech Enhancement and Recognition Models Using a Real Speech-Trained Bridging Module,” ICASSP, pp. 1–5, 2025.</a:t>
            </a:r>
            <a:endParaRPr b="0" lang="en-US" sz="1390" spc="-1" strike="noStrike">
              <a:solidFill>
                <a:srgbClr val="000000"/>
              </a:solidFill>
              <a:latin typeface="Arial"/>
            </a:endParaRPr>
          </a:p>
        </p:txBody>
      </p:sp>
      <p:sp>
        <p:nvSpPr>
          <p:cNvPr id="346" name=""/>
          <p:cNvSpPr/>
          <p:nvPr/>
        </p:nvSpPr>
        <p:spPr>
          <a:xfrm>
            <a:off x="6286680" y="25812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10.1109/ICASSP49660.2025.10889737</a:t>
            </a:r>
            <a:endParaRPr b="0" lang="en-US" sz="1170" spc="-1" strike="noStrike">
              <a:solidFill>
                <a:srgbClr val="000000"/>
              </a:solidFill>
              <a:latin typeface="Arial"/>
            </a:endParaRPr>
          </a:p>
        </p:txBody>
      </p:sp>
      <p:sp>
        <p:nvSpPr>
          <p:cNvPr id="347" name=""/>
          <p:cNvSpPr/>
          <p:nvPr/>
        </p:nvSpPr>
        <p:spPr>
          <a:xfrm>
            <a:off x="6286680" y="28288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[22] H. Li et al., “Training-Free Intelligibility-Guided Observation Addition for Noisy ASR,” Interspeech, pp. 3138–3143, 2026.</a:t>
            </a:r>
            <a:endParaRPr b="0" lang="en-US" sz="1390" spc="-1" strike="noStrike">
              <a:solidFill>
                <a:srgbClr val="000000"/>
              </a:solidFill>
              <a:latin typeface="Arial"/>
            </a:endParaRPr>
          </a:p>
        </p:txBody>
      </p:sp>
      <p:sp>
        <p:nvSpPr>
          <p:cNvPr id="348" name=""/>
          <p:cNvSpPr/>
          <p:nvPr/>
        </p:nvSpPr>
        <p:spPr>
          <a:xfrm>
            <a:off x="6286680" y="379080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10.21437/Interspeech.2026-1096</a:t>
            </a:r>
            <a:endParaRPr b="0" lang="en-US" sz="1170" spc="-1" strike="noStrike">
              <a:solidFill>
                <a:srgbClr val="000000"/>
              </a:solidFill>
              <a:latin typeface="Arial"/>
            </a:endParaRPr>
          </a:p>
        </p:txBody>
      </p:sp>
      <p:sp>
        <p:nvSpPr>
          <p:cNvPr id="349" name=""/>
          <p:cNvSpPr/>
          <p:nvPr/>
        </p:nvSpPr>
        <p:spPr>
          <a:xfrm>
            <a:off x="6286680" y="4038480"/>
            <a:ext cx="5216760" cy="9399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390" spc="-1" strike="noStrike">
                <a:solidFill>
                  <a:srgbClr val="1f2933"/>
                </a:solidFill>
                <a:latin typeface="Vazirmatn"/>
                <a:ea typeface="Vazirmatn"/>
              </a:rPr>
              <a:t>[23] M. Qu et al., “Mitigating Over-Suppression in Speech Enhancement via Inference-Time Rethink-and-Refine Correction Module,” IEEE MLSP, 2026.</a:t>
            </a:r>
            <a:endParaRPr b="0" lang="en-US" sz="1390" spc="-1" strike="noStrike">
              <a:solidFill>
                <a:srgbClr val="000000"/>
              </a:solidFill>
              <a:latin typeface="Arial"/>
            </a:endParaRPr>
          </a:p>
        </p:txBody>
      </p:sp>
      <p:sp>
        <p:nvSpPr>
          <p:cNvPr id="350" name=""/>
          <p:cNvSpPr/>
          <p:nvPr/>
        </p:nvSpPr>
        <p:spPr>
          <a:xfrm>
            <a:off x="6286680" y="5000760"/>
            <a:ext cx="5216760" cy="20664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170" spc="-1" strike="noStrike">
                <a:solidFill>
                  <a:srgbClr val="1d6f8a"/>
                </a:solidFill>
                <a:latin typeface="Vazirmatn"/>
                <a:ea typeface="Vazirmatn"/>
              </a:rPr>
              <a:t>doi: 10.48550/arXiv.2608.07781</a:t>
            </a:r>
            <a:endParaRPr b="0" lang="en-US" sz="11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53d42"/>
        </a:solidFill>
      </p:bgPr>
    </p:bg>
    <p:spTree>
      <p:nvGrpSpPr>
        <p:cNvPr id="1" name=""/>
        <p:cNvGrpSpPr/>
        <p:nvPr/>
      </p:nvGrpSpPr>
      <p:grpSpPr>
        <a:xfrm>
          <a:off x="0" y="0"/>
          <a:ext cx="0" cy="0"/>
          <a:chOff x="0" y="0"/>
          <a:chExt cx="0" cy="0"/>
        </a:xfrm>
      </p:grpSpPr>
      <p:sp>
        <p:nvSpPr>
          <p:cNvPr id="351" name="پیوست پژوهش"/>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b8d8db"/>
                </a:solidFill>
                <a:latin typeface="Vazirmatn"/>
                <a:cs typeface="Vazirmatn"/>
              </a:rPr>
              <a:t>پیوست پژوهش</a:t>
            </a:r>
            <a:endParaRPr b="0" lang="en-US" sz="1350" spc="-1" strike="noStrike">
              <a:solidFill>
                <a:srgbClr val="ffffff"/>
              </a:solidFill>
              <a:latin typeface="Arial"/>
            </a:endParaRPr>
          </a:p>
        </p:txBody>
      </p:sp>
      <p:sp>
        <p:nvSpPr>
          <p:cNvPr id="352" name=""/>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a:lnSpc>
                <a:spcPct val="100000"/>
              </a:lnSpc>
            </a:pPr>
            <a:endParaRPr b="0" lang="en-US" sz="3150" spc="-1" strike="noStrike">
              <a:solidFill>
                <a:srgbClr val="ffffff"/>
              </a:solidFill>
              <a:latin typeface="Vazirmatn"/>
              <a:ea typeface="Vazirmatn"/>
            </a:endParaRPr>
          </a:p>
        </p:txBody>
      </p:sp>
      <p:sp>
        <p:nvSpPr>
          <p:cNvPr id="353" name=""/>
          <p:cNvSpPr/>
          <p:nvPr/>
        </p:nvSpPr>
        <p:spPr>
          <a:xfrm>
            <a:off x="685800" y="6419520"/>
            <a:ext cx="10820160" cy="360"/>
          </a:xfrm>
          <a:prstGeom prst="line">
            <a:avLst/>
          </a:prstGeom>
          <a:ln w="9525">
            <a:solidFill>
              <a:srgbClr val="436268"/>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Vazirmatn"/>
              <a:ea typeface="Vazirmatn"/>
            </a:endParaRPr>
          </a:p>
        </p:txBody>
      </p:sp>
      <p:sp>
        <p:nvSpPr>
          <p:cNvPr id="354" name="مطالب تکمیلی"/>
          <p:cNvSpPr/>
          <p:nvPr/>
        </p:nvSpPr>
        <p:spPr>
          <a:xfrm>
            <a:off x="685800" y="2171880"/>
            <a:ext cx="10815480" cy="1118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5250" spc="-1" strike="noStrike">
                <a:solidFill>
                  <a:srgbClr val="f7f6f2"/>
                </a:solidFill>
                <a:latin typeface="Vazirmatn"/>
                <a:cs typeface="Vazirmatn"/>
              </a:rPr>
              <a:t>مطالب تکمیلی</a:t>
            </a:r>
            <a:endParaRPr b="0" lang="en-US" sz="5250" spc="-1" strike="noStrike">
              <a:solidFill>
                <a:srgbClr val="ffffff"/>
              </a:solidFill>
              <a:latin typeface="Arial"/>
            </a:endParaRPr>
          </a:p>
        </p:txBody>
      </p:sp>
      <p:sp>
        <p:nvSpPr>
          <p:cNvPr id="355" name="جزئیات داده‌ها و نتایج پژوهش"/>
          <p:cNvSpPr/>
          <p:nvPr/>
        </p:nvSpPr>
        <p:spPr>
          <a:xfrm>
            <a:off x="685800" y="3495600"/>
            <a:ext cx="10815480" cy="642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2470" spc="-1" strike="noStrike">
                <a:solidFill>
                  <a:srgbClr val="b8d8db"/>
                </a:solidFill>
                <a:latin typeface="Vazirmatn"/>
                <a:cs typeface="Vazirmatn"/>
              </a:rPr>
              <a:t>جزئیات داده‌ها و نتایج پژوهش</a:t>
            </a:r>
            <a:endParaRPr b="0" lang="en-US" sz="24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56" name="مطالب تکمیل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57" name="نرخ خطای واژه به تفکیک مجموعه"/>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نرخ خطای واژه به تفکیک مجموعه</a:t>
            </a:r>
            <a:endParaRPr b="0" lang="en-US" sz="3150" spc="-1" strike="noStrike">
              <a:solidFill>
                <a:srgbClr val="000000"/>
              </a:solidFill>
              <a:latin typeface="Arial"/>
            </a:endParaRPr>
          </a:p>
        </p:txBody>
      </p:sp>
      <p:sp>
        <p:nvSpPr>
          <p:cNvPr id="358"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59" name=""/>
          <p:cNvGraphicFramePr/>
          <p:nvPr/>
        </p:nvGraphicFramePr>
        <p:xfrm>
          <a:off x="685800" y="1752480"/>
          <a:ext cx="10819440" cy="4344120"/>
        </p:xfrm>
        <a:graphic>
          <a:graphicData uri="http://schemas.openxmlformats.org/drawingml/2006/table">
            <a:tbl>
              <a:tblPr/>
              <a:tblGrid>
                <a:gridCol w="1476360"/>
                <a:gridCol w="1523880"/>
                <a:gridCol w="1333440"/>
                <a:gridCol w="1476360"/>
                <a:gridCol w="1523880"/>
                <a:gridCol w="3485880"/>
              </a:tblGrid>
              <a:tr h="666720">
                <a:tc>
                  <a:txBody>
                    <a:bodyPr anchor="ctr">
                      <a:noAutofit/>
                    </a:bodyPr>
                    <a:p>
                      <a:pPr algn="ctr" rtl="1">
                        <a:lnSpc>
                          <a:spcPct val="100000"/>
                        </a:lnSpc>
                      </a:pPr>
                      <a:r>
                        <a:rPr b="1" lang="fa-IR" sz="1650" spc="-1" strike="noStrike">
                          <a:solidFill>
                            <a:srgbClr val="f7f6f2"/>
                          </a:solidFill>
                          <a:latin typeface="Vazirmatn"/>
                          <a:cs typeface="Vazirmatn"/>
                        </a:rPr>
                        <a:t>پیکره گفتار</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فارسی</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650" spc="-1" strike="noStrike">
                          <a:solidFill>
                            <a:srgbClr val="f7f6f2"/>
                          </a:solidFill>
                          <a:latin typeface="Vazirmatn"/>
                          <a:cs typeface="Vazirmatn"/>
                        </a:rPr>
                        <a:t>پرشین‌اسپیچ</a:t>
                      </a:r>
                      <a:r>
                        <a:rPr b="1" lang="en-US" sz="1650" spc="-1" strike="noStrike">
                          <a:solidFill>
                            <a:srgbClr val="f7f6f2"/>
                          </a:solidFill>
                          <a:latin typeface="Vazirmatn"/>
                          <a:ea typeface="Vazirmatn"/>
                        </a:rPr>
                        <a:t>¹</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650" spc="-1" strike="noStrike">
                          <a:solidFill>
                            <a:srgbClr val="f7f6f2"/>
                          </a:solidFill>
                          <a:latin typeface="Vazirmatn"/>
                          <a:cs typeface="Vazirmatn"/>
                        </a:rPr>
                        <a:t>فلورز</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650" spc="-1" strike="noStrike">
                          <a:solidFill>
                            <a:srgbClr val="f7f6f2"/>
                          </a:solidFill>
                          <a:latin typeface="Vazirmatn"/>
                          <a:cs typeface="Vazirmatn"/>
                        </a:rPr>
                        <a:t>کامن‌وویس</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۲۵</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AGFarsdat</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سامانه</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۳۰٫۱۷٪</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۳۴٫۵۳٪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۲۱٫۰۵٪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۱۱٫۵۲٪</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۳۵٫۶۳٪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معمولی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۳۰٫۴۷٪</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۳۳٫۵۷٪</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۱۹٫۲۶٪</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۷٫۸۶٪</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۳۲٫۶۷٪</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داده‌افزایی نویزی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۳۰٫۵۰٪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۳۱٫۶۵٪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۲۰٫۲۳٪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۳۰٫۰۱٪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pMCT</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۳۰٫۹۰٪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۳۵٫۲۵٪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۱۹٫۸۲٪</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۷٫۸۴٪</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۲۵٫۸۰٪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چندشرایطی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۳۳٫۸۲٪</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۳۱٫۸۱٪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۱۹٫۶۷٪</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۷٫۵۳٪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۲۵٫۳۷٪</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همجوشی دوجریانه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۳۲٫۳۲٪</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۳۵٫۰۹٪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۱۹٫۷۳٪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۷٫۶۳٪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۲۵٫۸۴٪</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پل تطبیقی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0" lang="fa-IR" sz="1800" spc="-1" strike="noStrike">
                          <a:solidFill>
                            <a:srgbClr val="1f2933"/>
                          </a:solidFill>
                          <a:latin typeface="Vazirmatn"/>
                          <a:cs typeface="Vazirmatn"/>
                        </a:rPr>
                        <a:t>۳۱٫۱۷٪</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۳۱٫۶۵٪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۱۷٫۱۴٪</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800" spc="-1" strike="noStrike">
                          <a:solidFill>
                            <a:srgbClr val="1d6f8a"/>
                          </a:solidFill>
                          <a:latin typeface="Vazirmatn"/>
                          <a:cs typeface="Vazirmatn"/>
                        </a:rPr>
                        <a:t>۳٫۸۴٪</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800" spc="-1" strike="noStrike">
                          <a:solidFill>
                            <a:srgbClr val="1d6f8a"/>
                          </a:solidFill>
                          <a:latin typeface="Vazirmatn"/>
                          <a:cs typeface="Vazirmatn"/>
                        </a:rPr>
                        <a:t>۲۱٫۹۹٪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ویسپر متوسط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38120">
                <a:tc>
                  <a:txBody>
                    <a:bodyPr anchor="ctr">
                      <a:noAutofit/>
                    </a:bodyPr>
                    <a:p>
                      <a:pPr algn="ctr" rtl="1">
                        <a:lnSpc>
                          <a:spcPct val="100000"/>
                        </a:lnSpc>
                      </a:pPr>
                      <a:r>
                        <a:rPr b="1" lang="fa-IR" sz="1800" spc="-1" strike="noStrike">
                          <a:solidFill>
                            <a:srgbClr val="1d6f8a"/>
                          </a:solidFill>
                          <a:latin typeface="Vazirmatn"/>
                          <a:cs typeface="Vazirmatn"/>
                        </a:rPr>
                        <a:t>۲۵٫۸۷٪</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800" spc="-1" strike="noStrike">
                          <a:solidFill>
                            <a:srgbClr val="1d6f8a"/>
                          </a:solidFill>
                          <a:latin typeface="Vazirmatn"/>
                          <a:cs typeface="Vazirmatn"/>
                        </a:rPr>
                        <a:t>۲۶٫۸۶٪</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800" spc="-1" strike="noStrike">
                          <a:solidFill>
                            <a:srgbClr val="1d6f8a"/>
                          </a:solidFill>
                          <a:latin typeface="Vazirmatn"/>
                          <a:cs typeface="Vazirmatn"/>
                        </a:rPr>
                        <a:t>۱۳٫۷۸٪</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۸٫۱۹٪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۲۶٫۶۶٪</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چندشرایطی و ایران‌صدا</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60" name="همه اعداد WER و درصد هستند. ¹ فقط ۲۴ نمونه. تعداد واجدشرایط پیکره گفتار فارسی تغییر می‌کند"/>
          <p:cNvSpPr/>
          <p:nvPr/>
        </p:nvSpPr>
        <p:spPr>
          <a:xfrm>
            <a:off x="685800" y="6076800"/>
            <a:ext cx="10815480" cy="2520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همه اعداد </a:t>
            </a:r>
            <a:r>
              <a:rPr b="0" lang="en-US" sz="1500" spc="-1" strike="noStrike">
                <a:solidFill>
                  <a:srgbClr val="52606d"/>
                </a:solidFill>
                <a:latin typeface="Vazirmatn"/>
                <a:ea typeface="Vazirmatn"/>
              </a:rPr>
              <a:t>WER</a:t>
            </a:r>
            <a:r>
              <a:rPr b="0" lang="en-US" sz="1500" spc="-1" strike="noStrike">
                <a:solidFill>
                  <a:srgbClr val="52606d"/>
                </a:solidFill>
                <a:latin typeface="Vazirmatn"/>
                <a:ea typeface="Vazirmatn"/>
              </a:rPr>
              <a:t> و درصد هستند. </a:t>
            </a:r>
            <a:r>
              <a:rPr b="0" lang="en-US" sz="1500" spc="-1" strike="noStrike">
                <a:solidFill>
                  <a:srgbClr val="52606d"/>
                </a:solidFill>
                <a:latin typeface="Vazirmatn"/>
                <a:ea typeface="Vazirmatn"/>
              </a:rPr>
              <a:t>¹</a:t>
            </a:r>
            <a:r>
              <a:rPr b="0" lang="en-US" sz="1500" spc="-1" strike="noStrike">
                <a:solidFill>
                  <a:srgbClr val="52606d"/>
                </a:solidFill>
                <a:latin typeface="Vazirmatn"/>
                <a:ea typeface="Vazirmatn"/>
              </a:rPr>
              <a:t> فقط </a:t>
            </a:r>
            <a:r>
              <a:rPr b="0" lang="fa-IR" sz="1500" spc="-1" strike="noStrike">
                <a:solidFill>
                  <a:srgbClr val="52606d"/>
                </a:solidFill>
                <a:latin typeface="Vazirmatn"/>
                <a:cs typeface="Vazirmatn"/>
              </a:rPr>
              <a:t>۲۴</a:t>
            </a:r>
            <a:r>
              <a:rPr b="0" lang="en-US" sz="1500" spc="-1" strike="noStrike">
                <a:solidFill>
                  <a:srgbClr val="52606d"/>
                </a:solidFill>
                <a:latin typeface="Vazirmatn"/>
                <a:ea typeface="Vazirmatn"/>
              </a:rPr>
              <a:t> نمونه. تعداد واجدشرایط پیکره گفتار فارسی تغییر می‌کند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61" name="مطالب تکمیل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62" name="آزمایش کامل مؤلفه‌ها در ویسپر بسیار کوچک"/>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آزمایش کامل مؤلفه‌ها در ویسپر بسیار کوچک</a:t>
            </a:r>
            <a:endParaRPr b="0" lang="en-US" sz="3150" spc="-1" strike="noStrike">
              <a:solidFill>
                <a:srgbClr val="000000"/>
              </a:solidFill>
              <a:latin typeface="Arial"/>
            </a:endParaRPr>
          </a:p>
        </p:txBody>
      </p:sp>
      <p:sp>
        <p:nvSpPr>
          <p:cNvPr id="36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64" name=""/>
          <p:cNvGraphicFramePr/>
          <p:nvPr/>
        </p:nvGraphicFramePr>
        <p:xfrm>
          <a:off x="685800" y="1657440"/>
          <a:ext cx="10819440" cy="4658040"/>
        </p:xfrm>
        <a:graphic>
          <a:graphicData uri="http://schemas.openxmlformats.org/drawingml/2006/table">
            <a:tbl>
              <a:tblPr/>
              <a:tblGrid>
                <a:gridCol w="1666800"/>
                <a:gridCol w="1666800"/>
                <a:gridCol w="1666800"/>
                <a:gridCol w="1666800"/>
                <a:gridCol w="4152600"/>
              </a:tblGrid>
              <a:tr h="666720">
                <a:tc>
                  <a:txBody>
                    <a:bodyPr anchor="ctr">
                      <a:noAutofit/>
                    </a:bodyPr>
                    <a:p>
                      <a:pPr algn="ctr">
                        <a:lnSpc>
                          <a:spcPct val="100000"/>
                        </a:lnSpc>
                      </a:pPr>
                      <a:r>
                        <a:rPr b="1" lang="en-US" sz="1650" spc="-1" strike="noStrike">
                          <a:solidFill>
                            <a:srgbClr val="f7f6f2"/>
                          </a:solidFill>
                          <a:latin typeface="Vazirmatn"/>
                          <a:ea typeface="Vazirmatn"/>
                        </a:rPr>
                        <a:t>AGFarsdat</a:t>
                      </a:r>
                      <a:endParaRPr b="0" lang="en-US" sz="1650" spc="-1" strike="noStrike">
                        <a:solidFill>
                          <a:srgbClr val="ffffff"/>
                        </a:solidFill>
                        <a:latin typeface="Arial"/>
                      </a:endParaRPr>
                    </a:p>
                    <a:p>
                      <a:pPr algn="ctr">
                        <a:lnSpc>
                          <a:spcPct val="100000"/>
                        </a:lnSpc>
                      </a:pPr>
                      <a:r>
                        <a:rPr b="1" lang="en-US" sz="1650" spc="-1" strike="noStrike">
                          <a:solidFill>
                            <a:srgbClr val="f7f6f2"/>
                          </a:solidFill>
                          <a:latin typeface="Vazirmatn"/>
                          <a:ea typeface="Vazirmatn"/>
                        </a:rPr>
                        <a:t>CER</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AGFarsdat</a:t>
                      </a:r>
                      <a:endParaRPr b="0" lang="en-US" sz="1650" spc="-1" strike="noStrike">
                        <a:solidFill>
                          <a:srgbClr val="ffffff"/>
                        </a:solidFill>
                        <a:latin typeface="Arial"/>
                      </a:endParaRPr>
                    </a:p>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Common Voice</a:t>
                      </a:r>
                      <a:endParaRPr b="0" lang="en-US" sz="1650" spc="-1" strike="noStrike">
                        <a:solidFill>
                          <a:srgbClr val="ffffff"/>
                        </a:solidFill>
                        <a:latin typeface="Arial"/>
                      </a:endParaRPr>
                    </a:p>
                    <a:p>
                      <a:pPr algn="ctr">
                        <a:lnSpc>
                          <a:spcPct val="100000"/>
                        </a:lnSpc>
                      </a:pPr>
                      <a:r>
                        <a:rPr b="1" lang="en-US" sz="1650" spc="-1" strike="noStrike">
                          <a:solidFill>
                            <a:srgbClr val="f7f6f2"/>
                          </a:solidFill>
                          <a:latin typeface="Vazirmatn"/>
                          <a:ea typeface="Vazirmatn"/>
                        </a:rPr>
                        <a:t>CER</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Common Voice</a:t>
                      </a:r>
                      <a:endParaRPr b="0" lang="en-US" sz="1650" spc="-1" strike="noStrike">
                        <a:solidFill>
                          <a:srgbClr val="ffffff"/>
                        </a:solidFill>
                        <a:latin typeface="Arial"/>
                      </a:endParaRPr>
                    </a:p>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پیکربندی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۳۵٫۰۴٪</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۷۶٫۸۵٪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۳۸٫۰۳٪</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۷۴٫۹۲٪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خط مبنای چندشرایطی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۲۸٫۴۲٪</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۶۵٫۸۸٪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۳۲٫۸۷٪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۶۲٫۳۵٪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همجوشی فقط دروازه‌ای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۲۸٫۳۵٪</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۶۵٫۴۸٪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۳۱٫۹۰٪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۶۰٫۲۶٪</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توجه متقاطع باقیمانده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۳۰٫۳۹٪</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۶۹٫۲۳٪</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۳۳٫۲۱٪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۶۴٫۱۰٪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فقط نمای اصلی</a:t>
                      </a:r>
                      <a:r>
                        <a:rPr b="0" lang="en-US" sz="1729" spc="-1" strike="noStrike">
                          <a:solidFill>
                            <a:srgbClr val="1f2933"/>
                          </a:solidFill>
                          <a:latin typeface="Vazirmatn"/>
                          <a:ea typeface="Vazirmatn"/>
                        </a:rPr>
                        <a:t>¹</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۳۰٫۷۳٪</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۶۹٫۶۹٪</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۳۳٫۰۵٪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۶۳٫۸۱٪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فقط نمای بهسازی‌شده</a:t>
                      </a:r>
                      <a:r>
                        <a:rPr b="0" lang="en-US" sz="1729" spc="-1" strike="noStrike">
                          <a:solidFill>
                            <a:srgbClr val="1f2933"/>
                          </a:solidFill>
                          <a:latin typeface="Vazirmatn"/>
                          <a:ea typeface="Vazirmatn"/>
                        </a:rPr>
                        <a:t>¹</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1" lang="fa-IR" sz="1729" spc="-1" strike="noStrike">
                          <a:solidFill>
                            <a:srgbClr val="1d6f8a"/>
                          </a:solidFill>
                          <a:latin typeface="Vazirmatn"/>
                          <a:cs typeface="Vazirmatn"/>
                        </a:rPr>
                        <a:t>۲۷٫۰۲٪</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729" spc="-1" strike="noStrike">
                          <a:solidFill>
                            <a:srgbClr val="1d6f8a"/>
                          </a:solidFill>
                          <a:latin typeface="Vazirmatn"/>
                          <a:cs typeface="Vazirmatn"/>
                        </a:rPr>
                        <a:t>۶۳٫۵۰٪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729" spc="-1" strike="noStrike">
                          <a:solidFill>
                            <a:srgbClr val="1d6f8a"/>
                          </a:solidFill>
                          <a:latin typeface="Vazirmatn"/>
                          <a:cs typeface="Vazirmatn"/>
                        </a:rPr>
                        <a:t>۳۰٫۵۷٪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729" spc="-1" strike="noStrike">
                          <a:solidFill>
                            <a:srgbClr val="1d6f8a"/>
                          </a:solidFill>
                          <a:latin typeface="Vazirmatn"/>
                          <a:cs typeface="Vazirmatn"/>
                        </a:rPr>
                        <a:t>۵۷٫۸۲٪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همجوشی دوسویه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۳۴٫۸۳٪</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۷۶٫۶۳٪</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۳۷٫۸۱٪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۷۴٫۴۸٪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پل: فقط </a:t>
                      </a:r>
                      <a:r>
                        <a:rPr b="0" lang="en-US" sz="1729" spc="-1" strike="noStrike">
                          <a:solidFill>
                            <a:srgbClr val="1f2933"/>
                          </a:solidFill>
                          <a:latin typeface="Vazirmatn"/>
                          <a:ea typeface="Vazirmatn"/>
                        </a:rPr>
                        <a:t>PQ</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۳۵٫۵۳٪</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۷۷٫۶۷٪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۳۸٫۷۹٪</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۷۵٫۹۰٪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پل: فقط صوت بهسازی‌شده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۳۴٫۹۴٪</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۷۶٫۸۱٪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۳۷٫۸۱٪</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۷۴٫۴۰٪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پل: </a:t>
                      </a:r>
                      <a:r>
                        <a:rPr b="0" lang="en-US" sz="1729" spc="-1" strike="noStrike">
                          <a:solidFill>
                            <a:srgbClr val="1f2933"/>
                          </a:solidFill>
                          <a:latin typeface="Vazirmatn"/>
                          <a:ea typeface="Vazirmatn"/>
                        </a:rPr>
                        <a:t>PQ + RI</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65" name="¹ حذف مسیر در استنتاج. آموزش فقط با کامن‌وویس است. بودجه آموزش و ظرفیت گونه‌ها برابر نیست"/>
          <p:cNvSpPr/>
          <p:nvPr/>
        </p:nvSpPr>
        <p:spPr>
          <a:xfrm>
            <a:off x="685800" y="6172200"/>
            <a:ext cx="10815480" cy="223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500" spc="-1" strike="noStrike">
                <a:solidFill>
                  <a:srgbClr val="52606d"/>
                </a:solidFill>
                <a:latin typeface="Vazirmatn"/>
                <a:ea typeface="Vazirmatn"/>
              </a:rPr>
              <a:t>¹</a:t>
            </a:r>
            <a:r>
              <a:rPr b="0" lang="en-US" sz="1500" spc="-1" strike="noStrike">
                <a:solidFill>
                  <a:srgbClr val="52606d"/>
                </a:solidFill>
                <a:latin typeface="Vazirmatn"/>
                <a:ea typeface="Vazirmatn"/>
              </a:rPr>
              <a:t> حذف مسیر در استنتاج. آموزش فقط با کامن‌وویس است. بودجه آموزش و ظرفیت گونه‌ها برابر نیست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66" name="مطالب تکمیل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67" name="مقایسه مدل‌ها روی زیرمجموعه مشترک"/>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مقایسه مدل‌ها روی زیرمجموعه مشترک</a:t>
            </a:r>
            <a:endParaRPr b="0" lang="en-US" sz="3150" spc="-1" strike="noStrike">
              <a:solidFill>
                <a:srgbClr val="000000"/>
              </a:solidFill>
              <a:latin typeface="Arial"/>
            </a:endParaRPr>
          </a:p>
        </p:txBody>
      </p:sp>
      <p:sp>
        <p:nvSpPr>
          <p:cNvPr id="368"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69" name=""/>
          <p:cNvGraphicFramePr/>
          <p:nvPr/>
        </p:nvGraphicFramePr>
        <p:xfrm>
          <a:off x="685800" y="1657440"/>
          <a:ext cx="10819080" cy="4658040"/>
        </p:xfrm>
        <a:graphic>
          <a:graphicData uri="http://schemas.openxmlformats.org/drawingml/2006/table">
            <a:tbl>
              <a:tblPr/>
              <a:tblGrid>
                <a:gridCol w="2000160"/>
                <a:gridCol w="1761840"/>
                <a:gridCol w="1761840"/>
                <a:gridCol w="5295600"/>
              </a:tblGrid>
              <a:tr h="666720">
                <a:tc>
                  <a:txBody>
                    <a:bodyPr anchor="ctr">
                      <a:noAutofit/>
                    </a:bodyPr>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تماس واقعی</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CER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تجمیعی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تجمیعی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مدل</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19040">
                <a:tc>
                  <a:txBody>
                    <a:bodyPr anchor="ctr">
                      <a:noAutofit/>
                    </a:bodyPr>
                    <a:p>
                      <a:pPr algn="ctr" rtl="1">
                        <a:lnSpc>
                          <a:spcPct val="100000"/>
                        </a:lnSpc>
                      </a:pPr>
                      <a:r>
                        <a:rPr b="1" lang="fa-IR" sz="1729" spc="-1" strike="noStrike">
                          <a:solidFill>
                            <a:srgbClr val="1d6f8a"/>
                          </a:solidFill>
                          <a:latin typeface="Vazirmatn"/>
                          <a:cs typeface="Vazirmatn"/>
                        </a:rPr>
                        <a:t>۲۲٫۹۴٪</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729" spc="-1" strike="noStrike">
                          <a:solidFill>
                            <a:srgbClr val="1d6f8a"/>
                          </a:solidFill>
                          <a:latin typeface="Vazirmatn"/>
                          <a:cs typeface="Vazirmatn"/>
                        </a:rPr>
                        <a:t>۵٫۱۴٪</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1" lang="fa-IR" sz="1729" spc="-1" strike="noStrike">
                          <a:solidFill>
                            <a:srgbClr val="1d6f8a"/>
                          </a:solidFill>
                          <a:latin typeface="Vazirmatn"/>
                          <a:cs typeface="Vazirmatn"/>
                        </a:rPr>
                        <a:t>۱۶٫۴۴٪</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Chirp 3</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۴۸٫۶۲٪</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۶٫۹۴٪</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۱۸٫۵۵٪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GPT-4o Transcribe</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۲۶٫۶۱٪</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۱۰٫۷۲٪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۲۰٫۷۲٪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کوچک: چندشرایطی و ایران‌صدا</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۲۵٫۳۱٪</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۱۰٫۹۷٪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۲۱٫۷۲٪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همجوشی دوجریانه</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۲۴٫۷۷٪</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۱۱٫۲۴٪</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۲۳٫۱۳٪</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ویسپر متوسط</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۴۵٫۸۷٪</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۱۰٫۷۵٪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۲۶٫۹۲٪</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Voxtral Small 24B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۶۳٫۳۰٪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۱۵٫۶۸٪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۳۶٫۶۶٪</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Qwen3-ASR 1.7B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۶۷٫۸۹٪</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۲۳٫۶۸٪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۴۰٫۸۸٪</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Grok STT 1.0</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0" lang="fa-IR" sz="1729" spc="-1" strike="noStrike">
                          <a:solidFill>
                            <a:srgbClr val="1f2933"/>
                          </a:solidFill>
                          <a:latin typeface="Vazirmatn"/>
                          <a:cs typeface="Vazirmatn"/>
                        </a:rPr>
                        <a:t>۱۰۴٫۵۹٪</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۸۰٫۸۶٪</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۹۸٫۷۰٪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Nemotron 3.5 ASR 0.6B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70" name="۱۰۰ نمونه ثابت، ۲۰ نمونه از هر مجموعه. این مقایسه جایگزین ارزیابی کامل نیست"/>
          <p:cNvSpPr/>
          <p:nvPr/>
        </p:nvSpPr>
        <p:spPr>
          <a:xfrm>
            <a:off x="686160" y="6505560"/>
            <a:ext cx="10815480" cy="223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۱۰۰</a:t>
            </a:r>
            <a:r>
              <a:rPr b="0" lang="en-US" sz="1500" spc="-1" strike="noStrike">
                <a:solidFill>
                  <a:srgbClr val="52606d"/>
                </a:solidFill>
                <a:latin typeface="Vazirmatn"/>
                <a:ea typeface="Vazirmatn"/>
              </a:rPr>
              <a:t> نمونه ثابت، </a:t>
            </a:r>
            <a:r>
              <a:rPr b="0" lang="fa-IR" sz="1500" spc="-1" strike="noStrike">
                <a:solidFill>
                  <a:srgbClr val="52606d"/>
                </a:solidFill>
                <a:latin typeface="Vazirmatn"/>
                <a:cs typeface="Vazirmatn"/>
              </a:rPr>
              <a:t>۲۰</a:t>
            </a:r>
            <a:r>
              <a:rPr b="0" lang="en-US" sz="1500" spc="-1" strike="noStrike">
                <a:solidFill>
                  <a:srgbClr val="52606d"/>
                </a:solidFill>
                <a:latin typeface="Vazirmatn"/>
                <a:ea typeface="Vazirmatn"/>
              </a:rPr>
              <a:t> نمونه از هر مجموعه. این مقایسه جایگزین ارزیابی کامل نیست</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71"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72" name="توزیع نمایه‌های تخریب مخابراتی"/>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توزیع نمایه‌های تخریب مخابراتی</a:t>
            </a:r>
            <a:endParaRPr b="0" lang="en-US" sz="3150" spc="-1" strike="noStrike">
              <a:solidFill>
                <a:srgbClr val="000000"/>
              </a:solidFill>
              <a:latin typeface="Arial"/>
            </a:endParaRPr>
          </a:p>
        </p:txBody>
      </p:sp>
      <p:sp>
        <p:nvSpPr>
          <p:cNvPr id="373"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74" name=""/>
          <p:cNvGraphicFramePr/>
          <p:nvPr/>
        </p:nvGraphicFramePr>
        <p:xfrm>
          <a:off x="685800" y="1809720"/>
          <a:ext cx="10819440" cy="2837520"/>
        </p:xfrm>
        <a:graphic>
          <a:graphicData uri="http://schemas.openxmlformats.org/drawingml/2006/table">
            <a:tbl>
              <a:tblPr/>
              <a:tblGrid>
                <a:gridCol w="2647800"/>
                <a:gridCol w="2647800"/>
                <a:gridCol w="1904760"/>
                <a:gridCol w="3619440"/>
              </a:tblGrid>
              <a:tr h="552240">
                <a:tc>
                  <a:txBody>
                    <a:bodyPr anchor="ctr">
                      <a:noAutofit/>
                    </a:bodyPr>
                    <a:p>
                      <a:pPr algn="ctr" rtl="1">
                        <a:lnSpc>
                          <a:spcPct val="100000"/>
                        </a:lnSpc>
                      </a:pPr>
                      <a:r>
                        <a:rPr b="1" lang="fa-IR" sz="1729" spc="-1" strike="noStrike">
                          <a:solidFill>
                            <a:srgbClr val="f7f6f2"/>
                          </a:solidFill>
                          <a:latin typeface="Vazirmatn"/>
                          <a:cs typeface="Vazirmatn"/>
                        </a:rPr>
                        <a:t>احتمال اختلال شبکه</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احتمال افزودن نویز</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سهم انتخاب</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نمایه</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571320">
                <a:tc>
                  <a:txBody>
                    <a:bodyPr anchor="ctr">
                      <a:noAutofit/>
                    </a:bodyPr>
                    <a:p>
                      <a:pPr algn="ctr" rtl="1">
                        <a:lnSpc>
                          <a:spcPct val="100000"/>
                        </a:lnSpc>
                      </a:pPr>
                      <a:r>
                        <a:rPr b="1" lang="fa-IR" sz="1800" spc="-1" strike="noStrike">
                          <a:solidFill>
                            <a:srgbClr val="1d6f8a"/>
                          </a:solidFill>
                          <a:latin typeface="Vazirmatn"/>
                          <a:cs typeface="Vazirmatn"/>
                        </a:rPr>
                        <a:t>۱۰٪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telephone_clean</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71320">
                <a:tc>
                  <a:txBody>
                    <a:bodyPr anchor="ctr">
                      <a:noAutofit/>
                    </a:bodyPr>
                    <a:p>
                      <a:pPr algn="ctr" rtl="1">
                        <a:lnSpc>
                          <a:spcPct val="100000"/>
                        </a:lnSpc>
                      </a:pPr>
                      <a:r>
                        <a:rPr b="1" lang="fa-IR" sz="1800" spc="-1" strike="noStrike">
                          <a:solidFill>
                            <a:srgbClr val="1d6f8a"/>
                          </a:solidFill>
                          <a:latin typeface="Vazirmatn"/>
                          <a:cs typeface="Vazirmatn"/>
                        </a:rPr>
                        <a:t>۲۰٪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۷۰٪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telephone_noisy</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71320">
                <a:tc>
                  <a:txBody>
                    <a:bodyPr anchor="ctr">
                      <a:noAutofit/>
                    </a:bodyPr>
                    <a:p>
                      <a:pPr algn="ctr" rtl="1">
                        <a:lnSpc>
                          <a:spcPct val="100000"/>
                        </a:lnSpc>
                      </a:pPr>
                      <a:r>
                        <a:rPr b="1" lang="fa-IR" sz="1800" spc="-1" strike="noStrike">
                          <a:solidFill>
                            <a:srgbClr val="1d6f8a"/>
                          </a:solidFill>
                          <a:latin typeface="Vazirmatn"/>
                          <a:cs typeface="Vazirmatn"/>
                        </a:rPr>
                        <a:t>۸۰٪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voip_lossy</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71320">
                <a:tc>
                  <a:txBody>
                    <a:bodyPr anchor="ctr">
                      <a:noAutofit/>
                    </a:bodyPr>
                    <a:p>
                      <a:pPr algn="ctr" rtl="1">
                        <a:lnSpc>
                          <a:spcPct val="100000"/>
                        </a:lnSpc>
                      </a:pPr>
                      <a:r>
                        <a:rPr b="1" lang="fa-IR" sz="1800" spc="-1" strike="noStrike">
                          <a:solidFill>
                            <a:srgbClr val="1d6f8a"/>
                          </a:solidFill>
                          <a:latin typeface="Vazirmatn"/>
                          <a:cs typeface="Vazirmatn"/>
                        </a:rPr>
                        <a:t>۳۰٪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۴۵٪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mobile_wideband</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75" name="احتمال کلی افزودن نویز: ۳۷٫۵٪"/>
          <p:cNvSpPr/>
          <p:nvPr/>
        </p:nvSpPr>
        <p:spPr>
          <a:xfrm>
            <a:off x="6191280" y="4886280"/>
            <a:ext cx="5310720" cy="433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00" spc="-1" strike="noStrike">
                <a:solidFill>
                  <a:srgbClr val="153d42"/>
                </a:solidFill>
                <a:latin typeface="Vazirmatn"/>
                <a:cs typeface="Vazirmatn"/>
              </a:rPr>
              <a:t>احتمال کلی افزودن نویز: </a:t>
            </a:r>
            <a:r>
              <a:rPr b="1" lang="fa-IR" sz="2100" spc="-1" strike="noStrike">
                <a:solidFill>
                  <a:srgbClr val="153d42"/>
                </a:solidFill>
                <a:latin typeface="Vazirmatn"/>
                <a:cs typeface="Vazirmatn"/>
              </a:rPr>
              <a:t>۳۷٫۵</a:t>
            </a:r>
            <a:r>
              <a:rPr b="1" lang="fa-IR" sz="2100" spc="-1" strike="noStrike">
                <a:solidFill>
                  <a:srgbClr val="153d42"/>
                </a:solidFill>
                <a:latin typeface="Vazirmatn"/>
                <a:cs typeface="Vazirmatn"/>
              </a:rPr>
              <a:t>٪</a:t>
            </a:r>
            <a:endParaRPr b="0" lang="en-US" sz="2100" spc="-1" strike="noStrike">
              <a:solidFill>
                <a:srgbClr val="000000"/>
              </a:solidFill>
              <a:latin typeface="Arial"/>
            </a:endParaRPr>
          </a:p>
        </p:txBody>
      </p:sp>
      <p:sp>
        <p:nvSpPr>
          <p:cNvPr id="376" name="احتمال کلی اختلال شبکه: ۳۴٫۵٪"/>
          <p:cNvSpPr/>
          <p:nvPr/>
        </p:nvSpPr>
        <p:spPr>
          <a:xfrm>
            <a:off x="685800" y="4886280"/>
            <a:ext cx="5310720" cy="4338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100" spc="-1" strike="noStrike">
                <a:solidFill>
                  <a:srgbClr val="153d42"/>
                </a:solidFill>
                <a:latin typeface="Vazirmatn"/>
                <a:cs typeface="Vazirmatn"/>
              </a:rPr>
              <a:t>احتمال کلی اختلال شبکه: </a:t>
            </a:r>
            <a:r>
              <a:rPr b="1" lang="fa-IR" sz="2100" spc="-1" strike="noStrike">
                <a:solidFill>
                  <a:srgbClr val="153d42"/>
                </a:solidFill>
                <a:latin typeface="Vazirmatn"/>
                <a:cs typeface="Vazirmatn"/>
              </a:rPr>
              <a:t>۳۴٫۵</a:t>
            </a:r>
            <a:r>
              <a:rPr b="1" lang="fa-IR" sz="2100" spc="-1" strike="noStrike">
                <a:solidFill>
                  <a:srgbClr val="153d42"/>
                </a:solidFill>
                <a:latin typeface="Vazirmatn"/>
                <a:cs typeface="Vazirmatn"/>
              </a:rPr>
              <a:t>٪</a:t>
            </a:r>
            <a:endParaRPr b="0" lang="en-US" sz="2100" spc="-1" strike="noStrike">
              <a:solidFill>
                <a:srgbClr val="000000"/>
              </a:solidFill>
              <a:latin typeface="Arial"/>
            </a:endParaRPr>
          </a:p>
        </p:txBody>
      </p:sp>
      <p:sp>
        <p:nvSpPr>
          <p:cNvPr id="377" name="ابتدا نمایه انتخاب می‌شود، سپس احتمال‌های همان نمایه روی نمونه اعمال می‌شوند"/>
          <p:cNvSpPr/>
          <p:nvPr/>
        </p:nvSpPr>
        <p:spPr>
          <a:xfrm>
            <a:off x="685800" y="5438880"/>
            <a:ext cx="10816200" cy="414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52606d"/>
                </a:solidFill>
                <a:latin typeface="Vazirmatn"/>
                <a:cs typeface="Vazirmatn"/>
              </a:rPr>
              <a:t>ابتدا نمایه انتخاب می‌شود، سپس احتمال‌های همان نمایه روی نمونه اعمال می‌شوند</a:t>
            </a:r>
            <a:endParaRPr b="0" lang="en-US" sz="1800" spc="-1" strike="noStrike">
              <a:solidFill>
                <a:srgbClr val="000000"/>
              </a:solidFill>
              <a:latin typeface="Arial"/>
            </a:endParaRPr>
          </a:p>
        </p:txBody>
      </p:sp>
      <p:sp>
        <p:nvSpPr>
          <p:cNvPr id="378" name="وزن‌ها طراحی آموزشی‌اند. درصدها احتمال نمونه‌برداری‌اند و شمارش واقعی داده نیستند"/>
          <p:cNvSpPr/>
          <p:nvPr/>
        </p:nvSpPr>
        <p:spPr>
          <a:xfrm>
            <a:off x="685800" y="6010200"/>
            <a:ext cx="10816200" cy="281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وزن‌ها طراحی آموزشی‌اند. درصدها احتمال نمونه‌برداری‌اند و شمارش واقعی داده نیستند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79"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80" name="توزیع کدک در هر نمایه و در کل داده"/>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توزیع کدک در هر نمایه و در کل داده</a:t>
            </a:r>
            <a:endParaRPr b="0" lang="en-US" sz="3150" spc="-1" strike="noStrike">
              <a:solidFill>
                <a:srgbClr val="000000"/>
              </a:solidFill>
              <a:latin typeface="Arial"/>
            </a:endParaRPr>
          </a:p>
        </p:txBody>
      </p:sp>
      <p:sp>
        <p:nvSpPr>
          <p:cNvPr id="381"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82" name=""/>
          <p:cNvGraphicFramePr/>
          <p:nvPr/>
        </p:nvGraphicFramePr>
        <p:xfrm>
          <a:off x="685800" y="1657440"/>
          <a:ext cx="10819440" cy="4199400"/>
        </p:xfrm>
        <a:graphic>
          <a:graphicData uri="http://schemas.openxmlformats.org/drawingml/2006/table">
            <a:tbl>
              <a:tblPr/>
              <a:tblGrid>
                <a:gridCol w="1523880"/>
                <a:gridCol w="1523880"/>
                <a:gridCol w="1523880"/>
                <a:gridCol w="1523880"/>
                <a:gridCol w="1523880"/>
                <a:gridCol w="3200400"/>
              </a:tblGrid>
              <a:tr h="590400">
                <a:tc>
                  <a:txBody>
                    <a:bodyPr anchor="ctr">
                      <a:noAutofit/>
                    </a:bodyPr>
                    <a:p>
                      <a:pPr algn="ctr" rtl="1">
                        <a:lnSpc>
                          <a:spcPct val="100000"/>
                        </a:lnSpc>
                      </a:pPr>
                      <a:r>
                        <a:rPr b="1" lang="fa-IR" sz="1580" spc="-1" strike="noStrike">
                          <a:solidFill>
                            <a:srgbClr val="f7f6f2"/>
                          </a:solidFill>
                          <a:latin typeface="Vazirmatn"/>
                          <a:cs typeface="Vazirmatn"/>
                        </a:rPr>
                        <a:t>سهم کل</a:t>
                      </a:r>
                      <a:endParaRPr b="0" lang="en-US" sz="158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580" spc="-1" strike="noStrike">
                          <a:solidFill>
                            <a:srgbClr val="f7f6f2"/>
                          </a:solidFill>
                          <a:latin typeface="Vazirmatn"/>
                          <a:cs typeface="Vazirmatn"/>
                        </a:rPr>
                        <a:t>همراه</a:t>
                      </a:r>
                      <a:endParaRPr b="0" lang="en-US" sz="1580" spc="-1" strike="noStrike">
                        <a:solidFill>
                          <a:srgbClr val="ffffff"/>
                        </a:solidFill>
                        <a:latin typeface="Arial"/>
                      </a:endParaRPr>
                    </a:p>
                    <a:p>
                      <a:pPr algn="ctr" rtl="1">
                        <a:lnSpc>
                          <a:spcPct val="100000"/>
                        </a:lnSpc>
                      </a:pPr>
                      <a:r>
                        <a:rPr b="1" lang="fa-IR" sz="1580" spc="-1" strike="noStrike">
                          <a:solidFill>
                            <a:srgbClr val="f7f6f2"/>
                          </a:solidFill>
                          <a:latin typeface="Vazirmatn"/>
                          <a:cs typeface="Vazirmatn"/>
                        </a:rPr>
                        <a:t>پهن‌باند</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580" spc="-1" strike="noStrike">
                          <a:solidFill>
                            <a:srgbClr val="f7f6f2"/>
                          </a:solidFill>
                          <a:latin typeface="Vazirmatn"/>
                          <a:ea typeface="Vazirmatn"/>
                        </a:rPr>
                        <a:t>VoIP</a:t>
                      </a:r>
                      <a:endParaRPr b="0" lang="en-US" sz="1580" spc="-1" strike="noStrike">
                        <a:solidFill>
                          <a:srgbClr val="ffffff"/>
                        </a:solidFill>
                        <a:latin typeface="Arial"/>
                      </a:endParaRPr>
                    </a:p>
                    <a:p>
                      <a:pPr algn="ctr" rtl="1">
                        <a:lnSpc>
                          <a:spcPct val="100000"/>
                        </a:lnSpc>
                      </a:pPr>
                      <a:r>
                        <a:rPr b="1" lang="fa-IR" sz="1580" spc="-1" strike="noStrike">
                          <a:solidFill>
                            <a:srgbClr val="f7f6f2"/>
                          </a:solidFill>
                          <a:latin typeface="Vazirmatn"/>
                          <a:cs typeface="Vazirmatn"/>
                        </a:rPr>
                        <a:t>با افت بسته</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580" spc="-1" strike="noStrike">
                          <a:solidFill>
                            <a:srgbClr val="f7f6f2"/>
                          </a:solidFill>
                          <a:latin typeface="Vazirmatn"/>
                          <a:cs typeface="Vazirmatn"/>
                        </a:rPr>
                        <a:t>تلفن</a:t>
                      </a:r>
                      <a:endParaRPr b="0" lang="en-US" sz="1580" spc="-1" strike="noStrike">
                        <a:solidFill>
                          <a:srgbClr val="ffffff"/>
                        </a:solidFill>
                        <a:latin typeface="Arial"/>
                      </a:endParaRPr>
                    </a:p>
                    <a:p>
                      <a:pPr algn="ctr" rtl="1">
                        <a:lnSpc>
                          <a:spcPct val="100000"/>
                        </a:lnSpc>
                      </a:pPr>
                      <a:r>
                        <a:rPr b="1" lang="fa-IR" sz="1580" spc="-1" strike="noStrike">
                          <a:solidFill>
                            <a:srgbClr val="f7f6f2"/>
                          </a:solidFill>
                          <a:latin typeface="Vazirmatn"/>
                          <a:cs typeface="Vazirmatn"/>
                        </a:rPr>
                        <a:t>نویزی</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580" spc="-1" strike="noStrike">
                          <a:solidFill>
                            <a:srgbClr val="f7f6f2"/>
                          </a:solidFill>
                          <a:latin typeface="Vazirmatn"/>
                          <a:cs typeface="Vazirmatn"/>
                        </a:rPr>
                        <a:t>تلفن</a:t>
                      </a:r>
                      <a:endParaRPr b="0" lang="en-US" sz="1580" spc="-1" strike="noStrike">
                        <a:solidFill>
                          <a:srgbClr val="ffffff"/>
                        </a:solidFill>
                        <a:latin typeface="Arial"/>
                      </a:endParaRPr>
                    </a:p>
                    <a:p>
                      <a:pPr algn="ctr" rtl="1">
                        <a:lnSpc>
                          <a:spcPct val="100000"/>
                        </a:lnSpc>
                      </a:pPr>
                      <a:r>
                        <a:rPr b="1" lang="fa-IR" sz="1580" spc="-1" strike="noStrike">
                          <a:solidFill>
                            <a:srgbClr val="f7f6f2"/>
                          </a:solidFill>
                          <a:latin typeface="Vazirmatn"/>
                          <a:cs typeface="Vazirmatn"/>
                        </a:rPr>
                        <a:t>بدون نویز</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580" spc="-1" strike="noStrike">
                          <a:solidFill>
                            <a:srgbClr val="f7f6f2"/>
                          </a:solidFill>
                          <a:latin typeface="Vazirmatn"/>
                          <a:cs typeface="Vazirmatn"/>
                        </a:rPr>
                        <a:t>کدک</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۱۹٫۲۵٪</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G.711 A-law</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۹٫۵۰٪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G.711 μ-law</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۱۱٫۰۰٪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GSM</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۱۵٫۲۵٪</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۲۵٪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580" spc="-1" strike="noStrike">
                          <a:solidFill>
                            <a:srgbClr val="1f2933"/>
                          </a:solidFill>
                          <a:latin typeface="Vazirmatn"/>
                          <a:ea typeface="Vazirmatn"/>
                        </a:rPr>
                        <a:t>AMR-NB (12.2 kb/s)</a:t>
                      </a:r>
                      <a:endParaRPr b="0" lang="en-US" sz="158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۱۱٫۰۰٪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۵۵٪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580" spc="-1" strike="noStrike">
                          <a:solidFill>
                            <a:srgbClr val="1f2933"/>
                          </a:solidFill>
                          <a:latin typeface="Vazirmatn"/>
                          <a:ea typeface="Vazirmatn"/>
                        </a:rPr>
                        <a:t>AMR-WB (12.65 kb/s)</a:t>
                      </a:r>
                      <a:endParaRPr b="0" lang="en-US" sz="158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۲۳٫۵۰٪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۷۰٪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Opus WB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۷٫۵۰٪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۳۰٪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Opus NB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729" spc="-1" strike="noStrike">
                          <a:solidFill>
                            <a:srgbClr val="1d6f8a"/>
                          </a:solidFill>
                          <a:latin typeface="Vazirmatn"/>
                          <a:cs typeface="Vazirmatn"/>
                        </a:rPr>
                        <a:t>۳٫۰۰٪</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۱۵٪</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729" spc="-1" strike="noStrike">
                          <a:solidFill>
                            <a:srgbClr val="1f2933"/>
                          </a:solidFill>
                          <a:latin typeface="Vazirmatn"/>
                          <a:cs typeface="Vazirmatn"/>
                        </a:rPr>
                        <a:t>۰٪</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pass_through</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83" name="سهم کل کدک = مجموعِ «سهم نمایه × احتمال کدک در همان نمایه»"/>
          <p:cNvSpPr/>
          <p:nvPr/>
        </p:nvSpPr>
        <p:spPr>
          <a:xfrm>
            <a:off x="685800" y="5638680"/>
            <a:ext cx="10816200" cy="376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53d42"/>
                </a:solidFill>
                <a:latin typeface="Vazirmatn"/>
                <a:cs typeface="Vazirmatn"/>
              </a:rPr>
              <a:t>سهم کل کدک = مجموعِ «سهم نمایه × احتمال کدک در همان نمایه»</a:t>
            </a:r>
            <a:endParaRPr b="0" lang="en-US" sz="1800" spc="-1" strike="noStrike">
              <a:solidFill>
                <a:srgbClr val="000000"/>
              </a:solidFill>
              <a:latin typeface="Arial"/>
            </a:endParaRPr>
          </a:p>
        </p:txBody>
      </p:sp>
      <p:sp>
        <p:nvSpPr>
          <p:cNvPr id="384" name="جمع هر ستون ۱۰۰٪ است. انتخاب نمایه، توزیع کدک سراسری را بازنویسی می‌کند"/>
          <p:cNvSpPr/>
          <p:nvPr/>
        </p:nvSpPr>
        <p:spPr>
          <a:xfrm>
            <a:off x="685800" y="6058080"/>
            <a:ext cx="10816200" cy="2624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جمع هر ستون </a:t>
            </a:r>
            <a:r>
              <a:rPr b="0" lang="fa-IR" sz="1500" spc="-1" strike="noStrike">
                <a:solidFill>
                  <a:srgbClr val="52606d"/>
                </a:solidFill>
                <a:latin typeface="Vazirmatn"/>
                <a:cs typeface="Vazirmatn"/>
              </a:rPr>
              <a:t>۱۰۰</a:t>
            </a:r>
            <a:r>
              <a:rPr b="0" lang="fa-IR" sz="1500" spc="-1" strike="noStrike">
                <a:solidFill>
                  <a:srgbClr val="52606d"/>
                </a:solidFill>
                <a:latin typeface="Vazirmatn"/>
                <a:cs typeface="Vazirmatn"/>
              </a:rPr>
              <a:t>٪ است. انتخاب نمایه، توزیع کدک سراسری را بازنویسی می‌کند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85"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86" name="توزیع نویز، SNR و تغییر بهره"/>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توزیع نویز، </a:t>
            </a:r>
            <a:r>
              <a:rPr b="1" lang="en-US" sz="3150" spc="-1" strike="noStrike">
                <a:solidFill>
                  <a:srgbClr val="153d42"/>
                </a:solidFill>
                <a:latin typeface="Vazirmatn"/>
                <a:ea typeface="Vazirmatn"/>
              </a:rPr>
              <a:t>SNR</a:t>
            </a:r>
            <a:r>
              <a:rPr b="1" lang="en-US" sz="3150" spc="-1" strike="noStrike">
                <a:solidFill>
                  <a:srgbClr val="153d42"/>
                </a:solidFill>
                <a:latin typeface="Vazirmatn"/>
                <a:ea typeface="Vazirmatn"/>
              </a:rPr>
              <a:t> و تغییر بهره</a:t>
            </a:r>
            <a:endParaRPr b="0" lang="en-US" sz="3150" spc="-1" strike="noStrike">
              <a:solidFill>
                <a:srgbClr val="000000"/>
              </a:solidFill>
              <a:latin typeface="Arial"/>
            </a:endParaRPr>
          </a:p>
        </p:txBody>
      </p:sp>
      <p:sp>
        <p:nvSpPr>
          <p:cNvPr id="387"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88" name=""/>
          <p:cNvGraphicFramePr/>
          <p:nvPr/>
        </p:nvGraphicFramePr>
        <p:xfrm>
          <a:off x="685800" y="1676520"/>
          <a:ext cx="10819440" cy="2295000"/>
        </p:xfrm>
        <a:graphic>
          <a:graphicData uri="http://schemas.openxmlformats.org/drawingml/2006/table">
            <a:tbl>
              <a:tblPr/>
              <a:tblGrid>
                <a:gridCol w="3333600"/>
                <a:gridCol w="3809880"/>
                <a:gridCol w="3676320"/>
              </a:tblGrid>
              <a:tr h="495000">
                <a:tc>
                  <a:txBody>
                    <a:bodyPr anchor="ctr">
                      <a:noAutofit/>
                    </a:bodyPr>
                    <a:p>
                      <a:pPr algn="ctr" rtl="1">
                        <a:lnSpc>
                          <a:spcPct val="100000"/>
                        </a:lnSpc>
                      </a:pPr>
                      <a:r>
                        <a:rPr b="1" lang="fa-IR" sz="1729" spc="-1" strike="noStrike">
                          <a:solidFill>
                            <a:srgbClr val="f7f6f2"/>
                          </a:solidFill>
                          <a:latin typeface="Vazirmatn"/>
                          <a:cs typeface="Vazirmatn"/>
                        </a:rPr>
                        <a:t>سهم از کل نمونه‌ها</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احتمال در نمونه نویزی</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بازه </a:t>
                      </a:r>
                      <a:r>
                        <a:rPr b="1" lang="en-US" sz="1729" spc="-1" strike="noStrike">
                          <a:solidFill>
                            <a:srgbClr val="f7f6f2"/>
                          </a:solidFill>
                          <a:latin typeface="Vazirmatn"/>
                          <a:ea typeface="Vazirmatn"/>
                        </a:rPr>
                        <a:t>SNR (dB)</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09320">
                <a:tc>
                  <a:txBody>
                    <a:bodyPr anchor="ctr">
                      <a:noAutofit/>
                    </a:bodyPr>
                    <a:p>
                      <a:pPr algn="ctr" rtl="1">
                        <a:lnSpc>
                          <a:spcPct val="100000"/>
                        </a:lnSpc>
                      </a:pPr>
                      <a:r>
                        <a:rPr b="1" lang="fa-IR" sz="1800" spc="-1" strike="noStrike">
                          <a:solidFill>
                            <a:srgbClr val="1d6f8a"/>
                          </a:solidFill>
                          <a:latin typeface="Vazirmatn"/>
                          <a:cs typeface="Vazirmatn"/>
                        </a:rPr>
                        <a:t>۹٫۳۷۵٪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a:t>
                      </a:r>
                      <a:r>
                        <a:rPr b="0" lang="en-US" sz="1800" spc="-1" strike="noStrike">
                          <a:solidFill>
                            <a:srgbClr val="1f2933"/>
                          </a:solidFill>
                          <a:latin typeface="Vazirmatn"/>
                          <a:ea typeface="Vazirmatn"/>
                        </a:rPr>
                        <a:t>5 to 0</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800" spc="-1" strike="noStrike">
                          <a:solidFill>
                            <a:srgbClr val="1d6f8a"/>
                          </a:solidFill>
                          <a:latin typeface="Vazirmatn"/>
                          <a:cs typeface="Vazirmatn"/>
                        </a:rPr>
                        <a:t>۹٫۳۷۵٪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0 to 5</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800" spc="-1" strike="noStrike">
                          <a:solidFill>
                            <a:srgbClr val="1d6f8a"/>
                          </a:solidFill>
                          <a:latin typeface="Vazirmatn"/>
                          <a:cs typeface="Vazirmatn"/>
                        </a:rPr>
                        <a:t>۹٫۳۷۵٪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5 to 10</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09320">
                <a:tc>
                  <a:txBody>
                    <a:bodyPr anchor="ctr">
                      <a:noAutofit/>
                    </a:bodyPr>
                    <a:p>
                      <a:pPr algn="ctr" rtl="1">
                        <a:lnSpc>
                          <a:spcPct val="100000"/>
                        </a:lnSpc>
                      </a:pPr>
                      <a:r>
                        <a:rPr b="1" lang="fa-IR" sz="1800" spc="-1" strike="noStrike">
                          <a:solidFill>
                            <a:srgbClr val="1d6f8a"/>
                          </a:solidFill>
                          <a:latin typeface="Vazirmatn"/>
                          <a:cs typeface="Vazirmatn"/>
                        </a:rPr>
                        <a:t>۹٫۳۷۵٪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۲۵٪</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10 to 15</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89" name="انتخاب بازه هم‌احتمال است. SNR داخل بازه، توزیع یکنواخت پیوسته دارد"/>
          <p:cNvSpPr/>
          <p:nvPr/>
        </p:nvSpPr>
        <p:spPr>
          <a:xfrm>
            <a:off x="685800" y="397188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53d42"/>
                </a:solidFill>
                <a:latin typeface="Vazirmatn"/>
                <a:cs typeface="Vazirmatn"/>
              </a:rPr>
              <a:t>انتخاب بازه هم‌احتمال است. </a:t>
            </a:r>
            <a:r>
              <a:rPr b="1" lang="en-US" sz="1800" spc="-1" strike="noStrike">
                <a:solidFill>
                  <a:srgbClr val="153d42"/>
                </a:solidFill>
                <a:latin typeface="Vazirmatn"/>
                <a:ea typeface="Vazirmatn"/>
              </a:rPr>
              <a:t>SNR</a:t>
            </a:r>
            <a:r>
              <a:rPr b="1" lang="en-US" sz="1800" spc="-1" strike="noStrike">
                <a:solidFill>
                  <a:srgbClr val="153d42"/>
                </a:solidFill>
                <a:latin typeface="Vazirmatn"/>
                <a:ea typeface="Vazirmatn"/>
              </a:rPr>
              <a:t> داخل بازه، توزیع یکنواخت پیوسته دارد</a:t>
            </a:r>
            <a:endParaRPr b="0" lang="en-US" sz="1800" spc="-1" strike="noStrike">
              <a:solidFill>
                <a:srgbClr val="000000"/>
              </a:solidFill>
              <a:latin typeface="Arial"/>
            </a:endParaRPr>
          </a:p>
        </p:txBody>
      </p:sp>
      <p:sp>
        <p:nvSpPr>
          <p:cNvPr id="390" name="در نمونه‌های نویزی: یک فایل ۹۰٪، دو فایل ۱۰٪ با انتخاب مستقل از DEMAND"/>
          <p:cNvSpPr/>
          <p:nvPr/>
        </p:nvSpPr>
        <p:spPr>
          <a:xfrm>
            <a:off x="685800" y="4429080"/>
            <a:ext cx="10816200" cy="3481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در نمونه‌های نویزی: یک فایل </a:t>
            </a:r>
            <a:r>
              <a:rPr b="0" lang="fa-IR" sz="1800" spc="-1" strike="noStrike">
                <a:solidFill>
                  <a:srgbClr val="1f2933"/>
                </a:solidFill>
                <a:latin typeface="Vazirmatn"/>
                <a:cs typeface="Vazirmatn"/>
              </a:rPr>
              <a:t>۹۰</a:t>
            </a:r>
            <a:r>
              <a:rPr b="0" lang="fa-IR" sz="1800" spc="-1" strike="noStrike">
                <a:solidFill>
                  <a:srgbClr val="1f2933"/>
                </a:solidFill>
                <a:latin typeface="Vazirmatn"/>
                <a:cs typeface="Vazirmatn"/>
              </a:rPr>
              <a:t>٪، دو فایل </a:t>
            </a:r>
            <a:r>
              <a:rPr b="0" lang="fa-IR" sz="1800" spc="-1" strike="noStrike">
                <a:solidFill>
                  <a:srgbClr val="1f2933"/>
                </a:solidFill>
                <a:latin typeface="Vazirmatn"/>
                <a:cs typeface="Vazirmatn"/>
              </a:rPr>
              <a:t>۱۰</a:t>
            </a:r>
            <a:r>
              <a:rPr b="0" lang="fa-IR" sz="1800" spc="-1" strike="noStrike">
                <a:solidFill>
                  <a:srgbClr val="1f2933"/>
                </a:solidFill>
                <a:latin typeface="Vazirmatn"/>
                <a:cs typeface="Vazirmatn"/>
              </a:rPr>
              <a:t>٪ با انتخاب مستقل از </a:t>
            </a:r>
            <a:r>
              <a:rPr b="0" lang="en-US" sz="1800" spc="-1" strike="noStrike">
                <a:solidFill>
                  <a:srgbClr val="1f2933"/>
                </a:solidFill>
                <a:latin typeface="Vazirmatn"/>
                <a:ea typeface="Vazirmatn"/>
              </a:rPr>
              <a:t>DEMAND</a:t>
            </a:r>
            <a:endParaRPr b="0" lang="en-US" sz="1800" spc="-1" strike="noStrike">
              <a:solidFill>
                <a:srgbClr val="000000"/>
              </a:solidFill>
              <a:latin typeface="Arial"/>
            </a:endParaRPr>
          </a:p>
        </p:txBody>
      </p:sp>
      <p:sp>
        <p:nvSpPr>
          <p:cNvPr id="391" name="از کل داده: بدون نویز ۶۲٫۵٪، یک فایل ۳۳٫۷۵٪، دو فایل ۳٫۷۵٪"/>
          <p:cNvSpPr/>
          <p:nvPr/>
        </p:nvSpPr>
        <p:spPr>
          <a:xfrm>
            <a:off x="685800" y="4838760"/>
            <a:ext cx="10816200" cy="3481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از کل داده: بدون نویز </a:t>
            </a:r>
            <a:r>
              <a:rPr b="0" lang="fa-IR" sz="1800" spc="-1" strike="noStrike">
                <a:solidFill>
                  <a:srgbClr val="1f2933"/>
                </a:solidFill>
                <a:latin typeface="Vazirmatn"/>
                <a:cs typeface="Vazirmatn"/>
              </a:rPr>
              <a:t>۶۲٫۵</a:t>
            </a:r>
            <a:r>
              <a:rPr b="0" lang="fa-IR" sz="1800" spc="-1" strike="noStrike">
                <a:solidFill>
                  <a:srgbClr val="1f2933"/>
                </a:solidFill>
                <a:latin typeface="Vazirmatn"/>
                <a:cs typeface="Vazirmatn"/>
              </a:rPr>
              <a:t>٪، یک فایل </a:t>
            </a:r>
            <a:r>
              <a:rPr b="0" lang="fa-IR" sz="1800" spc="-1" strike="noStrike">
                <a:solidFill>
                  <a:srgbClr val="1f2933"/>
                </a:solidFill>
                <a:latin typeface="Vazirmatn"/>
                <a:cs typeface="Vazirmatn"/>
              </a:rPr>
              <a:t>۳۳٫۷۵</a:t>
            </a:r>
            <a:r>
              <a:rPr b="0" lang="fa-IR" sz="1800" spc="-1" strike="noStrike">
                <a:solidFill>
                  <a:srgbClr val="1f2933"/>
                </a:solidFill>
                <a:latin typeface="Vazirmatn"/>
                <a:cs typeface="Vazirmatn"/>
              </a:rPr>
              <a:t>٪، دو فایل </a:t>
            </a:r>
            <a:r>
              <a:rPr b="0" lang="fa-IR" sz="1800" spc="-1" strike="noStrike">
                <a:solidFill>
                  <a:srgbClr val="1f2933"/>
                </a:solidFill>
                <a:latin typeface="Vazirmatn"/>
                <a:cs typeface="Vazirmatn"/>
              </a:rPr>
              <a:t>۳٫۷۵</a:t>
            </a:r>
            <a:r>
              <a:rPr b="0" lang="fa-IR" sz="1800" spc="-1" strike="noStrike">
                <a:solidFill>
                  <a:srgbClr val="1f2933"/>
                </a:solidFill>
                <a:latin typeface="Vazirmatn"/>
                <a:cs typeface="Vazirmatn"/>
              </a:rPr>
              <a:t>٪</a:t>
            </a:r>
            <a:endParaRPr b="0" lang="en-US" sz="1800" spc="-1" strike="noStrike">
              <a:solidFill>
                <a:srgbClr val="000000"/>
              </a:solidFill>
              <a:latin typeface="Arial"/>
            </a:endParaRPr>
          </a:p>
        </p:txBody>
      </p:sp>
      <p:sp>
        <p:nvSpPr>
          <p:cNvPr id="392" name="انتخاب فایل در فهرست یکنواخت است. سهم هر محیط به تعداد فایل‌های آن بستگی دارد"/>
          <p:cNvSpPr/>
          <p:nvPr/>
        </p:nvSpPr>
        <p:spPr>
          <a:xfrm>
            <a:off x="685800" y="5248440"/>
            <a:ext cx="10816200" cy="3481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729" spc="-1" strike="noStrike">
                <a:solidFill>
                  <a:srgbClr val="1f2933"/>
                </a:solidFill>
                <a:latin typeface="Vazirmatn"/>
                <a:cs typeface="Vazirmatn"/>
              </a:rPr>
              <a:t>انتخاب فایل در فهرست یکنواخت است. سهم هر محیط به تعداد فایل‌های آن بستگی دارد</a:t>
            </a:r>
            <a:endParaRPr b="0" lang="en-US" sz="1729" spc="-1" strike="noStrike">
              <a:solidFill>
                <a:srgbClr val="000000"/>
              </a:solidFill>
              <a:latin typeface="Arial"/>
            </a:endParaRPr>
          </a:p>
        </p:txBody>
      </p:sp>
      <p:sp>
        <p:nvSpPr>
          <p:cNvPr id="393" name="بهره روی کل مخلوط: یکنواخت از ۶− تا ۶+ دسی‌بل، بدون تغییر SNR"/>
          <p:cNvSpPr/>
          <p:nvPr/>
        </p:nvSpPr>
        <p:spPr>
          <a:xfrm>
            <a:off x="685800" y="5657760"/>
            <a:ext cx="10816200" cy="3481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بهره روی کل مخلوط: یکنواخت از </a:t>
            </a:r>
            <a:r>
              <a:rPr b="0" lang="fa-IR" sz="1800" spc="-1" strike="noStrike">
                <a:solidFill>
                  <a:srgbClr val="1f2933"/>
                </a:solidFill>
                <a:latin typeface="Vazirmatn"/>
                <a:cs typeface="Vazirmatn"/>
              </a:rPr>
              <a:t>۶</a:t>
            </a:r>
            <a:r>
              <a:rPr b="0" lang="en-US" sz="1800" spc="-1" strike="noStrike">
                <a:solidFill>
                  <a:srgbClr val="1f2933"/>
                </a:solidFill>
                <a:latin typeface="Vazirmatn"/>
                <a:ea typeface="Vazirmatn"/>
              </a:rPr>
              <a:t>− تا </a:t>
            </a:r>
            <a:r>
              <a:rPr b="0" lang="fa-IR" sz="1800" spc="-1" strike="noStrike">
                <a:solidFill>
                  <a:srgbClr val="1f2933"/>
                </a:solidFill>
                <a:latin typeface="Vazirmatn"/>
                <a:cs typeface="Vazirmatn"/>
              </a:rPr>
              <a:t>۶</a:t>
            </a:r>
            <a:r>
              <a:rPr b="0" lang="en-US" sz="1800" spc="-1" strike="noStrike">
                <a:solidFill>
                  <a:srgbClr val="1f2933"/>
                </a:solidFill>
                <a:latin typeface="Vazirmatn"/>
                <a:ea typeface="Vazirmatn"/>
              </a:rPr>
              <a:t>+ دسی‌بل، بدون تغییر </a:t>
            </a:r>
            <a:r>
              <a:rPr b="0" lang="en-US" sz="1800" spc="-1" strike="noStrike">
                <a:solidFill>
                  <a:srgbClr val="1f2933"/>
                </a:solidFill>
                <a:latin typeface="Vazirmatn"/>
                <a:ea typeface="Vazirmatn"/>
              </a:rPr>
              <a:t>SNR</a:t>
            </a:r>
            <a:endParaRPr b="0" lang="en-US" sz="1800" spc="-1" strike="noStrike">
              <a:solidFill>
                <a:srgbClr val="000000"/>
              </a:solidFill>
              <a:latin typeface="Arial"/>
            </a:endParaRPr>
          </a:p>
        </p:txBody>
      </p:sp>
      <p:sp>
        <p:nvSpPr>
          <p:cNvPr id="394" name="درصدهای نویز، وجود فهرست معتبر DEMAND را فرض می‌کنند"/>
          <p:cNvSpPr/>
          <p:nvPr/>
        </p:nvSpPr>
        <p:spPr>
          <a:xfrm>
            <a:off x="685800" y="6076800"/>
            <a:ext cx="10816200" cy="2433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درصدهای نویز، وجود فهرست معتبر </a:t>
            </a:r>
            <a:r>
              <a:rPr b="0" lang="en-US" sz="1500" spc="-1" strike="noStrike">
                <a:solidFill>
                  <a:srgbClr val="52606d"/>
                </a:solidFill>
                <a:latin typeface="Vazirmatn"/>
                <a:ea typeface="Vazirmatn"/>
              </a:rPr>
              <a:t>DEMAND</a:t>
            </a:r>
            <a:r>
              <a:rPr b="0" lang="en-US" sz="1500" spc="-1" strike="noStrike">
                <a:solidFill>
                  <a:srgbClr val="52606d"/>
                </a:solidFill>
                <a:latin typeface="Vazirmatn"/>
                <a:ea typeface="Vazirmatn"/>
              </a:rPr>
              <a:t> را فرض می‌کنند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395"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396" name="پهنای‌باند کانال و پارامترهای Opus"/>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پهنای‌باند کانال و پارامترهای </a:t>
            </a:r>
            <a:r>
              <a:rPr b="1" lang="en-US" sz="3150" spc="-1" strike="noStrike">
                <a:solidFill>
                  <a:srgbClr val="153d42"/>
                </a:solidFill>
                <a:latin typeface="Vazirmatn"/>
                <a:ea typeface="Vazirmatn"/>
              </a:rPr>
              <a:t>Opus</a:t>
            </a:r>
            <a:endParaRPr b="0" lang="en-US" sz="3150" spc="-1" strike="noStrike">
              <a:solidFill>
                <a:srgbClr val="000000"/>
              </a:solidFill>
              <a:latin typeface="Arial"/>
            </a:endParaRPr>
          </a:p>
        </p:txBody>
      </p:sp>
      <p:sp>
        <p:nvSpPr>
          <p:cNvPr id="397"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398" name=""/>
          <p:cNvGraphicFramePr/>
          <p:nvPr/>
        </p:nvGraphicFramePr>
        <p:xfrm>
          <a:off x="685800" y="1657440"/>
          <a:ext cx="10819440" cy="1357200"/>
        </p:xfrm>
        <a:graphic>
          <a:graphicData uri="http://schemas.openxmlformats.org/drawingml/2006/table">
            <a:tbl>
              <a:tblPr/>
              <a:tblGrid>
                <a:gridCol w="1714320"/>
                <a:gridCol w="3238200"/>
                <a:gridCol w="2286000"/>
                <a:gridCol w="3581280"/>
              </a:tblGrid>
              <a:tr h="457200">
                <a:tc>
                  <a:txBody>
                    <a:bodyPr anchor="ctr">
                      <a:noAutofit/>
                    </a:bodyPr>
                    <a:p>
                      <a:pPr algn="ctr" rtl="1">
                        <a:lnSpc>
                          <a:spcPct val="100000"/>
                        </a:lnSpc>
                      </a:pPr>
                      <a:r>
                        <a:rPr b="1" lang="fa-IR" sz="1729" spc="-1" strike="noStrike">
                          <a:solidFill>
                            <a:srgbClr val="f7f6f2"/>
                          </a:solidFill>
                          <a:latin typeface="Vazirmatn"/>
                          <a:cs typeface="Vazirmatn"/>
                        </a:rPr>
                        <a:t>سهم کل</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بازه فرکانسی (</a:t>
                      </a:r>
                      <a:r>
                        <a:rPr b="1" lang="en-US" sz="1729" spc="-1" strike="noStrike">
                          <a:solidFill>
                            <a:srgbClr val="f7f6f2"/>
                          </a:solidFill>
                          <a:latin typeface="Vazirmatn"/>
                          <a:ea typeface="Vazirmatn"/>
                        </a:rPr>
                        <a:t>Hz</a:t>
                      </a:r>
                      <a:r>
                        <a:rPr b="1" lang="en-US" sz="1729" spc="-1" strike="noStrike">
                          <a:solidFill>
                            <a:srgbClr val="f7f6f2"/>
                          </a:solidFill>
                          <a:latin typeface="Vazirmatn"/>
                          <a:ea typeface="Vazirmatn"/>
                        </a:rPr>
                        <a:t>)</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نرخ کانال</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مسیر</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19040">
                <a:tc>
                  <a:txBody>
                    <a:bodyPr anchor="ctr">
                      <a:noAutofit/>
                    </a:bodyPr>
                    <a:p>
                      <a:pPr algn="ctr" rtl="1">
                        <a:lnSpc>
                          <a:spcPct val="100000"/>
                        </a:lnSpc>
                      </a:pPr>
                      <a:r>
                        <a:rPr b="1" lang="fa-IR" sz="1800" spc="-1" strike="noStrike">
                          <a:solidFill>
                            <a:srgbClr val="1d6f8a"/>
                          </a:solidFill>
                          <a:latin typeface="Vazirmatn"/>
                          <a:cs typeface="Vazirmatn"/>
                        </a:rPr>
                        <a:t>۶۴٪</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800" spc="-1" strike="noStrike">
                          <a:solidFill>
                            <a:srgbClr val="1f2933"/>
                          </a:solidFill>
                          <a:latin typeface="Vazirmatn"/>
                          <a:ea typeface="Vazirmatn"/>
                        </a:rPr>
                        <a:t>300–3400</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800" spc="-1" strike="noStrike">
                          <a:solidFill>
                            <a:srgbClr val="1f2933"/>
                          </a:solidFill>
                          <a:latin typeface="Vazirmatn"/>
                          <a:ea typeface="Vazirmatn"/>
                        </a:rPr>
                        <a:t>8 kHz</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00" spc="-1" strike="noStrike">
                          <a:solidFill>
                            <a:srgbClr val="1f2933"/>
                          </a:solidFill>
                          <a:latin typeface="Vazirmatn"/>
                          <a:cs typeface="Vazirmatn"/>
                        </a:rPr>
                        <a:t>باریک‌باند</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19040">
                <a:tc>
                  <a:txBody>
                    <a:bodyPr anchor="ctr">
                      <a:noAutofit/>
                    </a:bodyPr>
                    <a:p>
                      <a:pPr algn="ctr" rtl="1">
                        <a:lnSpc>
                          <a:spcPct val="100000"/>
                        </a:lnSpc>
                      </a:pPr>
                      <a:r>
                        <a:rPr b="1" lang="fa-IR" sz="1800" spc="-1" strike="noStrike">
                          <a:solidFill>
                            <a:srgbClr val="1d6f8a"/>
                          </a:solidFill>
                          <a:latin typeface="Vazirmatn"/>
                          <a:cs typeface="Vazirmatn"/>
                        </a:rPr>
                        <a:t>۳۶٪</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800" spc="-1" strike="noStrike">
                          <a:solidFill>
                            <a:srgbClr val="1f2933"/>
                          </a:solidFill>
                          <a:latin typeface="Vazirmatn"/>
                          <a:ea typeface="Vazirmatn"/>
                        </a:rPr>
                        <a:t>50–7000</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800" spc="-1" strike="noStrike">
                          <a:solidFill>
                            <a:srgbClr val="1f2933"/>
                          </a:solidFill>
                          <a:latin typeface="Vazirmatn"/>
                          <a:ea typeface="Vazirmatn"/>
                        </a:rPr>
                        <a:t>16 kHz</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00" spc="-1" strike="noStrike">
                          <a:solidFill>
                            <a:srgbClr val="1f2933"/>
                          </a:solidFill>
                          <a:latin typeface="Vazirmatn"/>
                          <a:cs typeface="Vazirmatn"/>
                        </a:rPr>
                        <a:t>پهن‌باند</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399" name="عبور مستقیم: ۳٪ کل داده، با انتخاب ۵۰٪ باریک‌باند و ۵۰٪ پهن‌باند"/>
          <p:cNvSpPr/>
          <p:nvPr/>
        </p:nvSpPr>
        <p:spPr>
          <a:xfrm>
            <a:off x="685800" y="305748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52606d"/>
                </a:solidFill>
                <a:latin typeface="Vazirmatn"/>
                <a:cs typeface="Vazirmatn"/>
              </a:rPr>
              <a:t>عبور مستقیم: </a:t>
            </a:r>
            <a:r>
              <a:rPr b="0" lang="fa-IR" sz="1800" spc="-1" strike="noStrike">
                <a:solidFill>
                  <a:srgbClr val="52606d"/>
                </a:solidFill>
                <a:latin typeface="Vazirmatn"/>
                <a:cs typeface="Vazirmatn"/>
              </a:rPr>
              <a:t>۳</a:t>
            </a:r>
            <a:r>
              <a:rPr b="0" lang="fa-IR" sz="1800" spc="-1" strike="noStrike">
                <a:solidFill>
                  <a:srgbClr val="52606d"/>
                </a:solidFill>
                <a:latin typeface="Vazirmatn"/>
                <a:cs typeface="Vazirmatn"/>
              </a:rPr>
              <a:t>٪ کل داده، با انتخاب </a:t>
            </a:r>
            <a:r>
              <a:rPr b="0" lang="fa-IR" sz="1800" spc="-1" strike="noStrike">
                <a:solidFill>
                  <a:srgbClr val="52606d"/>
                </a:solidFill>
                <a:latin typeface="Vazirmatn"/>
                <a:cs typeface="Vazirmatn"/>
              </a:rPr>
              <a:t>۵۰</a:t>
            </a:r>
            <a:r>
              <a:rPr b="0" lang="fa-IR" sz="1800" spc="-1" strike="noStrike">
                <a:solidFill>
                  <a:srgbClr val="52606d"/>
                </a:solidFill>
                <a:latin typeface="Vazirmatn"/>
                <a:cs typeface="Vazirmatn"/>
              </a:rPr>
              <a:t>٪ باریک‌باند و </a:t>
            </a:r>
            <a:r>
              <a:rPr b="0" lang="fa-IR" sz="1800" spc="-1" strike="noStrike">
                <a:solidFill>
                  <a:srgbClr val="52606d"/>
                </a:solidFill>
                <a:latin typeface="Vazirmatn"/>
                <a:cs typeface="Vazirmatn"/>
              </a:rPr>
              <a:t>۵۰</a:t>
            </a:r>
            <a:r>
              <a:rPr b="0" lang="fa-IR" sz="1800" spc="-1" strike="noStrike">
                <a:solidFill>
                  <a:srgbClr val="52606d"/>
                </a:solidFill>
                <a:latin typeface="Vazirmatn"/>
                <a:cs typeface="Vazirmatn"/>
              </a:rPr>
              <a:t>٪ پهن‌باند</a:t>
            </a:r>
            <a:endParaRPr b="0" lang="en-US" sz="1800" spc="-1" strike="noStrike">
              <a:solidFill>
                <a:srgbClr val="000000"/>
              </a:solidFill>
              <a:latin typeface="Arial"/>
            </a:endParaRPr>
          </a:p>
        </p:txBody>
      </p:sp>
      <p:graphicFrame>
        <p:nvGraphicFramePr>
          <p:cNvPr id="400" name=""/>
          <p:cNvGraphicFramePr/>
          <p:nvPr/>
        </p:nvGraphicFramePr>
        <p:xfrm>
          <a:off x="685800" y="3581280"/>
          <a:ext cx="10819800" cy="1828800"/>
        </p:xfrm>
        <a:graphic>
          <a:graphicData uri="http://schemas.openxmlformats.org/drawingml/2006/table">
            <a:tbl>
              <a:tblPr/>
              <a:tblGrid>
                <a:gridCol w="2952720"/>
                <a:gridCol w="2952720"/>
                <a:gridCol w="4914720"/>
              </a:tblGrid>
              <a:tr h="457200">
                <a:tc>
                  <a:txBody>
                    <a:bodyPr anchor="ctr">
                      <a:noAutofit/>
                    </a:bodyPr>
                    <a:p>
                      <a:pPr algn="ctr" rtl="1">
                        <a:lnSpc>
                          <a:spcPct val="100000"/>
                        </a:lnSpc>
                      </a:pPr>
                      <a:r>
                        <a:rPr b="1" lang="fa-IR" sz="1729" spc="-1" strike="noStrike">
                          <a:solidFill>
                            <a:srgbClr val="f7f6f2"/>
                          </a:solidFill>
                          <a:latin typeface="Vazirmatn"/>
                          <a:cs typeface="Vazirmatn"/>
                        </a:rPr>
                        <a:t>طول قاب (</a:t>
                      </a:r>
                      <a:r>
                        <a:rPr b="1" lang="en-US" sz="1729" spc="-1" strike="noStrike">
                          <a:solidFill>
                            <a:srgbClr val="f7f6f2"/>
                          </a:solidFill>
                          <a:latin typeface="Vazirmatn"/>
                          <a:ea typeface="Vazirmatn"/>
                        </a:rPr>
                        <a:t>ms</a:t>
                      </a:r>
                      <a:r>
                        <a:rPr b="1" lang="en-US" sz="1729" spc="-1" strike="noStrike">
                          <a:solidFill>
                            <a:srgbClr val="f7f6f2"/>
                          </a:solidFill>
                          <a:latin typeface="Vazirmatn"/>
                          <a:ea typeface="Vazirmatn"/>
                        </a:rPr>
                        <a:t>)</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نرخ بیت (</a:t>
                      </a:r>
                      <a:r>
                        <a:rPr b="1" lang="en-US" sz="1729" spc="-1" strike="noStrike">
                          <a:solidFill>
                            <a:srgbClr val="f7f6f2"/>
                          </a:solidFill>
                          <a:latin typeface="Vazirmatn"/>
                          <a:ea typeface="Vazirmatn"/>
                        </a:rPr>
                        <a:t>kb/s</a:t>
                      </a:r>
                      <a:r>
                        <a:rPr b="1" lang="en-US" sz="1729" spc="-1" strike="noStrike">
                          <a:solidFill>
                            <a:srgbClr val="f7f6f2"/>
                          </a:solidFill>
                          <a:latin typeface="Vazirmatn"/>
                          <a:ea typeface="Vazirmatn"/>
                        </a:rPr>
                        <a:t>)</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نمایه و کدک</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57200">
                <a:tc>
                  <a:txBody>
                    <a:bodyPr anchor="ctr">
                      <a:noAutofit/>
                    </a:bodyPr>
                    <a:p>
                      <a:pPr algn="ctr">
                        <a:lnSpc>
                          <a:spcPct val="100000"/>
                        </a:lnSpc>
                      </a:pPr>
                      <a:r>
                        <a:rPr b="1" lang="en-US" sz="1729" spc="-1" strike="noStrike">
                          <a:solidFill>
                            <a:srgbClr val="1d6f8a"/>
                          </a:solidFill>
                          <a:latin typeface="Vazirmatn"/>
                          <a:ea typeface="Vazirmatn"/>
                        </a:rPr>
                        <a:t>20 / 40 / 60</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729" spc="-1" strike="noStrike">
                          <a:solidFill>
                            <a:srgbClr val="1f2933"/>
                          </a:solidFill>
                          <a:latin typeface="Vazirmatn"/>
                          <a:ea typeface="Vazirmatn"/>
                        </a:rPr>
                        <a:t>16 / 24 / 32</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voip_lossy: Opus WB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a:lnSpc>
                          <a:spcPct val="100000"/>
                        </a:lnSpc>
                      </a:pPr>
                      <a:r>
                        <a:rPr b="1" lang="en-US" sz="1729" spc="-1" strike="noStrike">
                          <a:solidFill>
                            <a:srgbClr val="1d6f8a"/>
                          </a:solidFill>
                          <a:latin typeface="Vazirmatn"/>
                          <a:ea typeface="Vazirmatn"/>
                        </a:rPr>
                        <a:t>20 / 40</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729" spc="-1" strike="noStrike">
                          <a:solidFill>
                            <a:srgbClr val="1f2933"/>
                          </a:solidFill>
                          <a:latin typeface="Vazirmatn"/>
                          <a:ea typeface="Vazirmatn"/>
                        </a:rPr>
                        <a:t>12 / 16</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voip_lossy: Opus NB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a:lnSpc>
                          <a:spcPct val="100000"/>
                        </a:lnSpc>
                      </a:pPr>
                      <a:r>
                        <a:rPr b="1" lang="en-US" sz="1729" spc="-1" strike="noStrike">
                          <a:solidFill>
                            <a:srgbClr val="1d6f8a"/>
                          </a:solidFill>
                          <a:latin typeface="Vazirmatn"/>
                          <a:ea typeface="Vazirmatn"/>
                        </a:rPr>
                        <a:t>20 / 40</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a:lnSpc>
                          <a:spcPct val="100000"/>
                        </a:lnSpc>
                      </a:pPr>
                      <a:r>
                        <a:rPr b="0" lang="en-US" sz="1729" spc="-1" strike="noStrike">
                          <a:solidFill>
                            <a:srgbClr val="1f2933"/>
                          </a:solidFill>
                          <a:latin typeface="Vazirmatn"/>
                          <a:ea typeface="Vazirmatn"/>
                        </a:rPr>
                        <a:t>16 / 24 / 32</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729" spc="-1" strike="noStrike">
                          <a:solidFill>
                            <a:srgbClr val="1f2933"/>
                          </a:solidFill>
                          <a:latin typeface="Vazirmatn"/>
                          <a:ea typeface="Vazirmatn"/>
                        </a:rPr>
                        <a:t>mobile_wideband: Opus WB</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401" name="گزینه‌های هر خانه هم‌احتمال‌اند. نرخ بیت و طول قاب مستقل انتخاب می‌شوند"/>
          <p:cNvSpPr/>
          <p:nvPr/>
        </p:nvSpPr>
        <p:spPr>
          <a:xfrm>
            <a:off x="685800" y="556272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53d42"/>
                </a:solidFill>
                <a:latin typeface="Vazirmatn"/>
                <a:cs typeface="Vazirmatn"/>
              </a:rPr>
              <a:t>گزینه‌های هر خانه هم‌احتمال‌اند. نرخ بیت و طول قاب مستقل انتخاب می‌شوند</a:t>
            </a:r>
            <a:endParaRPr b="0" lang="en-US" sz="1800" spc="-1" strike="noStrike">
              <a:solidFill>
                <a:srgbClr val="000000"/>
              </a:solidFill>
              <a:latin typeface="Arial"/>
            </a:endParaRPr>
          </a:p>
        </p:txBody>
      </p:sp>
      <p:sp>
        <p:nvSpPr>
          <p:cNvPr id="402" name="خروجی همه مسیرها: تک‌کاناله و ۱۶ کیلوهرتز، با حفظ محدودیت پهنای‌باند"/>
          <p:cNvSpPr/>
          <p:nvPr/>
        </p:nvSpPr>
        <p:spPr>
          <a:xfrm>
            <a:off x="685800" y="6019920"/>
            <a:ext cx="10816200" cy="281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80" spc="-1" strike="noStrike">
                <a:solidFill>
                  <a:srgbClr val="52606d"/>
                </a:solidFill>
                <a:latin typeface="Vazirmatn"/>
                <a:cs typeface="Vazirmatn"/>
              </a:rPr>
              <a:t>خروجی همه مسیرها: تک‌کاناله و </a:t>
            </a:r>
            <a:r>
              <a:rPr b="0" lang="fa-IR" sz="1580" spc="-1" strike="noStrike">
                <a:solidFill>
                  <a:srgbClr val="52606d"/>
                </a:solidFill>
                <a:latin typeface="Vazirmatn"/>
                <a:cs typeface="Vazirmatn"/>
              </a:rPr>
              <a:t>۱۶</a:t>
            </a:r>
            <a:r>
              <a:rPr b="0" lang="en-US" sz="1580" spc="-1" strike="noStrike">
                <a:solidFill>
                  <a:srgbClr val="52606d"/>
                </a:solidFill>
                <a:latin typeface="Vazirmatn"/>
                <a:ea typeface="Vazirmatn"/>
              </a:rPr>
              <a:t> کیلوهرتز، با حفظ محدودیت پهنای‌باند</a:t>
            </a:r>
            <a:endParaRPr b="0" lang="en-US" sz="15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03"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404" name="توزیع شدت افت و مدل اختلال شبکه"/>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توزیع شدت افت و مدل اختلال شبکه</a:t>
            </a:r>
            <a:endParaRPr b="0" lang="en-US" sz="3150" spc="-1" strike="noStrike">
              <a:solidFill>
                <a:srgbClr val="000000"/>
              </a:solidFill>
              <a:latin typeface="Arial"/>
            </a:endParaRPr>
          </a:p>
        </p:txBody>
      </p:sp>
      <p:sp>
        <p:nvSpPr>
          <p:cNvPr id="405"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406" name=""/>
          <p:cNvGraphicFramePr/>
          <p:nvPr/>
        </p:nvGraphicFramePr>
        <p:xfrm>
          <a:off x="685800" y="1657440"/>
          <a:ext cx="10819440" cy="1866600"/>
        </p:xfrm>
        <a:graphic>
          <a:graphicData uri="http://schemas.openxmlformats.org/drawingml/2006/table">
            <a:tbl>
              <a:tblPr/>
              <a:tblGrid>
                <a:gridCol w="3333600"/>
                <a:gridCol w="3809880"/>
                <a:gridCol w="3676320"/>
              </a:tblGrid>
              <a:tr h="495000">
                <a:tc>
                  <a:txBody>
                    <a:bodyPr anchor="ctr">
                      <a:noAutofit/>
                    </a:bodyPr>
                    <a:p>
                      <a:pPr algn="ctr" rtl="1">
                        <a:lnSpc>
                          <a:spcPct val="100000"/>
                        </a:lnSpc>
                      </a:pPr>
                      <a:r>
                        <a:rPr b="1" lang="fa-IR" sz="1729" spc="-1" strike="noStrike">
                          <a:solidFill>
                            <a:srgbClr val="f7f6f2"/>
                          </a:solidFill>
                          <a:latin typeface="Vazirmatn"/>
                          <a:cs typeface="Vazirmatn"/>
                        </a:rPr>
                        <a:t>سهم از کل نمونه‌ها</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729" spc="-1" strike="noStrike">
                          <a:solidFill>
                            <a:srgbClr val="f7f6f2"/>
                          </a:solidFill>
                          <a:latin typeface="Vazirmatn"/>
                          <a:cs typeface="Vazirmatn"/>
                        </a:rPr>
                        <a:t>احتمال پس از فعال‌شدن</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بازه نرخ افت</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57200">
                <a:tc>
                  <a:txBody>
                    <a:bodyPr anchor="ctr">
                      <a:noAutofit/>
                    </a:bodyPr>
                    <a:p>
                      <a:pPr algn="ctr" rtl="1">
                        <a:lnSpc>
                          <a:spcPct val="100000"/>
                        </a:lnSpc>
                      </a:pPr>
                      <a:r>
                        <a:rPr b="1" lang="fa-IR" sz="1800" spc="-1" strike="noStrike">
                          <a:solidFill>
                            <a:srgbClr val="1d6f8a"/>
                          </a:solidFill>
                          <a:latin typeface="Vazirmatn"/>
                          <a:cs typeface="Vazirmatn"/>
                        </a:rPr>
                        <a:t>۱۱٫۵٪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0.3% to 2%</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800" spc="-1" strike="noStrike">
                          <a:solidFill>
                            <a:srgbClr val="1d6f8a"/>
                          </a:solidFill>
                          <a:latin typeface="Vazirmatn"/>
                          <a:cs typeface="Vazirmatn"/>
                        </a:rPr>
                        <a:t>۱۱٫۵٪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2% to 5%</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800" spc="-1" strike="noStrike">
                          <a:solidFill>
                            <a:srgbClr val="1d6f8a"/>
                          </a:solidFill>
                          <a:latin typeface="Vazirmatn"/>
                          <a:cs typeface="Vazirmatn"/>
                        </a:rPr>
                        <a:t>۱۱٫۵٪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00" spc="-1" strike="noStrike">
                          <a:solidFill>
                            <a:srgbClr val="1f2933"/>
                          </a:solidFill>
                          <a:latin typeface="Vazirmatn"/>
                          <a:ea typeface="Vazirmatn"/>
                        </a:rPr>
                        <a:t>5% to 10%</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407" name="نرخ افت داخل بازه یکنواخت است. طول متوسط جهش از ۱ تا ۵ قاب انتخاب می‌شود"/>
          <p:cNvSpPr/>
          <p:nvPr/>
        </p:nvSpPr>
        <p:spPr>
          <a:xfrm>
            <a:off x="685800" y="3724200"/>
            <a:ext cx="10816200" cy="3765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53d42"/>
                </a:solidFill>
                <a:latin typeface="Vazirmatn"/>
                <a:cs typeface="Vazirmatn"/>
              </a:rPr>
              <a:t>نرخ افت داخل بازه یکنواخت است. طول متوسط جهش از </a:t>
            </a:r>
            <a:r>
              <a:rPr b="1" lang="fa-IR" sz="1800" spc="-1" strike="noStrike">
                <a:solidFill>
                  <a:srgbClr val="153d42"/>
                </a:solidFill>
                <a:latin typeface="Vazirmatn"/>
                <a:cs typeface="Vazirmatn"/>
              </a:rPr>
              <a:t>۱</a:t>
            </a:r>
            <a:r>
              <a:rPr b="1" lang="en-US" sz="1800" spc="-1" strike="noStrike">
                <a:solidFill>
                  <a:srgbClr val="153d42"/>
                </a:solidFill>
                <a:latin typeface="Vazirmatn"/>
                <a:ea typeface="Vazirmatn"/>
              </a:rPr>
              <a:t> تا </a:t>
            </a:r>
            <a:r>
              <a:rPr b="1" lang="fa-IR" sz="1800" spc="-1" strike="noStrike">
                <a:solidFill>
                  <a:srgbClr val="153d42"/>
                </a:solidFill>
                <a:latin typeface="Vazirmatn"/>
                <a:cs typeface="Vazirmatn"/>
              </a:rPr>
              <a:t>۵</a:t>
            </a:r>
            <a:r>
              <a:rPr b="1" lang="en-US" sz="1800" spc="-1" strike="noStrike">
                <a:solidFill>
                  <a:srgbClr val="153d42"/>
                </a:solidFill>
                <a:latin typeface="Vazirmatn"/>
                <a:ea typeface="Vazirmatn"/>
              </a:rPr>
              <a:t> قاب انتخاب می‌شود</a:t>
            </a:r>
            <a:endParaRPr b="0" lang="en-US" sz="1800" spc="-1" strike="noStrike">
              <a:solidFill>
                <a:srgbClr val="000000"/>
              </a:solidFill>
              <a:latin typeface="Arial"/>
            </a:endParaRPr>
          </a:p>
        </p:txBody>
      </p:sp>
      <p:sp>
        <p:nvSpPr>
          <p:cNvPr id="408" name="مدل دوحالته خوب/بد با شروع از توزیع پایا، برای ایجاد افت‌های متوالی"/>
          <p:cNvSpPr/>
          <p:nvPr/>
        </p:nvSpPr>
        <p:spPr>
          <a:xfrm>
            <a:off x="685800" y="416232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مدل دوحالته خوب/بد با شروع از توزیع پایا، برای ایجاد افت‌های متوالی</a:t>
            </a:r>
            <a:endParaRPr b="0" lang="en-US" sz="1800" spc="-1" strike="noStrike">
              <a:solidFill>
                <a:srgbClr val="000000"/>
              </a:solidFill>
              <a:latin typeface="Arial"/>
            </a:endParaRPr>
          </a:p>
        </p:txBody>
      </p:sp>
      <p:sp>
        <p:nvSpPr>
          <p:cNvPr id="409" name="Opus: حذف بسته پیش از رمزگشایی و پنهان‌سازی افت با PLC"/>
          <p:cNvSpPr/>
          <p:nvPr/>
        </p:nvSpPr>
        <p:spPr>
          <a:xfrm>
            <a:off x="685800" y="460044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en-US" sz="1870" spc="-1" strike="noStrike">
                <a:solidFill>
                  <a:srgbClr val="1f2933"/>
                </a:solidFill>
                <a:latin typeface="Vazirmatn"/>
                <a:ea typeface="Vazirmatn"/>
              </a:rPr>
              <a:t>Opus</a:t>
            </a:r>
            <a:r>
              <a:rPr b="0" lang="en-US" sz="1870" spc="-1" strike="noStrike">
                <a:solidFill>
                  <a:srgbClr val="1f2933"/>
                </a:solidFill>
                <a:latin typeface="Vazirmatn"/>
                <a:ea typeface="Vazirmatn"/>
              </a:rPr>
              <a:t>: حذف بسته پیش از رمزگشایی و پنهان‌سازی افت با </a:t>
            </a:r>
            <a:r>
              <a:rPr b="0" lang="en-US" sz="1870" spc="-1" strike="noStrike">
                <a:solidFill>
                  <a:srgbClr val="1f2933"/>
                </a:solidFill>
                <a:latin typeface="Vazirmatn"/>
                <a:ea typeface="Vazirmatn"/>
              </a:rPr>
              <a:t>PLC</a:t>
            </a:r>
            <a:endParaRPr b="0" lang="en-US" sz="1870" spc="-1" strike="noStrike">
              <a:solidFill>
                <a:srgbClr val="000000"/>
              </a:solidFill>
              <a:latin typeface="Arial"/>
            </a:endParaRPr>
          </a:p>
        </p:txBody>
      </p:sp>
      <p:sp>
        <p:nvSpPr>
          <p:cNvPr id="410" name="سایر مسیرها: صفرکردن قاب‌های موج پس از رمزگشایی، با قاب ۲۰ میلی‌ثانیه"/>
          <p:cNvSpPr/>
          <p:nvPr/>
        </p:nvSpPr>
        <p:spPr>
          <a:xfrm>
            <a:off x="685800" y="503856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سایر مسیرها: صفرکردن قاب‌های موج پس از رمزگشایی، با قاب </a:t>
            </a:r>
            <a:r>
              <a:rPr b="0" lang="fa-IR" sz="1800" spc="-1" strike="noStrike">
                <a:solidFill>
                  <a:srgbClr val="1f2933"/>
                </a:solidFill>
                <a:latin typeface="Vazirmatn"/>
                <a:cs typeface="Vazirmatn"/>
              </a:rPr>
              <a:t>۲۰</a:t>
            </a:r>
            <a:r>
              <a:rPr b="0" lang="en-US" sz="1800" spc="-1" strike="noStrike">
                <a:solidFill>
                  <a:srgbClr val="1f2933"/>
                </a:solidFill>
                <a:latin typeface="Vazirmatn"/>
                <a:ea typeface="Vazirmatn"/>
              </a:rPr>
              <a:t> میلی‌ثانیه</a:t>
            </a:r>
            <a:endParaRPr b="0" lang="en-US" sz="1800" spc="-1" strike="noStrike">
              <a:solidFill>
                <a:srgbClr val="000000"/>
              </a:solidFill>
              <a:latin typeface="Arial"/>
            </a:endParaRPr>
          </a:p>
        </p:txBody>
      </p:sp>
      <p:sp>
        <p:nvSpPr>
          <p:cNvPr id="411" name="سهم موردانتظار از کل: Opus با PLC برابر ۲۱٫۸٪، حذف موج برابر ۱۲٫۷٪"/>
          <p:cNvSpPr/>
          <p:nvPr/>
        </p:nvSpPr>
        <p:spPr>
          <a:xfrm>
            <a:off x="685800" y="5477040"/>
            <a:ext cx="10816200" cy="3574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800" spc="-1" strike="noStrike">
                <a:solidFill>
                  <a:srgbClr val="153d42"/>
                </a:solidFill>
                <a:latin typeface="Vazirmatn"/>
                <a:cs typeface="Vazirmatn"/>
              </a:rPr>
              <a:t>سهم موردانتظار از کل: </a:t>
            </a:r>
            <a:r>
              <a:rPr b="1" lang="en-US" sz="1800" spc="-1" strike="noStrike">
                <a:solidFill>
                  <a:srgbClr val="153d42"/>
                </a:solidFill>
                <a:latin typeface="Vazirmatn"/>
                <a:ea typeface="Vazirmatn"/>
              </a:rPr>
              <a:t>Opus</a:t>
            </a:r>
            <a:r>
              <a:rPr b="1" lang="en-US" sz="1800" spc="-1" strike="noStrike">
                <a:solidFill>
                  <a:srgbClr val="153d42"/>
                </a:solidFill>
                <a:latin typeface="Vazirmatn"/>
                <a:ea typeface="Vazirmatn"/>
              </a:rPr>
              <a:t> با </a:t>
            </a:r>
            <a:r>
              <a:rPr b="1" lang="en-US" sz="1800" spc="-1" strike="noStrike">
                <a:solidFill>
                  <a:srgbClr val="153d42"/>
                </a:solidFill>
                <a:latin typeface="Vazirmatn"/>
                <a:ea typeface="Vazirmatn"/>
              </a:rPr>
              <a:t>PLC</a:t>
            </a:r>
            <a:r>
              <a:rPr b="1" lang="en-US" sz="1800" spc="-1" strike="noStrike">
                <a:solidFill>
                  <a:srgbClr val="153d42"/>
                </a:solidFill>
                <a:latin typeface="Vazirmatn"/>
                <a:ea typeface="Vazirmatn"/>
              </a:rPr>
              <a:t> برابر </a:t>
            </a:r>
            <a:r>
              <a:rPr b="1" lang="fa-IR" sz="1800" spc="-1" strike="noStrike">
                <a:solidFill>
                  <a:srgbClr val="153d42"/>
                </a:solidFill>
                <a:latin typeface="Vazirmatn"/>
                <a:cs typeface="Vazirmatn"/>
              </a:rPr>
              <a:t>۲۱٫۸</a:t>
            </a:r>
            <a:r>
              <a:rPr b="1" lang="fa-IR" sz="1800" spc="-1" strike="noStrike">
                <a:solidFill>
                  <a:srgbClr val="153d42"/>
                </a:solidFill>
                <a:latin typeface="Vazirmatn"/>
                <a:cs typeface="Vazirmatn"/>
              </a:rPr>
              <a:t>٪، حذف موج برابر </a:t>
            </a:r>
            <a:r>
              <a:rPr b="1" lang="fa-IR" sz="1800" spc="-1" strike="noStrike">
                <a:solidFill>
                  <a:srgbClr val="153d42"/>
                </a:solidFill>
                <a:latin typeface="Vazirmatn"/>
                <a:cs typeface="Vazirmatn"/>
              </a:rPr>
              <a:t>۱۲٫۷</a:t>
            </a:r>
            <a:r>
              <a:rPr b="1" lang="fa-IR" sz="1800" spc="-1" strike="noStrike">
                <a:solidFill>
                  <a:srgbClr val="153d42"/>
                </a:solidFill>
                <a:latin typeface="Vazirmatn"/>
                <a:cs typeface="Vazirmatn"/>
              </a:rPr>
              <a:t>٪</a:t>
            </a:r>
            <a:endParaRPr b="0" lang="en-US" sz="1800" spc="-1" strike="noStrike">
              <a:solidFill>
                <a:srgbClr val="000000"/>
              </a:solidFill>
              <a:latin typeface="Arial"/>
            </a:endParaRPr>
          </a:p>
        </p:txBody>
      </p:sp>
      <p:sp>
        <p:nvSpPr>
          <p:cNvPr id="412" name="نرخ افتِ هدف با نرخ افتِ مشاهده‌شده در قطعه‌های کوتاه یکسان نیست"/>
          <p:cNvSpPr/>
          <p:nvPr/>
        </p:nvSpPr>
        <p:spPr>
          <a:xfrm>
            <a:off x="685800" y="6019920"/>
            <a:ext cx="10816200" cy="281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80" spc="-1" strike="noStrike">
                <a:solidFill>
                  <a:srgbClr val="52606d"/>
                </a:solidFill>
                <a:latin typeface="Vazirmatn"/>
                <a:cs typeface="Vazirmatn"/>
              </a:rPr>
              <a:t>نرخ افتِ هدف با نرخ افتِ مشاهده‌شده در قطعه‌های کوتاه یکسان نیست</a:t>
            </a:r>
            <a:endParaRPr b="0" lang="en-US" sz="15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13" name="مطالب تکمیلی"/>
          <p:cNvSpPr/>
          <p:nvPr/>
        </p:nvSpPr>
        <p:spPr>
          <a:xfrm>
            <a:off x="4191120" y="285840"/>
            <a:ext cx="7310880" cy="300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414" name="ساخت جفت‌های هم‌تراز و ثبت فراداده"/>
          <p:cNvSpPr/>
          <p:nvPr/>
        </p:nvSpPr>
        <p:spPr>
          <a:xfrm>
            <a:off x="685800" y="714240"/>
            <a:ext cx="10816200" cy="83376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ساخت جفت‌های هم‌تراز و ثبت فراداده</a:t>
            </a:r>
            <a:endParaRPr b="0" lang="en-US" sz="3150" spc="-1" strike="noStrike">
              <a:solidFill>
                <a:srgbClr val="000000"/>
              </a:solidFill>
              <a:latin typeface="Arial"/>
            </a:endParaRPr>
          </a:p>
        </p:txBody>
      </p:sp>
      <p:sp>
        <p:nvSpPr>
          <p:cNvPr id="415"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416" name=""/>
          <p:cNvGraphicFramePr/>
          <p:nvPr/>
        </p:nvGraphicFramePr>
        <p:xfrm>
          <a:off x="685800" y="1657440"/>
          <a:ext cx="10819800" cy="3219120"/>
        </p:xfrm>
        <a:graphic>
          <a:graphicData uri="http://schemas.openxmlformats.org/drawingml/2006/table">
            <a:tbl>
              <a:tblPr/>
              <a:tblGrid>
                <a:gridCol w="6534000"/>
                <a:gridCol w="4286160"/>
              </a:tblGrid>
              <a:tr h="475920">
                <a:tc>
                  <a:txBody>
                    <a:bodyPr anchor="ctr">
                      <a:noAutofit/>
                    </a:bodyPr>
                    <a:p>
                      <a:pPr algn="ctr" rtl="1">
                        <a:lnSpc>
                          <a:spcPct val="100000"/>
                        </a:lnSpc>
                      </a:pPr>
                      <a:r>
                        <a:rPr b="1" lang="fa-IR" sz="1729" spc="-1" strike="noStrike">
                          <a:solidFill>
                            <a:srgbClr val="f7f6f2"/>
                          </a:solidFill>
                          <a:latin typeface="Vazirmatn"/>
                          <a:cs typeface="Vazirmatn"/>
                        </a:rPr>
                        <a:t>تنظیم اجرا</a:t>
                      </a:r>
                      <a:endParaRPr b="0" lang="en-US" sz="1729"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729" spc="-1" strike="noStrike">
                          <a:solidFill>
                            <a:srgbClr val="f7f6f2"/>
                          </a:solidFill>
                          <a:latin typeface="Vazirmatn"/>
                          <a:cs typeface="Vazirmatn"/>
                        </a:rPr>
                        <a:t>جزء خط لوله</a:t>
                      </a:r>
                      <a:endParaRPr b="0" lang="en-US" sz="1729"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457200">
                <a:tc>
                  <a:txBody>
                    <a:bodyPr anchor="ctr">
                      <a:noAutofit/>
                    </a:bodyPr>
                    <a:p>
                      <a:pPr algn="ctr" rtl="1">
                        <a:lnSpc>
                          <a:spcPct val="100000"/>
                        </a:lnSpc>
                      </a:pPr>
                      <a:r>
                        <a:rPr b="1" lang="fa-IR" sz="1729" spc="-1" strike="noStrike">
                          <a:solidFill>
                            <a:srgbClr val="1d6f8a"/>
                          </a:solidFill>
                          <a:latin typeface="Vazirmatn"/>
                          <a:cs typeface="Vazirmatn"/>
                        </a:rPr>
                        <a:t>۲</a:t>
                      </a:r>
                      <a:r>
                        <a:rPr b="1" lang="en-US" sz="1729" spc="-1" strike="noStrike">
                          <a:solidFill>
                            <a:srgbClr val="1d6f8a"/>
                          </a:solidFill>
                          <a:latin typeface="Vazirmatn"/>
                          <a:ea typeface="Vazirmatn"/>
                        </a:rPr>
                        <a:t> گونه برای هر قطعه در </a:t>
                      </a:r>
                      <a:r>
                        <a:rPr b="1" lang="en-US" sz="1729" spc="-1" strike="noStrike">
                          <a:solidFill>
                            <a:srgbClr val="1d6f8a"/>
                          </a:solidFill>
                          <a:latin typeface="Vazirmatn"/>
                          <a:ea typeface="Vazirmatn"/>
                        </a:rPr>
                        <a:t>train</a:t>
                      </a:r>
                      <a:r>
                        <a:rPr b="1" lang="en-US" sz="1729" spc="-1" strike="noStrike">
                          <a:solidFill>
                            <a:srgbClr val="1d6f8a"/>
                          </a:solidFill>
                          <a:latin typeface="Vazirmatn"/>
                          <a:ea typeface="Vazirmatn"/>
                        </a:rPr>
                        <a:t> و </a:t>
                      </a:r>
                      <a:r>
                        <a:rPr b="1" lang="en-US" sz="1729" spc="-1" strike="noStrike">
                          <a:solidFill>
                            <a:srgbClr val="1d6f8a"/>
                          </a:solidFill>
                          <a:latin typeface="Vazirmatn"/>
                          <a:ea typeface="Vazirmatn"/>
                        </a:rPr>
                        <a:t>dev</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تولید داده مخابراتی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en-US" sz="1729" spc="-1" strike="noStrike">
                          <a:solidFill>
                            <a:srgbClr val="1d6f8a"/>
                          </a:solidFill>
                          <a:latin typeface="Vazirmatn"/>
                          <a:ea typeface="Vazirmatn"/>
                        </a:rPr>
                        <a:t>ffmpeg</a:t>
                      </a:r>
                      <a:r>
                        <a:rPr b="1" lang="fa-IR" sz="1729" spc="-1" strike="noStrike">
                          <a:solidFill>
                            <a:srgbClr val="1d6f8a"/>
                          </a:solidFill>
                          <a:latin typeface="Vazirmatn"/>
                          <a:cs typeface="Vazirmatn"/>
                        </a:rPr>
                        <a:t>، یا </a:t>
                      </a:r>
                      <a:r>
                        <a:rPr b="1" lang="en-US" sz="1729" spc="-1" strike="noStrike">
                          <a:solidFill>
                            <a:srgbClr val="1d6f8a"/>
                          </a:solidFill>
                          <a:latin typeface="Vazirmatn"/>
                          <a:ea typeface="Vazirmatn"/>
                        </a:rPr>
                        <a:t>Opus</a:t>
                      </a:r>
                      <a:r>
                        <a:rPr b="1" lang="en-US" sz="1729" spc="-1" strike="noStrike">
                          <a:solidFill>
                            <a:srgbClr val="1d6f8a"/>
                          </a:solidFill>
                          <a:latin typeface="Vazirmatn"/>
                          <a:ea typeface="Vazirmatn"/>
                        </a:rPr>
                        <a:t> بومی در شاخه </a:t>
                      </a:r>
                      <a:r>
                        <a:rPr b="1" lang="en-US" sz="1729" spc="-1" strike="noStrike">
                          <a:solidFill>
                            <a:srgbClr val="1d6f8a"/>
                          </a:solidFill>
                          <a:latin typeface="Vazirmatn"/>
                          <a:ea typeface="Vazirmatn"/>
                        </a:rPr>
                        <a:t>PLC</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اجرای رمزگذاری و رمزگشایی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729" spc="-1" strike="noStrike">
                          <a:solidFill>
                            <a:srgbClr val="1d6f8a"/>
                          </a:solidFill>
                          <a:latin typeface="Vazirmatn"/>
                          <a:cs typeface="Vazirmatn"/>
                        </a:rPr>
                        <a:t>هم‌بستگی متقاطع و جبران تأخیر کدک</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هم‌ترازی زمانی</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729" spc="-1" strike="noStrike">
                          <a:solidFill>
                            <a:srgbClr val="1d6f8a"/>
                          </a:solidFill>
                          <a:latin typeface="Vazirmatn"/>
                          <a:cs typeface="Vazirmatn"/>
                        </a:rPr>
                        <a:t>همان محدودیت پهنای‌باند، طول و نرخ نمونه</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هدف پاک</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430" spc="-1" strike="noStrike">
                          <a:solidFill>
                            <a:srgbClr val="1d6f8a"/>
                          </a:solidFill>
                          <a:latin typeface="Vazirmatn"/>
                          <a:cs typeface="Vazirmatn"/>
                        </a:rPr>
                        <a:t>ضریب مشترک و سقف دامنه </a:t>
                      </a:r>
                      <a:r>
                        <a:rPr b="1" lang="fa-IR" sz="1430" spc="-1" strike="noStrike">
                          <a:solidFill>
                            <a:srgbClr val="1d6f8a"/>
                          </a:solidFill>
                          <a:latin typeface="Vazirmatn"/>
                          <a:cs typeface="Vazirmatn"/>
                        </a:rPr>
                        <a:t>۰٫۹۹</a:t>
                      </a:r>
                      <a:r>
                        <a:rPr b="1" lang="en-US" sz="1430" spc="-1" strike="noStrike">
                          <a:solidFill>
                            <a:srgbClr val="1d6f8a"/>
                          </a:solidFill>
                          <a:latin typeface="Vazirmatn"/>
                          <a:ea typeface="Vazirmatn"/>
                        </a:rPr>
                        <a:t> نسبت به تمام‌مقیاس (بی‌واحد)</a:t>
                      </a:r>
                      <a:endParaRPr b="0" lang="en-US" sz="143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کنترل دامنه جفت</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457200">
                <a:tc>
                  <a:txBody>
                    <a:bodyPr anchor="ctr">
                      <a:noAutofit/>
                    </a:bodyPr>
                    <a:p>
                      <a:pPr algn="ctr" rtl="1">
                        <a:lnSpc>
                          <a:spcPct val="100000"/>
                        </a:lnSpc>
                      </a:pPr>
                      <a:r>
                        <a:rPr b="1" lang="fa-IR" sz="1729" spc="-1" strike="noStrike">
                          <a:solidFill>
                            <a:srgbClr val="1d6f8a"/>
                          </a:solidFill>
                          <a:latin typeface="Vazirmatn"/>
                          <a:cs typeface="Vazirmatn"/>
                        </a:rPr>
                        <a:t>غیرفعال در پیکربندی حاضر</a:t>
                      </a:r>
                      <a:endParaRPr b="0" lang="en-US" sz="1729"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729" spc="-1" strike="noStrike">
                          <a:solidFill>
                            <a:srgbClr val="1f2933"/>
                          </a:solidFill>
                          <a:latin typeface="Vazirmatn"/>
                          <a:cs typeface="Vazirmatn"/>
                        </a:rPr>
                        <a:t>کلیپینگ مصنوعی و </a:t>
                      </a:r>
                      <a:r>
                        <a:rPr b="0" lang="en-US" sz="1729" spc="-1" strike="noStrike">
                          <a:solidFill>
                            <a:srgbClr val="1f2933"/>
                          </a:solidFill>
                          <a:latin typeface="Vazirmatn"/>
                          <a:ea typeface="Vazirmatn"/>
                        </a:rPr>
                        <a:t>AGC</a:t>
                      </a:r>
                      <a:endParaRPr b="0" lang="en-US" sz="1729"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417" name="JSONL: نمایه، بذر، کدک، SNR، مسیر کانال، افت واقعی و ضریب نرمال‌سازی"/>
          <p:cNvSpPr/>
          <p:nvPr/>
        </p:nvSpPr>
        <p:spPr>
          <a:xfrm>
            <a:off x="685800" y="5505480"/>
            <a:ext cx="10816200" cy="395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en-US" sz="1729" spc="-1" strike="noStrike">
                <a:solidFill>
                  <a:srgbClr val="153d42"/>
                </a:solidFill>
                <a:latin typeface="Vazirmatn"/>
                <a:ea typeface="Vazirmatn"/>
              </a:rPr>
              <a:t>JSONL</a:t>
            </a:r>
            <a:r>
              <a:rPr b="1" lang="en-US" sz="1729" spc="-1" strike="noStrike">
                <a:solidFill>
                  <a:srgbClr val="153d42"/>
                </a:solidFill>
                <a:latin typeface="Vazirmatn"/>
                <a:ea typeface="Vazirmatn"/>
              </a:rPr>
              <a:t>: نمایه، بذر، کدک، </a:t>
            </a:r>
            <a:r>
              <a:rPr b="1" lang="en-US" sz="1729" spc="-1" strike="noStrike">
                <a:solidFill>
                  <a:srgbClr val="153d42"/>
                </a:solidFill>
                <a:latin typeface="Vazirmatn"/>
                <a:ea typeface="Vazirmatn"/>
              </a:rPr>
              <a:t>SNR</a:t>
            </a:r>
            <a:r>
              <a:rPr b="1" lang="fa-IR" sz="1729" spc="-1" strike="noStrike">
                <a:solidFill>
                  <a:srgbClr val="153d42"/>
                </a:solidFill>
                <a:latin typeface="Vazirmatn"/>
                <a:cs typeface="Vazirmatn"/>
              </a:rPr>
              <a:t>، مسیر کانال، افت واقعی و ضریب نرمال‌سازی</a:t>
            </a:r>
            <a:endParaRPr b="0" lang="en-US" sz="1729" spc="-1" strike="noStrike">
              <a:solidFill>
                <a:srgbClr val="000000"/>
              </a:solidFill>
              <a:latin typeface="Arial"/>
            </a:endParaRPr>
          </a:p>
        </p:txBody>
      </p:sp>
      <p:sp>
        <p:nvSpPr>
          <p:cNvPr id="418" name="نویز، بهره، فیلتر و کدک به این شبیه‌سازی تعلق دارند. پژواک و نوسان تأخیر مدل نشده‌اند"/>
          <p:cNvSpPr/>
          <p:nvPr/>
        </p:nvSpPr>
        <p:spPr>
          <a:xfrm>
            <a:off x="685800" y="6019920"/>
            <a:ext cx="10816200" cy="281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نویز، بهره، فیلتر و کدک به این شبیه‌سازی تعلق دارند. پژواک و نوسان تأخیر مدل نشده‌اند</a:t>
            </a:r>
            <a:endParaRPr b="0" lang="en-US" sz="1500" spc="-1" strike="noStrike">
              <a:solidFill>
                <a:srgbClr val="000000"/>
              </a:solidFill>
              <a:latin typeface="Arial"/>
            </a:endParaRPr>
          </a:p>
        </p:txBody>
      </p:sp>
      <p:sp>
        <p:nvSpPr>
          <p:cNvPr id="419" name="English terminology"/>
          <p:cNvSpPr/>
          <p:nvPr/>
        </p:nvSpPr>
        <p:spPr>
          <a:xfrm>
            <a:off x="685800" y="5124600"/>
            <a:ext cx="10818000" cy="26460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هم‌ترازی زمانی (</a:t>
            </a:r>
            <a:r>
              <a:rPr b="0" lang="en-US" sz="1430" spc="-1" strike="noStrike">
                <a:solidFill>
                  <a:srgbClr val="52606d"/>
                </a:solidFill>
                <a:latin typeface="Vazirmatn"/>
                <a:ea typeface="Vazirmatn"/>
              </a:rPr>
              <a:t>Time Alignment</a:t>
            </a:r>
            <a:r>
              <a:rPr b="0" lang="en-US" sz="1430" spc="-1" strike="noStrike">
                <a:solidFill>
                  <a:srgbClr val="52606d"/>
                </a:solidFill>
                <a:latin typeface="Vazirmatn"/>
                <a:ea typeface="Vazirmatn"/>
              </a:rPr>
              <a:t>) و فراداده (</a:t>
            </a:r>
            <a:r>
              <a:rPr b="0" lang="en-US" sz="1430" spc="-1" strike="noStrike">
                <a:solidFill>
                  <a:srgbClr val="52606d"/>
                </a:solidFill>
                <a:latin typeface="Vazirmatn"/>
                <a:ea typeface="Vazirmatn"/>
              </a:rPr>
              <a:t>Metadata</a:t>
            </a:r>
            <a:r>
              <a:rPr b="0" lang="en-US" sz="1430" spc="-1" strike="noStrike">
                <a:solidFill>
                  <a:srgbClr val="52606d"/>
                </a:solidFill>
                <a:latin typeface="Vazirmatn"/>
                <a:ea typeface="Vazirmatn"/>
              </a:rPr>
              <a:t>) برای بازتولید آزمایش</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20" name="مطالب تکمیل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421" name="اندازه پیکره‌ها و تنظیمات خط مبنا"/>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اندازه پیکره‌ها و تنظیمات خط مبنا</a:t>
            </a:r>
            <a:endParaRPr b="0" lang="en-US" sz="3150" spc="-1" strike="noStrike">
              <a:solidFill>
                <a:srgbClr val="000000"/>
              </a:solidFill>
              <a:latin typeface="Arial"/>
            </a:endParaRPr>
          </a:p>
        </p:txBody>
      </p:sp>
      <p:sp>
        <p:nvSpPr>
          <p:cNvPr id="422"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423" name=""/>
          <p:cNvGraphicFramePr/>
          <p:nvPr/>
        </p:nvGraphicFramePr>
        <p:xfrm>
          <a:off x="685800" y="1809720"/>
          <a:ext cx="10819440" cy="2418840"/>
        </p:xfrm>
        <a:graphic>
          <a:graphicData uri="http://schemas.openxmlformats.org/drawingml/2006/table">
            <a:tbl>
              <a:tblPr/>
              <a:tblGrid>
                <a:gridCol w="3809880"/>
                <a:gridCol w="1857240"/>
                <a:gridCol w="1857240"/>
                <a:gridCol w="3295440"/>
              </a:tblGrid>
              <a:tr h="533160">
                <a:tc>
                  <a:txBody>
                    <a:bodyPr anchor="ctr">
                      <a:noAutofit/>
                    </a:bodyPr>
                    <a:p>
                      <a:pPr algn="ctr" rtl="1">
                        <a:lnSpc>
                          <a:spcPct val="100000"/>
                        </a:lnSpc>
                      </a:pPr>
                      <a:r>
                        <a:rPr b="1" lang="fa-IR" sz="1650" spc="-1" strike="noStrike">
                          <a:solidFill>
                            <a:srgbClr val="f7f6f2"/>
                          </a:solidFill>
                          <a:latin typeface="Vazirmatn"/>
                          <a:cs typeface="Vazirmatn"/>
                        </a:rPr>
                        <a:t>نقش در آموزش</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580" spc="-1" strike="noStrike">
                          <a:solidFill>
                            <a:srgbClr val="f7f6f2"/>
                          </a:solidFill>
                          <a:latin typeface="Vazirmatn"/>
                          <a:cs typeface="Vazirmatn"/>
                        </a:rPr>
                        <a:t>اعتبارسنجی (نمونه)</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rtl="1">
                        <a:lnSpc>
                          <a:spcPct val="100000"/>
                        </a:lnSpc>
                      </a:pPr>
                      <a:r>
                        <a:rPr b="1" lang="fa-IR" sz="1580" spc="-1" strike="noStrike">
                          <a:solidFill>
                            <a:srgbClr val="f7f6f2"/>
                          </a:solidFill>
                          <a:latin typeface="Vazirmatn"/>
                          <a:cs typeface="Vazirmatn"/>
                        </a:rPr>
                        <a:t>آموزش (نمونه)</a:t>
                      </a:r>
                      <a:endParaRPr b="0" lang="en-US" sz="158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پیکره پایه</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628560">
                <a:tc>
                  <a:txBody>
                    <a:bodyPr anchor="ctr">
                      <a:noAutofit/>
                    </a:bodyPr>
                    <a:p>
                      <a:pPr algn="ctr" rtl="1">
                        <a:lnSpc>
                          <a:spcPct val="100000"/>
                        </a:lnSpc>
                      </a:pPr>
                      <a:r>
                        <a:rPr b="0" lang="fa-IR" sz="1870" spc="-1" strike="noStrike">
                          <a:solidFill>
                            <a:srgbClr val="1f2933"/>
                          </a:solidFill>
                          <a:latin typeface="Vazirmatn"/>
                          <a:cs typeface="Vazirmatn"/>
                        </a:rPr>
                        <a:t>گفتار عمومی و تولید تخریب</a:t>
                      </a:r>
                      <a:endParaRPr b="0" lang="en-US" sz="187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۱۰۰۰۶</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۲۹۹۴۳۰</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کامن‌وویس فارسی </a:t>
                      </a:r>
                      <a:r>
                        <a:rPr b="0" lang="fa-IR" sz="1870" spc="-1" strike="noStrike">
                          <a:solidFill>
                            <a:srgbClr val="1f2933"/>
                          </a:solidFill>
                          <a:latin typeface="Vazirmatn"/>
                          <a:cs typeface="Vazirmatn"/>
                        </a:rPr>
                        <a:t>۲۵</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628560">
                <a:tc>
                  <a:txBody>
                    <a:bodyPr anchor="ctr">
                      <a:noAutofit/>
                    </a:bodyPr>
                    <a:p>
                      <a:pPr algn="ctr" rtl="1">
                        <a:lnSpc>
                          <a:spcPct val="100000"/>
                        </a:lnSpc>
                      </a:pPr>
                      <a:r>
                        <a:rPr b="0" lang="fa-IR" sz="1870" spc="-1" strike="noStrike">
                          <a:solidFill>
                            <a:srgbClr val="1f2933"/>
                          </a:solidFill>
                          <a:latin typeface="Vazirmatn"/>
                          <a:cs typeface="Vazirmatn"/>
                        </a:rPr>
                        <a:t>گفتار بداهه فارسی</a:t>
                      </a:r>
                      <a:endParaRPr b="0" lang="en-US" sz="187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۶۰۴۴</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۶۰۰۶۷۲</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فارس‌اسپان (محدود)</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628560">
                <a:tc>
                  <a:txBody>
                    <a:bodyPr anchor="ctr">
                      <a:noAutofit/>
                    </a:bodyPr>
                    <a:p>
                      <a:pPr algn="ctr" rtl="1">
                        <a:lnSpc>
                          <a:spcPct val="100000"/>
                        </a:lnSpc>
                      </a:pPr>
                      <a:r>
                        <a:rPr b="0" lang="fa-IR" sz="1870" spc="-1" strike="noStrike">
                          <a:solidFill>
                            <a:srgbClr val="1f2933"/>
                          </a:solidFill>
                          <a:latin typeface="Vazirmatn"/>
                          <a:cs typeface="Vazirmatn"/>
                        </a:rPr>
                        <a:t>تنوع دامنه</a:t>
                      </a:r>
                      <a:endParaRPr b="0" lang="en-US" sz="187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۳۶۲</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70" spc="-1" strike="noStrike">
                          <a:solidFill>
                            <a:srgbClr val="1f2933"/>
                          </a:solidFill>
                          <a:latin typeface="Vazirmatn"/>
                          <a:cs typeface="Vazirmatn"/>
                        </a:rPr>
                        <a:t>۳۰۱۹</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فلورز فارسی</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424" name="ویسپر کوچک تک‌جریانه"/>
          <p:cNvSpPr/>
          <p:nvPr/>
        </p:nvSpPr>
        <p:spPr>
          <a:xfrm>
            <a:off x="7048440" y="4476600"/>
            <a:ext cx="4452840" cy="423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53d42"/>
                </a:solidFill>
                <a:latin typeface="Vazirmatn"/>
                <a:cs typeface="Vazirmatn"/>
              </a:rPr>
              <a:t>ویسپر کوچک تک‌جریانه</a:t>
            </a:r>
            <a:endParaRPr b="0" lang="en-US" sz="2020" spc="-1" strike="noStrike">
              <a:solidFill>
                <a:srgbClr val="000000"/>
              </a:solidFill>
              <a:latin typeface="Arial"/>
            </a:endParaRPr>
          </a:p>
        </p:txBody>
      </p:sp>
      <p:sp>
        <p:nvSpPr>
          <p:cNvPr id="425" name="یک دوره، نرخ یادگیری ⁦1e-5⁩&#10;دسته ۴ و انباشت ۸ گام: ۳۲ نمونه"/>
          <p:cNvSpPr/>
          <p:nvPr/>
        </p:nvSpPr>
        <p:spPr>
          <a:xfrm>
            <a:off x="7048440" y="4981680"/>
            <a:ext cx="4452840" cy="785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650" spc="-1" strike="noStrike">
                <a:solidFill>
                  <a:srgbClr val="1f2933"/>
                </a:solidFill>
                <a:latin typeface="Vazirmatn"/>
                <a:cs typeface="Vazirmatn"/>
              </a:rPr>
              <a:t>یک دوره، نرخ یادگیری </a:t>
            </a:r>
            <a:r>
              <a:rPr b="0" lang="fa-IR" sz="1650" spc="-1" strike="noStrike">
                <a:solidFill>
                  <a:srgbClr val="1f2933"/>
                </a:solidFill>
                <a:latin typeface="Vazirmatn"/>
                <a:cs typeface="Vazirmatn"/>
              </a:rPr>
              <a:t>۰٫۰۰۰۰۱</a:t>
            </a:r>
            <a:r>
              <a:rPr b="0" lang="en-US" sz="1650" spc="-1" strike="noStrike">
                <a:solidFill>
                  <a:srgbClr val="1f2933"/>
                </a:solidFill>
                <a:latin typeface="Vazirmatn"/>
                <a:ea typeface="Vazirmatn"/>
              </a:rPr>
              <a:t> (بی‌واحد)</a:t>
            </a:r>
            <a:endParaRPr b="0" lang="en-US" sz="1650" spc="-1" strike="noStrike">
              <a:solidFill>
                <a:srgbClr val="000000"/>
              </a:solidFill>
              <a:latin typeface="Arial"/>
            </a:endParaRPr>
          </a:p>
          <a:p>
            <a:pPr algn="r" rtl="1">
              <a:lnSpc>
                <a:spcPct val="100000"/>
              </a:lnSpc>
            </a:pPr>
            <a:r>
              <a:rPr b="0" lang="fa-IR" sz="1650" spc="-1" strike="noStrike">
                <a:solidFill>
                  <a:srgbClr val="1f2933"/>
                </a:solidFill>
                <a:latin typeface="Vazirmatn"/>
                <a:cs typeface="Vazirmatn"/>
              </a:rPr>
              <a:t>دسته </a:t>
            </a:r>
            <a:r>
              <a:rPr b="0" lang="fa-IR" sz="1650" spc="-1" strike="noStrike">
                <a:solidFill>
                  <a:srgbClr val="1f2933"/>
                </a:solidFill>
                <a:latin typeface="Vazirmatn"/>
                <a:cs typeface="Vazirmatn"/>
              </a:rPr>
              <a:t>۴</a:t>
            </a:r>
            <a:r>
              <a:rPr b="0" lang="en-US" sz="1650" spc="-1" strike="noStrike">
                <a:solidFill>
                  <a:srgbClr val="1f2933"/>
                </a:solidFill>
                <a:latin typeface="Vazirmatn"/>
                <a:ea typeface="Vazirmatn"/>
              </a:rPr>
              <a:t> نمونه، انباشت </a:t>
            </a:r>
            <a:r>
              <a:rPr b="0" lang="fa-IR" sz="1650" spc="-1" strike="noStrike">
                <a:solidFill>
                  <a:srgbClr val="1f2933"/>
                </a:solidFill>
                <a:latin typeface="Vazirmatn"/>
                <a:cs typeface="Vazirmatn"/>
              </a:rPr>
              <a:t>۸</a:t>
            </a:r>
            <a:r>
              <a:rPr b="0" lang="en-US" sz="1650" spc="-1" strike="noStrike">
                <a:solidFill>
                  <a:srgbClr val="1f2933"/>
                </a:solidFill>
                <a:latin typeface="Vazirmatn"/>
                <a:ea typeface="Vazirmatn"/>
              </a:rPr>
              <a:t> گام: </a:t>
            </a:r>
            <a:r>
              <a:rPr b="0" lang="fa-IR" sz="1650" spc="-1" strike="noStrike">
                <a:solidFill>
                  <a:srgbClr val="1f2933"/>
                </a:solidFill>
                <a:latin typeface="Vazirmatn"/>
                <a:cs typeface="Vazirmatn"/>
              </a:rPr>
              <a:t>۳۲</a:t>
            </a:r>
            <a:r>
              <a:rPr b="0" lang="en-US" sz="1650" spc="-1" strike="noStrike">
                <a:solidFill>
                  <a:srgbClr val="1f2933"/>
                </a:solidFill>
                <a:latin typeface="Vazirmatn"/>
                <a:ea typeface="Vazirmatn"/>
              </a:rPr>
              <a:t> نمونه</a:t>
            </a:r>
            <a:endParaRPr b="0" lang="en-US" sz="1650" spc="-1" strike="noStrike">
              <a:solidFill>
                <a:srgbClr val="000000"/>
              </a:solidFill>
              <a:latin typeface="Arial"/>
            </a:endParaRPr>
          </a:p>
        </p:txBody>
      </p:sp>
      <p:sp>
        <p:nvSpPr>
          <p:cNvPr id="426" name="جزئیات آزمون AGFarsdat"/>
          <p:cNvSpPr/>
          <p:nvPr/>
        </p:nvSpPr>
        <p:spPr>
          <a:xfrm>
            <a:off x="685800" y="4476600"/>
            <a:ext cx="5709960" cy="4237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53d42"/>
                </a:solidFill>
                <a:latin typeface="Vazirmatn"/>
                <a:cs typeface="Vazirmatn"/>
              </a:rPr>
              <a:t>جزئیات آزمون </a:t>
            </a:r>
            <a:r>
              <a:rPr b="1" lang="en-US" sz="2020" spc="-1" strike="noStrike">
                <a:solidFill>
                  <a:srgbClr val="153d42"/>
                </a:solidFill>
                <a:latin typeface="Vazirmatn"/>
                <a:ea typeface="Vazirmatn"/>
              </a:rPr>
              <a:t>AGFarsdat</a:t>
            </a:r>
            <a:endParaRPr b="0" lang="en-US" sz="2020" spc="-1" strike="noStrike">
              <a:solidFill>
                <a:srgbClr val="000000"/>
              </a:solidFill>
              <a:latin typeface="Arial"/>
            </a:endParaRPr>
          </a:p>
        </p:txBody>
      </p:sp>
      <p:sp>
        <p:nvSpPr>
          <p:cNvPr id="427" name="۵۸۵ گوینده و ۴۹٫۹ ساعت&#10;صوت منبع: تک‌کاناله، ۸ کیلوهرتز، ۱۶ بیت"/>
          <p:cNvSpPr/>
          <p:nvPr/>
        </p:nvSpPr>
        <p:spPr>
          <a:xfrm>
            <a:off x="685800" y="4981680"/>
            <a:ext cx="5709960" cy="7855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800" spc="-1" strike="noStrike">
                <a:solidFill>
                  <a:srgbClr val="1f2933"/>
                </a:solidFill>
                <a:latin typeface="Vazirmatn"/>
                <a:cs typeface="Vazirmatn"/>
              </a:rPr>
              <a:t>۵۸۵</a:t>
            </a:r>
            <a:r>
              <a:rPr b="0" lang="en-US" sz="1800" spc="-1" strike="noStrike">
                <a:solidFill>
                  <a:srgbClr val="1f2933"/>
                </a:solidFill>
                <a:latin typeface="Vazirmatn"/>
                <a:ea typeface="Vazirmatn"/>
              </a:rPr>
              <a:t> گوینده و </a:t>
            </a:r>
            <a:r>
              <a:rPr b="0" lang="fa-IR" sz="1800" spc="-1" strike="noStrike">
                <a:solidFill>
                  <a:srgbClr val="1f2933"/>
                </a:solidFill>
                <a:latin typeface="Vazirmatn"/>
                <a:cs typeface="Vazirmatn"/>
              </a:rPr>
              <a:t>۴۹٫۹</a:t>
            </a:r>
            <a:r>
              <a:rPr b="0" lang="en-US" sz="1800" spc="-1" strike="noStrike">
                <a:solidFill>
                  <a:srgbClr val="1f2933"/>
                </a:solidFill>
                <a:latin typeface="Vazirmatn"/>
                <a:ea typeface="Vazirmatn"/>
              </a:rPr>
              <a:t> ساعت</a:t>
            </a:r>
            <a:endParaRPr b="0" lang="en-US" sz="1800" spc="-1" strike="noStrike">
              <a:solidFill>
                <a:srgbClr val="000000"/>
              </a:solidFill>
              <a:latin typeface="Arial"/>
            </a:endParaRPr>
          </a:p>
          <a:p>
            <a:pPr algn="r" rtl="1">
              <a:lnSpc>
                <a:spcPct val="100000"/>
              </a:lnSpc>
            </a:pPr>
            <a:r>
              <a:rPr b="0" lang="fa-IR" sz="1800" spc="-1" strike="noStrike">
                <a:solidFill>
                  <a:srgbClr val="1f2933"/>
                </a:solidFill>
                <a:latin typeface="Vazirmatn"/>
                <a:cs typeface="Vazirmatn"/>
              </a:rPr>
              <a:t>صوت منبع: تک‌کاناله، </a:t>
            </a:r>
            <a:r>
              <a:rPr b="0" lang="fa-IR" sz="1800" spc="-1" strike="noStrike">
                <a:solidFill>
                  <a:srgbClr val="1f2933"/>
                </a:solidFill>
                <a:latin typeface="Vazirmatn"/>
                <a:cs typeface="Vazirmatn"/>
              </a:rPr>
              <a:t>۸</a:t>
            </a:r>
            <a:r>
              <a:rPr b="0" lang="en-US" sz="1800" spc="-1" strike="noStrike">
                <a:solidFill>
                  <a:srgbClr val="1f2933"/>
                </a:solidFill>
                <a:latin typeface="Vazirmatn"/>
                <a:ea typeface="Vazirmatn"/>
              </a:rPr>
              <a:t> کیلوهرتز، </a:t>
            </a:r>
            <a:r>
              <a:rPr b="0" lang="fa-IR" sz="1800" spc="-1" strike="noStrike">
                <a:solidFill>
                  <a:srgbClr val="1f2933"/>
                </a:solidFill>
                <a:latin typeface="Vazirmatn"/>
                <a:cs typeface="Vazirmatn"/>
              </a:rPr>
              <a:t>۱۶</a:t>
            </a:r>
            <a:r>
              <a:rPr b="0" lang="en-US" sz="1800" spc="-1" strike="noStrike">
                <a:solidFill>
                  <a:srgbClr val="1f2933"/>
                </a:solidFill>
                <a:latin typeface="Vazirmatn"/>
                <a:ea typeface="Vazirmatn"/>
              </a:rPr>
              <a:t> بیت</a:t>
            </a:r>
            <a:endParaRPr b="0" lang="en-US" sz="1800" spc="-1" strike="noStrike">
              <a:solidFill>
                <a:srgbClr val="000000"/>
              </a:solidFill>
              <a:latin typeface="Arial"/>
            </a:endParaRPr>
          </a:p>
        </p:txBody>
      </p:sp>
      <p:sp>
        <p:nvSpPr>
          <p:cNvPr id="428" name="تعدادها مربوط به پیکره پایه‌اند. گونه‌های بلند، تخریب‌شده و ایران‌صدا در این جدول نیستند"/>
          <p:cNvSpPr/>
          <p:nvPr/>
        </p:nvSpPr>
        <p:spPr>
          <a:xfrm>
            <a:off x="685800" y="6019920"/>
            <a:ext cx="10815480" cy="2710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430" spc="-1" strike="noStrike">
                <a:solidFill>
                  <a:srgbClr val="52606d"/>
                </a:solidFill>
                <a:latin typeface="Vazirmatn"/>
                <a:cs typeface="Vazirmatn"/>
              </a:rPr>
              <a:t>واحد شمارش جدول: نمونه گفتار (</a:t>
            </a:r>
            <a:r>
              <a:rPr b="0" lang="en-US" sz="1430" spc="-1" strike="noStrike">
                <a:solidFill>
                  <a:srgbClr val="52606d"/>
                </a:solidFill>
                <a:latin typeface="Vazirmatn"/>
                <a:ea typeface="Vazirmatn"/>
              </a:rPr>
              <a:t>Utterance</a:t>
            </a:r>
            <a:r>
              <a:rPr b="0" lang="en-US" sz="1430" spc="-1" strike="noStrike">
                <a:solidFill>
                  <a:srgbClr val="52606d"/>
                </a:solidFill>
                <a:latin typeface="Vazirmatn"/>
                <a:ea typeface="Vazirmatn"/>
              </a:rPr>
              <a:t>). گونه‌های بلند، تخریب‌شده و ایران‌صدا در جدول نیستند</a:t>
            </a:r>
            <a:endParaRPr b="0" lang="en-US" sz="143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29" name="مطالب تکمیلی"/>
          <p:cNvSpPr/>
          <p:nvPr/>
        </p:nvSpPr>
        <p:spPr>
          <a:xfrm>
            <a:off x="4191120" y="285840"/>
            <a:ext cx="7310160" cy="29988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430" name="آموزش چندشرایطی در فست کانفورمر"/>
          <p:cNvSpPr/>
          <p:nvPr/>
        </p:nvSpPr>
        <p:spPr>
          <a:xfrm>
            <a:off x="685800" y="714240"/>
            <a:ext cx="10815480" cy="8330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3150" spc="-1" strike="noStrike">
                <a:solidFill>
                  <a:srgbClr val="153d42"/>
                </a:solidFill>
                <a:latin typeface="Vazirmatn"/>
                <a:cs typeface="Vazirmatn"/>
              </a:rPr>
              <a:t>آموزش چندشرایطی در فست کانفورمر</a:t>
            </a:r>
            <a:endParaRPr b="0" lang="en-US" sz="3150" spc="-1" strike="noStrike">
              <a:solidFill>
                <a:srgbClr val="000000"/>
              </a:solidFill>
              <a:latin typeface="Arial"/>
            </a:endParaRPr>
          </a:p>
        </p:txBody>
      </p:sp>
      <p:sp>
        <p:nvSpPr>
          <p:cNvPr id="431" name=""/>
          <p:cNvSpPr/>
          <p:nvPr/>
        </p:nvSpPr>
        <p:spPr>
          <a:xfrm>
            <a:off x="685800" y="6419520"/>
            <a:ext cx="10820160" cy="360"/>
          </a:xfrm>
          <a:prstGeom prst="line">
            <a:avLst/>
          </a:prstGeom>
          <a:ln w="9525">
            <a:solidFill>
              <a:srgbClr val="d5dcdd"/>
            </a:solidFill>
            <a:round/>
          </a:ln>
        </p:spPr>
        <p:style>
          <a:lnRef idx="0"/>
          <a:fillRef idx="0"/>
          <a:effectRef idx="0"/>
          <a:fontRef idx="minor"/>
        </p:style>
        <p:txBody>
          <a:bodyPr lIns="90000" rIns="90000" tIns="-44640" bIns="-44640" anchor="t" anchorCtr="1">
            <a:noAutofit/>
          </a:bodyPr>
          <a:p>
            <a:endParaRPr b="0" lang="en-US" sz="1800" spc="-1" strike="noStrike">
              <a:solidFill>
                <a:srgbClr val="000000"/>
              </a:solidFill>
              <a:latin typeface="Vazirmatn"/>
              <a:ea typeface="Vazirmatn"/>
            </a:endParaRPr>
          </a:p>
        </p:txBody>
      </p:sp>
      <p:graphicFrame>
        <p:nvGraphicFramePr>
          <p:cNvPr id="432" name=""/>
          <p:cNvGraphicFramePr/>
          <p:nvPr/>
        </p:nvGraphicFramePr>
        <p:xfrm>
          <a:off x="685800" y="1809720"/>
          <a:ext cx="10819440" cy="3772440"/>
        </p:xfrm>
        <a:graphic>
          <a:graphicData uri="http://schemas.openxmlformats.org/drawingml/2006/table">
            <a:tbl>
              <a:tblPr/>
              <a:tblGrid>
                <a:gridCol w="1666800"/>
                <a:gridCol w="1666800"/>
                <a:gridCol w="1666800"/>
                <a:gridCol w="1666800"/>
                <a:gridCol w="4152600"/>
              </a:tblGrid>
              <a:tr h="666720">
                <a:tc>
                  <a:txBody>
                    <a:bodyPr anchor="ctr">
                      <a:noAutofit/>
                    </a:bodyPr>
                    <a:p>
                      <a:pPr algn="ctr">
                        <a:lnSpc>
                          <a:spcPct val="100000"/>
                        </a:lnSpc>
                      </a:pPr>
                      <a:r>
                        <a:rPr b="1" lang="en-US" sz="1650" spc="-1" strike="noStrike">
                          <a:solidFill>
                            <a:srgbClr val="f7f6f2"/>
                          </a:solidFill>
                          <a:latin typeface="Vazirmatn"/>
                          <a:ea typeface="Vazirmatn"/>
                        </a:rPr>
                        <a:t>CER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چندشرایطی</a:t>
                      </a:r>
                      <a:endParaRPr b="0" lang="en-US" sz="1650" spc="-1" strike="noStrike">
                        <a:solidFill>
                          <a:srgbClr val="ffffff"/>
                        </a:solidFill>
                        <a:latin typeface="Arial"/>
                      </a:endParaRPr>
                    </a:p>
                  </a:txBody>
                  <a:tcPr anchor="ctr" marL="91440" marR="91440">
                    <a:lnL w="7200">
                      <a:solidFill>
                        <a:srgbClr val="d5dcdd"/>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چندشرایطی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CER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معمولی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ctr">
                        <a:lnSpc>
                          <a:spcPct val="100000"/>
                        </a:lnSpc>
                      </a:pPr>
                      <a:r>
                        <a:rPr b="1" lang="en-US" sz="1650" spc="-1" strike="noStrike">
                          <a:solidFill>
                            <a:srgbClr val="f7f6f2"/>
                          </a:solidFill>
                          <a:latin typeface="Vazirmatn"/>
                          <a:ea typeface="Vazirmatn"/>
                        </a:rPr>
                        <a:t>WER</a:t>
                      </a:r>
                      <a:endParaRPr b="0" lang="en-US" sz="1650" spc="-1" strike="noStrike">
                        <a:solidFill>
                          <a:srgbClr val="ffffff"/>
                        </a:solidFill>
                        <a:latin typeface="Arial"/>
                      </a:endParaRPr>
                    </a:p>
                    <a:p>
                      <a:pPr algn="ctr" rtl="1">
                        <a:lnSpc>
                          <a:spcPct val="100000"/>
                        </a:lnSpc>
                      </a:pPr>
                      <a:r>
                        <a:rPr b="1" lang="fa-IR" sz="1650" spc="-1" strike="noStrike">
                          <a:solidFill>
                            <a:srgbClr val="f7f6f2"/>
                          </a:solidFill>
                          <a:latin typeface="Vazirmatn"/>
                          <a:cs typeface="Vazirmatn"/>
                        </a:rPr>
                        <a:t>معمولی</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c>
                  <a:txBody>
                    <a:bodyPr anchor="ctr">
                      <a:noAutofit/>
                    </a:bodyPr>
                    <a:p>
                      <a:pPr algn="r" rtl="1">
                        <a:lnSpc>
                          <a:spcPct val="100000"/>
                        </a:lnSpc>
                      </a:pPr>
                      <a:r>
                        <a:rPr b="1" lang="fa-IR" sz="1650" spc="-1" strike="noStrike">
                          <a:solidFill>
                            <a:srgbClr val="f7f6f2"/>
                          </a:solidFill>
                          <a:latin typeface="Vazirmatn"/>
                          <a:cs typeface="Vazirmatn"/>
                        </a:rPr>
                        <a:t>مجموعه آزمون</a:t>
                      </a:r>
                      <a:endParaRPr b="0" lang="en-US" sz="1650" spc="-1" strike="noStrike">
                        <a:solidFill>
                          <a:srgbClr val="ffffff"/>
                        </a:solidFill>
                        <a:latin typeface="Arial"/>
                      </a:endParaRPr>
                    </a:p>
                  </a:txBody>
                  <a:tcPr anchor="ctr" marL="91440" marR="91440">
                    <a:lnL w="12240">
                      <a:solidFill>
                        <a:srgbClr val="000000"/>
                      </a:solidFill>
                      <a:prstDash val="solid"/>
                    </a:lnL>
                    <a:lnR w="7200">
                      <a:solidFill>
                        <a:srgbClr val="d5dcdd"/>
                      </a:solidFill>
                      <a:prstDash val="solid"/>
                    </a:lnR>
                    <a:lnT w="7200">
                      <a:solidFill>
                        <a:srgbClr val="d5dcdd"/>
                      </a:solidFill>
                      <a:prstDash val="solid"/>
                    </a:lnT>
                    <a:lnB w="7200">
                      <a:solidFill>
                        <a:srgbClr val="d5dcdd"/>
                      </a:solidFill>
                      <a:prstDash val="solid"/>
                    </a:lnB>
                    <a:solidFill>
                      <a:srgbClr val="153d4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۱۴٫۴۵٪</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۲۱٫۸۱٪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۱۴٫۷۹٪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۲۲٫۷۳٪</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تجمیعی</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۱۴٫۰۹٪</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۳۰٫۴۸٪</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۱۴٫۸۱٪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۳۱٫۰۷٪</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a:lnSpc>
                          <a:spcPct val="100000"/>
                        </a:lnSpc>
                      </a:pPr>
                      <a:r>
                        <a:rPr b="0" lang="en-US" sz="1870" spc="-1" strike="noStrike">
                          <a:solidFill>
                            <a:srgbClr val="1f2933"/>
                          </a:solidFill>
                          <a:latin typeface="Vazirmatn"/>
                          <a:ea typeface="Vazirmatn"/>
                        </a:rPr>
                        <a:t>AGFarsdat</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۱۶٫۱۰٪</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۱۰٫۰۱٪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۱۶٫۴۶٪</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۱۱٫۶۸٪</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کامن‌وویس فارسی </a:t>
                      </a:r>
                      <a:r>
                        <a:rPr b="0" lang="fa-IR" sz="1870" spc="-1" strike="noStrike">
                          <a:solidFill>
                            <a:srgbClr val="1f2933"/>
                          </a:solidFill>
                          <a:latin typeface="Vazirmatn"/>
                          <a:cs typeface="Vazirmatn"/>
                        </a:rPr>
                        <a:t>۲۵</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۱۰٫۲۲٪</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۲۹٫۴۰٪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۹٫۹۴٪</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۲۹٫۲۲٪</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فلورز فارسی</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۱۳٫۵۶٪</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۳۱٫۴۱٪</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۱۳٫۵۰٪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۳۰٫۷۰٪</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پرشین‌اسپیچ</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r h="504720">
                <a:tc>
                  <a:txBody>
                    <a:bodyPr anchor="ctr">
                      <a:noAutofit/>
                    </a:bodyPr>
                    <a:p>
                      <a:pPr algn="ctr" rtl="1">
                        <a:lnSpc>
                          <a:spcPct val="100000"/>
                        </a:lnSpc>
                      </a:pPr>
                      <a:r>
                        <a:rPr b="0" lang="fa-IR" sz="1800" spc="-1" strike="noStrike">
                          <a:solidFill>
                            <a:srgbClr val="1f2933"/>
                          </a:solidFill>
                          <a:latin typeface="Vazirmatn"/>
                          <a:cs typeface="Vazirmatn"/>
                        </a:rPr>
                        <a:t>۱۲٫۶۸٪</a:t>
                      </a:r>
                      <a:endParaRPr b="0" lang="en-US" sz="1800" spc="-1" strike="noStrike">
                        <a:solidFill>
                          <a:srgbClr val="000000"/>
                        </a:solidFill>
                        <a:latin typeface="Arial"/>
                      </a:endParaRPr>
                    </a:p>
                  </a:txBody>
                  <a:tcPr anchor="ctr" marL="91440" marR="91440">
                    <a:lnL w="7200">
                      <a:solidFill>
                        <a:srgbClr val="d5dcdd"/>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۳۳٫۵۹٪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۱۲٫۲۲٪</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ctr" rtl="1">
                        <a:lnSpc>
                          <a:spcPct val="100000"/>
                        </a:lnSpc>
                      </a:pPr>
                      <a:r>
                        <a:rPr b="0" lang="fa-IR" sz="1800" spc="-1" strike="noStrike">
                          <a:solidFill>
                            <a:srgbClr val="1f2933"/>
                          </a:solidFill>
                          <a:latin typeface="Vazirmatn"/>
                          <a:cs typeface="Vazirmatn"/>
                        </a:rPr>
                        <a:t>۳۳٫۶۹٪</a:t>
                      </a:r>
                      <a:endParaRPr b="0" lang="en-US" sz="180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c>
                  <a:txBody>
                    <a:bodyPr anchor="ctr">
                      <a:noAutofit/>
                    </a:bodyPr>
                    <a:p>
                      <a:pPr algn="r" rtl="1">
                        <a:lnSpc>
                          <a:spcPct val="100000"/>
                        </a:lnSpc>
                      </a:pPr>
                      <a:r>
                        <a:rPr b="0" lang="fa-IR" sz="1870" spc="-1" strike="noStrike">
                          <a:solidFill>
                            <a:srgbClr val="1f2933"/>
                          </a:solidFill>
                          <a:latin typeface="Vazirmatn"/>
                          <a:cs typeface="Vazirmatn"/>
                        </a:rPr>
                        <a:t>پیکره گفتار فارسی</a:t>
                      </a:r>
                      <a:endParaRPr b="0" lang="en-US" sz="1870" spc="-1" strike="noStrike">
                        <a:solidFill>
                          <a:srgbClr val="000000"/>
                        </a:solidFill>
                        <a:latin typeface="Arial"/>
                      </a:endParaRPr>
                    </a:p>
                  </a:txBody>
                  <a:tcPr anchor="ctr" marL="91440" marR="91440">
                    <a:lnL w="12240">
                      <a:solidFill>
                        <a:srgbClr val="000000"/>
                      </a:solidFill>
                      <a:prstDash val="solid"/>
                    </a:lnL>
                    <a:lnR w="7200">
                      <a:solidFill>
                        <a:srgbClr val="d5dcdd"/>
                      </a:solidFill>
                      <a:prstDash val="solid"/>
                    </a:lnR>
                    <a:lnT w="12240">
                      <a:solidFill>
                        <a:srgbClr val="000000"/>
                      </a:solidFill>
                      <a:prstDash val="solid"/>
                    </a:lnT>
                    <a:lnB w="7200">
                      <a:solidFill>
                        <a:srgbClr val="d5dcdd"/>
                      </a:solidFill>
                      <a:prstDash val="solid"/>
                    </a:lnB>
                    <a:solidFill>
                      <a:srgbClr val="f7f6f2"/>
                    </a:solidFill>
                  </a:tcPr>
                </a:tc>
              </a:tr>
            </a:tbl>
          </a:graphicData>
        </a:graphic>
      </p:graphicFrame>
      <p:sp>
        <p:nvSpPr>
          <p:cNvPr id="433" name="کاهش WER تجمیعی: ۰٫۹۲ واحد درصد، حدود ۴٪ کاهش نسبی"/>
          <p:cNvSpPr/>
          <p:nvPr/>
        </p:nvSpPr>
        <p:spPr>
          <a:xfrm>
            <a:off x="685800" y="5638680"/>
            <a:ext cx="10815480" cy="39492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1" lang="fa-IR" sz="2020" spc="-1" strike="noStrike">
                <a:solidFill>
                  <a:srgbClr val="1d6f8a"/>
                </a:solidFill>
                <a:latin typeface="Vazirmatn"/>
                <a:cs typeface="Vazirmatn"/>
              </a:rPr>
              <a:t>کاهش </a:t>
            </a:r>
            <a:r>
              <a:rPr b="1" lang="en-US" sz="2020" spc="-1" strike="noStrike">
                <a:solidFill>
                  <a:srgbClr val="1d6f8a"/>
                </a:solidFill>
                <a:latin typeface="Vazirmatn"/>
                <a:ea typeface="Vazirmatn"/>
              </a:rPr>
              <a:t>WER</a:t>
            </a:r>
            <a:r>
              <a:rPr b="1" lang="en-US" sz="2020" spc="-1" strike="noStrike">
                <a:solidFill>
                  <a:srgbClr val="1d6f8a"/>
                </a:solidFill>
                <a:latin typeface="Vazirmatn"/>
                <a:ea typeface="Vazirmatn"/>
              </a:rPr>
              <a:t> تجمیعی: </a:t>
            </a:r>
            <a:r>
              <a:rPr b="1" lang="fa-IR" sz="2020" spc="-1" strike="noStrike">
                <a:solidFill>
                  <a:srgbClr val="1d6f8a"/>
                </a:solidFill>
                <a:latin typeface="Vazirmatn"/>
                <a:cs typeface="Vazirmatn"/>
              </a:rPr>
              <a:t>۰٫۹۲</a:t>
            </a:r>
            <a:r>
              <a:rPr b="1" lang="en-US" sz="2020" spc="-1" strike="noStrike">
                <a:solidFill>
                  <a:srgbClr val="1d6f8a"/>
                </a:solidFill>
                <a:latin typeface="Vazirmatn"/>
                <a:ea typeface="Vazirmatn"/>
              </a:rPr>
              <a:t> واحد درصد، حدود </a:t>
            </a:r>
            <a:r>
              <a:rPr b="1" lang="fa-IR" sz="2020" spc="-1" strike="noStrike">
                <a:solidFill>
                  <a:srgbClr val="1d6f8a"/>
                </a:solidFill>
                <a:latin typeface="Vazirmatn"/>
                <a:cs typeface="Vazirmatn"/>
              </a:rPr>
              <a:t>۴</a:t>
            </a:r>
            <a:r>
              <a:rPr b="1" lang="fa-IR" sz="2020" spc="-1" strike="noStrike">
                <a:solidFill>
                  <a:srgbClr val="1d6f8a"/>
                </a:solidFill>
                <a:latin typeface="Vazirmatn"/>
                <a:cs typeface="Vazirmatn"/>
              </a:rPr>
              <a:t>٪ کاهش نسبی</a:t>
            </a:r>
            <a:endParaRPr b="0" lang="en-US" sz="2020" spc="-1" strike="noStrike">
              <a:solidFill>
                <a:srgbClr val="000000"/>
              </a:solidFill>
              <a:latin typeface="Arial"/>
            </a:endParaRPr>
          </a:p>
        </p:txBody>
      </p:sp>
      <p:sp>
        <p:nvSpPr>
          <p:cNvPr id="434" name="مقایسه درون فست کانفورمر است. تفاوت پیش‌آموزش و آموزش، انتساب فاصله با ویسپر را محدود می‌کند"/>
          <p:cNvSpPr/>
          <p:nvPr/>
        </p:nvSpPr>
        <p:spPr>
          <a:xfrm>
            <a:off x="685800" y="6105600"/>
            <a:ext cx="10815480" cy="242640"/>
          </a:xfrm>
          <a:prstGeom prst="rect">
            <a:avLst/>
          </a:prstGeom>
          <a:noFill/>
          <a:ln w="0">
            <a:noFill/>
          </a:ln>
        </p:spPr>
        <p:style>
          <a:lnRef idx="0"/>
          <a:fillRef idx="0"/>
          <a:effectRef idx="0"/>
          <a:fontRef idx="minor"/>
        </p:style>
        <p:txBody>
          <a:bodyPr lIns="0" rIns="0" tIns="0" bIns="0" anchor="ctr">
            <a:noAutofit/>
          </a:bodyPr>
          <a:p>
            <a:pPr algn="r" rtl="1">
              <a:lnSpc>
                <a:spcPct val="100000"/>
              </a:lnSpc>
            </a:pPr>
            <a:r>
              <a:rPr b="0" lang="fa-IR" sz="1500" spc="-1" strike="noStrike">
                <a:solidFill>
                  <a:srgbClr val="52606d"/>
                </a:solidFill>
                <a:latin typeface="Vazirmatn"/>
                <a:cs typeface="Vazirmatn"/>
              </a:rPr>
              <a:t>مقایسه درون فست کانفورمر است. تفاوت پیش‌آموزش و آموزش، انتساب فاصله با ویسپر را محدود می‌کند</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6f2"/>
        </a:solidFill>
      </p:bgPr>
    </p:bg>
    <p:spTree>
      <p:nvGrpSpPr>
        <p:cNvPr id="1" name=""/>
        <p:cNvGrpSpPr/>
        <p:nvPr/>
      </p:nvGrpSpPr>
      <p:grpSpPr>
        <a:xfrm>
          <a:off x="0" y="0"/>
          <a:ext cx="0" cy="0"/>
          <a:chOff x="0" y="0"/>
          <a:chExt cx="0" cy="0"/>
        </a:xfrm>
      </p:grpSpPr>
      <p:sp>
        <p:nvSpPr>
          <p:cNvPr id="435" name=""/>
          <p:cNvSpPr/>
          <p:nvPr/>
        </p:nvSpPr>
        <p:spPr>
          <a:xfrm>
            <a:off x="4191120" y="285840"/>
            <a:ext cx="7312320" cy="3020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1350" spc="-1" strike="noStrike">
                <a:solidFill>
                  <a:srgbClr val="1d6f8a"/>
                </a:solidFill>
                <a:latin typeface="Vazirmatn"/>
                <a:cs typeface="Vazirmatn"/>
              </a:rPr>
              <a:t>مطالب تکمیلی</a:t>
            </a:r>
            <a:endParaRPr b="0" lang="en-US" sz="1350" spc="-1" strike="noStrike">
              <a:solidFill>
                <a:srgbClr val="000000"/>
              </a:solidFill>
              <a:latin typeface="Arial"/>
            </a:endParaRPr>
          </a:p>
        </p:txBody>
      </p:sp>
      <p:sp>
        <p:nvSpPr>
          <p:cNvPr id="436" name=""/>
          <p:cNvSpPr/>
          <p:nvPr/>
        </p:nvSpPr>
        <p:spPr>
          <a:xfrm>
            <a:off x="685800" y="714240"/>
            <a:ext cx="10817640" cy="663840"/>
          </a:xfrm>
          <a:prstGeom prst="rect">
            <a:avLst/>
          </a:prstGeom>
          <a:noFill/>
          <a:ln w="0">
            <a:noFill/>
          </a:ln>
        </p:spPr>
        <p:style>
          <a:lnRef idx="0"/>
          <a:fillRef idx="0"/>
          <a:effectRef idx="0"/>
          <a:fontRef idx="minor"/>
        </p:style>
        <p:txBody>
          <a:bodyPr lIns="0" rIns="0" tIns="0" bIns="0" anchor="t">
            <a:noAutofit/>
          </a:bodyPr>
          <a:p>
            <a:pPr algn="r" rtl="1">
              <a:lnSpc>
                <a:spcPct val="100000"/>
              </a:lnSpc>
            </a:pPr>
            <a:r>
              <a:rPr b="1" lang="fa-IR" sz="3150" spc="-1" strike="noStrike">
                <a:solidFill>
                  <a:srgbClr val="153d42"/>
                </a:solidFill>
                <a:latin typeface="Vazirmatn"/>
                <a:cs typeface="Vazirmatn"/>
              </a:rPr>
              <a:t>پرامپت اصلاح رونویسی با </a:t>
            </a:r>
            <a:r>
              <a:rPr b="1" lang="en-US" sz="3150" spc="-1" strike="noStrike">
                <a:solidFill>
                  <a:srgbClr val="153d42"/>
                </a:solidFill>
                <a:latin typeface="Vazirmatn"/>
                <a:ea typeface="Vazirmatn"/>
              </a:rPr>
              <a:t>Qwen</a:t>
            </a:r>
            <a:endParaRPr b="0" lang="en-US" sz="3150" spc="-1" strike="noStrike">
              <a:solidFill>
                <a:srgbClr val="000000"/>
              </a:solidFill>
              <a:latin typeface="Arial"/>
            </a:endParaRPr>
          </a:p>
        </p:txBody>
      </p:sp>
      <p:sp>
        <p:nvSpPr>
          <p:cNvPr id="437" name=""/>
          <p:cNvSpPr/>
          <p:nvPr/>
        </p:nvSpPr>
        <p:spPr>
          <a:xfrm>
            <a:off x="685800" y="1390680"/>
            <a:ext cx="10817640" cy="24480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280" spc="-1" strike="noStrike">
                <a:solidFill>
                  <a:srgbClr val="1d6f8a"/>
                </a:solidFill>
                <a:latin typeface="Vazirmatn"/>
                <a:ea typeface="Vazirmatn"/>
              </a:rPr>
              <a:t>cyankiwi/Qwen3.6-27B-AWQ-INT4   ·   temperature = 0 (unitless)</a:t>
            </a:r>
            <a:endParaRPr b="0" lang="en-US" sz="1280" spc="-1" strike="noStrike">
              <a:solidFill>
                <a:srgbClr val="000000"/>
              </a:solidFill>
              <a:latin typeface="Arial"/>
            </a:endParaRPr>
          </a:p>
        </p:txBody>
      </p:sp>
      <p:sp>
        <p:nvSpPr>
          <p:cNvPr id="438" name=""/>
          <p:cNvSpPr/>
          <p:nvPr/>
        </p:nvSpPr>
        <p:spPr>
          <a:xfrm>
            <a:off x="685800" y="1752480"/>
            <a:ext cx="5216760" cy="4759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70" spc="-1" strike="noStrike">
                <a:solidFill>
                  <a:srgbClr val="1f2933"/>
                </a:solidFill>
                <a:latin typeface="Vazirmatn"/>
                <a:ea typeface="Vazirmatn"/>
              </a:rPr>
              <a:t>Refine one Persian ASR segment conservatively. Modify only the TARGET WHISPER TEXT.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Allowed corrections:</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Persian orthography and spelling</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spacing and </a:t>
            </a:r>
            <a:r>
              <a:rPr b="0" lang="hi-IN" sz="1470" spc="-1" strike="noStrike">
                <a:solidFill>
                  <a:srgbClr val="1f2933"/>
                </a:solidFill>
                <a:latin typeface="Vazirmatn"/>
                <a:cs typeface="Vazirmatn"/>
              </a:rPr>
              <a:t>نیم‌فاصله</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punctuation when clearly justified</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obvious ASR word substitutions when the intended spoken word is strongly supported by the target and context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Rules:</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Preserve the meaning and wording of the spoken target as closely as possible.</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Use surrounding context only to disambiguate the target.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Never copy words or phrases from the context into the target unless they clearly correct an ASR error already present in the target.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Never complete an incomplete phrase at a segment boundary.</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Never add, infer, summarize, or rewrite speech that is not present in the target.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Do not remove valid spoken words merely to improve fluency.</a:t>
            </a:r>
            <a:endParaRPr b="0" lang="en-US" sz="1470" spc="-1" strike="noStrike">
              <a:solidFill>
                <a:srgbClr val="000000"/>
              </a:solidFill>
              <a:latin typeface="Arial"/>
            </a:endParaRPr>
          </a:p>
        </p:txBody>
      </p:sp>
      <p:sp>
        <p:nvSpPr>
          <p:cNvPr id="439" name=""/>
          <p:cNvSpPr/>
          <p:nvPr/>
        </p:nvSpPr>
        <p:spPr>
          <a:xfrm>
            <a:off x="6286680" y="1752480"/>
            <a:ext cx="5216760" cy="475956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70" spc="-1" strike="noStrike">
                <a:solidFill>
                  <a:srgbClr val="1f2933"/>
                </a:solidFill>
                <a:latin typeface="Vazirmatn"/>
                <a:ea typeface="Vazirmatn"/>
              </a:rPr>
              <a:t>Rules (continued):</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Preserve every numeric token exactly as written, including digits, signs, separators, and formatting.</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When a correction is not sufficiently certain, keep the original text and set uncertain=true.</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Set uncertain=false only when all applied corrections are high-confidence.</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 Return only the required JSON object with no explanation or Markdown.</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[AUDIOBOOK TITLE]</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&lt;audiobook title or (omitted)&gt;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[AUDIOBOOK DESCRIPTION]</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&lt;audiobook description or (omitted)&gt;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[REFINED PRECEDING CONTEXT]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&lt;up to three previously accepted refined segments or (none)&gt;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[TARGET WHISPER TEXT]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&lt;normalized target transcription&gt;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[FOLLOWING WHISPER CONTEXT]</a:t>
            </a:r>
            <a:endParaRPr b="0" lang="en-US" sz="1470" spc="-1" strike="noStrike">
              <a:solidFill>
                <a:srgbClr val="000000"/>
              </a:solidFill>
              <a:latin typeface="Arial"/>
            </a:endParaRPr>
          </a:p>
          <a:p>
            <a:pPr>
              <a:lnSpc>
                <a:spcPct val="100000"/>
              </a:lnSpc>
            </a:pPr>
            <a:r>
              <a:rPr b="0" lang="en-US" sz="1470" spc="-1" strike="noStrike">
                <a:solidFill>
                  <a:srgbClr val="1f2933"/>
                </a:solidFill>
                <a:latin typeface="Vazirmatn"/>
                <a:ea typeface="Vazirmatn"/>
              </a:rPr>
              <a:t>&lt;up to three following normalized Whisper segments or (none)&gt;</a:t>
            </a:r>
            <a:endParaRPr b="0" lang="en-US" sz="14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Vazirmatn" pitchFamily="0" charset="1"/>
        <a:cs typeface="Vazirmatn" pitchFamily="0" charset="1"/>
      </a:majorFont>
      <a:minorFont>
        <a:latin typeface="Vazirmatn" pitchFamily="0" charset="1"/>
        <a:ea typeface="Vazirmatn" pitchFamily="0" charset="1"/>
        <a:cs typeface="Vazirmatn" pitchFamily="0" charset="1"/>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5.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6.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7.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8.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Vazirmatn" pitchFamily="0" charset="1"/>
        <a:ea typeface=""/>
        <a:cs typeface=""/>
      </a:majorFont>
      <a:minorFont>
        <a:latin typeface="Vazirmatn"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9.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436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2026-10-15T11:59:32Z</dcterms:created>
  <dc:creator>Walnut Exporter</dc:creator>
  <dc:description/>
  <dc:language>en-US</dc:language>
  <cp:lastModifiedBy/>
  <cp:lastPrinted>2026-10-20T21:31:30Z</cp:lastPrinted>
  <dcterms:modified xsi:type="dcterms:W3CDTF">2026-10-20T21:24:47Z</dcterms:modified>
  <cp:revision>24</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