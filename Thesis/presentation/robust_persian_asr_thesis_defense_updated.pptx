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258d482a31f432e" /><Relationship Type="http://schemas.openxmlformats.org/officeDocument/2006/relationships/extended-properties" Target="/docProps/app.xml" Id="R628059368cfc4eb7" /><Relationship Type="http://schemas.openxmlformats.org/officeDocument/2006/relationships/officeDocument" Target="/ppt/presentation.xml" Id="R7f05da655e6a4a78" /></Relationships>
</file>

<file path=ppt/presentation.xml><?xml version="1.0" encoding="utf-8"?>
<p:presentation xmlns:p="http://schemas.openxmlformats.org/presentationml/2006/main">
  <p:sldMasterIdLst>
    <p:sldMasterId xmlns:r="http://schemas.openxmlformats.org/officeDocument/2006/relationships" id="2147483648" r:id="R47b23ce7d1ca4344"/>
  </p:sldMasterIdLst>
  <p:notesMasterIdLst>
    <p:notesMasterId xmlns:r="http://schemas.openxmlformats.org/officeDocument/2006/relationships" r:id="R2ecdd1768f934ef3"/>
  </p:notesMasterIdLst>
  <p:sldIdLst>
    <p:sldId xmlns:r="http://schemas.openxmlformats.org/officeDocument/2006/relationships" id="256" r:id="R77071997572144e3"/>
    <p:sldId xmlns:r="http://schemas.openxmlformats.org/officeDocument/2006/relationships" id="257" r:id="R753ed04b84b84675"/>
    <p:sldId xmlns:r="http://schemas.openxmlformats.org/officeDocument/2006/relationships" id="258" r:id="Re5d7a63bebd04868"/>
    <p:sldId xmlns:r="http://schemas.openxmlformats.org/officeDocument/2006/relationships" id="259" r:id="Rf9d89e71f9754199"/>
    <p:sldId xmlns:r="http://schemas.openxmlformats.org/officeDocument/2006/relationships" id="260" r:id="R7fa3d369294d4321"/>
    <p:sldId xmlns:r="http://schemas.openxmlformats.org/officeDocument/2006/relationships" id="261" r:id="R2c648de70e9944d1"/>
    <p:sldId xmlns:r="http://schemas.openxmlformats.org/officeDocument/2006/relationships" id="262" r:id="R326566c870724ccd"/>
    <p:sldId xmlns:r="http://schemas.openxmlformats.org/officeDocument/2006/relationships" id="263" r:id="R186abdbb391a4b86"/>
    <p:sldId xmlns:r="http://schemas.openxmlformats.org/officeDocument/2006/relationships" id="264" r:id="R82633a7518cf4e61"/>
    <p:sldId xmlns:r="http://schemas.openxmlformats.org/officeDocument/2006/relationships" id="265" r:id="Rcdfb3fbbbaee4aaa"/>
    <p:sldId xmlns:r="http://schemas.openxmlformats.org/officeDocument/2006/relationships" id="266" r:id="R0a45947b00364696"/>
    <p:sldId xmlns:r="http://schemas.openxmlformats.org/officeDocument/2006/relationships" id="267" r:id="R0213271765474378"/>
    <p:sldId xmlns:r="http://schemas.openxmlformats.org/officeDocument/2006/relationships" id="268" r:id="Ra7f97491dec54901"/>
    <p:sldId xmlns:r="http://schemas.openxmlformats.org/officeDocument/2006/relationships" id="269" r:id="Ra23e859fea654c39"/>
    <p:sldId xmlns:r="http://schemas.openxmlformats.org/officeDocument/2006/relationships" id="270" r:id="Rde180536055c4952"/>
    <p:sldId xmlns:r="http://schemas.openxmlformats.org/officeDocument/2006/relationships" id="271" r:id="Rcab93c4e25914592"/>
    <p:sldId xmlns:r="http://schemas.openxmlformats.org/officeDocument/2006/relationships" id="272" r:id="Rdeae122e440c4cd6"/>
    <p:sldId xmlns:r="http://schemas.openxmlformats.org/officeDocument/2006/relationships" id="273" r:id="Raa06cd6b7a04421f"/>
    <p:sldId xmlns:r="http://schemas.openxmlformats.org/officeDocument/2006/relationships" id="274" r:id="R9337b72432294cd2"/>
    <p:sldId xmlns:r="http://schemas.openxmlformats.org/officeDocument/2006/relationships" id="275" r:id="Rb9ea8f41034a4c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7b2e771a924179" /><Relationship Type="http://schemas.openxmlformats.org/officeDocument/2006/relationships/slideMaster" Target="/ppt/slideMasters/slideMaster1.xml" Id="R47b23ce7d1ca4344" /><Relationship Type="http://schemas.openxmlformats.org/officeDocument/2006/relationships/notesMaster" Target="/ppt/notesMasters/notesMaster1.xml" Id="R2ecdd1768f934ef3" /><Relationship Type="http://schemas.openxmlformats.org/officeDocument/2006/relationships/presProps" Target="/ppt/presProps.xml" Id="R43a1ba98b49a47d4" /><Relationship Type="http://schemas.openxmlformats.org/officeDocument/2006/relationships/tableStyles" Target="/ppt/tableStyles.xml" Id="R2a79fd50904541aa" /><Relationship Type="http://schemas.openxmlformats.org/officeDocument/2006/relationships/slide" Target="/ppt/slides/slide1.xml" Id="R77071997572144e3" /><Relationship Type="http://schemas.openxmlformats.org/officeDocument/2006/relationships/slide" Target="/ppt/slides/slide2.xml" Id="R753ed04b84b84675" /><Relationship Type="http://schemas.openxmlformats.org/officeDocument/2006/relationships/slide" Target="/ppt/slides/slide3.xml" Id="Re5d7a63bebd04868" /><Relationship Type="http://schemas.openxmlformats.org/officeDocument/2006/relationships/slide" Target="/ppt/slides/slide4.xml" Id="Rf9d89e71f9754199" /><Relationship Type="http://schemas.openxmlformats.org/officeDocument/2006/relationships/slide" Target="/ppt/slides/slide5.xml" Id="R7fa3d369294d4321" /><Relationship Type="http://schemas.openxmlformats.org/officeDocument/2006/relationships/slide" Target="/ppt/slides/slide6.xml" Id="R2c648de70e9944d1" /><Relationship Type="http://schemas.openxmlformats.org/officeDocument/2006/relationships/slide" Target="/ppt/slides/slide7.xml" Id="R326566c870724ccd" /><Relationship Type="http://schemas.openxmlformats.org/officeDocument/2006/relationships/slide" Target="/ppt/slides/slide8.xml" Id="R186abdbb391a4b86" /><Relationship Type="http://schemas.openxmlformats.org/officeDocument/2006/relationships/slide" Target="/ppt/slides/slide9.xml" Id="R82633a7518cf4e61" /><Relationship Type="http://schemas.openxmlformats.org/officeDocument/2006/relationships/slide" Target="/ppt/slides/slide10.xml" Id="Rcdfb3fbbbaee4aaa" /><Relationship Type="http://schemas.openxmlformats.org/officeDocument/2006/relationships/slide" Target="/ppt/slides/slide11.xml" Id="R0a45947b00364696" /><Relationship Type="http://schemas.openxmlformats.org/officeDocument/2006/relationships/slide" Target="/ppt/slides/slide12.xml" Id="R0213271765474378" /><Relationship Type="http://schemas.openxmlformats.org/officeDocument/2006/relationships/slide" Target="/ppt/slides/slide13.xml" Id="Ra7f97491dec54901" /><Relationship Type="http://schemas.openxmlformats.org/officeDocument/2006/relationships/slide" Target="/ppt/slides/slide14.xml" Id="Ra23e859fea654c39" /><Relationship Type="http://schemas.openxmlformats.org/officeDocument/2006/relationships/slide" Target="/ppt/slides/slide15.xml" Id="Rde180536055c4952" /><Relationship Type="http://schemas.openxmlformats.org/officeDocument/2006/relationships/slide" Target="/ppt/slides/slide16.xml" Id="Rcab93c4e25914592" /><Relationship Type="http://schemas.openxmlformats.org/officeDocument/2006/relationships/slide" Target="/ppt/slides/slide17.xml" Id="Rdeae122e440c4cd6" /><Relationship Type="http://schemas.openxmlformats.org/officeDocument/2006/relationships/slide" Target="/ppt/slides/slide18.xml" Id="Raa06cd6b7a04421f" /><Relationship Type="http://schemas.openxmlformats.org/officeDocument/2006/relationships/slide" Target="/ppt/slides/slide19.xml" Id="R9337b72432294cd2" /><Relationship Type="http://schemas.openxmlformats.org/officeDocument/2006/relationships/slide" Target="/ppt/slides/slide20.xml" Id="Rb9ea8f41034a4c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0fd52e88e744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f2e5a76e2140bf" /><Relationship Type="http://schemas.openxmlformats.org/officeDocument/2006/relationships/notesMaster" Target="/ppt/notesMasters/notesMaster1.xml" Id="Rc2e7f3467cc14a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deb2bb9c4746df" /><Relationship Type="http://schemas.openxmlformats.org/officeDocument/2006/relationships/notesMaster" Target="/ppt/notesMasters/notesMaster1.xml" Id="R06fe5b52c14041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3491622ed7490d" /><Relationship Type="http://schemas.openxmlformats.org/officeDocument/2006/relationships/notesMaster" Target="/ppt/notesMasters/notesMaster1.xml" Id="R18fcdd96b62443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543c216eb549ec" /><Relationship Type="http://schemas.openxmlformats.org/officeDocument/2006/relationships/notesMaster" Target="/ppt/notesMasters/notesMaster1.xml" Id="R8395f92746fe44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b585ddc57143d1" /><Relationship Type="http://schemas.openxmlformats.org/officeDocument/2006/relationships/notesMaster" Target="/ppt/notesMasters/notesMaster1.xml" Id="R0857ccd85c0c4c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afd0e47b694213" /><Relationship Type="http://schemas.openxmlformats.org/officeDocument/2006/relationships/notesMaster" Target="/ppt/notesMasters/notesMaster1.xml" Id="Ra8bf0f0d06d249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4ff72725914ab7" /><Relationship Type="http://schemas.openxmlformats.org/officeDocument/2006/relationships/notesMaster" Target="/ppt/notesMasters/notesMaster1.xml" Id="R08081f2a384844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58d3cf062c4dc4" /><Relationship Type="http://schemas.openxmlformats.org/officeDocument/2006/relationships/notesMaster" Target="/ppt/notesMasters/notesMaster1.xml" Id="R31c5123ad23a4b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93204e7d5848d7" /><Relationship Type="http://schemas.openxmlformats.org/officeDocument/2006/relationships/notesMaster" Target="/ppt/notesMasters/notesMaster1.xml" Id="R640e8238a0fb49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8cc3f37347485f" /><Relationship Type="http://schemas.openxmlformats.org/officeDocument/2006/relationships/notesMaster" Target="/ppt/notesMasters/notesMaster1.xml" Id="R79b324f53d644c7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0f1e3b5c0c4277" /><Relationship Type="http://schemas.openxmlformats.org/officeDocument/2006/relationships/notesMaster" Target="/ppt/notesMasters/notesMaster1.xml" Id="R2432c7ee34b74d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821895b9a4466e" /><Relationship Type="http://schemas.openxmlformats.org/officeDocument/2006/relationships/notesMaster" Target="/ppt/notesMasters/notesMaster1.xml" Id="R8c4aeb65fa6a4db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6ca4ea5dd1948a9" /><Relationship Type="http://schemas.openxmlformats.org/officeDocument/2006/relationships/notesMaster" Target="/ppt/notesMasters/notesMaster1.xml" Id="R8c71117aa89d4d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c97583778474235" /><Relationship Type="http://schemas.openxmlformats.org/officeDocument/2006/relationships/notesMaster" Target="/ppt/notesMasters/notesMaster1.xml" Id="Rb9d752fc5f1b48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58c89f627474440" /><Relationship Type="http://schemas.openxmlformats.org/officeDocument/2006/relationships/notesMaster" Target="/ppt/notesMasters/notesMaster1.xml" Id="Rcd07ed93d66b4f3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161d95ef794a87" /><Relationship Type="http://schemas.openxmlformats.org/officeDocument/2006/relationships/notesMaster" Target="/ppt/notesMasters/notesMaster1.xml" Id="R42e09968dd41476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0a43a5e784a4523" /><Relationship Type="http://schemas.openxmlformats.org/officeDocument/2006/relationships/notesMaster" Target="/ppt/notesMasters/notesMaster1.xml" Id="Rabb77cebe679435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26eb2ceea00406f" /><Relationship Type="http://schemas.openxmlformats.org/officeDocument/2006/relationships/notesMaster" Target="/ppt/notesMasters/notesMaster1.xml" Id="R872bb66549264ed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1992023e314359" /><Relationship Type="http://schemas.openxmlformats.org/officeDocument/2006/relationships/notesMaster" Target="/ppt/notesMasters/notesMaster1.xml" Id="Rcbb162cc8d0548e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928000d4c2142aa" /><Relationship Type="http://schemas.openxmlformats.org/officeDocument/2006/relationships/notesMaster" Target="/ppt/notesMasters/notesMaster1.xml" Id="R00c8fbbcd82c40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0:20</a:t>
            </a:r>
          </a:p>
          <a:p xmlns:a="http://schemas.openxmlformats.org/drawingml/2006/main">
            <a:r>
              <a:t/>
            </a:r>
          </a:p>
          <a:p xmlns:a="http://schemas.openxmlformats.org/drawingml/2006/main">
            <a:r>
              <a:t/>
            </a:r>
          </a:p>
          <a:p xmlns:a="http://schemas.openxmlformats.org/drawingml/2006/main">
            <a:r>
              <a:t>This thesis investigates how to improve Persian speech recognition when audio comes through telephone and VoIP channels. I study telecom-oriented training data, enhancement and fusion, and additional pseudo-labelled Persian speech.</a:t>
            </a:r>
          </a:p>
          <a:p xmlns:a="http://schemas.openxmlformats.org/drawingml/2006/main">
            <a:r>
              <a:t/>
            </a:r>
          </a:p>
          <a:p xmlns:a="http://schemas.openxmlformats.org/drawingml/2006/main">
            <a:r>
              <a:t/>
            </a:r>
          </a:p>
          <a:p xmlns:a="http://schemas.openxmlformats.org/drawingml/2006/main">
            <a:r>
              <a:t/>
            </a:r>
          </a:p>
          <a:p xmlns:a="http://schemas.openxmlformats.org/drawingml/2006/main">
            <a:r>
              <a:t>Sources: Thesis/front/info.tex; Thesis/front/abstract-eng.tex.</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0:50</a:t>
            </a:r>
          </a:p>
          <a:p xmlns:a="http://schemas.openxmlformats.org/drawingml/2006/main">
            <a:r>
              <a:t/>
            </a:r>
          </a:p>
          <a:p xmlns:a="http://schemas.openxmlformats.org/drawingml/2006/main">
            <a:r>
              <a:t/>
            </a:r>
          </a:p>
          <a:p xmlns:a="http://schemas.openxmlformats.org/drawingml/2006/main">
            <a:r>
              <a:t>Persian corpora cover different speaking and recording styles, but they do not fully represent telecom channels. Calls can combine several distortions at once. Transcribed real calls are expensive to collect and privacy-sensitive, so I investigate how existing labelled speech and unlabelled audio can help. Success must be tested on real calls outside the simulator.</a:t>
            </a:r>
          </a:p>
          <a:p xmlns:a="http://schemas.openxmlformats.org/drawingml/2006/main">
            <a:r>
              <a:t/>
            </a:r>
          </a:p>
          <a:p xmlns:a="http://schemas.openxmlformats.org/drawingml/2006/main">
            <a:r>
              <a:t/>
            </a:r>
          </a:p>
          <a:p xmlns:a="http://schemas.openxmlformats.org/drawingml/2006/main">
            <a:r>
              <a:t/>
            </a:r>
          </a:p>
          <a:p xmlns:a="http://schemas.openxmlformats.org/drawingml/2006/main">
            <a:r>
              <a:t>Sources: Thesis/chapters/introduction.tex; Thesis/chapters/preliminaries.tex.</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0:55</a:t>
            </a:r>
          </a:p>
          <a:p xmlns:a="http://schemas.openxmlformats.org/drawingml/2006/main">
            <a:r>
              <a:t/>
            </a:r>
          </a:p>
          <a:p xmlns:a="http://schemas.openxmlformats.org/drawingml/2006/main">
            <a:r>
              <a:t/>
            </a:r>
          </a:p>
          <a:p xmlns:a="http://schemas.openxmlformats.org/drawingml/2006/main">
            <a:r>
              <a:t>The multi-condition model becomes the reference for the later experiments. Fusion changes the system and training schedule. IranSeda adds data while retaining the full baseline mixture. These are separate branches; I did not evaluate fusion trained with IranSeda. A waveform bridge provides another comparison for fusion.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 Thesis/chapters/work.tex.</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0:30</a:t>
            </a:r>
          </a:p>
          <a:p xmlns:a="http://schemas.openxmlformats.org/drawingml/2006/main">
            <a:r>
              <a:t>Training foundation: long examples already belong to the ordinary baseline.</a:t>
            </a:r>
          </a:p>
          <a:p xmlns:a="http://schemas.openxmlformats.org/drawingml/2006/main">
            <a:r>
              <a:t/>
            </a:r>
          </a:p>
          <a:p xmlns:a="http://schemas.openxmlformats.org/drawingml/2006/main">
            <a:r>
              <a:t>The base mixture covers read and spontaneous Persian speech. Long examples join two to four clips within a split, with durations above five and at most twenty seconds. They already belong to the ordinary baseline. WER counts substitutions, deletions and insertions per reference word; CER counts characters. Aggregate scores pool counts. AGFarsdat is held out from training and model selection.</a:t>
            </a:r>
          </a:p>
          <a:p xmlns:a="http://schemas.openxmlformats.org/drawingml/2006/main">
            <a:r>
              <a:t/>
            </a:r>
          </a:p>
          <a:p xmlns:a="http://schemas.openxmlformats.org/drawingml/2006/main">
            <a:r>
              <a:t>Qualification: PersianSpeech has only 24 examples; eligibility varies slightly across some systems. Audio processing uses mono 16 kHz.</a:t>
            </a:r>
          </a:p>
          <a:p xmlns:a="http://schemas.openxmlformats.org/drawingml/2006/main">
            <a:r>
              <a:t/>
            </a:r>
          </a:p>
          <a:p xmlns:a="http://schemas.openxmlformats.org/drawingml/2006/main">
            <a:r>
              <a:t>Sources: Thesis/chapters/work.tex; Thesis/chapters/results.tex.</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0:35</a:t>
            </a:r>
          </a:p>
          <a:p xmlns:a="http://schemas.openxmlformats.org/drawingml/2006/main">
            <a:r>
              <a:t>Evaluation focus: real calls, WER/CER and pooled counts.</a:t>
            </a:r>
          </a:p>
          <a:p xmlns:a="http://schemas.openxmlformats.org/drawingml/2006/main">
            <a:r>
              <a:t/>
            </a:r>
          </a:p>
          <a:p xmlns:a="http://schemas.openxmlformats.org/drawingml/2006/main">
            <a:r>
              <a:t>The base mixture covers read and spontaneous Persian speech. Long examples join two to four clips within a split, with durations above five and at most twenty seconds. They already belong to the ordinary baseline. WER counts substitutions, deletions and insertions per reference word; CER counts characters. Aggregate scores pool counts. AGFarsdat is held out from training and model selection.</a:t>
            </a:r>
          </a:p>
          <a:p xmlns:a="http://schemas.openxmlformats.org/drawingml/2006/main">
            <a:r>
              <a:t/>
            </a:r>
          </a:p>
          <a:p xmlns:a="http://schemas.openxmlformats.org/drawingml/2006/main">
            <a:r>
              <a:t>Qualification: PersianSpeech has only 24 examples; eligibility varies slightly across some systems. Audio processing uses mono 16 kHz.</a:t>
            </a:r>
          </a:p>
          <a:p xmlns:a="http://schemas.openxmlformats.org/drawingml/2006/main">
            <a:r>
              <a:t/>
            </a:r>
          </a:p>
          <a:p xmlns:a="http://schemas.openxmlformats.org/drawingml/2006/main">
            <a:r>
              <a:t>Sources: Thesis/chapters/work.tex; Thesis/chapters/results.tex.</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0:35</a:t>
            </a:r>
          </a:p>
          <a:p xmlns:a="http://schemas.openxmlformats.org/drawingml/2006/main">
            <a:r>
              <a:t>Preparation focus: source, deterministic sampling, noise, gain and channel bandwidth.</a:t>
            </a:r>
          </a:p>
          <a:p xmlns:a="http://schemas.openxmlformats.org/drawingml/2006/main">
            <a:r>
              <a:t/>
            </a:r>
          </a:p>
          <a:p xmlns:a="http://schemas.openxmlformats.org/drawingml/2006/main">
            <a:r>
              <a:t>The pipeline samples telephone and VoIP profiles, adds noise and gain variation, applies bandwidth restrictions, and processes real codec paths. Native Opus handles packet loss and decoder concealment. Other codecs use FFmpeg encode–decode processing and optional waveform-dropout approximations. The outputs remain aligned, and the clean enhancement target has matching bandwidth. Seeds and metadata make each pair traceable.</a:t>
            </a:r>
          </a:p>
          <a:p xmlns:a="http://schemas.openxmlformats.org/drawingml/2006/main">
            <a:r>
              <a:t/>
            </a:r>
          </a:p>
          <a:p xmlns:a="http://schemas.openxmlformats.org/drawingml/2006/main">
            <a:r>
              <a:t>Narration details: DEMAND noise, SNR −5 to 15 dB, gain ±6 dB; G.711, GSM, AMR-NB, AMR-WB and Opus. Profile weights describe a designed distribution, not operator measurements.</a:t>
            </a:r>
          </a:p>
          <a:p xmlns:a="http://schemas.openxmlformats.org/drawingml/2006/main">
            <a:r>
              <a:t/>
            </a:r>
          </a:p>
          <a:p xmlns:a="http://schemas.openxmlformats.org/drawingml/2006/main">
            <a:r>
              <a:t>Sources: Thesis/chapters/work.tex; Thesis/figs/degradation-pipeline-architecture.png.</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0:55</a:t>
            </a:r>
          </a:p>
          <a:p xmlns:a="http://schemas.openxmlformats.org/drawingml/2006/main">
            <a:r>
              <a:t>Codec and output focus: native Opus loss/concealment, FFmpeg paths, alignment and matched-bandwidth targets.</a:t>
            </a:r>
          </a:p>
          <a:p xmlns:a="http://schemas.openxmlformats.org/drawingml/2006/main">
            <a:r>
              <a:t/>
            </a:r>
          </a:p>
          <a:p xmlns:a="http://schemas.openxmlformats.org/drawingml/2006/main">
            <a:r>
              <a:t>The pipeline samples telephone and VoIP profiles, adds noise and gain variation, applies bandwidth restrictions, and processes real codec paths. Native Opus handles packet loss and decoder concealment. Other codecs use FFmpeg encode–decode processing and optional waveform-dropout approximations. The outputs remain aligned, and the clean enhancement target has matching bandwidth. Seeds and metadata make each pair traceable.</a:t>
            </a:r>
          </a:p>
          <a:p xmlns:a="http://schemas.openxmlformats.org/drawingml/2006/main">
            <a:r>
              <a:t/>
            </a:r>
          </a:p>
          <a:p xmlns:a="http://schemas.openxmlformats.org/drawingml/2006/main">
            <a:r>
              <a:t>Narration details: DEMAND noise, SNR −5 to 15 dB, gain ±6 dB; G.711, GSM, AMR-NB, AMR-WB and Opus. Profile weights describe a designed distribution, not operator measurements.</a:t>
            </a:r>
          </a:p>
          <a:p xmlns:a="http://schemas.openxmlformats.org/drawingml/2006/main">
            <a:r>
              <a:t/>
            </a:r>
          </a:p>
          <a:p xmlns:a="http://schemas.openxmlformats.org/drawingml/2006/main">
            <a:r>
              <a:t>Sources: Thesis/chapters/work.tex; Thesis/figs/degradation-pipeline-architecture.png.</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1:25</a:t>
            </a:r>
          </a:p>
          <a:p xmlns:a="http://schemas.openxmlformats.org/drawingml/2006/main">
            <a:r>
              <a:t/>
            </a:r>
          </a:p>
          <a:p xmlns:a="http://schemas.openxmlformats.org/drawingml/2006/main">
            <a:r>
              <a:t/>
            </a:r>
          </a:p>
          <a:p xmlns:a="http://schemas.openxmlformats.org/drawingml/2006/main">
            <a:r>
              <a:t>Noise-only augmentation and pMCT improve over ordinary training. The complete telecom pipeline gives the lowest real-call WER among these approaches. The reduction from 35.63 to 25.80 percent is measured on held-out real calls, providing evidence of synthetic-to-real transfer. It supports modelling more than noise, although individual codec and network effects were not separately ablated.</a:t>
            </a:r>
          </a:p>
          <a:p xmlns:a="http://schemas.openxmlformats.org/drawingml/2006/main">
            <a:r>
              <a:t/>
            </a:r>
          </a:p>
          <a:p xmlns:a="http://schemas.openxmlformats.org/drawingml/2006/main">
            <a:r>
              <a:t/>
            </a:r>
          </a:p>
          <a:p xmlns:a="http://schemas.openxmlformats.org/drawingml/2006/main">
            <a:r>
              <a:t/>
            </a:r>
          </a:p>
          <a:p xmlns:a="http://schemas.openxmlformats.org/drawingml/2006/main">
            <a:r>
              <a:t>Sources: Thesis/chapters/results.tex.</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1:25</a:t>
            </a:r>
          </a:p>
          <a:p xmlns:a="http://schemas.openxmlformats.org/drawingml/2006/main">
            <a:r>
              <a:t/>
            </a:r>
          </a:p>
          <a:p xmlns:a="http://schemas.openxmlformats.org/drawingml/2006/main">
            <a:r>
              <a:t/>
            </a:r>
          </a:p>
          <a:p xmlns:a="http://schemas.openxmlformats.org/drawingml/2006/main">
            <a:r>
              <a:t>An enhanced view may reduce corruption while losing useful information. I therefore retain the original view. A residual U-Net modifies 80-band log-Mel features. Both views pass through the same Whisper encoder with shared weights. Bidirectional attention exchanges information, and a gate combines the representations before decoding. The system starts from the multi-condition checkpoint.</a:t>
            </a:r>
          </a:p>
          <a:p xmlns:a="http://schemas.openxmlformats.org/drawingml/2006/main">
            <a:r>
              <a:t/>
            </a:r>
          </a:p>
          <a:p xmlns:a="http://schemas.openxmlformats.org/drawingml/2006/main">
            <a:r>
              <a:t>Narration details: One cross-attention layer, four heads; this enhancer does not reconstruct a waveform.</a:t>
            </a:r>
          </a:p>
          <a:p xmlns:a="http://schemas.openxmlformats.org/drawingml/2006/main">
            <a:r>
              <a:t/>
            </a:r>
          </a:p>
          <a:p xmlns:a="http://schemas.openxmlformats.org/drawingml/2006/main">
            <a:r>
              <a:t>Sources: Thesis/chapters/work.tex; Thesis/figs/fusion-model-architecture-left-to-right.png.</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1:05</a:t>
            </a:r>
          </a:p>
          <a:p xmlns:a="http://schemas.openxmlformats.org/drawingml/2006/main">
            <a:r>
              <a:t/>
            </a:r>
          </a:p>
          <a:p xmlns:a="http://schemas.openxmlformats.org/drawingml/2006/main">
            <a:r>
              <a:t/>
            </a:r>
          </a:p>
          <a:p xmlns:a="http://schemas.openxmlformats.org/drawingml/2006/main">
            <a:r>
              <a:t>Training gradually connects enhancement to recognition. First the enhancer learns from reconstruction and feature matching. Then enhancer and fusion learn against frozen Whisper. Finally the whole model trains, with a lower learning rate for Whisper. The final stage includes degraded and long examples plus a random 25-percent subset of clean data. Fusion changes architecture and adds recognizer training.</a:t>
            </a:r>
          </a:p>
          <a:p xmlns:a="http://schemas.openxmlformats.org/drawingml/2006/main">
            <a:r>
              <a:t/>
            </a:r>
          </a:p>
          <a:p xmlns:a="http://schemas.openxmlformats.org/drawingml/2006/main">
            <a:r>
              <a:t/>
            </a:r>
          </a:p>
          <a:p xmlns:a="http://schemas.openxmlformats.org/drawingml/2006/main">
            <a:r>
              <a:t/>
            </a:r>
          </a:p>
          <a:p xmlns:a="http://schemas.openxmlformats.org/drawingml/2006/main">
            <a:r>
              <a:t>Sources: Thesis/chapters/work.tex; Thesis/figs/fusion-model-architecture-left-to-right.png.</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1:25</a:t>
            </a:r>
          </a:p>
          <a:p xmlns:a="http://schemas.openxmlformats.org/drawingml/2006/main">
            <a:r>
              <a:t/>
            </a:r>
          </a:p>
          <a:p xmlns:a="http://schemas.openxmlformats.org/drawingml/2006/main">
            <a:r>
              <a:t/>
            </a:r>
          </a:p>
          <a:p xmlns:a="http://schemas.openxmlformats.org/drawingml/2006/main">
            <a:r>
              <a:t>The bridge combines original and enhanced waveforms before recognition. In my independent implementation, FRCRN and Persian multi-condition Whisper remain frozen; only the bridge trains. It predicts one coefficient per utterance from both views, using perceptual-quality targets and precomputed recognition information during training. Our fusion system combines encoded representations and later fine-tunes Whisper jointly.</a:t>
            </a:r>
          </a:p>
          <a:p xmlns:a="http://schemas.openxmlformats.org/drawingml/2006/main">
            <a:r>
              <a:t/>
            </a:r>
          </a:p>
          <a:p xmlns:a="http://schemas.openxmlformats.org/drawingml/2006/main">
            <a:r>
              <a:t>Qualification: The figure illustrates the authors' method. The next slide reports this thesis's independent Persian implementation, not the paper's CHiME-4 scores. Different enhancers and training prevent isolating the effect of fusion location.</a:t>
            </a:r>
          </a:p>
          <a:p xmlns:a="http://schemas.openxmlformats.org/drawingml/2006/main">
            <a:r>
              <a:t/>
            </a:r>
          </a:p>
          <a:p xmlns:a="http://schemas.openxmlformats.org/drawingml/2006/main">
            <a:r>
              <a:t>Sources: Thesis/chapters/work.tex, adaptive bridge section; Thesis/bibs/refs.bib, cui2025realbridge; [Cui et al. paper](https://arxiv.org/abs/2501.02452), [versioned Figure 1](https://arxiv.org/html/2501.02452v1#S1.F1).</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Paper: https://arxiv.org/abs/2501.02452</a:t>
            </a:r>
          </a:p>
          <a:p xmlns:a="http://schemas.openxmlformats.org/drawingml/2006/main">
            <a:r>
              <a:t>Exact Figure 1: https://arxiv.org/html/2501.02452v1#S1.F1</a:t>
            </a:r>
          </a:p>
          <a:p xmlns:a="http://schemas.openxmlformats.org/drawingml/2006/main">
            <a:r>
              <a:t>DOI: https://doi.org/10.1109/ICASSP49660.2025.10889737</a:t>
            </a:r>
          </a:p>
          <a:p xmlns:a="http://schemas.openxmlformats.org/drawingml/2006/main">
            <a:r>
              <a:t>Attribution: Cui et al., ICASSP 2025, Fig. 1 (CC BY 4.0).</a:t>
            </a:r>
          </a:p>
          <a:p xmlns:a="http://schemas.openxmlformats.org/drawingml/2006/main">
            <a:r>
              <a:t>This thesis reports an independent Persian implementation; these are not the paper’s CHiME-4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1:25</a:t>
            </a:r>
          </a:p>
          <a:p xmlns:a="http://schemas.openxmlformats.org/drawingml/2006/main">
            <a:r>
              <a:t/>
            </a:r>
          </a:p>
          <a:p xmlns:a="http://schemas.openxmlformats.org/drawingml/2006/main">
            <a:r>
              <a:t/>
            </a:r>
          </a:p>
          <a:p xmlns:a="http://schemas.openxmlformats.org/drawingml/2006/main">
            <a:r>
              <a:t>Fusion lowers aggregate WER by 0.19 points and real-call WER by 0.43 points relative to multi-condition training. The bridge slightly improves aggregate WER but increases CER, with real-call WER close to baseline. Fusion has the lowest displayed WER here, but the margins lack confidence intervals. The comparison evaluates complete systems with different enhancers and training schedules.</a:t>
            </a:r>
          </a:p>
          <a:p xmlns:a="http://schemas.openxmlformats.org/drawingml/2006/main">
            <a:r>
              <a:t/>
            </a:r>
          </a:p>
          <a:p xmlns:a="http://schemas.openxmlformats.org/drawingml/2006/main">
            <a:r>
              <a:t>Optional spoken detail: Gate mean **0.6785**, median **0.6930**. These do not measure independent causal contribution because attention has already mixed the streams. Do not add a gate-statistics slide.</a:t>
            </a:r>
          </a:p>
          <a:p xmlns:a="http://schemas.openxmlformats.org/drawingml/2006/main">
            <a:r>
              <a:t/>
            </a:r>
          </a:p>
          <a:p xmlns:a="http://schemas.openxmlformats.org/drawingml/2006/main">
            <a:r>
              <a:t>Sources: Thesis/chapters/results.tex; Thesis/chapters/work.tex.</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1:15</a:t>
            </a:r>
          </a:p>
          <a:p xmlns:a="http://schemas.openxmlformats.org/drawingml/2006/main">
            <a:r>
              <a:t/>
            </a:r>
          </a:p>
          <a:p xmlns:a="http://schemas.openxmlformats.org/drawingml/2006/main">
            <a:r>
              <a:t/>
            </a:r>
          </a:p>
          <a:p xmlns:a="http://schemas.openxmlformats.org/drawingml/2006/main">
            <a:r>
              <a:t>This is a separate Tiny study using Common Voice training. Full bidirectional fusion performs best among these configurations on both tests. Removing attention or bypassing fusion with either representation raises WER. The single-view cases use the trained fusion checkpoint at inference. Unequal parameter counts and extra training prevent assigning all improvement to one module.</a:t>
            </a:r>
          </a:p>
          <a:p xmlns:a="http://schemas.openxmlformats.org/drawingml/2006/main">
            <a:r>
              <a:t/>
            </a:r>
          </a:p>
          <a:p xmlns:a="http://schemas.openxmlformats.org/drawingml/2006/main">
            <a:r>
              <a:t/>
            </a:r>
          </a:p>
          <a:p xmlns:a="http://schemas.openxmlformats.org/drawingml/2006/main">
            <a:r>
              <a:t/>
            </a:r>
          </a:p>
          <a:p xmlns:a="http://schemas.openxmlformats.org/drawingml/2006/main">
            <a:r>
              <a:t>Sources: Thesis/chapters/results.tex, Tiny ablation table; experiment source report/cv25-tiny-official/final-tests/summary.json.</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0:35</a:t>
            </a:r>
          </a:p>
          <a:p xmlns:a="http://schemas.openxmlformats.org/drawingml/2006/main">
            <a:r>
              <a:t>Source focus: acquisition, 250-hour selection and segmentation.</a:t>
            </a:r>
          </a:p>
          <a:p xmlns:a="http://schemas.openxmlformats.org/drawingml/2006/main">
            <a:r>
              <a:t/>
            </a:r>
          </a:p>
          <a:p xmlns:a="http://schemas.openxmlformats.org/drawingml/2006/main">
            <a:r>
              <a:t>The acquisition contains 3,777 audiobooks and approximately 6,300 raw hours. Compute limits led to selecting 250 hours for processing. Silero VAD segments the audio, and Persian-adapted Whisper Medium supplies transcripts. Normalization, constrained Qwen refinement and filtering follow. Accepted clips supplement all original, long and degraded speech. The new Small run retains the main training settings and step budget.</a:t>
            </a:r>
          </a:p>
          <a:p xmlns:a="http://schemas.openxmlformats.org/drawingml/2006/main">
            <a:r>
              <a:t/>
            </a:r>
          </a:p>
          <a:p xmlns:a="http://schemas.openxmlformats.org/drawingml/2006/main">
            <a:r>
              <a:t>Narration details: Target 20-second segments, preferred 15–25 seconds, hard maximum 28 seconds. Medium also provides a higher-capacity evaluation reference.</a:t>
            </a:r>
          </a:p>
          <a:p xmlns:a="http://schemas.openxmlformats.org/drawingml/2006/main">
            <a:r>
              <a:t/>
            </a:r>
          </a:p>
          <a:p xmlns:a="http://schemas.openxmlformats.org/drawingml/2006/main">
            <a:r>
              <a:t>Sources: Thesis/chapters/work.tex; Thesis/figs/long-audio-data-creation-pipeline.png.</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0:50</a:t>
            </a:r>
          </a:p>
          <a:p xmlns:a="http://schemas.openxmlformats.org/drawingml/2006/main">
            <a:r>
              <a:t>Label and training focus: teacher, normalization, Qwen refinement, filtering and full retained mixture.</a:t>
            </a:r>
          </a:p>
          <a:p xmlns:a="http://schemas.openxmlformats.org/drawingml/2006/main">
            <a:r>
              <a:t/>
            </a:r>
          </a:p>
          <a:p xmlns:a="http://schemas.openxmlformats.org/drawingml/2006/main">
            <a:r>
              <a:t>The acquisition contains 3,777 audiobooks and approximately 6,300 raw hours. Compute limits led to selecting 250 hours for processing. Silero VAD segments the audio, and Persian-adapted Whisper Medium supplies transcripts. Normalization, constrained Qwen refinement and filtering follow. Accepted clips supplement all original, long and degraded speech. The new Small run retains the main training settings and step budget.</a:t>
            </a:r>
          </a:p>
          <a:p xmlns:a="http://schemas.openxmlformats.org/drawingml/2006/main">
            <a:r>
              <a:t/>
            </a:r>
          </a:p>
          <a:p xmlns:a="http://schemas.openxmlformats.org/drawingml/2006/main">
            <a:r>
              <a:t>Narration details: Target 20-second segments, preferred 15–25 seconds, hard maximum 28 seconds. Medium also provides a higher-capacity evaluation reference.</a:t>
            </a:r>
          </a:p>
          <a:p xmlns:a="http://schemas.openxmlformats.org/drawingml/2006/main">
            <a:r>
              <a:t/>
            </a:r>
          </a:p>
          <a:p xmlns:a="http://schemas.openxmlformats.org/drawingml/2006/main">
            <a:r>
              <a:t>Sources: Thesis/chapters/work.tex; Thesis/figs/long-audio-data-creation-pipeline.png.</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1:00</a:t>
            </a:r>
          </a:p>
          <a:p xmlns:a="http://schemas.openxmlformats.org/drawingml/2006/main">
            <a:r>
              <a:t/>
            </a:r>
          </a:p>
          <a:p xmlns:a="http://schemas.openxmlformats.org/drawingml/2006/main">
            <a:r>
              <a:t/>
            </a:r>
          </a:p>
          <a:p xmlns:a="http://schemas.openxmlformats.org/drawingml/2006/main">
            <a:r>
              <a:t>Of 44,820 reviewed clips, 39,454 were accepted and 5,366 rejected. Accepted audio totals 218.564 hours from 136 files; forty operational failures are separate. Qwen receives text and context but no audio. Numeric tokens must remain unchanged, and uncertain or excessive edits are rejected. Book-level splitting reduces leakage. These safeguards do not replace a human accuracy audit.</a:t>
            </a:r>
          </a:p>
          <a:p xmlns:a="http://schemas.openxmlformats.org/drawingml/2006/main">
            <a:r>
              <a:t/>
            </a:r>
          </a:p>
          <a:p xmlns:a="http://schemas.openxmlformats.org/drawingml/2006/main">
            <a:r>
              <a:t/>
            </a:r>
          </a:p>
          <a:p xmlns:a="http://schemas.openxmlformats.org/drawingml/2006/main">
            <a:r>
              <a:t/>
            </a:r>
          </a:p>
          <a:p xmlns:a="http://schemas.openxmlformats.org/drawingml/2006/main">
            <a:r>
              <a:t>Sources: Thesis/chapters/work.tex, refinement prompt and filtering sections; Thesis/chapters/conclusions.tex.</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1:25</a:t>
            </a:r>
          </a:p>
          <a:p xmlns:a="http://schemas.openxmlformats.org/drawingml/2006/main">
            <a:r>
              <a:t/>
            </a:r>
          </a:p>
          <a:p xmlns:a="http://schemas.openxmlformats.org/drawingml/2006/main">
            <a:r>
              <a:t/>
            </a:r>
          </a:p>
          <a:p xmlns:a="http://schemas.openxmlformats.org/drawingml/2006/main">
            <a:r>
              <a:t>Audiobook data improves aggregate performance, but the effect differs by domain. FLEURS and Persian Speech Corpus improve substantially. Real-call WER worsens by 0.86 points, and Common Voice also worsens slightly. The large PersianSpeech change is preliminary because it has only 24 examples. This experiment does not isolate whether style, channel, labels or sampling proportions cause the pattern.</a:t>
            </a:r>
          </a:p>
          <a:p xmlns:a="http://schemas.openxmlformats.org/drawingml/2006/main">
            <a:r>
              <a:t/>
            </a:r>
          </a:p>
          <a:p xmlns:a="http://schemas.openxmlformats.org/drawingml/2006/main">
            <a:r>
              <a:t/>
            </a:r>
          </a:p>
          <a:p xmlns:a="http://schemas.openxmlformats.org/drawingml/2006/main">
            <a:r>
              <a:t/>
            </a:r>
          </a:p>
          <a:p xmlns:a="http://schemas.openxmlformats.org/drawingml/2006/main">
            <a:r>
              <a:t>Sources: Thesis/chapters/results.tex.</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1:05</a:t>
            </a:r>
          </a:p>
          <a:p xmlns:a="http://schemas.openxmlformats.org/drawingml/2006/main">
            <a:r>
              <a:t/>
            </a:r>
          </a:p>
          <a:p xmlns:a="http://schemas.openxmlformats.org/drawingml/2006/main">
            <a:r>
              <a:t/>
            </a:r>
          </a:p>
          <a:p xmlns:a="http://schemas.openxmlformats.org/drawingml/2006/main">
            <a:r>
              <a:t>Multi-condition training provides the largest controlled robustness improvement. Fusion adds a small numerical gain. IranSeda gives the lowest aggregate Small-model WER, while fusion gives the lowest real-call WER. The intended domain matters. Persian-adapted Medium reaches 14.36 percent aggregate WER and 21.99 percent real-call WER, but also changes model capacity and training.</a:t>
            </a:r>
          </a:p>
          <a:p xmlns:a="http://schemas.openxmlformats.org/drawingml/2006/main">
            <a:r>
              <a:t/>
            </a:r>
          </a:p>
          <a:p xmlns:a="http://schemas.openxmlformats.org/drawingml/2006/main">
            <a:r>
              <a:t>Presentation choice: The bridge was explained and compared on slides 9–10; do not repeat it here. Medium gets a contextual mention rather than another slide.</a:t>
            </a:r>
          </a:p>
          <a:p xmlns:a="http://schemas.openxmlformats.org/drawingml/2006/main">
            <a:r>
              <a:t/>
            </a:r>
          </a:p>
          <a:p xmlns:a="http://schemas.openxmlformats.org/drawingml/2006/main">
            <a:r>
              <a:t>Sources: Thesis/chapters/results.tex; Thesis/chapters/conclusions.tex.</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0:50</a:t>
            </a:r>
          </a:p>
          <a:p xmlns:a="http://schemas.openxmlformats.org/drawingml/2006/main">
            <a:r>
              <a:t/>
            </a:r>
          </a:p>
          <a:p xmlns:a="http://schemas.openxmlformats.org/drawingml/2006/main">
            <a:r>
              <a:t/>
            </a:r>
          </a:p>
          <a:p xmlns:a="http://schemas.openxmlformats.org/drawingml/2006/main">
            <a:r>
              <a:t>Small differences need repeated runs and paired confidence intervals. Fusion needs a single-stream control with comparable additional training, Small-scale ablations, and runtime and memory measurements. The audiobook pipeline needs a human audit of teacher text and Qwen changes. Mixture experiments could explain the domain trade-off. Simulator coverage and the private real-call test also limit the evidence.</a:t>
            </a:r>
          </a:p>
          <a:p xmlns:a="http://schemas.openxmlformats.org/drawingml/2006/main">
            <a:r>
              <a:t/>
            </a:r>
          </a:p>
          <a:p xmlns:a="http://schemas.openxmlformats.org/drawingml/2006/main">
            <a:r>
              <a:t/>
            </a:r>
          </a:p>
          <a:p xmlns:a="http://schemas.openxmlformats.org/drawingml/2006/main">
            <a:r>
              <a:t/>
            </a:r>
          </a:p>
          <a:p xmlns:a="http://schemas.openxmlformats.org/drawingml/2006/main">
            <a:r>
              <a:t>Sources: Thesis/chapters/results.tex; Thesis/chapters/conclusions.tex.</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0:40</a:t>
            </a:r>
          </a:p>
          <a:p xmlns:a="http://schemas.openxmlformats.org/drawingml/2006/main">
            <a:r>
              <a:t/>
            </a:r>
          </a:p>
          <a:p xmlns:a="http://schemas.openxmlformats.org/drawingml/2006/main">
            <a:r>
              <a:t/>
            </a:r>
          </a:p>
          <a:p xmlns:a="http://schemas.openxmlformats.org/drawingml/2006/main">
            <a:r>
              <a:t>Telecom-matched training substantially improves Persian recognition on real calls. Fusion provides a smaller numerical gain. Additional audiobook speech improves aggregate performance, but its usefulness depends on the target domain. Together, these experiments provide reproducible systems and evidence for adapting Persian ASR when transcribed telecom speech is limited. Thank you.</a:t>
            </a:r>
          </a:p>
          <a:p xmlns:a="http://schemas.openxmlformats.org/drawingml/2006/main">
            <a:r>
              <a:t/>
            </a:r>
          </a:p>
          <a:p xmlns:a="http://schemas.openxmlformats.org/drawingml/2006/main">
            <a:r>
              <a:t>**Sources:** Thesis/chapters/results.tex; Thesis/chapters/conclusions.tex.</a:t>
            </a:r>
          </a:p>
          <a:p xmlns:a="http://schemas.openxmlformats.org/drawingml/2006/main">
            <a:r>
              <a:t/>
            </a:r>
          </a:p>
          <a:p xmlns:a="http://schemas.openxmlformats.org/drawingml/2006/main">
            <a:r>
              <a:t>## Figure inventory for PowerPoint authoring</a:t>
            </a:r>
          </a:p>
          <a:p xmlns:a="http://schemas.openxmlformats.org/drawingml/2006/main">
            <a:r>
              <a:t/>
            </a:r>
          </a:p>
          <a:p xmlns:a="http://schemas.openxmlformats.org/drawingml/2006/main">
            <a:r>
              <a:t>| Slide | Asset | Use |</a:t>
            </a:r>
          </a:p>
          <a:p xmlns:a="http://schemas.openxmlformats.org/drawingml/2006/main">
            <a:r>
              <a:t>|---|---|---|</a:t>
            </a:r>
          </a:p>
          <a:p xmlns:a="http://schemas.openxmlformats.org/drawingml/2006/main">
            <a:r>
              <a:t>| 1 | Thesis/front/template/images/logo.pdf | Original university branding |</a:t>
            </a:r>
          </a:p>
          <a:p xmlns:a="http://schemas.openxmlformats.org/drawingml/2006/main">
            <a:r>
              <a:t>| 5 | Thesis/figs/degradation-pipeline-architecture.png | Telecom simulator explanation |</a:t>
            </a:r>
          </a:p>
          <a:p xmlns:a="http://schemas.openxmlformats.org/drawingml/2006/main">
            <a:r>
              <a:t>| 7 | Thesis/figs/fusion-model-architecture-left-to-right.png | Enlarged upper architecture section |</a:t>
            </a:r>
          </a:p>
          <a:p xmlns:a="http://schemas.openxmlformats.org/drawingml/2006/main">
            <a:r>
              <a:t>| 8 | Same fusion figure | Enlarged lower training strip |</a:t>
            </a:r>
          </a:p>
          <a:p xmlns:a="http://schemas.openxmlformats.org/drawingml/2006/main">
            <a:r>
              <a:t>| 9 | Thesis/presentation/assets/cui2025-bridge-figure1.png | Original paper figure, visibly attributed |</a:t>
            </a:r>
          </a:p>
          <a:p xmlns:a="http://schemas.openxmlformats.org/drawingml/2006/main">
            <a:r>
              <a:t>| 12 | Thesis/figs/long-audio-data-creation-pipeline.png | Audiobook method explanation |</a:t>
            </a:r>
          </a:p>
          <a:p xmlns:a="http://schemas.openxmlformats.org/drawingml/2006/main">
            <a:r>
              <a:t>| 13 | Traceable transcript record or thesis prompt excerpt | Label safeguards |</a:t>
            </a:r>
          </a:p>
          <a:p xmlns:a="http://schemas.openxmlformats.org/drawingml/2006/main">
            <a:r>
              <a:t/>
            </a:r>
          </a:p>
          <a:p xmlns:a="http://schemas.openxmlformats.org/drawingml/2006/main">
            <a:r>
              <a:t>## What stays in the thesis</a:t>
            </a:r>
          </a:p>
          <a:p xmlns:a="http://schemas.openxmlformats.org/drawingml/2006/main">
            <a:r>
              <a:t/>
            </a:r>
          </a:p>
          <a:p xmlns:a="http://schemas.openxmlformats.org/drawingml/2006/main">
            <a:r>
              <a:t>Full corpus counts, complete aggregate and per-domain WER/CER matrices, the full Tiny ablation/bridge variants, Fast Conformer tables, the separate 100-sample external-model benchmark, and detailed optimization settings remain available in the thesis and research archive. They do not become hidden slides. This plan ends at slide 17.</a:t>
            </a:r>
          </a:p>
          <a:p xmlns:a="http://schemas.openxmlformats.org/drawingml/2006/main">
            <a:r>
              <a:t/>
            </a:r>
          </a:p>
          <a:p xmlns:a="http://schemas.openxmlformats.org/drawingml/2006/main">
            <a:r>
              <a:t/>
            </a:r>
          </a:p>
          <a:p xmlns:a="http://schemas.openxmlformats.org/drawingml/2006/main">
            <a:r>
              <a:t/>
            </a:r>
          </a:p>
          <a:p xmlns:a="http://schemas.openxmlformats.org/drawingml/2006/main">
            <a:r>
              <a:t>Sources: Thesis/chapters/results.tex; Thesis/chapters/conclusions.tex.</a:t>
            </a:r>
          </a:p>
          <a:p xmlns:a="http://schemas.openxmlformats.org/drawingml/2006/main">
            <a:r>
              <a:t>Authoring plan: Thesis/presentation/slides.md, updated 2026-10-13.</a:t>
            </a:r>
          </a:p>
          <a:p xmlns:a="http://schemas.openxmlformats.org/drawingml/2006/main">
            <a:r>
              <a:t>Original figure crops preserve their source files.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85e70d82a741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ea4e6977b043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a18c15130bd4c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95d3be999948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223ca05f4a4e4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8a210b1dc954e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CE3839-5C7B-43C5-BFC0-A3D2E1871A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11F7C1-B67E-4190-9BC9-23614211B20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24424CE-911E-47A9-96B5-77CCAA85A5B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354C6B-43F1-463C-9B96-DB72712A2F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CA28E1-D95E-4AB0-AF09-9CEC732FA6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0A415B2-894B-4994-BB05-E1C30A9BF9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71E32F-2B6D-4537-8D31-4B2D7658D2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8F4F5B-2D0F-4579-ABD8-749F9A26851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898396-9F99-4B0D-BE58-70694458F8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7CEDB6-C86C-4E37-8362-071BEF99E9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b36ec7aed94841" /><Relationship Type="http://schemas.openxmlformats.org/officeDocument/2006/relationships/slideLayout" Target="/ppt/slideLayouts/slideLayout1.xml" Id="R1540b789c53646a7" /><Relationship Type="http://schemas.openxmlformats.org/officeDocument/2006/relationships/slideLayout" Target="/ppt/slideLayouts/slideLayout2.xml" Id="R7bb8003fd1f04850" /><Relationship Type="http://schemas.openxmlformats.org/officeDocument/2006/relationships/slideLayout" Target="/ppt/slideLayouts/slideLayout3.xml" Id="R159e3aa2e13d4913" /><Relationship Type="http://schemas.openxmlformats.org/officeDocument/2006/relationships/slideLayout" Target="/ppt/slideLayouts/slideLayout4.xml" Id="Rf32f5b29b26046ad" /><Relationship Type="http://schemas.openxmlformats.org/officeDocument/2006/relationships/slideLayout" Target="/ppt/slideLayouts/slideLayout5.xml" Id="Rd1a165594c094816" /><Relationship Type="http://schemas.openxmlformats.org/officeDocument/2006/relationships/slideLayout" Target="/ppt/slideLayouts/slideLayout6.xml" Id="R5f9b8a54c8c84e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40b789c53646a7"/>
    <p:sldLayoutId xmlns:r="http://schemas.openxmlformats.org/officeDocument/2006/relationships" id="2147483650" r:id="R7bb8003fd1f04850"/>
    <p:sldLayoutId xmlns:r="http://schemas.openxmlformats.org/officeDocument/2006/relationships" id="2147483651" r:id="R159e3aa2e13d4913"/>
    <p:sldLayoutId xmlns:r="http://schemas.openxmlformats.org/officeDocument/2006/relationships" id="2147483652" r:id="Rf32f5b29b26046ad"/>
    <p:sldLayoutId xmlns:r="http://schemas.openxmlformats.org/officeDocument/2006/relationships" id="2147483653" r:id="Rd1a165594c094816"/>
    <p:sldLayoutId xmlns:r="http://schemas.openxmlformats.org/officeDocument/2006/relationships" id="2147483654" r:id="R5f9b8a54c8c84e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ad96f4ada984831" /><Relationship Type="http://schemas.openxmlformats.org/officeDocument/2006/relationships/image" Target="/ppt/media/image.png" Id="Ra6782bf5dc8a4d1a" /><Relationship Type="http://schemas.openxmlformats.org/officeDocument/2006/relationships/notesSlide" Target="/ppt/notesSlides/notesSlide1.xml" Id="Rbe2f392f2d4b4e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0505ec6ebcd48cc" /><Relationship Type="http://schemas.openxmlformats.org/officeDocument/2006/relationships/image" Target="/ppt/media/image2.png" Id="R72d93290dd8d4e8c" /><Relationship Type="http://schemas.openxmlformats.org/officeDocument/2006/relationships/notesSlide" Target="/ppt/notesSlides/notesSlide2.xml" Id="R01ead3ab97bd43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24810eb3834909" /><Relationship Type="http://schemas.openxmlformats.org/officeDocument/2006/relationships/image" Target="/ppt/media/image3.png" Id="Rd183205a349944dd" /><Relationship Type="http://schemas.openxmlformats.org/officeDocument/2006/relationships/notesSlide" Target="/ppt/notesSlides/notesSlide3.xml" Id="R7e4ae46875c346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34d48101db14e86" /><Relationship Type="http://schemas.openxmlformats.org/officeDocument/2006/relationships/image" Target="/ppt/media/image4.png" Id="R7f81935405f64f87" /><Relationship Type="http://schemas.openxmlformats.org/officeDocument/2006/relationships/notesSlide" Target="/ppt/notesSlides/notesSlide4.xml" Id="R1e2e89288d2746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ff6f21dd9d240ee" /><Relationship Type="http://schemas.openxmlformats.org/officeDocument/2006/relationships/image" Target="/ppt/media/image5.png" Id="R2e296242607b420b" /><Relationship Type="http://schemas.openxmlformats.org/officeDocument/2006/relationships/notesSlide" Target="/ppt/notesSlides/notesSlide5.xml" Id="R409d1dd73be544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4995f00a0634caa" /><Relationship Type="http://schemas.openxmlformats.org/officeDocument/2006/relationships/image" Target="/ppt/media/image6.png" Id="Rfba7fd37cc684a96" /><Relationship Type="http://schemas.openxmlformats.org/officeDocument/2006/relationships/image" Target="/ppt/media/image7.png" Id="Rb893c0af3d3b4e45" /><Relationship Type="http://schemas.openxmlformats.org/officeDocument/2006/relationships/notesSlide" Target="/ppt/notesSlides/notesSlide6.xml" Id="Rbc8e6695a0ce46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01941eeabd646c4" /><Relationship Type="http://schemas.openxmlformats.org/officeDocument/2006/relationships/image" Target="/ppt/media/image8.png" Id="R88cf645c1d324a43" /><Relationship Type="http://schemas.openxmlformats.org/officeDocument/2006/relationships/image" Target="/ppt/media/image9.png" Id="R7a17d370d5f24427" /><Relationship Type="http://schemas.openxmlformats.org/officeDocument/2006/relationships/notesSlide" Target="/ppt/notesSlides/notesSlide7.xml" Id="Rbfe9d10da8a245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18d0c1926284f2f" /><Relationship Type="http://schemas.openxmlformats.org/officeDocument/2006/relationships/image" Target="/ppt/media/image10.png" Id="R5edc743e7e7241a5" /><Relationship Type="http://schemas.openxmlformats.org/officeDocument/2006/relationships/chart" Target="/ppt/slides/charts/chart1.xml" Id="R32ac4d8609cc438b" /><Relationship Type="http://schemas.openxmlformats.org/officeDocument/2006/relationships/notesSlide" Target="/ppt/notesSlides/notesSlide8.xml" Id="R54c36410bbe543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67923d5a00345e0" /><Relationship Type="http://schemas.openxmlformats.org/officeDocument/2006/relationships/image" Target="/ppt/media/image11.png" Id="R65cb8fe45f174353" /><Relationship Type="http://schemas.openxmlformats.org/officeDocument/2006/relationships/image" Target="/ppt/media/image12.png" Id="Re6fd5bd6cfed4b4f" /><Relationship Type="http://schemas.openxmlformats.org/officeDocument/2006/relationships/notesSlide" Target="/ppt/notesSlides/notesSlide9.xml" Id="R2b6408f01a0e41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d98058c324e43ce" /><Relationship Type="http://schemas.openxmlformats.org/officeDocument/2006/relationships/image" Target="/ppt/media/image13.png" Id="R21caf5c83c424b82" /><Relationship Type="http://schemas.openxmlformats.org/officeDocument/2006/relationships/image" Target="/ppt/media/image14.png" Id="R1dc0495a178340cf" /><Relationship Type="http://schemas.openxmlformats.org/officeDocument/2006/relationships/notesSlide" Target="/ppt/notesSlides/notesSlide10.xml" Id="R39b5da2b265e4e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30304aa1faf4d26" /><Relationship Type="http://schemas.openxmlformats.org/officeDocument/2006/relationships/image" Target="/ppt/media/image15.png" Id="R88b146fca25a456d" /><Relationship Type="http://schemas.openxmlformats.org/officeDocument/2006/relationships/image" Target="/ppt/media/image16.png" Id="Rfa7437cab36640d0" /><Relationship Type="http://schemas.openxmlformats.org/officeDocument/2006/relationships/notesSlide" Target="/ppt/notesSlides/notesSlide11.xml" Id="R78c5adbf62d548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f41810bcef24d6a" /><Relationship Type="http://schemas.openxmlformats.org/officeDocument/2006/relationships/image" Target="/ppt/media/image17.png" Id="R057dbe1a339545f4" /><Relationship Type="http://schemas.openxmlformats.org/officeDocument/2006/relationships/chart" Target="/ppt/slides/charts/chart2.xml" Id="Rb1d298582a5f4feb" /><Relationship Type="http://schemas.openxmlformats.org/officeDocument/2006/relationships/chart" Target="/ppt/slides/charts/chart3.xml" Id="Re39f7f8999df4cf2" /><Relationship Type="http://schemas.openxmlformats.org/officeDocument/2006/relationships/notesSlide" Target="/ppt/notesSlides/notesSlide12.xml" Id="Rc659a30d2b7849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077121484bc483f" /><Relationship Type="http://schemas.openxmlformats.org/officeDocument/2006/relationships/image" Target="/ppt/media/image18.png" Id="R723b8eaa4bd44f22" /><Relationship Type="http://schemas.openxmlformats.org/officeDocument/2006/relationships/chart" Target="/ppt/slides/charts/chart4.xml" Id="R3a46fa5c650b46ee" /><Relationship Type="http://schemas.openxmlformats.org/officeDocument/2006/relationships/notesSlide" Target="/ppt/notesSlides/notesSlide13.xml" Id="R00d216764a7843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2455e717e5b4529" /><Relationship Type="http://schemas.openxmlformats.org/officeDocument/2006/relationships/image" Target="/ppt/media/image19.png" Id="R0216bec63c494c60" /><Relationship Type="http://schemas.openxmlformats.org/officeDocument/2006/relationships/image" Target="/ppt/media/image20.png" Id="R9f1e105f1a714ff6" /><Relationship Type="http://schemas.openxmlformats.org/officeDocument/2006/relationships/notesSlide" Target="/ppt/notesSlides/notesSlide14.xml" Id="R9a9904c3ebb841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4fd74a008444581" /><Relationship Type="http://schemas.openxmlformats.org/officeDocument/2006/relationships/image" Target="/ppt/media/image21.png" Id="Rb4cf09ca23f54fd5" /><Relationship Type="http://schemas.openxmlformats.org/officeDocument/2006/relationships/image" Target="/ppt/media/image22.png" Id="R94a20269d7ac4053" /><Relationship Type="http://schemas.openxmlformats.org/officeDocument/2006/relationships/image" Target="/ppt/media/image23.png" Id="Rd760e7f98bca430c" /><Relationship Type="http://schemas.openxmlformats.org/officeDocument/2006/relationships/image" Target="/ppt/media/image24.png" Id="R6513b3076a87404a" /><Relationship Type="http://schemas.openxmlformats.org/officeDocument/2006/relationships/image" Target="/ppt/media/image25.png" Id="Rdee1f8e22e374255" /><Relationship Type="http://schemas.openxmlformats.org/officeDocument/2006/relationships/notesSlide" Target="/ppt/notesSlides/notesSlide15.xml" Id="Rfe2ef7710b8f44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cc158b268f1457e" /><Relationship Type="http://schemas.openxmlformats.org/officeDocument/2006/relationships/image" Target="/ppt/media/image26.png" Id="Rb261289f395f4e50" /><Relationship Type="http://schemas.openxmlformats.org/officeDocument/2006/relationships/notesSlide" Target="/ppt/notesSlides/notesSlide16.xml" Id="Rbb38b19786f2459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e4bec4c819243b3" /><Relationship Type="http://schemas.openxmlformats.org/officeDocument/2006/relationships/image" Target="/ppt/media/image27.png" Id="Rf2cb26e864cd400b" /><Relationship Type="http://schemas.openxmlformats.org/officeDocument/2006/relationships/chart" Target="/ppt/slides/charts/chart5.xml" Id="R5e50a281357c4704" /><Relationship Type="http://schemas.openxmlformats.org/officeDocument/2006/relationships/notesSlide" Target="/ppt/notesSlides/notesSlide17.xml" Id="R5a3e55aa066a40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e1f3399892b431f" /><Relationship Type="http://schemas.openxmlformats.org/officeDocument/2006/relationships/image" Target="/ppt/media/image28.png" Id="Rfae6d91ec42d4355" /><Relationship Type="http://schemas.openxmlformats.org/officeDocument/2006/relationships/notesSlide" Target="/ppt/notesSlides/notesSlide18.xml" Id="R3e31686c60594c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fa2a383941345f9" /><Relationship Type="http://schemas.openxmlformats.org/officeDocument/2006/relationships/image" Target="/ppt/media/image29.png" Id="Rc88fb91ea71b44c2" /><Relationship Type="http://schemas.openxmlformats.org/officeDocument/2006/relationships/notesSlide" Target="/ppt/notesSlides/notesSlide19.xml" Id="R0b8be3cad2134eb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fc600a24ff648e1" /><Relationship Type="http://schemas.openxmlformats.org/officeDocument/2006/relationships/image" Target="/ppt/media/image30.png" Id="R595bdfc8a3424291" /><Relationship Type="http://schemas.openxmlformats.org/officeDocument/2006/relationships/notesSlide" Target="/ppt/notesSlides/notesSlide20.xml" Id="R4ee5ce8df1e846d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2F42"/>
                </a:solidFill>
                <a:latin typeface="Lato"/>
                <a:ea typeface="Lato"/>
                <a:cs typeface="Lato"/>
              </a:rPr>
              <a:t>AGFarsdat WER (%)</a:t>
            </a:r>
          </a:p>
        </c:rich>
      </c:tx>
      <c:overlay val="0"/>
      <c:txPr>
        <a:bodyPr xmlns:a="http://schemas.openxmlformats.org/drawingml/2006/main" anchorCtr="1"/>
        <a:lstStyle xmlns:a="http://schemas.openxmlformats.org/drawingml/2006/main"/>
        <a:p xmlns:a="http://schemas.openxmlformats.org/drawingml/2006/main">
          <a:pPr>
            <a:defRPr sz="1875" b="1">
              <a:solidFill>
                <a:srgbClr val="172F42"/>
              </a:solidFill>
              <a:latin typeface="Lato"/>
              <a:ea typeface="Lato"/>
              <a:cs typeface="Lato"/>
            </a:defRPr>
          </a:pPr>
        </a:p>
      </c:txPr>
    </c:title>
    <c:plotArea>
      <c:barChart>
        <c:barDir val="col"/>
        <c:grouping val="clustered"/>
        <c:varyColors val="0"/>
        <c:ser>
          <c:idx val="0"/>
          <c:order val="0"/>
          <c:tx>
            <c:v>AGFarsdat WER (%)</c:v>
          </c:tx>
          <c:spPr>
            <a:solidFill xmlns:a="http://schemas.openxmlformats.org/drawingml/2006/main">
              <a:srgbClr val="1D6F8A"/>
            </a:solidFill>
          </c:spPr>
          <c:invertIfNegative val="0"/>
          <c:dPt>
            <c:idx val="0"/>
            <c:invertIfNegative val="0"/>
            <c:spPr>
              <a:solidFill xmlns:a="http://schemas.openxmlformats.org/drawingml/2006/main">
                <a:srgbClr val="8F9DA6"/>
              </a:solidFill>
            </c:spPr>
          </c:dPt>
          <c:dPt>
            <c:idx val="1"/>
            <c:invertIfNegative val="0"/>
            <c:spPr>
              <a:solidFill xmlns:a="http://schemas.openxmlformats.org/drawingml/2006/main">
                <a:srgbClr val="678495"/>
              </a:solidFill>
            </c:spPr>
          </c:dPt>
          <c:dPt>
            <c:idx val="2"/>
            <c:invertIfNegative val="0"/>
            <c:spPr>
              <a:solidFill xmlns:a="http://schemas.openxmlformats.org/drawingml/2006/main">
                <a:srgbClr val="3E7187"/>
              </a:solidFill>
            </c:spPr>
          </c:dPt>
          <c:dPt>
            <c:idx val="3"/>
            <c:invertIfNegative val="0"/>
            <c:spPr>
              <a:solidFill xmlns:a="http://schemas.openxmlformats.org/drawingml/2006/main">
                <a:srgbClr val="1D6F8A"/>
              </a:solidFill>
            </c:spPr>
          </c:dPt>
          <c:cat>
            <c:strRef>
              <c:f>'Chart Data'!$A$2:$A$5</c:f>
              <c:strCache>
                <c:ptCount val="4"/>
                <c:pt idx="0">
                  <c:v>Ordinary</c:v>
                </c:pt>
                <c:pt idx="1">
                  <c:v>Noise only</c:v>
                </c:pt>
                <c:pt idx="2">
                  <c:v>pMCT</c:v>
                </c:pt>
                <c:pt idx="3">
                  <c:v>Full telecom</c:v>
                </c:pt>
              </c:strCache>
            </c:strRef>
          </c:cat>
          <c:val>
            <c:numRef>
              <c:f>'Chart Data'!$B$2:$B$5</c:f>
              <c:numCache>
                <c:formatCode>0</c:formatCode>
                <c:ptCount val="4"/>
                <c:pt idx="0">
                  <c:v>35.63</c:v>
                </c:pt>
                <c:pt idx="1">
                  <c:v>32.67</c:v>
                </c:pt>
                <c:pt idx="2">
                  <c:v>30.01</c:v>
                </c:pt>
                <c:pt idx="3">
                  <c:v>25.8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172F42"/>
                  </a:solidFill>
                  <a:latin typeface="Lato"/>
                  <a:ea typeface="Lato"/>
                  <a:cs typeface="Lato"/>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5EA"/>
            </a:solidFill>
          </a:ln>
        </c:spPr>
        <c:txPr>
          <a:bodyPr xmlns:a="http://schemas.openxmlformats.org/drawingml/2006/main" anchorCtr="1"/>
          <a:lstStyle xmlns:a="http://schemas.openxmlformats.org/drawingml/2006/main"/>
          <a:p xmlns:a="http://schemas.openxmlformats.org/drawingml/2006/main">
            <a:pPr>
              <a:defRPr sz="1425">
                <a:solidFill>
                  <a:srgbClr val="586B78"/>
                </a:solidFill>
                <a:latin typeface="Lato"/>
                <a:ea typeface="Lato"/>
                <a:cs typeface="Lato"/>
              </a:defRPr>
            </a:pPr>
          </a:p>
        </c:txPr>
        <c:crossAx val="48672768"/>
      </c:catAx>
      <c:valAx>
        <c:axId val="48672768"/>
        <c:scaling>
          <c:orientation val="minMax"/>
          <c:max val="40"/>
          <c:min val="0"/>
        </c:scaling>
        <c:delete val="0"/>
        <c:axPos val="l"/>
        <c:majorGridlines>
          <c:spPr>
            <a:ln xmlns:a="http://schemas.openxmlformats.org/drawingml/2006/main" w="9525">
              <a:solidFill>
                <a:srgbClr val="D9E5E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B78"/>
                </a:solidFill>
                <a:latin typeface="Lato"/>
                <a:ea typeface="Lato"/>
                <a:cs typeface="Lato"/>
              </a:defRPr>
            </a:pPr>
          </a:p>
        </c:txPr>
        <c:crossAx val="48650112"/>
        <c:crossBetween val="between"/>
        <c:majorUnit val="10"/>
      </c:valAx>
      <c:spPr>
        <a:solidFill xmlns:a="http://schemas.openxmlformats.org/drawingml/2006/main">
          <a:srgbClr val="F7F6F2"/>
        </a:solidFill>
        <a:ln xmlns:a="http://schemas.openxmlformats.org/drawingml/2006/main" w="0">
          <a:noFill/>
        </a:ln>
      </c:spPr>
    </c:plotArea>
    <c:plotVisOnly val="1"/>
  </c:chart>
  <c:spPr>
    <a:solidFill xmlns:a="http://schemas.openxmlformats.org/drawingml/2006/main">
      <a:srgbClr val="F7F6F2"/>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2F42"/>
                </a:solidFill>
                <a:latin typeface="Lato"/>
                <a:ea typeface="Lato"/>
                <a:cs typeface="Lato"/>
              </a:rPr>
              <a:t>Aggregate WER (%)</a:t>
            </a:r>
          </a:p>
        </c:rich>
      </c:tx>
      <c:overlay val="0"/>
      <c:txPr>
        <a:bodyPr xmlns:a="http://schemas.openxmlformats.org/drawingml/2006/main" anchorCtr="1"/>
        <a:lstStyle xmlns:a="http://schemas.openxmlformats.org/drawingml/2006/main"/>
        <a:p xmlns:a="http://schemas.openxmlformats.org/drawingml/2006/main">
          <a:pPr>
            <a:defRPr sz="1875" b="1">
              <a:solidFill>
                <a:srgbClr val="172F42"/>
              </a:solidFill>
              <a:latin typeface="Lato"/>
              <a:ea typeface="Lato"/>
              <a:cs typeface="Lato"/>
            </a:defRPr>
          </a:pPr>
        </a:p>
      </c:txPr>
    </c:title>
    <c:plotArea>
      <c:barChart>
        <c:barDir val="col"/>
        <c:grouping val="clustered"/>
        <c:varyColors val="0"/>
        <c:ser>
          <c:idx val="0"/>
          <c:order val="0"/>
          <c:tx>
            <c:v>Aggregate WER (%)</c:v>
          </c:tx>
          <c:spPr>
            <a:solidFill xmlns:a="http://schemas.openxmlformats.org/drawingml/2006/main">
              <a:srgbClr val="1D6F8A"/>
            </a:solidFill>
          </c:spPr>
          <c:invertIfNegative val="0"/>
          <c:dPt>
            <c:idx val="0"/>
            <c:invertIfNegative val="0"/>
            <c:spPr>
              <a:solidFill xmlns:a="http://schemas.openxmlformats.org/drawingml/2006/main">
                <a:srgbClr val="8F9DA6"/>
              </a:solidFill>
            </c:spPr>
          </c:dPt>
          <c:dPt>
            <c:idx val="1"/>
            <c:invertIfNegative val="0"/>
            <c:spPr>
              <a:solidFill xmlns:a="http://schemas.openxmlformats.org/drawingml/2006/main">
                <a:srgbClr val="527387"/>
              </a:solidFill>
            </c:spPr>
          </c:dPt>
          <c:dPt>
            <c:idx val="2"/>
            <c:invertIfNegative val="0"/>
            <c:spPr>
              <a:solidFill xmlns:a="http://schemas.openxmlformats.org/drawingml/2006/main">
                <a:srgbClr val="1D6F8A"/>
              </a:solidFill>
            </c:spPr>
          </c:dPt>
          <c:cat>
            <c:strRef>
              <c:f>'Chart Data'!$A$2:$A$4</c:f>
              <c:strCache>
                <c:ptCount val="3"/>
                <c:pt idx="0">
                  <c:v>Multi-condition</c:v>
                </c:pt>
                <c:pt idx="1">
                  <c:v>Bridge</c:v>
                </c:pt>
                <c:pt idx="2">
                  <c:v>Fusion</c:v>
                </c:pt>
              </c:strCache>
            </c:strRef>
          </c:cat>
          <c:val>
            <c:numRef>
              <c:f>'Chart Data'!$B$2:$B$4</c:f>
              <c:numCache>
                <c:formatCode>0</c:formatCode>
                <c:ptCount val="3"/>
                <c:pt idx="0">
                  <c:v>17.83</c:v>
                </c:pt>
                <c:pt idx="1">
                  <c:v>17.74</c:v>
                </c:pt>
                <c:pt idx="2">
                  <c:v>17.64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172F42"/>
                  </a:solidFill>
                  <a:latin typeface="Lato"/>
                  <a:ea typeface="Lato"/>
                  <a:cs typeface="Lato"/>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5EA"/>
            </a:solidFill>
          </a:ln>
        </c:spPr>
        <c:txPr>
          <a:bodyPr xmlns:a="http://schemas.openxmlformats.org/drawingml/2006/main" anchorCtr="1"/>
          <a:lstStyle xmlns:a="http://schemas.openxmlformats.org/drawingml/2006/main"/>
          <a:p xmlns:a="http://schemas.openxmlformats.org/drawingml/2006/main">
            <a:pPr>
              <a:defRPr sz="1500">
                <a:solidFill>
                  <a:srgbClr val="586B78"/>
                </a:solidFill>
                <a:latin typeface="Lato"/>
                <a:ea typeface="Lato"/>
                <a:cs typeface="Lato"/>
              </a:defRPr>
            </a:pPr>
          </a:p>
        </c:txPr>
        <c:crossAx val="48672768"/>
      </c:catAx>
      <c:valAx>
        <c:axId val="48672768"/>
        <c:scaling>
          <c:orientation val="minMax"/>
          <c:max val="20"/>
          <c:min val="0"/>
        </c:scaling>
        <c:delete val="0"/>
        <c:axPos val="l"/>
        <c:majorGridlines>
          <c:spPr>
            <a:ln xmlns:a="http://schemas.openxmlformats.org/drawingml/2006/main" w="9525">
              <a:solidFill>
                <a:srgbClr val="D9E5E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B78"/>
                </a:solidFill>
                <a:latin typeface="Lato"/>
                <a:ea typeface="Lato"/>
                <a:cs typeface="Lato"/>
              </a:defRPr>
            </a:pPr>
          </a:p>
        </c:txPr>
        <c:crossAx val="48650112"/>
        <c:crossBetween val="between"/>
        <c:majorUnit val="5"/>
      </c:valAx>
      <c:spPr>
        <a:solidFill xmlns:a="http://schemas.openxmlformats.org/drawingml/2006/main">
          <a:srgbClr val="F7F6F2"/>
        </a:solidFill>
        <a:ln xmlns:a="http://schemas.openxmlformats.org/drawingml/2006/main" w="0">
          <a:noFill/>
        </a:ln>
      </c:spPr>
    </c:plotArea>
    <c:plotVisOnly val="1"/>
  </c:chart>
  <c:spPr>
    <a:solidFill xmlns:a="http://schemas.openxmlformats.org/drawingml/2006/main">
      <a:srgbClr val="F7F6F2"/>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2F42"/>
                </a:solidFill>
                <a:latin typeface="Lato"/>
                <a:ea typeface="Lato"/>
                <a:cs typeface="Lato"/>
              </a:rPr>
              <a:t>AGFarsdat WER (%)</a:t>
            </a:r>
          </a:p>
        </c:rich>
      </c:tx>
      <c:overlay val="0"/>
      <c:txPr>
        <a:bodyPr xmlns:a="http://schemas.openxmlformats.org/drawingml/2006/main" anchorCtr="1"/>
        <a:lstStyle xmlns:a="http://schemas.openxmlformats.org/drawingml/2006/main"/>
        <a:p xmlns:a="http://schemas.openxmlformats.org/drawingml/2006/main">
          <a:pPr>
            <a:defRPr sz="1875" b="1">
              <a:solidFill>
                <a:srgbClr val="172F42"/>
              </a:solidFill>
              <a:latin typeface="Lato"/>
              <a:ea typeface="Lato"/>
              <a:cs typeface="Lato"/>
            </a:defRPr>
          </a:pPr>
        </a:p>
      </c:txPr>
    </c:title>
    <c:plotArea>
      <c:barChart>
        <c:barDir val="col"/>
        <c:grouping val="clustered"/>
        <c:varyColors val="0"/>
        <c:ser>
          <c:idx val="0"/>
          <c:order val="0"/>
          <c:tx>
            <c:v>AGFarsdat WER (%)</c:v>
          </c:tx>
          <c:spPr>
            <a:solidFill xmlns:a="http://schemas.openxmlformats.org/drawingml/2006/main">
              <a:srgbClr val="1D6F8A"/>
            </a:solidFill>
          </c:spPr>
          <c:invertIfNegative val="0"/>
          <c:dPt>
            <c:idx val="0"/>
            <c:invertIfNegative val="0"/>
            <c:spPr>
              <a:solidFill xmlns:a="http://schemas.openxmlformats.org/drawingml/2006/main">
                <a:srgbClr val="8F9DA6"/>
              </a:solidFill>
            </c:spPr>
          </c:dPt>
          <c:dPt>
            <c:idx val="1"/>
            <c:invertIfNegative val="0"/>
            <c:spPr>
              <a:solidFill xmlns:a="http://schemas.openxmlformats.org/drawingml/2006/main">
                <a:srgbClr val="527387"/>
              </a:solidFill>
            </c:spPr>
          </c:dPt>
          <c:dPt>
            <c:idx val="2"/>
            <c:invertIfNegative val="0"/>
            <c:spPr>
              <a:solidFill xmlns:a="http://schemas.openxmlformats.org/drawingml/2006/main">
                <a:srgbClr val="1D6F8A"/>
              </a:solidFill>
            </c:spPr>
          </c:dPt>
          <c:cat>
            <c:strRef>
              <c:f>'Chart Data'!$A$2:$A$4</c:f>
              <c:strCache>
                <c:ptCount val="3"/>
                <c:pt idx="0">
                  <c:v>Multi-condition</c:v>
                </c:pt>
                <c:pt idx="1">
                  <c:v>Bridge</c:v>
                </c:pt>
                <c:pt idx="2">
                  <c:v>Fusion</c:v>
                </c:pt>
              </c:strCache>
            </c:strRef>
          </c:cat>
          <c:val>
            <c:numRef>
              <c:f>'Chart Data'!$B$2:$B$4</c:f>
              <c:numCache>
                <c:formatCode>0</c:formatCode>
                <c:ptCount val="3"/>
                <c:pt idx="0">
                  <c:v>25.8</c:v>
                </c:pt>
                <c:pt idx="1">
                  <c:v>25.84</c:v>
                </c:pt>
                <c:pt idx="2">
                  <c:v>25.37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172F42"/>
                  </a:solidFill>
                  <a:latin typeface="Lato"/>
                  <a:ea typeface="Lato"/>
                  <a:cs typeface="Lato"/>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5EA"/>
            </a:solidFill>
          </a:ln>
        </c:spPr>
        <c:txPr>
          <a:bodyPr xmlns:a="http://schemas.openxmlformats.org/drawingml/2006/main" anchorCtr="1"/>
          <a:lstStyle xmlns:a="http://schemas.openxmlformats.org/drawingml/2006/main"/>
          <a:p xmlns:a="http://schemas.openxmlformats.org/drawingml/2006/main">
            <a:pPr>
              <a:defRPr sz="1500">
                <a:solidFill>
                  <a:srgbClr val="586B78"/>
                </a:solidFill>
                <a:latin typeface="Lato"/>
                <a:ea typeface="Lato"/>
                <a:cs typeface="Lato"/>
              </a:defRPr>
            </a:pPr>
          </a:p>
        </c:txPr>
        <c:crossAx val="48672768"/>
      </c:catAx>
      <c:valAx>
        <c:axId val="48672768"/>
        <c:scaling>
          <c:orientation val="minMax"/>
          <c:max val="30"/>
          <c:min val="0"/>
        </c:scaling>
        <c:delete val="0"/>
        <c:axPos val="l"/>
        <c:majorGridlines>
          <c:spPr>
            <a:ln xmlns:a="http://schemas.openxmlformats.org/drawingml/2006/main" w="9525">
              <a:solidFill>
                <a:srgbClr val="D9E5E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B78"/>
                </a:solidFill>
                <a:latin typeface="Lato"/>
                <a:ea typeface="Lato"/>
                <a:cs typeface="Lato"/>
              </a:defRPr>
            </a:pPr>
          </a:p>
        </c:txPr>
        <c:crossAx val="48650112"/>
        <c:crossBetween val="between"/>
        <c:majorUnit val="10"/>
      </c:valAx>
      <c:spPr>
        <a:solidFill xmlns:a="http://schemas.openxmlformats.org/drawingml/2006/main">
          <a:srgbClr val="F7F6F2"/>
        </a:solidFill>
        <a:ln xmlns:a="http://schemas.openxmlformats.org/drawingml/2006/main" w="0">
          <a:noFill/>
        </a:ln>
      </c:spPr>
    </c:plotArea>
    <c:plotVisOnly val="1"/>
  </c:chart>
  <c:spPr>
    <a:solidFill xmlns:a="http://schemas.openxmlformats.org/drawingml/2006/main">
      <a:srgbClr val="F7F6F2"/>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2F42"/>
                </a:solidFill>
                <a:latin typeface="Lato"/>
                <a:ea typeface="Lato"/>
                <a:cs typeface="Lato"/>
              </a:rPr>
              <a:t>AGFarsdat WER (%)</a:t>
            </a:r>
          </a:p>
        </c:rich>
      </c:tx>
      <c:overlay val="0"/>
      <c:txPr>
        <a:bodyPr xmlns:a="http://schemas.openxmlformats.org/drawingml/2006/main" anchorCtr="1"/>
        <a:lstStyle xmlns:a="http://schemas.openxmlformats.org/drawingml/2006/main"/>
        <a:p xmlns:a="http://schemas.openxmlformats.org/drawingml/2006/main">
          <a:pPr>
            <a:defRPr sz="1875" b="1">
              <a:solidFill>
                <a:srgbClr val="172F42"/>
              </a:solidFill>
              <a:latin typeface="Lato"/>
              <a:ea typeface="Lato"/>
              <a:cs typeface="Lato"/>
            </a:defRPr>
          </a:pPr>
        </a:p>
      </c:txPr>
    </c:title>
    <c:plotArea>
      <c:barChart>
        <c:barDir val="col"/>
        <c:grouping val="clustered"/>
        <c:varyColors val="0"/>
        <c:ser>
          <c:idx val="0"/>
          <c:order val="0"/>
          <c:tx>
            <c:v>AGFarsdat WER (%)</c:v>
          </c:tx>
          <c:spPr>
            <a:solidFill xmlns:a="http://schemas.openxmlformats.org/drawingml/2006/main">
              <a:srgbClr val="1D6F8A"/>
            </a:solidFill>
          </c:spPr>
          <c:invertIfNegative val="0"/>
          <c:dPt>
            <c:idx val="0"/>
            <c:invertIfNegative val="0"/>
            <c:spPr>
              <a:solidFill xmlns:a="http://schemas.openxmlformats.org/drawingml/2006/main">
                <a:srgbClr val="1D6F8A"/>
              </a:solidFill>
            </c:spPr>
          </c:dPt>
          <c:dPt>
            <c:idx val="1"/>
            <c:invertIfNegative val="0"/>
            <c:spPr>
              <a:solidFill xmlns:a="http://schemas.openxmlformats.org/drawingml/2006/main">
                <a:srgbClr val="527387"/>
              </a:solidFill>
            </c:spPr>
          </c:dPt>
          <c:dPt>
            <c:idx val="2"/>
            <c:invertIfNegative val="0"/>
            <c:spPr>
              <a:solidFill xmlns:a="http://schemas.openxmlformats.org/drawingml/2006/main">
                <a:srgbClr val="8F9DA6"/>
              </a:solidFill>
            </c:spPr>
          </c:dPt>
          <c:dPt>
            <c:idx val="3"/>
            <c:invertIfNegative val="0"/>
            <c:spPr>
              <a:solidFill xmlns:a="http://schemas.openxmlformats.org/drawingml/2006/main">
                <a:srgbClr val="8F9DA6"/>
              </a:solidFill>
            </c:spPr>
          </c:dPt>
          <c:cat>
            <c:strRef>
              <c:f>'Chart Data'!$A$2:$A$5</c:f>
              <c:strCache>
                <c:ptCount val="4"/>
                <c:pt idx="0">
                  <c:v>Full fusion</c:v>
                </c:pt>
                <c:pt idx="1">
                  <c:v>Gate only</c:v>
                </c:pt>
                <c:pt idx="2">
                  <c:v>Original only¹</c:v>
                </c:pt>
                <c:pt idx="3">
                  <c:v>Enhanced only¹</c:v>
                </c:pt>
              </c:strCache>
            </c:strRef>
          </c:cat>
          <c:val>
            <c:numRef>
              <c:f>'Chart Data'!$B$2:$B$5</c:f>
              <c:numCache>
                <c:formatCode>0</c:formatCode>
                <c:ptCount val="4"/>
                <c:pt idx="0">
                  <c:v>63.5</c:v>
                </c:pt>
                <c:pt idx="1">
                  <c:v>65.88</c:v>
                </c:pt>
                <c:pt idx="2">
                  <c:v>69.23</c:v>
                </c:pt>
                <c:pt idx="3">
                  <c:v>69.69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72F42"/>
                  </a:solidFill>
                  <a:latin typeface="Lato"/>
                  <a:ea typeface="Lato"/>
                  <a:cs typeface="Lato"/>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5EA"/>
            </a:solidFill>
          </a:ln>
        </c:spPr>
        <c:txPr>
          <a:bodyPr xmlns:a="http://schemas.openxmlformats.org/drawingml/2006/main" anchorCtr="1"/>
          <a:lstStyle xmlns:a="http://schemas.openxmlformats.org/drawingml/2006/main"/>
          <a:p xmlns:a="http://schemas.openxmlformats.org/drawingml/2006/main">
            <a:pPr>
              <a:defRPr sz="1350">
                <a:solidFill>
                  <a:srgbClr val="586B78"/>
                </a:solidFill>
                <a:latin typeface="Lato"/>
                <a:ea typeface="Lato"/>
                <a:cs typeface="Lato"/>
              </a:defRPr>
            </a:pPr>
          </a:p>
        </c:txPr>
        <c:crossAx val="48672768"/>
      </c:catAx>
      <c:valAx>
        <c:axId val="48672768"/>
        <c:scaling>
          <c:orientation val="minMax"/>
          <c:max val="80"/>
          <c:min val="0"/>
        </c:scaling>
        <c:delete val="0"/>
        <c:axPos val="l"/>
        <c:majorGridlines>
          <c:spPr>
            <a:ln xmlns:a="http://schemas.openxmlformats.org/drawingml/2006/main" w="9525">
              <a:solidFill>
                <a:srgbClr val="D9E5E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B78"/>
                </a:solidFill>
                <a:latin typeface="Lato"/>
                <a:ea typeface="Lato"/>
                <a:cs typeface="Lato"/>
              </a:defRPr>
            </a:pPr>
          </a:p>
        </c:txPr>
        <c:crossAx val="48650112"/>
        <c:crossBetween val="between"/>
        <c:majorUnit val="20"/>
      </c:valAx>
      <c:spPr>
        <a:solidFill xmlns:a="http://schemas.openxmlformats.org/drawingml/2006/main">
          <a:srgbClr val="F7F6F2"/>
        </a:solidFill>
        <a:ln xmlns:a="http://schemas.openxmlformats.org/drawingml/2006/main" w="0">
          <a:noFill/>
        </a:ln>
      </c:spPr>
    </c:plotArea>
    <c:plotVisOnly val="1"/>
  </c:chart>
  <c:spPr>
    <a:solidFill xmlns:a="http://schemas.openxmlformats.org/drawingml/2006/main">
      <a:srgbClr val="F7F6F2"/>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2F42"/>
                </a:solidFill>
                <a:latin typeface="Lato"/>
                <a:ea typeface="Lato"/>
                <a:cs typeface="Lato"/>
              </a:rPr>
              <a:t>WER change (percentage points)</a:t>
            </a:r>
          </a:p>
        </c:rich>
      </c:tx>
      <c:overlay val="0"/>
      <c:txPr>
        <a:bodyPr xmlns:a="http://schemas.openxmlformats.org/drawingml/2006/main" anchorCtr="1"/>
        <a:lstStyle xmlns:a="http://schemas.openxmlformats.org/drawingml/2006/main"/>
        <a:p xmlns:a="http://schemas.openxmlformats.org/drawingml/2006/main">
          <a:pPr>
            <a:defRPr sz="1875" b="1">
              <a:solidFill>
                <a:srgbClr val="172F42"/>
              </a:solidFill>
              <a:latin typeface="Lato"/>
              <a:ea typeface="Lato"/>
              <a:cs typeface="Lato"/>
            </a:defRPr>
          </a:pPr>
        </a:p>
      </c:txPr>
    </c:title>
    <c:plotArea>
      <c:barChart>
        <c:barDir val="col"/>
        <c:grouping val="clustered"/>
        <c:varyColors val="0"/>
        <c:ser>
          <c:idx val="0"/>
          <c:order val="0"/>
          <c:tx>
            <c:v>WER change (percentage points)</c:v>
          </c:tx>
          <c:spPr>
            <a:solidFill xmlns:a="http://schemas.openxmlformats.org/drawingml/2006/main">
              <a:srgbClr val="1D6F8A"/>
            </a:solidFill>
          </c:spPr>
          <c:invertIfNegative val="0"/>
          <c:dPt>
            <c:idx val="0"/>
            <c:invertIfNegative val="0"/>
            <c:spPr>
              <a:solidFill xmlns:a="http://schemas.openxmlformats.org/drawingml/2006/main">
                <a:srgbClr val="527387"/>
              </a:solidFill>
            </c:spPr>
          </c:dPt>
          <c:dPt>
            <c:idx val="1"/>
            <c:invertIfNegative val="0"/>
            <c:spPr>
              <a:solidFill xmlns:a="http://schemas.openxmlformats.org/drawingml/2006/main">
                <a:srgbClr val="527387"/>
              </a:solidFill>
            </c:spPr>
          </c:dPt>
          <c:dPt>
            <c:idx val="2"/>
            <c:invertIfNegative val="0"/>
            <c:spPr>
              <a:solidFill xmlns:a="http://schemas.openxmlformats.org/drawingml/2006/main">
                <a:srgbClr val="1D6F8A"/>
              </a:solidFill>
            </c:spPr>
          </c:dPt>
          <c:dPt>
            <c:idx val="3"/>
            <c:invertIfNegative val="0"/>
            <c:spPr>
              <a:solidFill xmlns:a="http://schemas.openxmlformats.org/drawingml/2006/main">
                <a:srgbClr val="1D6F8A"/>
              </a:solidFill>
            </c:spPr>
          </c:dPt>
          <c:dPt>
            <c:idx val="4"/>
            <c:invertIfNegative val="0"/>
            <c:spPr>
              <a:solidFill xmlns:a="http://schemas.openxmlformats.org/drawingml/2006/main">
                <a:srgbClr val="1D6F8A"/>
              </a:solidFill>
            </c:spPr>
          </c:dPt>
          <c:cat>
            <c:strRef>
              <c:f>'Chart Data'!$A$2:$A$6</c:f>
              <c:strCache>
                <c:ptCount val="5"/>
                <c:pt idx="0">
                  <c:v>AGFarsdat</c:v>
                </c:pt>
                <c:pt idx="1">
                  <c:v>Common Voice</c:v>
                </c:pt>
                <c:pt idx="2">
                  <c:v>FLEURS</c:v>
                </c:pt>
                <c:pt idx="3">
                  <c:v>PersianSpeech¹</c:v>
                </c:pt>
                <c:pt idx="4">
                  <c:v>Persian Speech
Corpus</c:v>
                </c:pt>
              </c:strCache>
            </c:strRef>
          </c:cat>
          <c:val>
            <c:numRef>
              <c:f>'Chart Data'!$B$2:$B$6</c:f>
              <c:numCache>
                <c:formatCode>0</c:formatCode>
                <c:ptCount val="5"/>
                <c:pt idx="0">
                  <c:v>0.86</c:v>
                </c:pt>
                <c:pt idx="1">
                  <c:v>0.35</c:v>
                </c:pt>
                <c:pt idx="2">
                  <c:v>-6.04</c:v>
                </c:pt>
                <c:pt idx="3">
                  <c:v>-8.39</c:v>
                </c:pt>
                <c:pt idx="4">
                  <c:v>-5.03</c:v>
                </c:pt>
              </c:numCache>
            </c:numRef>
          </c:val>
        </c:ser>
        <c:dLbls>
          <c:numFmt formatCode="+0.00;−0.00;0.00" sourceLinked="0"/>
          <c:txPr>
            <a:bodyPr xmlns:a="http://schemas.openxmlformats.org/drawingml/2006/main" anchorCtr="1"/>
            <a:lstStyle xmlns:a="http://schemas.openxmlformats.org/drawingml/2006/main"/>
            <a:p xmlns:a="http://schemas.openxmlformats.org/drawingml/2006/main">
              <a:pPr>
                <a:defRPr sz="1650" b="1">
                  <a:solidFill>
                    <a:srgbClr val="172F42"/>
                  </a:solidFill>
                  <a:latin typeface="Lato"/>
                  <a:ea typeface="Lato"/>
                  <a:cs typeface="Lato"/>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14288">
            <a:solidFill>
              <a:srgbClr val="172F42"/>
            </a:solidFill>
          </a:ln>
        </c:spPr>
        <c:txPr>
          <a:bodyPr xmlns:a="http://schemas.openxmlformats.org/drawingml/2006/main" anchorCtr="1"/>
          <a:lstStyle xmlns:a="http://schemas.openxmlformats.org/drawingml/2006/main"/>
          <a:p xmlns:a="http://schemas.openxmlformats.org/drawingml/2006/main">
            <a:pPr>
              <a:defRPr sz="1350">
                <a:solidFill>
                  <a:srgbClr val="586B78"/>
                </a:solidFill>
                <a:latin typeface="Lato"/>
                <a:ea typeface="Lato"/>
                <a:cs typeface="Lato"/>
              </a:defRPr>
            </a:pPr>
          </a:p>
        </c:txPr>
        <c:crossAx val="48672768"/>
      </c:catAx>
      <c:valAx>
        <c:axId val="48672768"/>
        <c:scaling>
          <c:orientation val="minMax"/>
          <c:max val="2"/>
          <c:min val="-10"/>
        </c:scaling>
        <c:delete val="0"/>
        <c:axPos val="l"/>
        <c:majorGridlines>
          <c:spPr>
            <a:ln xmlns:a="http://schemas.openxmlformats.org/drawingml/2006/main" w="9525">
              <a:solidFill>
                <a:srgbClr val="D9E5E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B78"/>
                </a:solidFill>
                <a:latin typeface="Lato"/>
                <a:ea typeface="Lato"/>
                <a:cs typeface="Lato"/>
              </a:defRPr>
            </a:pPr>
          </a:p>
        </c:txPr>
        <c:crossAx val="48650112"/>
        <c:crossesAt val="0"/>
        <c:crossBetween val="between"/>
        <c:majorUnit val="2"/>
      </c:valAx>
      <c:spPr>
        <a:solidFill xmlns:a="http://schemas.openxmlformats.org/drawingml/2006/main">
          <a:srgbClr val="F7F6F2"/>
        </a:solidFill>
        <a:ln xmlns:a="http://schemas.openxmlformats.org/drawingml/2006/main" w="0">
          <a:noFill/>
        </a:ln>
      </c:spPr>
    </c:plotArea>
    <c:plotVisOnly val="1"/>
  </c:chart>
  <c:spPr>
    <a:solidFill xmlns:a="http://schemas.openxmlformats.org/drawingml/2006/main">
      <a:srgbClr val="F7F6F2"/>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4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7D8703-702D-460A-B684-3954E436DA9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3C5666"/>
            </a:solidFill>
          </a:ln>
        </p:spPr>
      </p:sp>
      <p:sp>
        <p:nvSpPr>
          <p:cNvPr id="2" name="">
            <a:extLst xmlns:a="http://schemas.openxmlformats.org/drawingml/2006/main">
              <a:ext uri="{FF2B5EF4-FFF2-40B4-BE49-F238E27FC236}">
                <a16:creationId xmlns:a16="http://schemas.microsoft.com/office/drawing/2014/main" id="{B9A393BE-C5C3-4F1F-AE84-607CEAE2FA97}"/>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D9E5EA"/>
                </a:solidFill>
                <a:latin typeface="Lato"/>
                <a:ea typeface="Lato"/>
                <a:cs typeface="Lato"/>
              </a:defRPr>
            </a:defPPr>
          </a:lstStyle>
          <a:p xmlns:a="http://schemas.openxmlformats.org/drawingml/2006/main">
            <a:pPr algn="l">
              <a:buNone/>
              <a:defRPr sz="900" b="1">
                <a:solidFill>
                  <a:srgbClr val="D9E5EA"/>
                </a:solidFill>
                <a:latin typeface="Lato"/>
                <a:ea typeface="Lato"/>
                <a:cs typeface="Lato"/>
              </a:defRPr>
            </a:pPr>
            <a:r>
              <a:rPr sz="900" b="1">
                <a:solidFill>
                  <a:srgbClr val="D9E5EA"/>
                </a:solidFill>
                <a:latin typeface="Lato"/>
                <a:ea typeface="Lato"/>
                <a:cs typeface="Lato"/>
              </a:rPr>
              <a:t>POUYA FALLAH SICHANI</a:t>
            </a:r>
          </a:p>
        </p:txBody>
      </p:sp>
      <p:sp>
        <p:nvSpPr>
          <p:cNvPr id="3" name="slide-counter">
            <a:extLst xmlns:a="http://schemas.openxmlformats.org/drawingml/2006/main">
              <a:ext uri="{FF2B5EF4-FFF2-40B4-BE49-F238E27FC236}">
                <a16:creationId xmlns:a16="http://schemas.microsoft.com/office/drawing/2014/main" id="{D3BEB580-828E-496B-9B61-845CAC8746E4}"/>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FFFFFF"/>
                </a:solidFill>
                <a:latin typeface="Lato"/>
                <a:ea typeface="Lato"/>
                <a:cs typeface="Lato"/>
              </a:defRPr>
            </a:defPPr>
          </a:lstStyle>
          <a:p xmlns:a="http://schemas.openxmlformats.org/drawingml/2006/main">
            <a:pPr algn="r">
              <a:buNone/>
              <a:defRPr sz="1350" b="1">
                <a:solidFill>
                  <a:srgbClr val="FFFFFF"/>
                </a:solidFill>
                <a:latin typeface="Lato"/>
                <a:ea typeface="Lato"/>
                <a:cs typeface="Lato"/>
              </a:defRPr>
            </a:pPr>
            <a:r>
              <a:rPr sz="1350" b="1">
                <a:solidFill>
                  <a:srgbClr val="FFFFFF"/>
                </a:solidFill>
                <a:latin typeface="Lato"/>
                <a:ea typeface="Lato"/>
                <a:cs typeface="Lato"/>
              </a:rPr>
              <a:t>1 / 20</a:t>
            </a:r>
          </a:p>
        </p:txBody>
      </p:sp>
      <p:pic>
        <p:nvPicPr>
          <p:cNvPr id="4" name="">
            <a:extLst xmlns:a="http://schemas.openxmlformats.org/drawingml/2006/main">
              <a:ext uri="{FF2B5EF4-FFF2-40B4-BE49-F238E27FC236}">
                <a16:creationId xmlns:a16="http://schemas.microsoft.com/office/drawing/2014/main" id="{A8484A33-923F-465A-8C0D-C7EF1B5C049A}"/>
              </a:ext>
            </a:extLst>
          </p:cNvPr>
          <p:cNvPicPr>
            <a:picLocks xmlns:a="http://schemas.openxmlformats.org/drawingml/2006/main" noChangeAspect="1"/>
          </p:cNvPicPr>
          <p:nvPr/>
        </p:nvPicPr>
        <p:blipFill>
          <a:blip xmlns:r="http://schemas.openxmlformats.org/officeDocument/2006/relationships" xmlns:a="http://schemas.openxmlformats.org/drawingml/2006/main" r:embed="Ra6782bf5dc8a4d1a"/>
          <a:stretch xmlns:a="http://schemas.openxmlformats.org/drawingml/2006/main"/>
        </p:blipFill>
        <p:spPr>
          <a:xfrm xmlns:a="http://schemas.openxmlformats.org/drawingml/2006/main">
            <a:off x="9677400" y="571500"/>
            <a:ext cx="1905000" cy="1905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7AB5FAD-5585-4C46-9254-CBFF6E56B836}"/>
              </a:ext>
            </a:extLst>
          </p:cNvPr>
          <p:cNvSpPr>
            <a:spLocks xmlns:a="http://schemas.openxmlformats.org/drawingml/2006/main" noGrp="1"/>
          </p:cNvSpPr>
          <p:nvPr/>
        </p:nvSpPr>
        <p:spPr>
          <a:xfrm xmlns:a="http://schemas.openxmlformats.org/drawingml/2006/main">
            <a:off x="609600" y="552450"/>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91D5CE"/>
                </a:solidFill>
                <a:latin typeface="Lato"/>
                <a:ea typeface="Lato"/>
                <a:cs typeface="Lato"/>
              </a:defRPr>
            </a:defPPr>
          </a:lstStyle>
          <a:p xmlns:a="http://schemas.openxmlformats.org/drawingml/2006/main">
            <a:pPr algn="l">
              <a:buNone/>
              <a:defRPr sz="1350" b="1">
                <a:solidFill>
                  <a:srgbClr val="91D5CE"/>
                </a:solidFill>
                <a:latin typeface="Lato"/>
                <a:ea typeface="Lato"/>
                <a:cs typeface="Lato"/>
              </a:defRPr>
            </a:pPr>
            <a:r>
              <a:rPr sz="1350" b="1">
                <a:solidFill>
                  <a:srgbClr val="91D5CE"/>
                </a:solidFill>
                <a:latin typeface="Lato"/>
                <a:ea typeface="Lato"/>
                <a:cs typeface="Lato"/>
              </a:rPr>
              <a:t>SHARIF UNIVERSITY OF TECHNOLOGY</a:t>
            </a:r>
          </a:p>
        </p:txBody>
      </p:sp>
      <p:sp>
        <p:nvSpPr>
          <p:cNvPr id="6" name="">
            <a:extLst xmlns:a="http://schemas.openxmlformats.org/drawingml/2006/main">
              <a:ext uri="{FF2B5EF4-FFF2-40B4-BE49-F238E27FC236}">
                <a16:creationId xmlns:a16="http://schemas.microsoft.com/office/drawing/2014/main" id="{F9227C67-553D-4C76-AC65-BFC47ADF63BB}"/>
              </a:ext>
            </a:extLst>
          </p:cNvPr>
          <p:cNvSpPr>
            <a:spLocks xmlns:a="http://schemas.openxmlformats.org/drawingml/2006/main" noGrp="1"/>
          </p:cNvSpPr>
          <p:nvPr/>
        </p:nvSpPr>
        <p:spPr>
          <a:xfrm xmlns:a="http://schemas.openxmlformats.org/drawingml/2006/main">
            <a:off x="609600" y="866775"/>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D9E5EA"/>
                </a:solidFill>
                <a:latin typeface="Lato"/>
                <a:ea typeface="Lato"/>
                <a:cs typeface="Lato"/>
              </a:defRPr>
            </a:defPPr>
          </a:lstStyle>
          <a:p xmlns:a="http://schemas.openxmlformats.org/drawingml/2006/main">
            <a:pPr algn="l">
              <a:buNone/>
              <a:defRPr sz="1350" b="0">
                <a:solidFill>
                  <a:srgbClr val="D9E5EA"/>
                </a:solidFill>
                <a:latin typeface="Lato"/>
                <a:ea typeface="Lato"/>
                <a:cs typeface="Lato"/>
              </a:defRPr>
            </a:pPr>
            <a:r>
              <a:rPr sz="1350" b="0">
                <a:solidFill>
                  <a:srgbClr val="D9E5EA"/>
                </a:solidFill>
                <a:latin typeface="Lato"/>
                <a:ea typeface="Lato"/>
                <a:cs typeface="Lato"/>
              </a:rPr>
              <a:t>Department of Computer Engineering</a:t>
            </a:r>
          </a:p>
        </p:txBody>
      </p:sp>
      <p:sp>
        <p:nvSpPr>
          <p:cNvPr id="7" name="">
            <a:extLst xmlns:a="http://schemas.openxmlformats.org/drawingml/2006/main">
              <a:ext uri="{FF2B5EF4-FFF2-40B4-BE49-F238E27FC236}">
                <a16:creationId xmlns:a16="http://schemas.microsoft.com/office/drawing/2014/main" id="{16F40633-04DE-478A-AE35-CCB5275D7473}"/>
              </a:ext>
            </a:extLst>
          </p:cNvPr>
          <p:cNvSpPr>
            <a:spLocks xmlns:a="http://schemas.openxmlformats.org/drawingml/2006/main" noGrp="1"/>
          </p:cNvSpPr>
          <p:nvPr/>
        </p:nvSpPr>
        <p:spPr>
          <a:xfrm xmlns:a="http://schemas.openxmlformats.org/drawingml/2006/main">
            <a:off x="609600" y="1838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0">
                <a:solidFill>
                  <a:srgbClr val="FFFFFF"/>
                </a:solidFill>
                <a:latin typeface="Bitstream Charter"/>
                <a:ea typeface="Bitstream Charter"/>
                <a:cs typeface="Bitstream Charter"/>
              </a:defRPr>
            </a:defPPr>
          </a:lstStyle>
          <a:p xmlns:a="http://schemas.openxmlformats.org/drawingml/2006/main">
            <a:pPr algn="l">
              <a:buNone/>
              <a:defRPr sz="4650" b="0">
                <a:solidFill>
                  <a:srgbClr val="FFFFFF"/>
                </a:solidFill>
                <a:latin typeface="Bitstream Charter"/>
                <a:ea typeface="Bitstream Charter"/>
                <a:cs typeface="Bitstream Charter"/>
              </a:defRPr>
            </a:pPr>
            <a:r>
              <a:rPr sz="4650" b="0">
                <a:solidFill>
                  <a:srgbClr val="FFFFFF"/>
                </a:solidFill>
                <a:latin typeface="Bitstream Charter"/>
                <a:ea typeface="Bitstream Charter"/>
                <a:cs typeface="Bitstream Charter"/>
              </a:rPr>
              <a:t>Robust Speech Recognition</a:t>
            </a:r>
          </a:p>
          <a:p xmlns:a="http://schemas.openxmlformats.org/drawingml/2006/main">
            <a:pPr algn="l">
              <a:buNone/>
              <a:defRPr sz="4650" b="0">
                <a:solidFill>
                  <a:srgbClr val="FFFFFF"/>
                </a:solidFill>
                <a:latin typeface="Bitstream Charter"/>
                <a:ea typeface="Bitstream Charter"/>
                <a:cs typeface="Bitstream Charter"/>
              </a:defRPr>
            </a:pPr>
            <a:r>
              <a:rPr sz="4650" b="0">
                <a:solidFill>
                  <a:srgbClr val="FFFFFF"/>
                </a:solidFill>
                <a:latin typeface="Bitstream Charter"/>
                <a:ea typeface="Bitstream Charter"/>
                <a:cs typeface="Bitstream Charter"/>
              </a:rPr>
              <a:t>in Persian Language</a:t>
            </a:r>
          </a:p>
        </p:txBody>
      </p:sp>
      <p:sp>
        <p:nvSpPr>
          <p:cNvPr id="9" name="">
            <a:extLst xmlns:a="http://schemas.openxmlformats.org/drawingml/2006/main">
              <a:ext uri="{FF2B5EF4-FFF2-40B4-BE49-F238E27FC236}">
                <a16:creationId xmlns:a16="http://schemas.microsoft.com/office/drawing/2014/main" id="{793A4B2A-3BDB-4850-A57A-9DE59FAA0F19}"/>
              </a:ext>
            </a:extLst>
          </p:cNvPr>
          <p:cNvSpPr>
            <a:spLocks xmlns:a="http://schemas.openxmlformats.org/drawingml/2006/main" noGrp="1"/>
          </p:cNvSpPr>
          <p:nvPr/>
        </p:nvSpPr>
        <p:spPr>
          <a:xfrm xmlns:a="http://schemas.openxmlformats.org/drawingml/2006/main">
            <a:off x="609600" y="523875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FFFFF"/>
                </a:solidFill>
                <a:latin typeface="Lato"/>
                <a:ea typeface="Lato"/>
                <a:cs typeface="Lato"/>
              </a:defRPr>
            </a:defPPr>
          </a:lstStyle>
          <a:p xmlns:a="http://schemas.openxmlformats.org/drawingml/2006/main">
            <a:pPr algn="l">
              <a:buNone/>
              <a:defRPr sz="2250" b="1">
                <a:solidFill>
                  <a:srgbClr val="FFFFFF"/>
                </a:solidFill>
                <a:latin typeface="Lato"/>
                <a:ea typeface="Lato"/>
                <a:cs typeface="Lato"/>
              </a:defRPr>
            </a:pPr>
            <a:r>
              <a:rPr sz="2250" b="1">
                <a:solidFill>
                  <a:srgbClr val="FFFFFF"/>
                </a:solidFill>
                <a:latin typeface="Lato"/>
                <a:ea typeface="Lato"/>
                <a:cs typeface="Lato"/>
              </a:rPr>
              <a:t>Pouya Fallah Sichani</a:t>
            </a:r>
          </a:p>
        </p:txBody>
      </p:sp>
      <p:sp>
        <p:nvSpPr>
          <p:cNvPr id="10" name="">
            <a:extLst xmlns:a="http://schemas.openxmlformats.org/drawingml/2006/main">
              <a:ext uri="{FF2B5EF4-FFF2-40B4-BE49-F238E27FC236}">
                <a16:creationId xmlns:a16="http://schemas.microsoft.com/office/drawing/2014/main" id="{0878B8E8-CA65-4ABE-8A2C-EA93FA794FC6}"/>
              </a:ext>
            </a:extLst>
          </p:cNvPr>
          <p:cNvSpPr>
            <a:spLocks xmlns:a="http://schemas.openxmlformats.org/drawingml/2006/main" noGrp="1"/>
          </p:cNvSpPr>
          <p:nvPr/>
        </p:nvSpPr>
        <p:spPr>
          <a:xfrm xmlns:a="http://schemas.openxmlformats.org/drawingml/2006/main">
            <a:off x="609600" y="571500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D9E5EA"/>
                </a:solidFill>
                <a:latin typeface="Lato"/>
                <a:ea typeface="Lato"/>
                <a:cs typeface="Lato"/>
              </a:defRPr>
            </a:defPPr>
          </a:lstStyle>
          <a:p xmlns:a="http://schemas.openxmlformats.org/drawingml/2006/main">
            <a:pPr algn="l">
              <a:buNone/>
              <a:defRPr sz="1500" b="0">
                <a:solidFill>
                  <a:srgbClr val="D9E5EA"/>
                </a:solidFill>
                <a:latin typeface="Lato"/>
                <a:ea typeface="Lato"/>
                <a:cs typeface="Lato"/>
              </a:defRPr>
            </a:pPr>
            <a:r>
              <a:rPr sz="1500" b="0">
                <a:solidFill>
                  <a:srgbClr val="D9E5EA"/>
                </a:solidFill>
                <a:latin typeface="Lato"/>
                <a:ea typeface="Lato"/>
                <a:cs typeface="Lato"/>
              </a:rPr>
              <a:t>M.Sc. in Computer Engineering</a:t>
            </a:r>
          </a:p>
          <a:p xmlns:a="http://schemas.openxmlformats.org/drawingml/2006/main">
            <a:pPr algn="l">
              <a:buNone/>
              <a:defRPr sz="1500" b="0">
                <a:solidFill>
                  <a:srgbClr val="D9E5EA"/>
                </a:solidFill>
                <a:latin typeface="Lato"/>
                <a:ea typeface="Lato"/>
                <a:cs typeface="Lato"/>
              </a:defRPr>
            </a:pPr>
            <a:r>
              <a:rPr sz="1500" b="0">
                <a:solidFill>
                  <a:srgbClr val="D9E5EA"/>
                </a:solidFill>
                <a:latin typeface="Lato"/>
                <a:ea typeface="Lato"/>
                <a:cs typeface="Lato"/>
              </a:rPr>
              <a:t>Supervisor: Dr. Hosein Sameti</a:t>
            </a:r>
          </a:p>
        </p:txBody>
      </p:sp>
    </p:spTree>
    <p:extLst>
      <p:ext uri="{BB962C8B-B14F-4D97-AF65-F5344CB8AC3E}">
        <p14:creationId xmlns:p14="http://schemas.microsoft.com/office/powerpoint/2010/main" val="691127638"/>
      </p:ext>
    </p:extLst>
  </p:cSld>
</p:sld>
</file>

<file path=ppt/slides/slide2.xml><?xml version="1.0" encoding="utf-8"?>
<p:sld xmlns:p="http://schemas.openxmlformats.org/presentationml/2006/main">
  <p:cSld>
    <p:bg>
      <p:bgPr>
        <a:solidFill xmlns:a="http://schemas.openxmlformats.org/drawingml/2006/main">
          <a:srgbClr val="102B4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8703346-498B-4EE1-AD74-46B31C104DA4}"/>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91D5CE"/>
                </a:solidFill>
                <a:latin typeface="Lato"/>
                <a:ea typeface="Lato"/>
                <a:cs typeface="Lato"/>
              </a:defRPr>
            </a:defPPr>
          </a:lstStyle>
          <a:p xmlns:a="http://schemas.openxmlformats.org/drawingml/2006/main">
            <a:pPr algn="l">
              <a:buNone/>
              <a:defRPr sz="1050" b="1">
                <a:solidFill>
                  <a:srgbClr val="91D5CE"/>
                </a:solidFill>
                <a:latin typeface="Lato"/>
                <a:ea typeface="Lato"/>
                <a:cs typeface="Lato"/>
              </a:defRPr>
            </a:pPr>
            <a:r>
              <a:rPr sz="1050" b="1">
                <a:solidFill>
                  <a:srgbClr val="91D5CE"/>
                </a:solidFill>
                <a:latin typeface="Lato"/>
                <a:ea typeface="Lato"/>
                <a:cs typeface="Lato"/>
              </a:rPr>
              <a:t>RESEARCH CONTEXT</a:t>
            </a:r>
          </a:p>
        </p:txBody>
      </p:sp>
      <p:sp>
        <p:nvSpPr>
          <p:cNvPr id="2" name="">
            <a:extLst xmlns:a="http://schemas.openxmlformats.org/drawingml/2006/main">
              <a:ext uri="{FF2B5EF4-FFF2-40B4-BE49-F238E27FC236}">
                <a16:creationId xmlns:a16="http://schemas.microsoft.com/office/drawing/2014/main" id="{89DE41D8-C4D6-4511-9764-5281BA99DFCA}"/>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FFFFF"/>
                </a:solidFill>
                <a:latin typeface="Bitstream Charter"/>
                <a:ea typeface="Bitstream Charter"/>
                <a:cs typeface="Bitstream Charter"/>
              </a:defRPr>
            </a:defPPr>
          </a:lstStyle>
          <a:p xmlns:a="http://schemas.openxmlformats.org/drawingml/2006/main">
            <a:pPr algn="l">
              <a:buNone/>
              <a:defRPr sz="3225" b="0">
                <a:solidFill>
                  <a:srgbClr val="FFFFFF"/>
                </a:solidFill>
                <a:latin typeface="Bitstream Charter"/>
                <a:ea typeface="Bitstream Charter"/>
                <a:cs typeface="Bitstream Charter"/>
              </a:defRPr>
            </a:pPr>
            <a:r>
              <a:rPr sz="3225" b="0">
                <a:solidFill>
                  <a:srgbClr val="FFFFFF"/>
                </a:solidFill>
                <a:latin typeface="Bitstream Charter"/>
                <a:ea typeface="Bitstream Charter"/>
                <a:cs typeface="Bitstream Charter"/>
              </a:rPr>
              <a:t>The mismatch between training speech and real calls</a:t>
            </a:r>
          </a:p>
        </p:txBody>
      </p:sp>
      <p:pic>
        <p:nvPicPr>
          <p:cNvPr id="3" name="">
            <a:extLst xmlns:a="http://schemas.openxmlformats.org/drawingml/2006/main">
              <a:ext uri="{FF2B5EF4-FFF2-40B4-BE49-F238E27FC236}">
                <a16:creationId xmlns:a16="http://schemas.microsoft.com/office/drawing/2014/main" id="{CB5C4615-F123-4729-A18C-2681EEA770DE}"/>
              </a:ext>
            </a:extLst>
          </p:cNvPr>
          <p:cNvPicPr>
            <a:picLocks xmlns:a="http://schemas.openxmlformats.org/drawingml/2006/main" noChangeAspect="1"/>
          </p:cNvPicPr>
          <p:nvPr/>
        </p:nvPicPr>
        <p:blipFill>
          <a:blip xmlns:r="http://schemas.openxmlformats.org/officeDocument/2006/relationships" xmlns:a="http://schemas.openxmlformats.org/drawingml/2006/main" r:embed="R72d93290dd8d4e8c"/>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2136F4A-BB04-4E4B-B056-3DD23183E8D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3C5666"/>
            </a:solidFill>
          </a:ln>
        </p:spPr>
      </p:sp>
      <p:sp>
        <p:nvSpPr>
          <p:cNvPr id="5" name="">
            <a:extLst xmlns:a="http://schemas.openxmlformats.org/drawingml/2006/main">
              <a:ext uri="{FF2B5EF4-FFF2-40B4-BE49-F238E27FC236}">
                <a16:creationId xmlns:a16="http://schemas.microsoft.com/office/drawing/2014/main" id="{71B03551-BEF8-4B54-B1BC-19988780DF09}"/>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D9E5EA"/>
                </a:solidFill>
                <a:latin typeface="Lato"/>
                <a:ea typeface="Lato"/>
                <a:cs typeface="Lato"/>
              </a:defRPr>
            </a:defPPr>
          </a:lstStyle>
          <a:p xmlns:a="http://schemas.openxmlformats.org/drawingml/2006/main">
            <a:pPr algn="l">
              <a:buNone/>
              <a:defRPr sz="900" b="1">
                <a:solidFill>
                  <a:srgbClr val="D9E5EA"/>
                </a:solidFill>
                <a:latin typeface="Lato"/>
                <a:ea typeface="Lato"/>
                <a:cs typeface="Lato"/>
              </a:defRPr>
            </a:pPr>
            <a:r>
              <a:rPr sz="900" b="1">
                <a:solidFill>
                  <a:srgbClr val="D9E5EA"/>
                </a:solidFill>
                <a:latin typeface="Lato"/>
                <a:ea typeface="Lato"/>
                <a:cs typeface="Lato"/>
              </a:rPr>
              <a:t>POUYA FALLAH SICHANI</a:t>
            </a:r>
          </a:p>
        </p:txBody>
      </p:sp>
      <p:sp>
        <p:nvSpPr>
          <p:cNvPr id="6" name="slide-counter">
            <a:extLst xmlns:a="http://schemas.openxmlformats.org/drawingml/2006/main">
              <a:ext uri="{FF2B5EF4-FFF2-40B4-BE49-F238E27FC236}">
                <a16:creationId xmlns:a16="http://schemas.microsoft.com/office/drawing/2014/main" id="{1D081E8F-2A38-4B64-850E-6D7F1F14A5D7}"/>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FFFFFF"/>
                </a:solidFill>
                <a:latin typeface="Lato"/>
                <a:ea typeface="Lato"/>
                <a:cs typeface="Lato"/>
              </a:defRPr>
            </a:defPPr>
          </a:lstStyle>
          <a:p xmlns:a="http://schemas.openxmlformats.org/drawingml/2006/main">
            <a:pPr algn="r">
              <a:buNone/>
              <a:defRPr sz="1350" b="1">
                <a:solidFill>
                  <a:srgbClr val="FFFFFF"/>
                </a:solidFill>
                <a:latin typeface="Lato"/>
                <a:ea typeface="Lato"/>
                <a:cs typeface="Lato"/>
              </a:defRPr>
            </a:pPr>
            <a:r>
              <a:rPr sz="1350" b="1">
                <a:solidFill>
                  <a:srgbClr val="FFFFFF"/>
                </a:solidFill>
                <a:latin typeface="Lato"/>
                <a:ea typeface="Lato"/>
                <a:cs typeface="Lato"/>
              </a:rPr>
              <a:t>2 / 20</a:t>
            </a:r>
          </a:p>
        </p:txBody>
      </p:sp>
      <p:sp>
        <p:nvSpPr>
          <p:cNvPr id="18" name="01">
            <a:extLst xmlns:a="http://schemas.openxmlformats.org/drawingml/2006/main">
              <a:ext uri="{FF2B5EF4-FFF2-40B4-BE49-F238E27FC236}">
                <a16:creationId xmlns:a16="http://schemas.microsoft.com/office/drawing/2014/main" id="{D1C123D4-E72C-4678-9359-8B851C88DF45}"/>
              </a:ext>
            </a:extLst>
          </p:cNvPr>
          <p:cNvSpPr>
            <a:spLocks xmlns:a="http://schemas.openxmlformats.org/drawingml/2006/main" noGrp="1"/>
          </p:cNvSpPr>
          <p:nvPr/>
        </p:nvSpPr>
        <p:spPr>
          <a:xfrm xmlns:a="http://schemas.openxmlformats.org/drawingml/2006/main">
            <a:off x="609600" y="2000250"/>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527387"/>
                </a:solidFill>
                <a:latin typeface="Bitstream Charter"/>
                <a:ea typeface="Bitstream Charter"/>
                <a:cs typeface="Bitstream Charter"/>
              </a:defRPr>
            </a:defPPr>
          </a:lstStyle>
          <a:p xmlns:a="http://schemas.openxmlformats.org/drawingml/2006/main">
            <a:pPr algn="l">
              <a:defRPr sz="4800" b="0">
                <a:solidFill>
                  <a:srgbClr val="527387"/>
                </a:solidFill>
                <a:latin typeface="Bitstream Charter"/>
                <a:ea typeface="Bitstream Charter"/>
                <a:cs typeface="Bitstream Charter"/>
              </a:defRPr>
            </a:pPr>
            <a:r>
              <a:rPr sz="4800" b="0">
                <a:solidFill>
                  <a:srgbClr val="527387"/>
                </a:solidFill>
                <a:latin typeface="Bitstream Charter"/>
                <a:ea typeface="Bitstream Charter"/>
                <a:cs typeface="Bitstream Charter"/>
              </a:rPr>
              <a:t>01</a:t>
            </a:r>
          </a:p>
        </p:txBody>
      </p:sp>
      <p:sp>
        <p:nvSpPr>
          <p:cNvPr id="19" name="Available speech">
            <a:extLst xmlns:a="http://schemas.openxmlformats.org/drawingml/2006/main">
              <a:ext uri="{FF2B5EF4-FFF2-40B4-BE49-F238E27FC236}">
                <a16:creationId xmlns:a16="http://schemas.microsoft.com/office/drawing/2014/main" id="{F9FABBE4-7038-48CF-8A3B-3071158BCC94}"/>
              </a:ext>
            </a:extLst>
          </p:cNvPr>
          <p:cNvSpPr>
            <a:spLocks xmlns:a="http://schemas.openxmlformats.org/drawingml/2006/main" noGrp="1"/>
          </p:cNvSpPr>
          <p:nvPr/>
        </p:nvSpPr>
        <p:spPr>
          <a:xfrm xmlns:a="http://schemas.openxmlformats.org/drawingml/2006/main">
            <a:off x="609600" y="2952750"/>
            <a:ext cx="328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Available speech</a:t>
            </a:r>
          </a:p>
        </p:txBody>
      </p:sp>
      <p:sp>
        <p:nvSpPr>
          <p:cNvPr id="20" name="General Persian corpora&#10;Many short clips&#10;Varied re">
            <a:extLst xmlns:a="http://schemas.openxmlformats.org/drawingml/2006/main">
              <a:ext uri="{FF2B5EF4-FFF2-40B4-BE49-F238E27FC236}">
                <a16:creationId xmlns:a16="http://schemas.microsoft.com/office/drawing/2014/main" id="{6C663F53-0FBF-43DD-B9AD-D5F14EF298D8}"/>
              </a:ext>
            </a:extLst>
          </p:cNvPr>
          <p:cNvSpPr>
            <a:spLocks xmlns:a="http://schemas.openxmlformats.org/drawingml/2006/main" noGrp="1"/>
          </p:cNvSpPr>
          <p:nvPr/>
        </p:nvSpPr>
        <p:spPr>
          <a:xfrm xmlns:a="http://schemas.openxmlformats.org/drawingml/2006/main">
            <a:off x="609600" y="3619500"/>
            <a:ext cx="3286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General Persian corpora</a:t>
            </a:r>
          </a:p>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Many short clips</a:t>
            </a:r>
          </a:p>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Varied recording styles</a:t>
            </a:r>
          </a:p>
        </p:txBody>
      </p:sp>
      <p:sp>
        <p:nvSpPr>
          <p:cNvPr id="21" name="02">
            <a:extLst xmlns:a="http://schemas.openxmlformats.org/drawingml/2006/main">
              <a:ext uri="{FF2B5EF4-FFF2-40B4-BE49-F238E27FC236}">
                <a16:creationId xmlns:a16="http://schemas.microsoft.com/office/drawing/2014/main" id="{1B3DD8A1-308E-469C-989E-1FE8EB4D3553}"/>
              </a:ext>
            </a:extLst>
          </p:cNvPr>
          <p:cNvSpPr>
            <a:spLocks xmlns:a="http://schemas.openxmlformats.org/drawingml/2006/main" noGrp="1"/>
          </p:cNvSpPr>
          <p:nvPr/>
        </p:nvSpPr>
        <p:spPr>
          <a:xfrm xmlns:a="http://schemas.openxmlformats.org/drawingml/2006/main">
            <a:off x="4381500" y="2000250"/>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527387"/>
                </a:solidFill>
                <a:latin typeface="Bitstream Charter"/>
                <a:ea typeface="Bitstream Charter"/>
                <a:cs typeface="Bitstream Charter"/>
              </a:defRPr>
            </a:defPPr>
          </a:lstStyle>
          <a:p xmlns:a="http://schemas.openxmlformats.org/drawingml/2006/main">
            <a:pPr algn="l">
              <a:defRPr sz="4800" b="0">
                <a:solidFill>
                  <a:srgbClr val="527387"/>
                </a:solidFill>
                <a:latin typeface="Bitstream Charter"/>
                <a:ea typeface="Bitstream Charter"/>
                <a:cs typeface="Bitstream Charter"/>
              </a:defRPr>
            </a:pPr>
            <a:r>
              <a:rPr sz="4800" b="0">
                <a:solidFill>
                  <a:srgbClr val="527387"/>
                </a:solidFill>
                <a:latin typeface="Bitstream Charter"/>
                <a:ea typeface="Bitstream Charter"/>
                <a:cs typeface="Bitstream Charter"/>
              </a:rPr>
              <a:t>02</a:t>
            </a:r>
          </a:p>
        </p:txBody>
      </p:sp>
      <p:sp>
        <p:nvSpPr>
          <p:cNvPr id="22" name="Target conditions">
            <a:extLst xmlns:a="http://schemas.openxmlformats.org/drawingml/2006/main">
              <a:ext uri="{FF2B5EF4-FFF2-40B4-BE49-F238E27FC236}">
                <a16:creationId xmlns:a16="http://schemas.microsoft.com/office/drawing/2014/main" id="{ED95A928-EEFD-4566-AB2F-18E53E027265}"/>
              </a:ext>
            </a:extLst>
          </p:cNvPr>
          <p:cNvSpPr>
            <a:spLocks xmlns:a="http://schemas.openxmlformats.org/drawingml/2006/main" noGrp="1"/>
          </p:cNvSpPr>
          <p:nvPr/>
        </p:nvSpPr>
        <p:spPr>
          <a:xfrm xmlns:a="http://schemas.openxmlformats.org/drawingml/2006/main">
            <a:off x="4381500" y="2952750"/>
            <a:ext cx="328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Target conditions</a:t>
            </a:r>
          </a:p>
        </p:txBody>
      </p:sp>
      <p:sp>
        <p:nvSpPr>
          <p:cNvPr id="23" name="Telephone and VoIP&#10;Noise and restricted bandwidth&#10;">
            <a:extLst xmlns:a="http://schemas.openxmlformats.org/drawingml/2006/main">
              <a:ext uri="{FF2B5EF4-FFF2-40B4-BE49-F238E27FC236}">
                <a16:creationId xmlns:a16="http://schemas.microsoft.com/office/drawing/2014/main" id="{01F22467-68BA-4452-B79D-89EF594EF4DA}"/>
              </a:ext>
            </a:extLst>
          </p:cNvPr>
          <p:cNvSpPr>
            <a:spLocks xmlns:a="http://schemas.openxmlformats.org/drawingml/2006/main" noGrp="1"/>
          </p:cNvSpPr>
          <p:nvPr/>
        </p:nvSpPr>
        <p:spPr>
          <a:xfrm xmlns:a="http://schemas.openxmlformats.org/drawingml/2006/main">
            <a:off x="4381500" y="3619500"/>
            <a:ext cx="3286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Telephone and VoIP</a:t>
            </a:r>
          </a:p>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Noise and restricted bandwidth</a:t>
            </a:r>
          </a:p>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Codec distortion and packet loss</a:t>
            </a:r>
          </a:p>
        </p:txBody>
      </p:sp>
      <p:sp>
        <p:nvSpPr>
          <p:cNvPr id="24" name="03">
            <a:extLst xmlns:a="http://schemas.openxmlformats.org/drawingml/2006/main">
              <a:ext uri="{FF2B5EF4-FFF2-40B4-BE49-F238E27FC236}">
                <a16:creationId xmlns:a16="http://schemas.microsoft.com/office/drawing/2014/main" id="{00A1841A-C1B4-4570-9F13-8BA32B65910F}"/>
              </a:ext>
            </a:extLst>
          </p:cNvPr>
          <p:cNvSpPr>
            <a:spLocks xmlns:a="http://schemas.openxmlformats.org/drawingml/2006/main" noGrp="1"/>
          </p:cNvSpPr>
          <p:nvPr/>
        </p:nvSpPr>
        <p:spPr>
          <a:xfrm xmlns:a="http://schemas.openxmlformats.org/drawingml/2006/main">
            <a:off x="8153400" y="2000250"/>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527387"/>
                </a:solidFill>
                <a:latin typeface="Bitstream Charter"/>
                <a:ea typeface="Bitstream Charter"/>
                <a:cs typeface="Bitstream Charter"/>
              </a:defRPr>
            </a:defPPr>
          </a:lstStyle>
          <a:p xmlns:a="http://schemas.openxmlformats.org/drawingml/2006/main">
            <a:pPr algn="l">
              <a:defRPr sz="4800" b="0">
                <a:solidFill>
                  <a:srgbClr val="527387"/>
                </a:solidFill>
                <a:latin typeface="Bitstream Charter"/>
                <a:ea typeface="Bitstream Charter"/>
                <a:cs typeface="Bitstream Charter"/>
              </a:defRPr>
            </a:pPr>
            <a:r>
              <a:rPr sz="4800" b="0">
                <a:solidFill>
                  <a:srgbClr val="527387"/>
                </a:solidFill>
                <a:latin typeface="Bitstream Charter"/>
                <a:ea typeface="Bitstream Charter"/>
                <a:cs typeface="Bitstream Charter"/>
              </a:rPr>
              <a:t>03</a:t>
            </a:r>
          </a:p>
        </p:txBody>
      </p:sp>
      <p:sp>
        <p:nvSpPr>
          <p:cNvPr id="25" name="Research objective">
            <a:extLst xmlns:a="http://schemas.openxmlformats.org/drawingml/2006/main">
              <a:ext uri="{FF2B5EF4-FFF2-40B4-BE49-F238E27FC236}">
                <a16:creationId xmlns:a16="http://schemas.microsoft.com/office/drawing/2014/main" id="{49882E28-B77C-4A3F-83D1-8DB41EE3FA77}"/>
              </a:ext>
            </a:extLst>
          </p:cNvPr>
          <p:cNvSpPr>
            <a:spLocks xmlns:a="http://schemas.openxmlformats.org/drawingml/2006/main" noGrp="1"/>
          </p:cNvSpPr>
          <p:nvPr/>
        </p:nvSpPr>
        <p:spPr>
          <a:xfrm xmlns:a="http://schemas.openxmlformats.org/drawingml/2006/main">
            <a:off x="8153400" y="2952750"/>
            <a:ext cx="328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Research objective</a:t>
            </a:r>
          </a:p>
        </p:txBody>
      </p:sp>
      <p:sp>
        <p:nvSpPr>
          <p:cNvPr id="26" name="Improve real-call recognition with existing labels">
            <a:extLst xmlns:a="http://schemas.openxmlformats.org/drawingml/2006/main">
              <a:ext uri="{FF2B5EF4-FFF2-40B4-BE49-F238E27FC236}">
                <a16:creationId xmlns:a16="http://schemas.microsoft.com/office/drawing/2014/main" id="{E2D9F534-63B2-4C4A-9F01-4F4CF1050DA2}"/>
              </a:ext>
            </a:extLst>
          </p:cNvPr>
          <p:cNvSpPr>
            <a:spLocks xmlns:a="http://schemas.openxmlformats.org/drawingml/2006/main" noGrp="1"/>
          </p:cNvSpPr>
          <p:nvPr/>
        </p:nvSpPr>
        <p:spPr>
          <a:xfrm xmlns:a="http://schemas.openxmlformats.org/drawingml/2006/main">
            <a:off x="8153400" y="3619500"/>
            <a:ext cx="3286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Improve real-call recognition with existing labels and unlabelled Persian audio</a:t>
            </a:r>
          </a:p>
        </p:txBody>
      </p:sp>
      <p:sp>
        <p:nvSpPr>
          <p:cNvPr id="27" name="Transcribed calls are costly to collect and privac">
            <a:extLst xmlns:a="http://schemas.openxmlformats.org/drawingml/2006/main">
              <a:ext uri="{FF2B5EF4-FFF2-40B4-BE49-F238E27FC236}">
                <a16:creationId xmlns:a16="http://schemas.microsoft.com/office/drawing/2014/main" id="{CA0DB9A2-DFFD-46E1-984B-9E7A4BC3C2F1}"/>
              </a:ext>
            </a:extLst>
          </p:cNvPr>
          <p:cNvSpPr>
            <a:spLocks xmlns:a="http://schemas.openxmlformats.org/drawingml/2006/main" noGrp="1"/>
          </p:cNvSpPr>
          <p:nvPr/>
        </p:nvSpPr>
        <p:spPr>
          <a:xfrm xmlns:a="http://schemas.openxmlformats.org/drawingml/2006/main">
            <a:off x="609600" y="56007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9E5EA"/>
                </a:solidFill>
                <a:latin typeface="Lato"/>
                <a:ea typeface="Lato"/>
                <a:cs typeface="Lato"/>
              </a:defRPr>
            </a:defPPr>
          </a:lstStyle>
          <a:p xmlns:a="http://schemas.openxmlformats.org/drawingml/2006/main">
            <a:pPr algn="l">
              <a:defRPr sz="1725" b="0">
                <a:solidFill>
                  <a:srgbClr val="D9E5EA"/>
                </a:solidFill>
                <a:latin typeface="Lato"/>
                <a:ea typeface="Lato"/>
                <a:cs typeface="Lato"/>
              </a:defRPr>
            </a:pPr>
            <a:r>
              <a:rPr sz="1725" b="0">
                <a:solidFill>
                  <a:srgbClr val="D9E5EA"/>
                </a:solidFill>
                <a:latin typeface="Lato"/>
                <a:ea typeface="Lato"/>
                <a:cs typeface="Lato"/>
              </a:rPr>
              <a:t>Transcribed calls are costly to collect and privacy-sensitive. Test transfer on real calls.</a:t>
            </a:r>
          </a:p>
        </p:txBody>
      </p:sp>
    </p:spTree>
    <p:extLst>
      <p:ext uri="{BB962C8B-B14F-4D97-AF65-F5344CB8AC3E}">
        <p14:creationId xmlns:p14="http://schemas.microsoft.com/office/powerpoint/2010/main" val="533681330"/>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88B8149B-F5F0-442D-8B32-D8C6FFFDE156}"/>
              </a:ext>
            </a:extLst>
          </p:cNvPr>
          <p:cNvCxnSpPr>
            <a:stCxn xmlns:a="http://schemas.openxmlformats.org/drawingml/2006/main" id="12" idx="3"/>
            <a:endCxn xmlns:a="http://schemas.openxmlformats.org/drawingml/2006/main" id="16" idx="3"/>
          </p:cNvCxnSpPr>
          <p:nvPr/>
        </p:nvCxnSpPr>
        <p:spPr>
          <a:xfrm xmlns:a="http://schemas.openxmlformats.org/drawingml/2006/main">
            <a:off x="10477500" y="2238375"/>
            <a:ext cx="228600" cy="2657475"/>
          </a:xfrm>
          <a:prstGeom xmlns:a="http://schemas.openxmlformats.org/drawingml/2006/main" prst="bentConnector4">
            <a:avLst/>
          </a:prstGeom>
          <a:ln xmlns:a="http://schemas.openxmlformats.org/drawingml/2006/main" w="19050">
            <a:solidFill>
              <a:srgbClr val="1D6F8A"/>
            </a:solidFill>
            <a:tailEnd type="triangle" w="med" len="med"/>
          </a:ln>
        </p:spPr>
      </p:cxnSp>
      <p:cxnSp>
        <p:nvCxnSpPr>
          <p:cNvPr id="17" name="">
            <a:extLst xmlns:a="http://schemas.openxmlformats.org/drawingml/2006/main">
              <a:ext uri="{FF2B5EF4-FFF2-40B4-BE49-F238E27FC236}">
                <a16:creationId xmlns:a16="http://schemas.microsoft.com/office/drawing/2014/main" id="{831755E0-B79D-45F6-915F-11D221F4F761}"/>
              </a:ext>
            </a:extLst>
          </p:cNvPr>
          <p:cNvCxnSpPr>
            <a:stCxn xmlns:a="http://schemas.openxmlformats.org/drawingml/2006/main" id="12" idx="3"/>
            <a:endCxn xmlns:a="http://schemas.openxmlformats.org/drawingml/2006/main" id="15" idx="3"/>
          </p:cNvCxnSpPr>
          <p:nvPr/>
        </p:nvCxnSpPr>
        <p:spPr>
          <a:xfrm xmlns:a="http://schemas.openxmlformats.org/drawingml/2006/main">
            <a:off x="10477500" y="2238375"/>
            <a:ext cx="228600" cy="1562100"/>
          </a:xfrm>
          <a:prstGeom xmlns:a="http://schemas.openxmlformats.org/drawingml/2006/main" prst="bentConnector4">
            <a:avLst/>
          </a:prstGeom>
          <a:ln xmlns:a="http://schemas.openxmlformats.org/drawingml/2006/main" w="19050">
            <a:solidFill>
              <a:srgbClr val="1D6F8A"/>
            </a:solidFill>
            <a:tailEnd type="triangle" w="med" len="med"/>
          </a:ln>
        </p:spPr>
      </p:cxnSp>
      <p:cxnSp>
        <p:nvCxnSpPr>
          <p:cNvPr id="14" name="">
            <a:extLst xmlns:a="http://schemas.openxmlformats.org/drawingml/2006/main">
              <a:ext uri="{FF2B5EF4-FFF2-40B4-BE49-F238E27FC236}">
                <a16:creationId xmlns:a16="http://schemas.microsoft.com/office/drawing/2014/main" id="{D2C65373-BF80-43DA-AB47-13B41FFCCE21}"/>
              </a:ext>
            </a:extLst>
          </p:cNvPr>
          <p:cNvCxnSpPr>
            <a:stCxn xmlns:a="http://schemas.openxmlformats.org/drawingml/2006/main" id="10" idx="3"/>
            <a:endCxn xmlns:a="http://schemas.openxmlformats.org/drawingml/2006/main" id="12" idx="1"/>
          </p:cNvCxnSpPr>
          <p:nvPr/>
        </p:nvCxnSpPr>
        <p:spPr>
          <a:xfrm xmlns:a="http://schemas.openxmlformats.org/drawingml/2006/main">
            <a:off x="4133850" y="2238375"/>
            <a:ext cx="1581150" cy="0"/>
          </a:xfrm>
          <a:prstGeom xmlns:a="http://schemas.openxmlformats.org/drawingml/2006/main" prst="straightConnector1">
            <a:avLst/>
          </a:prstGeom>
          <a:ln xmlns:a="http://schemas.openxmlformats.org/drawingml/2006/main" w="19050">
            <a:solidFill>
              <a:srgbClr val="1D6F8A"/>
            </a:solidFill>
            <a:tailEnd type="triangle" w="med" len="med"/>
          </a:ln>
        </p:spPr>
      </p:cxnSp>
      <p:sp>
        <p:nvSpPr>
          <p:cNvPr id="4" name="">
            <a:extLst xmlns:a="http://schemas.openxmlformats.org/drawingml/2006/main">
              <a:ext uri="{FF2B5EF4-FFF2-40B4-BE49-F238E27FC236}">
                <a16:creationId xmlns:a16="http://schemas.microsoft.com/office/drawing/2014/main" id="{5731E662-6E1E-4F3C-8C88-E80266CC5DB6}"/>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RESEARCH CONTEXT</a:t>
            </a:r>
          </a:p>
        </p:txBody>
      </p:sp>
      <p:sp>
        <p:nvSpPr>
          <p:cNvPr id="5" name="">
            <a:extLst xmlns:a="http://schemas.openxmlformats.org/drawingml/2006/main">
              <a:ext uri="{FF2B5EF4-FFF2-40B4-BE49-F238E27FC236}">
                <a16:creationId xmlns:a16="http://schemas.microsoft.com/office/drawing/2014/main" id="{8C691F2F-6CE3-42CD-9AE6-02359EB41D16}"/>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225"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Research approach and comparison structure</a:t>
            </a:r>
          </a:p>
        </p:txBody>
      </p:sp>
      <p:pic>
        <p:nvPicPr>
          <p:cNvPr id="6" name="">
            <a:extLst xmlns:a="http://schemas.openxmlformats.org/drawingml/2006/main">
              <a:ext uri="{FF2B5EF4-FFF2-40B4-BE49-F238E27FC236}">
                <a16:creationId xmlns:a16="http://schemas.microsoft.com/office/drawing/2014/main" id="{7DB96213-3234-428B-8B24-F29C69EEC9E0}"/>
              </a:ext>
            </a:extLst>
          </p:cNvPr>
          <p:cNvPicPr>
            <a:picLocks xmlns:a="http://schemas.openxmlformats.org/drawingml/2006/main" noChangeAspect="1"/>
          </p:cNvPicPr>
          <p:nvPr/>
        </p:nvPicPr>
        <p:blipFill>
          <a:blip xmlns:r="http://schemas.openxmlformats.org/officeDocument/2006/relationships" xmlns:a="http://schemas.openxmlformats.org/drawingml/2006/main" r:embed="Rd183205a349944dd"/>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05EDB65-F993-42BE-A493-C730B8D31AA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59FB4969-6363-4568-8EB1-C5AE99749187}"/>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2F5D23B2-9BD4-41D5-A0C7-F9CDBA872EB6}"/>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3 / 20</a:t>
            </a:r>
          </a:p>
        </p:txBody>
      </p:sp>
      <p:sp>
        <p:nvSpPr>
          <p:cNvPr id="10" name="Ordinary Whisper-small">
            <a:extLst xmlns:a="http://schemas.openxmlformats.org/drawingml/2006/main">
              <a:ext uri="{FF2B5EF4-FFF2-40B4-BE49-F238E27FC236}">
                <a16:creationId xmlns:a16="http://schemas.microsoft.com/office/drawing/2014/main" id="{80D22DD8-6A4B-4669-B2AE-8B8D3DCEB410}"/>
              </a:ext>
            </a:extLst>
          </p:cNvPr>
          <p:cNvSpPr>
            <a:spLocks xmlns:a="http://schemas.openxmlformats.org/drawingml/2006/main" noGrp="1"/>
          </p:cNvSpPr>
          <p:nvPr/>
        </p:nvSpPr>
        <p:spPr>
          <a:xfrm xmlns:a="http://schemas.openxmlformats.org/drawingml/2006/main">
            <a:off x="609600" y="1857375"/>
            <a:ext cx="3524250" cy="762000"/>
          </a:xfrm>
          <a:prstGeom xmlns:a="http://schemas.openxmlformats.org/drawingml/2006/main" prst="rect">
            <a:avLst/>
          </a:prstGeom>
          <a:solidFill xmlns:a="http://schemas.openxmlformats.org/drawingml/2006/main">
            <a:srgbClr val="EEF1F1"/>
          </a:solidFill>
          <a:ln xmlns:a="http://schemas.openxmlformats.org/drawingml/2006/main" w="9525">
            <a:solidFill>
              <a:srgbClr val="D9E5EA"/>
            </a:solidFill>
          </a:ln>
        </p:spPr>
        <p:txBody>
          <a:bodyPr xmlns:a="http://schemas.openxmlformats.org/drawingml/2006/main" wrap="square" lIns="171450" tIns="171450" rIns="171450" bIns="171450" anchor="ctr">
            <a:noAutofit/>
          </a:bodyPr>
          <a:lstStyle xmlns:a="http://schemas.openxmlformats.org/drawingml/2006/main">
            <a:defPPr algn="l">
              <a:defRPr sz="1875" b="1">
                <a:solidFill>
                  <a:srgbClr val="172F42"/>
                </a:solidFill>
                <a:latin typeface="Lato"/>
                <a:ea typeface="Lato"/>
                <a:cs typeface="Lato"/>
              </a:defRPr>
            </a:defPPr>
          </a:lstStyle>
          <a:p xmlns:a="http://schemas.openxmlformats.org/drawingml/2006/main">
            <a:pPr algn="l">
              <a:defRPr sz="1875" b="1">
                <a:solidFill>
                  <a:srgbClr val="172F42"/>
                </a:solidFill>
                <a:latin typeface="Lato"/>
                <a:ea typeface="Lato"/>
                <a:cs typeface="Lato"/>
              </a:defRPr>
            </a:pPr>
            <a:r>
              <a:rPr sz="1875" b="1">
                <a:solidFill>
                  <a:srgbClr val="172F42"/>
                </a:solidFill>
                <a:latin typeface="Lato"/>
                <a:ea typeface="Lato"/>
                <a:cs typeface="Lato"/>
              </a:rPr>
              <a:t>Ordinary Whisper-small</a:t>
            </a:r>
          </a:p>
        </p:txBody>
      </p:sp>
      <p:sp>
        <p:nvSpPr>
          <p:cNvPr id="11" name="Base speech + constructed long examples">
            <a:extLst xmlns:a="http://schemas.openxmlformats.org/drawingml/2006/main">
              <a:ext uri="{FF2B5EF4-FFF2-40B4-BE49-F238E27FC236}">
                <a16:creationId xmlns:a16="http://schemas.microsoft.com/office/drawing/2014/main" id="{6E759D9A-EAF8-4272-A344-5B9EE89A9DB9}"/>
              </a:ext>
            </a:extLst>
          </p:cNvPr>
          <p:cNvSpPr>
            <a:spLocks xmlns:a="http://schemas.openxmlformats.org/drawingml/2006/main" noGrp="1"/>
          </p:cNvSpPr>
          <p:nvPr/>
        </p:nvSpPr>
        <p:spPr>
          <a:xfrm xmlns:a="http://schemas.openxmlformats.org/drawingml/2006/main">
            <a:off x="609600" y="2733675"/>
            <a:ext cx="381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B78"/>
                </a:solidFill>
                <a:latin typeface="Lato"/>
                <a:ea typeface="Lato"/>
                <a:cs typeface="Lato"/>
              </a:defRPr>
            </a:defPPr>
          </a:lstStyle>
          <a:p xmlns:a="http://schemas.openxmlformats.org/drawingml/2006/main">
            <a:pPr algn="l">
              <a:defRPr sz="1725" b="0">
                <a:solidFill>
                  <a:srgbClr val="586B78"/>
                </a:solidFill>
                <a:latin typeface="Lato"/>
                <a:ea typeface="Lato"/>
                <a:cs typeface="Lato"/>
              </a:defRPr>
            </a:pPr>
            <a:r>
              <a:rPr sz="1725" b="0">
                <a:solidFill>
                  <a:srgbClr val="586B78"/>
                </a:solidFill>
                <a:latin typeface="Lato"/>
                <a:ea typeface="Lato"/>
                <a:cs typeface="Lato"/>
              </a:rPr>
              <a:t>Base speech + constructed long examples</a:t>
            </a:r>
          </a:p>
        </p:txBody>
      </p:sp>
      <p:sp>
        <p:nvSpPr>
          <p:cNvPr id="12" name="Multi-condition Whisper-small">
            <a:extLst xmlns:a="http://schemas.openxmlformats.org/drawingml/2006/main">
              <a:ext uri="{FF2B5EF4-FFF2-40B4-BE49-F238E27FC236}">
                <a16:creationId xmlns:a16="http://schemas.microsoft.com/office/drawing/2014/main" id="{59FD51DD-882C-4073-8ACD-CAFC9D08D408}"/>
              </a:ext>
            </a:extLst>
          </p:cNvPr>
          <p:cNvSpPr>
            <a:spLocks xmlns:a="http://schemas.openxmlformats.org/drawingml/2006/main" noGrp="1"/>
          </p:cNvSpPr>
          <p:nvPr/>
        </p:nvSpPr>
        <p:spPr>
          <a:xfrm xmlns:a="http://schemas.openxmlformats.org/drawingml/2006/main">
            <a:off x="5715000" y="1857375"/>
            <a:ext cx="4762500" cy="762000"/>
          </a:xfrm>
          <a:prstGeom xmlns:a="http://schemas.openxmlformats.org/drawingml/2006/main" prst="rect">
            <a:avLst/>
          </a:prstGeom>
          <a:solidFill xmlns:a="http://schemas.openxmlformats.org/drawingml/2006/main">
            <a:srgbClr val="E5F2F3"/>
          </a:solidFill>
          <a:ln xmlns:a="http://schemas.openxmlformats.org/drawingml/2006/main" w="9525">
            <a:solidFill>
              <a:srgbClr val="D9E5EA"/>
            </a:solidFill>
          </a:ln>
        </p:spPr>
        <p:txBody>
          <a:bodyPr xmlns:a="http://schemas.openxmlformats.org/drawingml/2006/main" wrap="square" lIns="171450" tIns="171450" rIns="171450" bIns="171450" anchor="ctr">
            <a:noAutofit/>
          </a:bodyPr>
          <a:lstStyle xmlns:a="http://schemas.openxmlformats.org/drawingml/2006/main">
            <a:defPPr algn="l">
              <a:defRPr sz="1875" b="1">
                <a:solidFill>
                  <a:srgbClr val="1D6F8A"/>
                </a:solidFill>
                <a:latin typeface="Lato"/>
                <a:ea typeface="Lato"/>
                <a:cs typeface="Lato"/>
              </a:defRPr>
            </a:defPPr>
          </a:lstStyle>
          <a:p xmlns:a="http://schemas.openxmlformats.org/drawingml/2006/main">
            <a:pPr algn="l">
              <a:defRPr sz="1875" b="1">
                <a:solidFill>
                  <a:srgbClr val="1D6F8A"/>
                </a:solidFill>
                <a:latin typeface="Lato"/>
                <a:ea typeface="Lato"/>
                <a:cs typeface="Lato"/>
              </a:defRPr>
            </a:pPr>
            <a:r>
              <a:rPr sz="1875" b="1">
                <a:solidFill>
                  <a:srgbClr val="1D6F8A"/>
                </a:solidFill>
                <a:latin typeface="Lato"/>
                <a:ea typeface="Lato"/>
                <a:cs typeface="Lato"/>
              </a:rPr>
              <a:t>Multi-condition Whisper-small</a:t>
            </a:r>
          </a:p>
        </p:txBody>
      </p:sp>
      <p:sp>
        <p:nvSpPr>
          <p:cNvPr id="13" name="Add telecom-degraded speech">
            <a:extLst xmlns:a="http://schemas.openxmlformats.org/drawingml/2006/main">
              <a:ext uri="{FF2B5EF4-FFF2-40B4-BE49-F238E27FC236}">
                <a16:creationId xmlns:a16="http://schemas.microsoft.com/office/drawing/2014/main" id="{99E465AD-4839-4753-80E1-7E23F7963FDD}"/>
              </a:ext>
            </a:extLst>
          </p:cNvPr>
          <p:cNvSpPr>
            <a:spLocks xmlns:a="http://schemas.openxmlformats.org/drawingml/2006/main" noGrp="1"/>
          </p:cNvSpPr>
          <p:nvPr/>
        </p:nvSpPr>
        <p:spPr>
          <a:xfrm xmlns:a="http://schemas.openxmlformats.org/drawingml/2006/main">
            <a:off x="5715000" y="2733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B78"/>
                </a:solidFill>
                <a:latin typeface="Lato"/>
                <a:ea typeface="Lato"/>
                <a:cs typeface="Lato"/>
              </a:defRPr>
            </a:defPPr>
          </a:lstStyle>
          <a:p xmlns:a="http://schemas.openxmlformats.org/drawingml/2006/main">
            <a:pPr algn="l">
              <a:defRPr sz="1725" b="0">
                <a:solidFill>
                  <a:srgbClr val="586B78"/>
                </a:solidFill>
                <a:latin typeface="Lato"/>
                <a:ea typeface="Lato"/>
                <a:cs typeface="Lato"/>
              </a:defRPr>
            </a:pPr>
            <a:r>
              <a:rPr sz="1725" b="0">
                <a:solidFill>
                  <a:srgbClr val="586B78"/>
                </a:solidFill>
                <a:latin typeface="Lato"/>
                <a:ea typeface="Lato"/>
                <a:cs typeface="Lato"/>
              </a:rPr>
              <a:t>Add telecom-degraded speech</a:t>
            </a:r>
          </a:p>
        </p:txBody>
      </p:sp>
      <p:sp>
        <p:nvSpPr>
          <p:cNvPr id="15" name="Enhancement + fusion">
            <a:extLst xmlns:a="http://schemas.openxmlformats.org/drawingml/2006/main">
              <a:ext uri="{FF2B5EF4-FFF2-40B4-BE49-F238E27FC236}">
                <a16:creationId xmlns:a16="http://schemas.microsoft.com/office/drawing/2014/main" id="{B3C969A0-55CA-4E25-A568-AB2D485891DB}"/>
              </a:ext>
            </a:extLst>
          </p:cNvPr>
          <p:cNvSpPr>
            <a:spLocks xmlns:a="http://schemas.openxmlformats.org/drawingml/2006/main" noGrp="1"/>
          </p:cNvSpPr>
          <p:nvPr/>
        </p:nvSpPr>
        <p:spPr>
          <a:xfrm xmlns:a="http://schemas.openxmlformats.org/drawingml/2006/main">
            <a:off x="5715000" y="3476625"/>
            <a:ext cx="4762500" cy="647700"/>
          </a:xfrm>
          <a:prstGeom xmlns:a="http://schemas.openxmlformats.org/drawingml/2006/main" prst="rect">
            <a:avLst/>
          </a:prstGeom>
          <a:solidFill xmlns:a="http://schemas.openxmlformats.org/drawingml/2006/main">
            <a:srgbClr val="EEF1F1"/>
          </a:solidFill>
          <a:ln xmlns:a="http://schemas.openxmlformats.org/drawingml/2006/main" w="9525">
            <a:solidFill>
              <a:srgbClr val="D9E5EA"/>
            </a:solidFill>
          </a:ln>
        </p:spPr>
        <p:txBody>
          <a:bodyPr xmlns:a="http://schemas.openxmlformats.org/drawingml/2006/main" wrap="square" lIns="171450" tIns="171450" rIns="171450" bIns="171450" anchor="ctr">
            <a:noAutofit/>
          </a:bodyPr>
          <a:lstStyle xmlns:a="http://schemas.openxmlformats.org/drawingml/2006/main">
            <a:defPPr algn="l">
              <a:defRPr sz="1875" b="1">
                <a:solidFill>
                  <a:srgbClr val="172F42"/>
                </a:solidFill>
                <a:latin typeface="Lato"/>
                <a:ea typeface="Lato"/>
                <a:cs typeface="Lato"/>
              </a:defRPr>
            </a:defPPr>
          </a:lstStyle>
          <a:p xmlns:a="http://schemas.openxmlformats.org/drawingml/2006/main">
            <a:pPr algn="l">
              <a:defRPr sz="1875" b="1">
                <a:solidFill>
                  <a:srgbClr val="172F42"/>
                </a:solidFill>
                <a:latin typeface="Lato"/>
                <a:ea typeface="Lato"/>
                <a:cs typeface="Lato"/>
              </a:defRPr>
            </a:pPr>
            <a:r>
              <a:rPr sz="1875" b="1">
                <a:solidFill>
                  <a:srgbClr val="172F42"/>
                </a:solidFill>
                <a:latin typeface="Lato"/>
                <a:ea typeface="Lato"/>
                <a:cs typeface="Lato"/>
              </a:rPr>
              <a:t>Enhancement + fusion</a:t>
            </a:r>
          </a:p>
        </p:txBody>
      </p:sp>
      <p:sp>
        <p:nvSpPr>
          <p:cNvPr id="16" name="Full mixture + IranSeda">
            <a:extLst xmlns:a="http://schemas.openxmlformats.org/drawingml/2006/main">
              <a:ext uri="{FF2B5EF4-FFF2-40B4-BE49-F238E27FC236}">
                <a16:creationId xmlns:a16="http://schemas.microsoft.com/office/drawing/2014/main" id="{579CA483-56A8-4C4A-8D23-80A5A0BC9284}"/>
              </a:ext>
            </a:extLst>
          </p:cNvPr>
          <p:cNvSpPr>
            <a:spLocks xmlns:a="http://schemas.openxmlformats.org/drawingml/2006/main" noGrp="1"/>
          </p:cNvSpPr>
          <p:nvPr/>
        </p:nvSpPr>
        <p:spPr>
          <a:xfrm xmlns:a="http://schemas.openxmlformats.org/drawingml/2006/main">
            <a:off x="5715000" y="4572000"/>
            <a:ext cx="4762500" cy="647700"/>
          </a:xfrm>
          <a:prstGeom xmlns:a="http://schemas.openxmlformats.org/drawingml/2006/main" prst="rect">
            <a:avLst/>
          </a:prstGeom>
          <a:solidFill xmlns:a="http://schemas.openxmlformats.org/drawingml/2006/main">
            <a:srgbClr val="EEF1F1"/>
          </a:solidFill>
          <a:ln xmlns:a="http://schemas.openxmlformats.org/drawingml/2006/main" w="9525">
            <a:solidFill>
              <a:srgbClr val="D9E5EA"/>
            </a:solidFill>
          </a:ln>
        </p:spPr>
        <p:txBody>
          <a:bodyPr xmlns:a="http://schemas.openxmlformats.org/drawingml/2006/main" wrap="square" lIns="171450" tIns="171450" rIns="171450" bIns="171450" anchor="ctr">
            <a:noAutofit/>
          </a:bodyPr>
          <a:lstStyle xmlns:a="http://schemas.openxmlformats.org/drawingml/2006/main">
            <a:defPPr algn="l">
              <a:defRPr sz="1875" b="1">
                <a:solidFill>
                  <a:srgbClr val="172F42"/>
                </a:solidFill>
                <a:latin typeface="Lato"/>
                <a:ea typeface="Lato"/>
                <a:cs typeface="Lato"/>
              </a:defRPr>
            </a:defPPr>
          </a:lstStyle>
          <a:p xmlns:a="http://schemas.openxmlformats.org/drawingml/2006/main">
            <a:pPr algn="l">
              <a:defRPr sz="1875" b="1">
                <a:solidFill>
                  <a:srgbClr val="172F42"/>
                </a:solidFill>
                <a:latin typeface="Lato"/>
                <a:ea typeface="Lato"/>
                <a:cs typeface="Lato"/>
              </a:defRPr>
            </a:pPr>
            <a:r>
              <a:rPr sz="1875" b="1">
                <a:solidFill>
                  <a:srgbClr val="172F42"/>
                </a:solidFill>
                <a:latin typeface="Lato"/>
                <a:ea typeface="Lato"/>
                <a:cs typeface="Lato"/>
              </a:rPr>
              <a:t>Full mixture + IranSeda</a:t>
            </a:r>
          </a:p>
        </p:txBody>
      </p:sp>
      <p:sp>
        <p:nvSpPr>
          <p:cNvPr id="19" name="Adaptive waveform bridge&#10;Comparator for the fusion">
            <a:extLst xmlns:a="http://schemas.openxmlformats.org/drawingml/2006/main">
              <a:ext uri="{FF2B5EF4-FFF2-40B4-BE49-F238E27FC236}">
                <a16:creationId xmlns:a16="http://schemas.microsoft.com/office/drawing/2014/main" id="{0F93F7AE-C019-4FE4-94BE-A4F350E31261}"/>
              </a:ext>
            </a:extLst>
          </p:cNvPr>
          <p:cNvSpPr>
            <a:spLocks xmlns:a="http://schemas.openxmlformats.org/drawingml/2006/main" noGrp="1"/>
          </p:cNvSpPr>
          <p:nvPr/>
        </p:nvSpPr>
        <p:spPr>
          <a:xfrm xmlns:a="http://schemas.openxmlformats.org/drawingml/2006/main">
            <a:off x="609600" y="361950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2F42"/>
                </a:solidFill>
                <a:latin typeface="Lato"/>
                <a:ea typeface="Lato"/>
                <a:cs typeface="Lato"/>
              </a:defRPr>
            </a:defPPr>
          </a:lstStyle>
          <a:p xmlns:a="http://schemas.openxmlformats.org/drawingml/2006/main">
            <a:pPr algn="l">
              <a:defRPr sz="1875" b="1">
                <a:solidFill>
                  <a:srgbClr val="172F42"/>
                </a:solidFill>
                <a:latin typeface="Lato"/>
                <a:ea typeface="Lato"/>
                <a:cs typeface="Lato"/>
              </a:defRPr>
            </a:pPr>
            <a:r>
              <a:rPr sz="1875" b="1">
                <a:solidFill>
                  <a:srgbClr val="172F42"/>
                </a:solidFill>
                <a:latin typeface="Lato"/>
                <a:ea typeface="Lato"/>
                <a:cs typeface="Lato"/>
              </a:rPr>
              <a:t>Adaptive waveform bridge</a:t>
            </a:r>
          </a:p>
          <a:p xmlns:a="http://schemas.openxmlformats.org/drawingml/2006/main">
            <a:pPr algn="l">
              <a:defRPr sz="1875" b="1">
                <a:solidFill>
                  <a:srgbClr val="172F42"/>
                </a:solidFill>
                <a:latin typeface="Lato"/>
                <a:ea typeface="Lato"/>
                <a:cs typeface="Lato"/>
              </a:defRPr>
            </a:pPr>
            <a:r>
              <a:rPr sz="1875" b="1">
                <a:solidFill>
                  <a:srgbClr val="172F42"/>
                </a:solidFill>
                <a:latin typeface="Lato"/>
                <a:ea typeface="Lato"/>
                <a:cs typeface="Lato"/>
              </a:rPr>
              <a:t>Comparator for the fusion branch</a:t>
            </a:r>
          </a:p>
        </p:txBody>
      </p:sp>
      <p:sp>
        <p:nvSpPr>
          <p:cNvPr id="20" name="Fusion and IranSeda are separate branches. No comb">
            <a:extLst xmlns:a="http://schemas.openxmlformats.org/drawingml/2006/main">
              <a:ext uri="{FF2B5EF4-FFF2-40B4-BE49-F238E27FC236}">
                <a16:creationId xmlns:a16="http://schemas.microsoft.com/office/drawing/2014/main" id="{87C55E42-8533-4D18-8A37-3DD78E7CD045}"/>
              </a:ext>
            </a:extLst>
          </p:cNvPr>
          <p:cNvSpPr>
            <a:spLocks xmlns:a="http://schemas.openxmlformats.org/drawingml/2006/main" noGrp="1"/>
          </p:cNvSpPr>
          <p:nvPr/>
        </p:nvSpPr>
        <p:spPr>
          <a:xfrm xmlns:a="http://schemas.openxmlformats.org/drawingml/2006/main">
            <a:off x="609600" y="56673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B78"/>
                </a:solidFill>
                <a:latin typeface="Lato"/>
                <a:ea typeface="Lato"/>
                <a:cs typeface="Lato"/>
              </a:defRPr>
            </a:defPPr>
          </a:lstStyle>
          <a:p xmlns:a="http://schemas.openxmlformats.org/drawingml/2006/main">
            <a:pPr algn="l">
              <a:defRPr sz="1725" b="0">
                <a:solidFill>
                  <a:srgbClr val="586B78"/>
                </a:solidFill>
                <a:latin typeface="Lato"/>
                <a:ea typeface="Lato"/>
                <a:cs typeface="Lato"/>
              </a:defRPr>
            </a:pPr>
            <a:r>
              <a:rPr sz="1725" b="0">
                <a:solidFill>
                  <a:srgbClr val="586B78"/>
                </a:solidFill>
                <a:latin typeface="Lato"/>
                <a:ea typeface="Lato"/>
                <a:cs typeface="Lato"/>
              </a:rPr>
              <a:t>Fusion and IranSeda are separate branches. No combined system was evaluated.</a:t>
            </a:r>
          </a:p>
        </p:txBody>
      </p:sp>
    </p:spTree>
    <p:extLst>
      <p:ext uri="{BB962C8B-B14F-4D97-AF65-F5344CB8AC3E}">
        <p14:creationId xmlns:p14="http://schemas.microsoft.com/office/powerpoint/2010/main" val="1041551889"/>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D975E89-0626-4868-BFD6-D94D0A7218A5}"/>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RESEARCH CONTEXT</a:t>
            </a:r>
          </a:p>
        </p:txBody>
      </p:sp>
      <p:sp>
        <p:nvSpPr>
          <p:cNvPr id="5" name="">
            <a:extLst xmlns:a="http://schemas.openxmlformats.org/drawingml/2006/main">
              <a:ext uri="{FF2B5EF4-FFF2-40B4-BE49-F238E27FC236}">
                <a16:creationId xmlns:a16="http://schemas.microsoft.com/office/drawing/2014/main" id="{86ECB85C-EA5C-4067-83C9-9D8C49B3DF7B}"/>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225"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Training data</a:t>
            </a:r>
          </a:p>
        </p:txBody>
      </p:sp>
      <p:pic>
        <p:nvPicPr>
          <p:cNvPr id="6" name="">
            <a:extLst xmlns:a="http://schemas.openxmlformats.org/drawingml/2006/main">
              <a:ext uri="{FF2B5EF4-FFF2-40B4-BE49-F238E27FC236}">
                <a16:creationId xmlns:a16="http://schemas.microsoft.com/office/drawing/2014/main" id="{0C551298-A280-4BA0-A4CE-2A2CA49B8AA5}"/>
              </a:ext>
            </a:extLst>
          </p:cNvPr>
          <p:cNvPicPr>
            <a:picLocks xmlns:a="http://schemas.openxmlformats.org/drawingml/2006/main" noChangeAspect="1"/>
          </p:cNvPicPr>
          <p:nvPr/>
        </p:nvPicPr>
        <p:blipFill>
          <a:blip xmlns:r="http://schemas.openxmlformats.org/officeDocument/2006/relationships" xmlns:a="http://schemas.openxmlformats.org/drawingml/2006/main" r:embed="R7f81935405f64f87"/>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7CA63E3-CDCC-4143-97DD-56376EB5E33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FE77E8BC-BBA1-4567-8DA7-92835A5359AE}"/>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80FA4B04-C1AD-485E-8D72-1DCB90FDF7DD}"/>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4 / 20</a:t>
            </a:r>
          </a:p>
        </p:txBody>
      </p:sp>
      <p:sp>
        <p:nvSpPr>
          <p:cNvPr id="10" name="Base Persian speech">
            <a:extLst xmlns:a="http://schemas.openxmlformats.org/drawingml/2006/main">
              <a:ext uri="{FF2B5EF4-FFF2-40B4-BE49-F238E27FC236}">
                <a16:creationId xmlns:a16="http://schemas.microsoft.com/office/drawing/2014/main" id="{94E0D7D3-A8AE-4E7D-B091-7A93F1216146}"/>
              </a:ext>
            </a:extLst>
          </p:cNvPr>
          <p:cNvSpPr>
            <a:spLocks xmlns:a="http://schemas.openxmlformats.org/drawingml/2006/main" noGrp="1"/>
          </p:cNvSpPr>
          <p:nvPr/>
        </p:nvSpPr>
        <p:spPr>
          <a:xfrm xmlns:a="http://schemas.openxmlformats.org/drawingml/2006/main">
            <a:off x="609600" y="20002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D6F8A"/>
                </a:solidFill>
                <a:latin typeface="Lato"/>
                <a:ea typeface="Lato"/>
                <a:cs typeface="Lato"/>
              </a:defRPr>
            </a:defPPr>
          </a:lstStyle>
          <a:p xmlns:a="http://schemas.openxmlformats.org/drawingml/2006/main">
            <a:pPr algn="l">
              <a:defRPr sz="2250" b="1">
                <a:solidFill>
                  <a:srgbClr val="1D6F8A"/>
                </a:solidFill>
                <a:latin typeface="Lato"/>
                <a:ea typeface="Lato"/>
                <a:cs typeface="Lato"/>
              </a:defRPr>
            </a:pPr>
            <a:r>
              <a:rPr sz="2250" b="1">
                <a:solidFill>
                  <a:srgbClr val="1D6F8A"/>
                </a:solidFill>
                <a:latin typeface="Lato"/>
                <a:ea typeface="Lato"/>
                <a:cs typeface="Lato"/>
              </a:rPr>
              <a:t>Base Persian speech</a:t>
            </a:r>
          </a:p>
        </p:txBody>
      </p:sp>
      <p:sp>
        <p:nvSpPr>
          <p:cNvPr id="11" name="Common Voice Persian 25&#10;Limited FarsSpon&#10;FLEURS Pe">
            <a:extLst xmlns:a="http://schemas.openxmlformats.org/drawingml/2006/main">
              <a:ext uri="{FF2B5EF4-FFF2-40B4-BE49-F238E27FC236}">
                <a16:creationId xmlns:a16="http://schemas.microsoft.com/office/drawing/2014/main" id="{CE9A5D4D-B4DA-4418-B95A-FFEC7C7F74A9}"/>
              </a:ext>
            </a:extLst>
          </p:cNvPr>
          <p:cNvSpPr>
            <a:spLocks xmlns:a="http://schemas.openxmlformats.org/drawingml/2006/main" noGrp="1"/>
          </p:cNvSpPr>
          <p:nvPr/>
        </p:nvSpPr>
        <p:spPr>
          <a:xfrm xmlns:a="http://schemas.openxmlformats.org/drawingml/2006/main">
            <a:off x="609600" y="2667000"/>
            <a:ext cx="476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F42"/>
                </a:solidFill>
                <a:latin typeface="Lato"/>
                <a:ea typeface="Lato"/>
                <a:cs typeface="Lato"/>
              </a:defRPr>
            </a:defPPr>
          </a:lstStyle>
          <a:p xmlns:a="http://schemas.openxmlformats.org/drawingml/2006/main">
            <a:pPr algn="l">
              <a:defRPr sz="2250" b="0">
                <a:solidFill>
                  <a:srgbClr val="172F42"/>
                </a:solidFill>
                <a:latin typeface="Lato"/>
                <a:ea typeface="Lato"/>
                <a:cs typeface="Lato"/>
              </a:defRPr>
            </a:pPr>
            <a:r>
              <a:rPr sz="2250" b="0">
                <a:solidFill>
                  <a:srgbClr val="172F42"/>
                </a:solidFill>
                <a:latin typeface="Lato"/>
                <a:ea typeface="Lato"/>
                <a:cs typeface="Lato"/>
              </a:rPr>
              <a:t>Common Voice Persian 25</a:t>
            </a:r>
          </a:p>
          <a:p xmlns:a="http://schemas.openxmlformats.org/drawingml/2006/main">
            <a:pPr algn="l">
              <a:defRPr sz="2250" b="0">
                <a:solidFill>
                  <a:srgbClr val="172F42"/>
                </a:solidFill>
                <a:latin typeface="Lato"/>
                <a:ea typeface="Lato"/>
                <a:cs typeface="Lato"/>
              </a:defRPr>
            </a:pPr>
            <a:r>
              <a:rPr sz="2250" b="0">
                <a:solidFill>
                  <a:srgbClr val="172F42"/>
                </a:solidFill>
                <a:latin typeface="Lato"/>
                <a:ea typeface="Lato"/>
                <a:cs typeface="Lato"/>
              </a:rPr>
              <a:t>Limited FarsSpon</a:t>
            </a:r>
          </a:p>
          <a:p xmlns:a="http://schemas.openxmlformats.org/drawingml/2006/main">
            <a:pPr algn="l">
              <a:defRPr sz="2250" b="0">
                <a:solidFill>
                  <a:srgbClr val="172F42"/>
                </a:solidFill>
                <a:latin typeface="Lato"/>
                <a:ea typeface="Lato"/>
                <a:cs typeface="Lato"/>
              </a:defRPr>
            </a:pPr>
            <a:r>
              <a:rPr sz="2250" b="0">
                <a:solidFill>
                  <a:srgbClr val="172F42"/>
                </a:solidFill>
                <a:latin typeface="Lato"/>
                <a:ea typeface="Lato"/>
                <a:cs typeface="Lato"/>
              </a:rPr>
              <a:t>FLEURS Persian</a:t>
            </a:r>
          </a:p>
        </p:txBody>
      </p:sp>
      <p:sp>
        <p:nvSpPr>
          <p:cNvPr id="12" name="Constructed long examples">
            <a:extLst xmlns:a="http://schemas.openxmlformats.org/drawingml/2006/main">
              <a:ext uri="{FF2B5EF4-FFF2-40B4-BE49-F238E27FC236}">
                <a16:creationId xmlns:a16="http://schemas.microsoft.com/office/drawing/2014/main" id="{76604994-D460-44F1-AA97-FCF141728A3C}"/>
              </a:ext>
            </a:extLst>
          </p:cNvPr>
          <p:cNvSpPr>
            <a:spLocks xmlns:a="http://schemas.openxmlformats.org/drawingml/2006/main" noGrp="1"/>
          </p:cNvSpPr>
          <p:nvPr/>
        </p:nvSpPr>
        <p:spPr>
          <a:xfrm xmlns:a="http://schemas.openxmlformats.org/drawingml/2006/main">
            <a:off x="6286500" y="20002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D6F8A"/>
                </a:solidFill>
                <a:latin typeface="Lato"/>
                <a:ea typeface="Lato"/>
                <a:cs typeface="Lato"/>
              </a:defRPr>
            </a:defPPr>
          </a:lstStyle>
          <a:p xmlns:a="http://schemas.openxmlformats.org/drawingml/2006/main">
            <a:pPr algn="l">
              <a:defRPr sz="2250" b="1">
                <a:solidFill>
                  <a:srgbClr val="1D6F8A"/>
                </a:solidFill>
                <a:latin typeface="Lato"/>
                <a:ea typeface="Lato"/>
                <a:cs typeface="Lato"/>
              </a:defRPr>
            </a:pPr>
            <a:r>
              <a:rPr sz="2250" b="1">
                <a:solidFill>
                  <a:srgbClr val="1D6F8A"/>
                </a:solidFill>
                <a:latin typeface="Lato"/>
                <a:ea typeface="Lato"/>
                <a:cs typeface="Lato"/>
              </a:rPr>
              <a:t>Constructed long examples</a:t>
            </a:r>
          </a:p>
        </p:txBody>
      </p:sp>
      <p:sp>
        <p:nvSpPr>
          <p:cNvPr id="13" name="Join 2–4 clips within a split&#10;More than 5, at most">
            <a:extLst xmlns:a="http://schemas.openxmlformats.org/drawingml/2006/main">
              <a:ext uri="{FF2B5EF4-FFF2-40B4-BE49-F238E27FC236}">
                <a16:creationId xmlns:a16="http://schemas.microsoft.com/office/drawing/2014/main" id="{9EBB61DE-232F-446F-87BF-948C297323AC}"/>
              </a:ext>
            </a:extLst>
          </p:cNvPr>
          <p:cNvSpPr>
            <a:spLocks xmlns:a="http://schemas.openxmlformats.org/drawingml/2006/main" noGrp="1"/>
          </p:cNvSpPr>
          <p:nvPr/>
        </p:nvSpPr>
        <p:spPr>
          <a:xfrm xmlns:a="http://schemas.openxmlformats.org/drawingml/2006/main">
            <a:off x="6286500" y="2667000"/>
            <a:ext cx="5238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F42"/>
                </a:solidFill>
                <a:latin typeface="Lato"/>
                <a:ea typeface="Lato"/>
                <a:cs typeface="Lato"/>
              </a:defRPr>
            </a:defPPr>
          </a:lstStyle>
          <a:p xmlns:a="http://schemas.openxmlformats.org/drawingml/2006/main">
            <a:pPr algn="l">
              <a:defRPr sz="2100" b="0">
                <a:solidFill>
                  <a:srgbClr val="172F42"/>
                </a:solidFill>
                <a:latin typeface="Lato"/>
                <a:ea typeface="Lato"/>
                <a:cs typeface="Lato"/>
              </a:defRPr>
            </a:pPr>
            <a:r>
              <a:rPr sz="2100" b="0">
                <a:solidFill>
                  <a:srgbClr val="172F42"/>
                </a:solidFill>
                <a:latin typeface="Lato"/>
                <a:ea typeface="Lato"/>
                <a:cs typeface="Lato"/>
              </a:rPr>
              <a:t>Join 2–4 clips within a split</a:t>
            </a:r>
          </a:p>
          <a:p xmlns:a="http://schemas.openxmlformats.org/drawingml/2006/main">
            <a:pPr algn="l">
              <a:defRPr sz="2100" b="0">
                <a:solidFill>
                  <a:srgbClr val="172F42"/>
                </a:solidFill>
                <a:latin typeface="Lato"/>
                <a:ea typeface="Lato"/>
                <a:cs typeface="Lato"/>
              </a:defRPr>
            </a:pPr>
            <a:r>
              <a:rPr sz="2100" b="0">
                <a:solidFill>
                  <a:srgbClr val="172F42"/>
                </a:solidFill>
                <a:latin typeface="Lato"/>
                <a:ea typeface="Lato"/>
                <a:cs typeface="Lato"/>
              </a:rPr>
              <a:t>More than 5, at most 20 seconds</a:t>
            </a:r>
          </a:p>
          <a:p xmlns:a="http://schemas.openxmlformats.org/drawingml/2006/main">
            <a:pPr algn="l">
              <a:defRPr sz="2100" b="0">
                <a:solidFill>
                  <a:srgbClr val="172F42"/>
                </a:solidFill>
                <a:latin typeface="Lato"/>
                <a:ea typeface="Lato"/>
                <a:cs typeface="Lato"/>
              </a:defRPr>
            </a:pPr>
            <a:r>
              <a:rPr sz="2100" b="0">
                <a:solidFill>
                  <a:srgbClr val="172F42"/>
                </a:solidFill>
                <a:latin typeface="Lato"/>
                <a:ea typeface="Lato"/>
                <a:cs typeface="Lato"/>
              </a:rPr>
              <a:t>Already in the ordinary baseline</a:t>
            </a:r>
          </a:p>
        </p:txBody>
      </p:sp>
      <p:sp>
        <p:nvSpPr>
          <p:cNvPr id="14" name="">
            <a:extLst xmlns:a="http://schemas.openxmlformats.org/drawingml/2006/main">
              <a:ext uri="{FF2B5EF4-FFF2-40B4-BE49-F238E27FC236}">
                <a16:creationId xmlns:a16="http://schemas.microsoft.com/office/drawing/2014/main" id="{6AC4FA3A-14ED-4AA5-9890-320FEBF6AFE8}"/>
              </a:ext>
            </a:extLst>
          </p:cNvPr>
          <p:cNvSpPr>
            <a:spLocks xmlns:a="http://schemas.openxmlformats.org/drawingml/2006/main" noGrp="1"/>
          </p:cNvSpPr>
          <p:nvPr/>
        </p:nvSpPr>
        <p:spPr>
          <a:xfrm xmlns:a="http://schemas.openxmlformats.org/drawingml/2006/main">
            <a:off x="609600" y="4619625"/>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15" name="Mono 16 kHz audio and shared Persian text normaliz">
            <a:extLst xmlns:a="http://schemas.openxmlformats.org/drawingml/2006/main">
              <a:ext uri="{FF2B5EF4-FFF2-40B4-BE49-F238E27FC236}">
                <a16:creationId xmlns:a16="http://schemas.microsoft.com/office/drawing/2014/main" id="{225BDA92-45BD-48AD-B596-2948A24CD77B}"/>
              </a:ext>
            </a:extLst>
          </p:cNvPr>
          <p:cNvSpPr>
            <a:spLocks xmlns:a="http://schemas.openxmlformats.org/drawingml/2006/main" noGrp="1"/>
          </p:cNvSpPr>
          <p:nvPr/>
        </p:nvSpPr>
        <p:spPr>
          <a:xfrm xmlns:a="http://schemas.openxmlformats.org/drawingml/2006/main">
            <a:off x="609600" y="49053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D6F8A"/>
                </a:solidFill>
                <a:latin typeface="Lato"/>
                <a:ea typeface="Lato"/>
                <a:cs typeface="Lato"/>
              </a:defRPr>
            </a:defPPr>
          </a:lstStyle>
          <a:p xmlns:a="http://schemas.openxmlformats.org/drawingml/2006/main">
            <a:pPr algn="l">
              <a:defRPr sz="2025" b="1">
                <a:solidFill>
                  <a:srgbClr val="1D6F8A"/>
                </a:solidFill>
                <a:latin typeface="Lato"/>
                <a:ea typeface="Lato"/>
                <a:cs typeface="Lato"/>
              </a:defRPr>
            </a:pPr>
            <a:r>
              <a:rPr sz="2025" b="1">
                <a:solidFill>
                  <a:srgbClr val="1D6F8A"/>
                </a:solidFill>
                <a:latin typeface="Lato"/>
                <a:ea typeface="Lato"/>
                <a:cs typeface="Lato"/>
              </a:rPr>
              <a:t>Mono 16 kHz audio and shared Persian text normalization</a:t>
            </a:r>
          </a:p>
        </p:txBody>
      </p:sp>
      <p:sp>
        <p:nvSpPr>
          <p:cNvPr id="16" name="Multi-condition training adds degraded speech to t">
            <a:extLst xmlns:a="http://schemas.openxmlformats.org/drawingml/2006/main">
              <a:ext uri="{FF2B5EF4-FFF2-40B4-BE49-F238E27FC236}">
                <a16:creationId xmlns:a16="http://schemas.microsoft.com/office/drawing/2014/main" id="{04C06C8D-718E-47E8-842C-1D5F3FC7BDAD}"/>
              </a:ext>
            </a:extLst>
          </p:cNvPr>
          <p:cNvSpPr>
            <a:spLocks xmlns:a="http://schemas.openxmlformats.org/drawingml/2006/main" noGrp="1"/>
          </p:cNvSpPr>
          <p:nvPr/>
        </p:nvSpPr>
        <p:spPr>
          <a:xfrm xmlns:a="http://schemas.openxmlformats.org/drawingml/2006/main">
            <a:off x="609600" y="5572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Lato"/>
                <a:ea typeface="Lato"/>
                <a:cs typeface="Lato"/>
              </a:defRPr>
            </a:defPPr>
          </a:lstStyle>
          <a:p xmlns:a="http://schemas.openxmlformats.org/drawingml/2006/main">
            <a:pPr algn="l">
              <a:defRPr sz="1800" b="0">
                <a:solidFill>
                  <a:srgbClr val="586B78"/>
                </a:solidFill>
                <a:latin typeface="Lato"/>
                <a:ea typeface="Lato"/>
                <a:cs typeface="Lato"/>
              </a:defRPr>
            </a:pPr>
            <a:r>
              <a:rPr sz="1800" b="0">
                <a:solidFill>
                  <a:srgbClr val="586B78"/>
                </a:solidFill>
                <a:latin typeface="Lato"/>
                <a:ea typeface="Lato"/>
                <a:cs typeface="Lato"/>
              </a:rPr>
              <a:t>Multi-condition training adds degraded speech to this foundation.</a:t>
            </a:r>
          </a:p>
        </p:txBody>
      </p:sp>
    </p:spTree>
    <p:extLst>
      <p:ext uri="{BB962C8B-B14F-4D97-AF65-F5344CB8AC3E}">
        <p14:creationId xmlns:p14="http://schemas.microsoft.com/office/powerpoint/2010/main" val="1200284876"/>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B145EFC-648B-4F2A-AA4E-6B90F5D1B7D3}"/>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RESEARCH CONTEXT</a:t>
            </a:r>
          </a:p>
        </p:txBody>
      </p:sp>
      <p:sp>
        <p:nvSpPr>
          <p:cNvPr id="5" name="">
            <a:extLst xmlns:a="http://schemas.openxmlformats.org/drawingml/2006/main">
              <a:ext uri="{FF2B5EF4-FFF2-40B4-BE49-F238E27FC236}">
                <a16:creationId xmlns:a16="http://schemas.microsoft.com/office/drawing/2014/main" id="{76C0E7F5-6762-49F7-B70B-8C2A8AFFABCA}"/>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225"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Evaluation on real calls and general speech</a:t>
            </a:r>
          </a:p>
        </p:txBody>
      </p:sp>
      <p:pic>
        <p:nvPicPr>
          <p:cNvPr id="6" name="">
            <a:extLst xmlns:a="http://schemas.openxmlformats.org/drawingml/2006/main">
              <a:ext uri="{FF2B5EF4-FFF2-40B4-BE49-F238E27FC236}">
                <a16:creationId xmlns:a16="http://schemas.microsoft.com/office/drawing/2014/main" id="{A21CA836-CB5D-4995-AEE9-27A54BBD4058}"/>
              </a:ext>
            </a:extLst>
          </p:cNvPr>
          <p:cNvPicPr>
            <a:picLocks xmlns:a="http://schemas.openxmlformats.org/drawingml/2006/main" noChangeAspect="1"/>
          </p:cNvPicPr>
          <p:nvPr/>
        </p:nvPicPr>
        <p:blipFill>
          <a:blip xmlns:r="http://schemas.openxmlformats.org/officeDocument/2006/relationships" xmlns:a="http://schemas.openxmlformats.org/drawingml/2006/main" r:embed="R2e296242607b420b"/>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302934A-3C33-4243-9F25-F133F6EC0D01}"/>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5FBDCFEF-3EE0-487E-84C2-E5A060B8929E}"/>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905ADDF1-3BE5-4181-9FAF-BE119F0EE602}"/>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5 / 20</a:t>
            </a:r>
          </a:p>
        </p:txBody>
      </p:sp>
      <p:sp>
        <p:nvSpPr>
          <p:cNvPr id="10" name="10,044">
            <a:extLst xmlns:a="http://schemas.openxmlformats.org/drawingml/2006/main">
              <a:ext uri="{FF2B5EF4-FFF2-40B4-BE49-F238E27FC236}">
                <a16:creationId xmlns:a16="http://schemas.microsoft.com/office/drawing/2014/main" id="{011BB5BE-5871-4147-92E0-153BEB436778}"/>
              </a:ext>
            </a:extLst>
          </p:cNvPr>
          <p:cNvSpPr>
            <a:spLocks xmlns:a="http://schemas.openxmlformats.org/drawingml/2006/main" noGrp="1"/>
          </p:cNvSpPr>
          <p:nvPr/>
        </p:nvSpPr>
        <p:spPr>
          <a:xfrm xmlns:a="http://schemas.openxmlformats.org/drawingml/2006/main">
            <a:off x="609600" y="1857375"/>
            <a:ext cx="476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1D6F8A"/>
                </a:solidFill>
                <a:latin typeface="Lato"/>
                <a:ea typeface="Lato"/>
                <a:cs typeface="Lato"/>
              </a:defRPr>
            </a:defPPr>
          </a:lstStyle>
          <a:p xmlns:a="http://schemas.openxmlformats.org/drawingml/2006/main">
            <a:pPr algn="l">
              <a:defRPr sz="5400" b="1">
                <a:solidFill>
                  <a:srgbClr val="1D6F8A"/>
                </a:solidFill>
                <a:latin typeface="Lato"/>
                <a:ea typeface="Lato"/>
                <a:cs typeface="Lato"/>
              </a:defRPr>
            </a:pPr>
            <a:r>
              <a:rPr sz="5400" b="1">
                <a:solidFill>
                  <a:srgbClr val="1D6F8A"/>
                </a:solidFill>
                <a:latin typeface="Lato"/>
                <a:ea typeface="Lato"/>
                <a:cs typeface="Lato"/>
              </a:rPr>
              <a:t>10,044</a:t>
            </a:r>
          </a:p>
        </p:txBody>
      </p:sp>
      <p:sp>
        <p:nvSpPr>
          <p:cNvPr id="11" name="AGFarsdat real telephone / VoIP examples">
            <a:extLst xmlns:a="http://schemas.openxmlformats.org/drawingml/2006/main">
              <a:ext uri="{FF2B5EF4-FFF2-40B4-BE49-F238E27FC236}">
                <a16:creationId xmlns:a16="http://schemas.microsoft.com/office/drawing/2014/main" id="{20FB0E4B-FFBA-4242-8DF8-C86FBCE75959}"/>
              </a:ext>
            </a:extLst>
          </p:cNvPr>
          <p:cNvSpPr>
            <a:spLocks xmlns:a="http://schemas.openxmlformats.org/drawingml/2006/main" noGrp="1"/>
          </p:cNvSpPr>
          <p:nvPr/>
        </p:nvSpPr>
        <p:spPr>
          <a:xfrm xmlns:a="http://schemas.openxmlformats.org/drawingml/2006/main">
            <a:off x="609600" y="285750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F42"/>
                </a:solidFill>
                <a:latin typeface="Lato"/>
                <a:ea typeface="Lato"/>
                <a:cs typeface="Lato"/>
              </a:defRPr>
            </a:defPPr>
          </a:lstStyle>
          <a:p xmlns:a="http://schemas.openxmlformats.org/drawingml/2006/main">
            <a:pPr algn="l">
              <a:defRPr sz="2175" b="1">
                <a:solidFill>
                  <a:srgbClr val="172F42"/>
                </a:solidFill>
                <a:latin typeface="Lato"/>
                <a:ea typeface="Lato"/>
                <a:cs typeface="Lato"/>
              </a:defRPr>
            </a:pPr>
            <a:r>
              <a:rPr sz="2175" b="1">
                <a:solidFill>
                  <a:srgbClr val="172F42"/>
                </a:solidFill>
                <a:latin typeface="Lato"/>
                <a:ea typeface="Lato"/>
                <a:cs typeface="Lato"/>
              </a:rPr>
              <a:t>AGFarsdat real telephone / VoIP examples</a:t>
            </a:r>
          </a:p>
        </p:txBody>
      </p:sp>
      <p:sp>
        <p:nvSpPr>
          <p:cNvPr id="12" name="Held out from training and model selection">
            <a:extLst xmlns:a="http://schemas.openxmlformats.org/drawingml/2006/main">
              <a:ext uri="{FF2B5EF4-FFF2-40B4-BE49-F238E27FC236}">
                <a16:creationId xmlns:a16="http://schemas.microsoft.com/office/drawing/2014/main" id="{DA25870C-B192-440A-8067-4AFFB5C115C1}"/>
              </a:ext>
            </a:extLst>
          </p:cNvPr>
          <p:cNvSpPr>
            <a:spLocks xmlns:a="http://schemas.openxmlformats.org/drawingml/2006/main" noGrp="1"/>
          </p:cNvSpPr>
          <p:nvPr/>
        </p:nvSpPr>
        <p:spPr>
          <a:xfrm xmlns:a="http://schemas.openxmlformats.org/drawingml/2006/main">
            <a:off x="609600" y="39052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B78"/>
                </a:solidFill>
                <a:latin typeface="Lato"/>
                <a:ea typeface="Lato"/>
                <a:cs typeface="Lato"/>
              </a:defRPr>
            </a:defPPr>
          </a:lstStyle>
          <a:p xmlns:a="http://schemas.openxmlformats.org/drawingml/2006/main">
            <a:pPr algn="l">
              <a:defRPr sz="1875" b="0">
                <a:solidFill>
                  <a:srgbClr val="586B78"/>
                </a:solidFill>
                <a:latin typeface="Lato"/>
                <a:ea typeface="Lato"/>
                <a:cs typeface="Lato"/>
              </a:defRPr>
            </a:pPr>
            <a:r>
              <a:rPr sz="1875" b="0">
                <a:solidFill>
                  <a:srgbClr val="586B78"/>
                </a:solidFill>
                <a:latin typeface="Lato"/>
                <a:ea typeface="Lato"/>
                <a:cs typeface="Lato"/>
              </a:rPr>
              <a:t>Held out from training and model selection</a:t>
            </a:r>
          </a:p>
        </p:txBody>
      </p:sp>
      <p:sp>
        <p:nvSpPr>
          <p:cNvPr id="13" name="General-speech evaluation">
            <a:extLst xmlns:a="http://schemas.openxmlformats.org/drawingml/2006/main">
              <a:ext uri="{FF2B5EF4-FFF2-40B4-BE49-F238E27FC236}">
                <a16:creationId xmlns:a16="http://schemas.microsoft.com/office/drawing/2014/main" id="{5607A428-117D-4416-BD7A-68470680769B}"/>
              </a:ext>
            </a:extLst>
          </p:cNvPr>
          <p:cNvSpPr>
            <a:spLocks xmlns:a="http://schemas.openxmlformats.org/drawingml/2006/main" noGrp="1"/>
          </p:cNvSpPr>
          <p:nvPr/>
        </p:nvSpPr>
        <p:spPr>
          <a:xfrm xmlns:a="http://schemas.openxmlformats.org/drawingml/2006/main">
            <a:off x="6286500" y="20002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D6F8A"/>
                </a:solidFill>
                <a:latin typeface="Lato"/>
                <a:ea typeface="Lato"/>
                <a:cs typeface="Lato"/>
              </a:defRPr>
            </a:defPPr>
          </a:lstStyle>
          <a:p xmlns:a="http://schemas.openxmlformats.org/drawingml/2006/main">
            <a:pPr algn="l">
              <a:defRPr sz="2250" b="1">
                <a:solidFill>
                  <a:srgbClr val="1D6F8A"/>
                </a:solidFill>
                <a:latin typeface="Lato"/>
                <a:ea typeface="Lato"/>
                <a:cs typeface="Lato"/>
              </a:defRPr>
            </a:pPr>
            <a:r>
              <a:rPr sz="2250" b="1">
                <a:solidFill>
                  <a:srgbClr val="1D6F8A"/>
                </a:solidFill>
                <a:latin typeface="Lato"/>
                <a:ea typeface="Lato"/>
                <a:cs typeface="Lato"/>
              </a:rPr>
              <a:t>General-speech evaluation</a:t>
            </a:r>
          </a:p>
        </p:txBody>
      </p:sp>
      <p:sp>
        <p:nvSpPr>
          <p:cNvPr id="14" name="Common Voice Persian 25&#10;FLEURS Persian&#10;PersianSpee">
            <a:extLst xmlns:a="http://schemas.openxmlformats.org/drawingml/2006/main">
              <a:ext uri="{FF2B5EF4-FFF2-40B4-BE49-F238E27FC236}">
                <a16:creationId xmlns:a16="http://schemas.microsoft.com/office/drawing/2014/main" id="{B11D41B7-A793-49D2-9537-A9CDD78D5850}"/>
              </a:ext>
            </a:extLst>
          </p:cNvPr>
          <p:cNvSpPr>
            <a:spLocks xmlns:a="http://schemas.openxmlformats.org/drawingml/2006/main" noGrp="1"/>
          </p:cNvSpPr>
          <p:nvPr/>
        </p:nvSpPr>
        <p:spPr>
          <a:xfrm xmlns:a="http://schemas.openxmlformats.org/drawingml/2006/main">
            <a:off x="6286500" y="2609850"/>
            <a:ext cx="5238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F42"/>
                </a:solidFill>
                <a:latin typeface="Lato"/>
                <a:ea typeface="Lato"/>
                <a:cs typeface="Lato"/>
              </a:defRPr>
            </a:defPPr>
          </a:lstStyle>
          <a:p xmlns:a="http://schemas.openxmlformats.org/drawingml/2006/main">
            <a:pPr algn="l">
              <a:defRPr sz="2025" b="0">
                <a:solidFill>
                  <a:srgbClr val="172F42"/>
                </a:solidFill>
                <a:latin typeface="Lato"/>
                <a:ea typeface="Lato"/>
                <a:cs typeface="Lato"/>
              </a:defRPr>
            </a:pPr>
            <a:r>
              <a:rPr sz="2025" b="0">
                <a:solidFill>
                  <a:srgbClr val="172F42"/>
                </a:solidFill>
                <a:latin typeface="Lato"/>
                <a:ea typeface="Lato"/>
                <a:cs typeface="Lato"/>
              </a:rPr>
              <a:t>Common Voice Persian 25</a:t>
            </a:r>
          </a:p>
          <a:p xmlns:a="http://schemas.openxmlformats.org/drawingml/2006/main">
            <a:pPr algn="l">
              <a:defRPr sz="2025" b="0">
                <a:solidFill>
                  <a:srgbClr val="172F42"/>
                </a:solidFill>
                <a:latin typeface="Lato"/>
                <a:ea typeface="Lato"/>
                <a:cs typeface="Lato"/>
              </a:defRPr>
            </a:pPr>
            <a:r>
              <a:rPr sz="2025" b="0">
                <a:solidFill>
                  <a:srgbClr val="172F42"/>
                </a:solidFill>
                <a:latin typeface="Lato"/>
                <a:ea typeface="Lato"/>
                <a:cs typeface="Lato"/>
              </a:rPr>
              <a:t>FLEURS Persian</a:t>
            </a:r>
          </a:p>
          <a:p xmlns:a="http://schemas.openxmlformats.org/drawingml/2006/main">
            <a:pPr algn="l">
              <a:defRPr sz="2025" b="0">
                <a:solidFill>
                  <a:srgbClr val="172F42"/>
                </a:solidFill>
                <a:latin typeface="Lato"/>
                <a:ea typeface="Lato"/>
                <a:cs typeface="Lato"/>
              </a:defRPr>
            </a:pPr>
            <a:r>
              <a:rPr sz="2025" b="0">
                <a:solidFill>
                  <a:srgbClr val="172F42"/>
                </a:solidFill>
                <a:latin typeface="Lato"/>
                <a:ea typeface="Lato"/>
                <a:cs typeface="Lato"/>
              </a:rPr>
              <a:t>PersianSpeech</a:t>
            </a:r>
          </a:p>
          <a:p xmlns:a="http://schemas.openxmlformats.org/drawingml/2006/main">
            <a:pPr algn="l">
              <a:defRPr sz="2025" b="0">
                <a:solidFill>
                  <a:srgbClr val="172F42"/>
                </a:solidFill>
                <a:latin typeface="Lato"/>
                <a:ea typeface="Lato"/>
                <a:cs typeface="Lato"/>
              </a:defRPr>
            </a:pPr>
            <a:r>
              <a:rPr sz="2025" b="0">
                <a:solidFill>
                  <a:srgbClr val="172F42"/>
                </a:solidFill>
                <a:latin typeface="Lato"/>
                <a:ea typeface="Lato"/>
                <a:cs typeface="Lato"/>
              </a:rPr>
              <a:t>Persian Speech Corpus</a:t>
            </a:r>
          </a:p>
        </p:txBody>
      </p:sp>
      <p:sp>
        <p:nvSpPr>
          <p:cNvPr id="15" name="WER = (substitutions + deletions + insertions) / r">
            <a:extLst xmlns:a="http://schemas.openxmlformats.org/drawingml/2006/main">
              <a:ext uri="{FF2B5EF4-FFF2-40B4-BE49-F238E27FC236}">
                <a16:creationId xmlns:a16="http://schemas.microsoft.com/office/drawing/2014/main" id="{50B94D61-B59B-407D-ADAF-32AC14C57420}"/>
              </a:ext>
            </a:extLst>
          </p:cNvPr>
          <p:cNvSpPr>
            <a:spLocks xmlns:a="http://schemas.openxmlformats.org/drawingml/2006/main" noGrp="1"/>
          </p:cNvSpPr>
          <p:nvPr/>
        </p:nvSpPr>
        <p:spPr>
          <a:xfrm xmlns:a="http://schemas.openxmlformats.org/drawingml/2006/main">
            <a:off x="609600" y="485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2F42"/>
                </a:solidFill>
                <a:latin typeface="Lato"/>
                <a:ea typeface="Lato"/>
                <a:cs typeface="Lato"/>
              </a:defRPr>
            </a:defPPr>
          </a:lstStyle>
          <a:p xmlns:a="http://schemas.openxmlformats.org/drawingml/2006/main">
            <a:pPr algn="l">
              <a:defRPr sz="1950" b="1">
                <a:solidFill>
                  <a:srgbClr val="172F42"/>
                </a:solidFill>
                <a:latin typeface="Lato"/>
                <a:ea typeface="Lato"/>
                <a:cs typeface="Lato"/>
              </a:defRPr>
            </a:pPr>
            <a:r>
              <a:rPr sz="1950" b="1">
                <a:solidFill>
                  <a:srgbClr val="172F42"/>
                </a:solidFill>
                <a:latin typeface="Lato"/>
                <a:ea typeface="Lato"/>
                <a:cs typeface="Lato"/>
              </a:rPr>
              <a:t>WER = (substitutions + deletions + insertions) / reference words</a:t>
            </a:r>
          </a:p>
        </p:txBody>
      </p:sp>
      <p:sp>
        <p:nvSpPr>
          <p:cNvPr id="16" name="CER counts characters. Aggregate scores pool count">
            <a:extLst xmlns:a="http://schemas.openxmlformats.org/drawingml/2006/main">
              <a:ext uri="{FF2B5EF4-FFF2-40B4-BE49-F238E27FC236}">
                <a16:creationId xmlns:a16="http://schemas.microsoft.com/office/drawing/2014/main" id="{98057F3A-94F0-4163-93A4-32ADB3C757BE}"/>
              </a:ext>
            </a:extLst>
          </p:cNvPr>
          <p:cNvSpPr>
            <a:spLocks xmlns:a="http://schemas.openxmlformats.org/drawingml/2006/main" noGrp="1"/>
          </p:cNvSpPr>
          <p:nvPr/>
        </p:nvSpPr>
        <p:spPr>
          <a:xfrm xmlns:a="http://schemas.openxmlformats.org/drawingml/2006/main">
            <a:off x="609600" y="53340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B78"/>
                </a:solidFill>
                <a:latin typeface="Lato"/>
                <a:ea typeface="Lato"/>
                <a:cs typeface="Lato"/>
              </a:defRPr>
            </a:defPPr>
          </a:lstStyle>
          <a:p xmlns:a="http://schemas.openxmlformats.org/drawingml/2006/main">
            <a:pPr algn="l">
              <a:defRPr sz="1725" b="0">
                <a:solidFill>
                  <a:srgbClr val="586B78"/>
                </a:solidFill>
                <a:latin typeface="Lato"/>
                <a:ea typeface="Lato"/>
                <a:cs typeface="Lato"/>
              </a:defRPr>
            </a:pPr>
            <a:r>
              <a:rPr sz="1725" b="0">
                <a:solidFill>
                  <a:srgbClr val="586B78"/>
                </a:solidFill>
                <a:latin typeface="Lato"/>
                <a:ea typeface="Lato"/>
                <a:cs typeface="Lato"/>
              </a:rPr>
              <a:t>CER counts characters. Aggregate scores pool counts. Greedy decoding throughout.</a:t>
            </a:r>
          </a:p>
        </p:txBody>
      </p:sp>
      <p:sp>
        <p:nvSpPr>
          <p:cNvPr id="17" name="PersianSpeech: 24 examples. Eligibility varies sli">
            <a:extLst xmlns:a="http://schemas.openxmlformats.org/drawingml/2006/main">
              <a:ext uri="{FF2B5EF4-FFF2-40B4-BE49-F238E27FC236}">
                <a16:creationId xmlns:a16="http://schemas.microsoft.com/office/drawing/2014/main" id="{75C55B24-50E2-4ABF-8069-A3D68D3791A3}"/>
              </a:ext>
            </a:extLst>
          </p:cNvPr>
          <p:cNvSpPr>
            <a:spLocks xmlns:a="http://schemas.openxmlformats.org/drawingml/2006/main" noGrp="1"/>
          </p:cNvSpPr>
          <p:nvPr/>
        </p:nvSpPr>
        <p:spPr>
          <a:xfrm xmlns:a="http://schemas.openxmlformats.org/drawingml/2006/main">
            <a:off x="609600" y="58102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B78"/>
                </a:solidFill>
                <a:latin typeface="Lato"/>
                <a:ea typeface="Lato"/>
                <a:cs typeface="Lato"/>
              </a:defRPr>
            </a:defPPr>
          </a:lstStyle>
          <a:p xmlns:a="http://schemas.openxmlformats.org/drawingml/2006/main">
            <a:pPr algn="l">
              <a:defRPr sz="1650" b="0">
                <a:solidFill>
                  <a:srgbClr val="586B78"/>
                </a:solidFill>
                <a:latin typeface="Lato"/>
                <a:ea typeface="Lato"/>
                <a:cs typeface="Lato"/>
              </a:defRPr>
            </a:pPr>
            <a:r>
              <a:rPr sz="1650" b="0">
                <a:solidFill>
                  <a:srgbClr val="586B78"/>
                </a:solidFill>
                <a:latin typeface="Lato"/>
                <a:ea typeface="Lato"/>
                <a:cs typeface="Lato"/>
              </a:rPr>
              <a:t>PersianSpeech: 24 examples. Eligibility varies slightly across some systems.</a:t>
            </a:r>
          </a:p>
        </p:txBody>
      </p:sp>
    </p:spTree>
    <p:extLst>
      <p:ext uri="{BB962C8B-B14F-4D97-AF65-F5344CB8AC3E}">
        <p14:creationId xmlns:p14="http://schemas.microsoft.com/office/powerpoint/2010/main" val="1186143357"/>
      </p:ext>
    </p:extLst>
  </p:cSld>
</p:sld>
</file>

<file path=ppt/slides/slide6.xml><?xml version="1.0" encoding="utf-8"?>
<p:sld xmlns:p="http://schemas.openxmlformats.org/presentationml/2006/main" show="1">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643F64D-DCD3-4755-9627-63862C3E8A50}"/>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TELECOM AUGMENTATION</a:t>
            </a:r>
          </a:p>
        </p:txBody>
      </p:sp>
      <p:sp>
        <p:nvSpPr>
          <p:cNvPr id="5" name="">
            <a:extLst xmlns:a="http://schemas.openxmlformats.org/drawingml/2006/main">
              <a:ext uri="{FF2B5EF4-FFF2-40B4-BE49-F238E27FC236}">
                <a16:creationId xmlns:a16="http://schemas.microsoft.com/office/drawing/2014/main" id="{A3A2E4E7-A2EE-4377-888C-0344C219FFE9}"/>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000"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Reproducible telecom augmentation</a:t>
            </a:r>
          </a:p>
        </p:txBody>
      </p:sp>
      <p:pic>
        <p:nvPicPr>
          <p:cNvPr id="6" name="">
            <a:extLst xmlns:a="http://schemas.openxmlformats.org/drawingml/2006/main">
              <a:ext uri="{FF2B5EF4-FFF2-40B4-BE49-F238E27FC236}">
                <a16:creationId xmlns:a16="http://schemas.microsoft.com/office/drawing/2014/main" id="{F7E3BC6E-58F8-4C13-8907-B4EABE98485E}"/>
              </a:ext>
            </a:extLst>
          </p:cNvPr>
          <p:cNvPicPr>
            <a:picLocks xmlns:a="http://schemas.openxmlformats.org/drawingml/2006/main" noChangeAspect="1"/>
          </p:cNvPicPr>
          <p:nvPr/>
        </p:nvPicPr>
        <p:blipFill>
          <a:blip xmlns:r="http://schemas.openxmlformats.org/officeDocument/2006/relationships" xmlns:a="http://schemas.openxmlformats.org/drawingml/2006/main" r:embed="Rfba7fd37cc684a96"/>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6156158-C5B0-44E6-B6E4-5C0710212E1F}"/>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23CFD1E0-1E8D-4E0D-8194-116F67CD567E}"/>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846B605A-1211-48BF-A847-37A6F384119C}"/>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6 / 20</a:t>
            </a:r>
          </a:p>
        </p:txBody>
      </p:sp>
      <p:pic>
        <p:nvPicPr>
          <p:cNvPr id="10" name="">
            <a:extLst xmlns:a="http://schemas.openxmlformats.org/drawingml/2006/main">
              <a:ext uri="{FF2B5EF4-FFF2-40B4-BE49-F238E27FC236}">
                <a16:creationId xmlns:a16="http://schemas.microsoft.com/office/drawing/2014/main" id="{C433D441-6F38-45CE-B2BE-CC049D63EF99}"/>
              </a:ext>
            </a:extLst>
          </p:cNvPr>
          <p:cNvPicPr>
            <a:picLocks xmlns:a="http://schemas.openxmlformats.org/drawingml/2006/main" noChangeAspect="1"/>
          </p:cNvPicPr>
          <p:nvPr/>
        </p:nvPicPr>
        <p:blipFill>
          <a:blip xmlns:r="http://schemas.openxmlformats.org/officeDocument/2006/relationships" xmlns:a="http://schemas.openxmlformats.org/drawingml/2006/main" r:embed="Rb893c0af3d3b4e45"/>
          <a:stretch xmlns:a="http://schemas.openxmlformats.org/drawingml/2006/main"/>
        </p:blipFill>
        <p:spPr>
          <a:xfrm xmlns:a="http://schemas.openxmlformats.org/drawingml/2006/main">
            <a:off x="609600" y="1950720"/>
            <a:ext cx="10972800" cy="2194560"/>
          </a:xfrm>
          <a:prstGeom xmlns:a="http://schemas.openxmlformats.org/drawingml/2006/main" prst="rect">
            <a:avLst/>
          </a:prstGeom>
        </p:spPr>
      </p:pic>
      <p:sp>
        <p:nvSpPr>
          <p:cNvPr id="11" name="Noise and gain">
            <a:extLst xmlns:a="http://schemas.openxmlformats.org/drawingml/2006/main">
              <a:ext uri="{FF2B5EF4-FFF2-40B4-BE49-F238E27FC236}">
                <a16:creationId xmlns:a16="http://schemas.microsoft.com/office/drawing/2014/main" id="{7F783444-64D4-4AF7-B3F6-6C1A94B0D720}"/>
              </a:ext>
            </a:extLst>
          </p:cNvPr>
          <p:cNvSpPr>
            <a:spLocks xmlns:a="http://schemas.openxmlformats.org/drawingml/2006/main" noGrp="1"/>
          </p:cNvSpPr>
          <p:nvPr/>
        </p:nvSpPr>
        <p:spPr>
          <a:xfrm xmlns:a="http://schemas.openxmlformats.org/drawingml/2006/main">
            <a:off x="609600" y="46196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F8A"/>
                </a:solidFill>
                <a:latin typeface="Lato"/>
                <a:ea typeface="Lato"/>
                <a:cs typeface="Lato"/>
              </a:defRPr>
            </a:defPPr>
          </a:lstStyle>
          <a:p xmlns:a="http://schemas.openxmlformats.org/drawingml/2006/main">
            <a:pPr algn="l">
              <a:defRPr sz="2175" b="1">
                <a:solidFill>
                  <a:srgbClr val="1D6F8A"/>
                </a:solidFill>
                <a:latin typeface="Lato"/>
                <a:ea typeface="Lato"/>
                <a:cs typeface="Lato"/>
              </a:defRPr>
            </a:pPr>
            <a:r>
              <a:rPr sz="2175" b="1">
                <a:solidFill>
                  <a:srgbClr val="1D6F8A"/>
                </a:solidFill>
                <a:latin typeface="Lato"/>
                <a:ea typeface="Lato"/>
                <a:cs typeface="Lato"/>
              </a:rPr>
              <a:t>Noise and gain</a:t>
            </a:r>
          </a:p>
        </p:txBody>
      </p:sp>
      <p:sp>
        <p:nvSpPr>
          <p:cNvPr id="12" name="DEMAND noise, SNR −5 to 15 dB&#10;Gain variation of ±6">
            <a:extLst xmlns:a="http://schemas.openxmlformats.org/drawingml/2006/main">
              <a:ext uri="{FF2B5EF4-FFF2-40B4-BE49-F238E27FC236}">
                <a16:creationId xmlns:a16="http://schemas.microsoft.com/office/drawing/2014/main" id="{5CA16875-A088-47B4-A5AD-072A972F8F3C}"/>
              </a:ext>
            </a:extLst>
          </p:cNvPr>
          <p:cNvSpPr>
            <a:spLocks xmlns:a="http://schemas.openxmlformats.org/drawingml/2006/main" noGrp="1"/>
          </p:cNvSpPr>
          <p:nvPr/>
        </p:nvSpPr>
        <p:spPr>
          <a:xfrm xmlns:a="http://schemas.openxmlformats.org/drawingml/2006/main">
            <a:off x="609600" y="514350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42"/>
                </a:solidFill>
                <a:latin typeface="Lato"/>
                <a:ea typeface="Lato"/>
                <a:cs typeface="Lato"/>
              </a:defRPr>
            </a:defPPr>
          </a:lstStyle>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DEMAND noise, SNR −5 to 15 dB</a:t>
            </a:r>
          </a:p>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Gain variation of ±6 dB</a:t>
            </a:r>
          </a:p>
        </p:txBody>
      </p:sp>
      <p:sp>
        <p:nvSpPr>
          <p:cNvPr id="13" name="Designed channel profiles">
            <a:extLst xmlns:a="http://schemas.openxmlformats.org/drawingml/2006/main">
              <a:ext uri="{FF2B5EF4-FFF2-40B4-BE49-F238E27FC236}">
                <a16:creationId xmlns:a16="http://schemas.microsoft.com/office/drawing/2014/main" id="{9CBAC0F9-B1BB-43A3-B447-6DA899C7FA04}"/>
              </a:ext>
            </a:extLst>
          </p:cNvPr>
          <p:cNvSpPr>
            <a:spLocks xmlns:a="http://schemas.openxmlformats.org/drawingml/2006/main" noGrp="1"/>
          </p:cNvSpPr>
          <p:nvPr/>
        </p:nvSpPr>
        <p:spPr>
          <a:xfrm xmlns:a="http://schemas.openxmlformats.org/drawingml/2006/main">
            <a:off x="6286500" y="46196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F8A"/>
                </a:solidFill>
                <a:latin typeface="Lato"/>
                <a:ea typeface="Lato"/>
                <a:cs typeface="Lato"/>
              </a:defRPr>
            </a:defPPr>
          </a:lstStyle>
          <a:p xmlns:a="http://schemas.openxmlformats.org/drawingml/2006/main">
            <a:pPr algn="l">
              <a:defRPr sz="2175" b="1">
                <a:solidFill>
                  <a:srgbClr val="1D6F8A"/>
                </a:solidFill>
                <a:latin typeface="Lato"/>
                <a:ea typeface="Lato"/>
                <a:cs typeface="Lato"/>
              </a:defRPr>
            </a:pPr>
            <a:r>
              <a:rPr sz="2175" b="1">
                <a:solidFill>
                  <a:srgbClr val="1D6F8A"/>
                </a:solidFill>
                <a:latin typeface="Lato"/>
                <a:ea typeface="Lato"/>
                <a:cs typeface="Lato"/>
              </a:rPr>
              <a:t>Designed channel profiles</a:t>
            </a:r>
          </a:p>
        </p:txBody>
      </p:sp>
      <p:sp>
        <p:nvSpPr>
          <p:cNvPr id="14" name="Telephone and VoIP conditions&#10;Seed and augmentatio">
            <a:extLst xmlns:a="http://schemas.openxmlformats.org/drawingml/2006/main">
              <a:ext uri="{FF2B5EF4-FFF2-40B4-BE49-F238E27FC236}">
                <a16:creationId xmlns:a16="http://schemas.microsoft.com/office/drawing/2014/main" id="{27419526-9DAD-48C9-9A23-54B33EE324EA}"/>
              </a:ext>
            </a:extLst>
          </p:cNvPr>
          <p:cNvSpPr>
            <a:spLocks xmlns:a="http://schemas.openxmlformats.org/drawingml/2006/main" noGrp="1"/>
          </p:cNvSpPr>
          <p:nvPr/>
        </p:nvSpPr>
        <p:spPr>
          <a:xfrm xmlns:a="http://schemas.openxmlformats.org/drawingml/2006/main">
            <a:off x="6286500" y="514350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42"/>
                </a:solidFill>
                <a:latin typeface="Lato"/>
                <a:ea typeface="Lato"/>
                <a:cs typeface="Lato"/>
              </a:defRPr>
            </a:defPPr>
          </a:lstStyle>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Telephone and VoIP conditions</a:t>
            </a:r>
          </a:p>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Seed and augmentation metadata per pair</a:t>
            </a:r>
          </a:p>
        </p:txBody>
      </p:sp>
    </p:spTree>
    <p:extLst>
      <p:ext uri="{BB962C8B-B14F-4D97-AF65-F5344CB8AC3E}">
        <p14:creationId xmlns:p14="http://schemas.microsoft.com/office/powerpoint/2010/main" val="475427428"/>
      </p:ext>
    </p:extLst>
  </p:cSld>
</p:sld>
</file>

<file path=ppt/slides/slide7.xml><?xml version="1.0" encoding="utf-8"?>
<p:sld xmlns:p="http://schemas.openxmlformats.org/presentationml/2006/main" show="1">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643F64D-DCD3-4755-9627-63862C3E8A50}"/>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TELECOM AUGMENTATION</a:t>
            </a:r>
          </a:p>
        </p:txBody>
      </p:sp>
      <p:sp>
        <p:nvSpPr>
          <p:cNvPr id="5" name="">
            <a:extLst xmlns:a="http://schemas.openxmlformats.org/drawingml/2006/main">
              <a:ext uri="{FF2B5EF4-FFF2-40B4-BE49-F238E27FC236}">
                <a16:creationId xmlns:a16="http://schemas.microsoft.com/office/drawing/2014/main" id="{A3A2E4E7-A2EE-4377-888C-0344C219FFE9}"/>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000"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Codec paths and aligned training pairs</a:t>
            </a:r>
          </a:p>
        </p:txBody>
      </p:sp>
      <p:pic>
        <p:nvPicPr>
          <p:cNvPr id="6" name="">
            <a:extLst xmlns:a="http://schemas.openxmlformats.org/drawingml/2006/main">
              <a:ext uri="{FF2B5EF4-FFF2-40B4-BE49-F238E27FC236}">
                <a16:creationId xmlns:a16="http://schemas.microsoft.com/office/drawing/2014/main" id="{F7E3BC6E-58F8-4C13-8907-B4EABE98485E}"/>
              </a:ext>
            </a:extLst>
          </p:cNvPr>
          <p:cNvPicPr>
            <a:picLocks xmlns:a="http://schemas.openxmlformats.org/drawingml/2006/main" noChangeAspect="1"/>
          </p:cNvPicPr>
          <p:nvPr/>
        </p:nvPicPr>
        <p:blipFill>
          <a:blip xmlns:r="http://schemas.openxmlformats.org/officeDocument/2006/relationships" xmlns:a="http://schemas.openxmlformats.org/drawingml/2006/main" r:embed="R88cf645c1d324a43"/>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6156158-C5B0-44E6-B6E4-5C0710212E1F}"/>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23CFD1E0-1E8D-4E0D-8194-116F67CD567E}"/>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846B605A-1211-48BF-A847-37A6F384119C}"/>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7 / 20</a:t>
            </a:r>
          </a:p>
        </p:txBody>
      </p:sp>
      <p:pic>
        <p:nvPicPr>
          <p:cNvPr id="10" name="">
            <a:extLst xmlns:a="http://schemas.openxmlformats.org/drawingml/2006/main">
              <a:ext uri="{FF2B5EF4-FFF2-40B4-BE49-F238E27FC236}">
                <a16:creationId xmlns:a16="http://schemas.microsoft.com/office/drawing/2014/main" id="{92437A21-54C7-4272-8754-DAE32A2CCACB}"/>
              </a:ext>
            </a:extLst>
          </p:cNvPr>
          <p:cNvPicPr>
            <a:picLocks xmlns:a="http://schemas.openxmlformats.org/drawingml/2006/main" noChangeAspect="1"/>
          </p:cNvPicPr>
          <p:nvPr/>
        </p:nvPicPr>
        <p:blipFill>
          <a:blip xmlns:r="http://schemas.openxmlformats.org/officeDocument/2006/relationships" xmlns:a="http://schemas.openxmlformats.org/drawingml/2006/main" r:embed="R7a17d370d5f24427"/>
          <a:stretch xmlns:a="http://schemas.openxmlformats.org/drawingml/2006/main"/>
        </p:blipFill>
        <p:spPr>
          <a:xfrm xmlns:a="http://schemas.openxmlformats.org/drawingml/2006/main">
            <a:off x="1442190" y="1762125"/>
            <a:ext cx="9307621" cy="4048125"/>
          </a:xfrm>
          <a:prstGeom xmlns:a="http://schemas.openxmlformats.org/drawingml/2006/main" prst="rect">
            <a:avLst/>
          </a:prstGeom>
        </p:spPr>
      </p:pic>
      <p:sp>
        <p:nvSpPr>
          <p:cNvPr id="11" name="G.711, GSM, AMR-NB, AMR-WB and Opus. Clean targets">
            <a:extLst xmlns:a="http://schemas.openxmlformats.org/drawingml/2006/main">
              <a:ext uri="{FF2B5EF4-FFF2-40B4-BE49-F238E27FC236}">
                <a16:creationId xmlns:a16="http://schemas.microsoft.com/office/drawing/2014/main" id="{D2117E81-87ED-461B-8B6C-DD1E36EB328B}"/>
              </a:ext>
            </a:extLst>
          </p:cNvPr>
          <p:cNvSpPr>
            <a:spLocks xmlns:a="http://schemas.openxmlformats.org/drawingml/2006/main" noGrp="1"/>
          </p:cNvSpPr>
          <p:nvPr/>
        </p:nvSpPr>
        <p:spPr>
          <a:xfrm xmlns:a="http://schemas.openxmlformats.org/drawingml/2006/main">
            <a:off x="609600" y="58483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G.711, GSM, AMR-NB, AMR-WB and Opus. Clean targets retain matching bandwidth.</a:t>
            </a:r>
          </a:p>
        </p:txBody>
      </p:sp>
      <p:sp>
        <p:nvSpPr>
          <p:cNvPr id="12" name="Native Opus models loss and concealment. Other net">
            <a:extLst xmlns:a="http://schemas.openxmlformats.org/drawingml/2006/main">
              <a:ext uri="{FF2B5EF4-FFF2-40B4-BE49-F238E27FC236}">
                <a16:creationId xmlns:a16="http://schemas.microsoft.com/office/drawing/2014/main" id="{4B07DA7C-5578-4E97-B69D-466FA156F9E0}"/>
              </a:ext>
            </a:extLst>
          </p:cNvPr>
          <p:cNvSpPr>
            <a:spLocks xmlns:a="http://schemas.openxmlformats.org/drawingml/2006/main" noGrp="1"/>
          </p:cNvSpPr>
          <p:nvPr/>
        </p:nvSpPr>
        <p:spPr>
          <a:xfrm xmlns:a="http://schemas.openxmlformats.org/drawingml/2006/main">
            <a:off x="609600" y="61150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Native Opus models loss and concealment. Other network paths use waveform dropout.</a:t>
            </a:r>
          </a:p>
        </p:txBody>
      </p:sp>
    </p:spTree>
    <p:extLst>
      <p:ext uri="{BB962C8B-B14F-4D97-AF65-F5344CB8AC3E}">
        <p14:creationId xmlns:p14="http://schemas.microsoft.com/office/powerpoint/2010/main" val="475427428"/>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39E70B-C022-4C24-A8F0-DEBD9F32B727}"/>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TELECOM AUGMENTATION</a:t>
            </a:r>
          </a:p>
        </p:txBody>
      </p:sp>
      <p:sp>
        <p:nvSpPr>
          <p:cNvPr id="6" name="">
            <a:extLst xmlns:a="http://schemas.openxmlformats.org/drawingml/2006/main">
              <a:ext uri="{FF2B5EF4-FFF2-40B4-BE49-F238E27FC236}">
                <a16:creationId xmlns:a16="http://schemas.microsoft.com/office/drawing/2014/main" id="{945B48F6-A5D1-47A0-AEF8-BAA6AA8A5CB0}"/>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225"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Telecom augmentation transfers to real calls</a:t>
            </a:r>
          </a:p>
        </p:txBody>
      </p:sp>
      <p:pic>
        <p:nvPicPr>
          <p:cNvPr id="7" name="">
            <a:extLst xmlns:a="http://schemas.openxmlformats.org/drawingml/2006/main">
              <a:ext uri="{FF2B5EF4-FFF2-40B4-BE49-F238E27FC236}">
                <a16:creationId xmlns:a16="http://schemas.microsoft.com/office/drawing/2014/main" id="{C352FF39-4890-41AF-A1A5-DB17BF5732ED}"/>
              </a:ext>
            </a:extLst>
          </p:cNvPr>
          <p:cNvPicPr>
            <a:picLocks xmlns:a="http://schemas.openxmlformats.org/drawingml/2006/main" noChangeAspect="1"/>
          </p:cNvPicPr>
          <p:nvPr/>
        </p:nvPicPr>
        <p:blipFill>
          <a:blip xmlns:r="http://schemas.openxmlformats.org/officeDocument/2006/relationships" xmlns:a="http://schemas.openxmlformats.org/drawingml/2006/main" r:embed="R5edc743e7e7241a5"/>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8624D75-6E66-45E8-B4B0-19EDD134C39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9" name="">
            <a:extLst xmlns:a="http://schemas.openxmlformats.org/drawingml/2006/main">
              <a:ext uri="{FF2B5EF4-FFF2-40B4-BE49-F238E27FC236}">
                <a16:creationId xmlns:a16="http://schemas.microsoft.com/office/drawing/2014/main" id="{A77FCE47-1189-43C5-AFA1-1F2FF8CA346B}"/>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10" name="slide-counter">
            <a:extLst xmlns:a="http://schemas.openxmlformats.org/drawingml/2006/main">
              <a:ext uri="{FF2B5EF4-FFF2-40B4-BE49-F238E27FC236}">
                <a16:creationId xmlns:a16="http://schemas.microsoft.com/office/drawing/2014/main" id="{70F269C4-E78D-4E44-AD3E-FB3C53926D67}"/>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8 / 20</a:t>
            </a:r>
          </a:p>
        </p:txBody>
      </p:sp>
      <p:graphicFrame>
        <p:nvGraphicFramePr>
          <p:cNvPr id="11" name="Chart">
            <a:extLst xmlns:a="http://schemas.openxmlformats.org/drawingml/2006/main">
              <a:ext uri="{FF2B5EF4-FFF2-40B4-BE49-F238E27FC236}">
                <a16:creationId xmlns:a16="http://schemas.microsoft.com/office/drawing/2014/main" id="{14BA3DBE-F6BC-4A2C-8109-687FD4C74744}"/>
              </a:ext>
            </a:extLst>
          </p:cNvPr>
          <p:cNvGraphicFramePr/>
          <p:nvPr/>
        </p:nvGraphicFramePr>
        <p:xfrm>
          <a:off xmlns:a="http://schemas.openxmlformats.org/drawingml/2006/main" x="609600" y="1905000"/>
          <a:ext xmlns:a="http://schemas.openxmlformats.org/drawingml/2006/main" cx="7858125" cy="3714750"/>
        </p:xfrm>
        <a:graphic xmlns:a="http://schemas.openxmlformats.org/drawingml/2006/main">
          <a:graphicData uri="http://schemas.openxmlformats.org/drawingml/2006/chart">
            <c:chart xmlns:r="http://schemas.openxmlformats.org/officeDocument/2006/relationships" xmlns:c="http://schemas.openxmlformats.org/drawingml/2006/chart" r:id="R32ac4d8609cc438b"/>
          </a:graphicData>
        </a:graphic>
      </p:graphicFrame>
      <p:sp>
        <p:nvSpPr>
          <p:cNvPr id="12" name="9.83">
            <a:extLst xmlns:a="http://schemas.openxmlformats.org/drawingml/2006/main">
              <a:ext uri="{FF2B5EF4-FFF2-40B4-BE49-F238E27FC236}">
                <a16:creationId xmlns:a16="http://schemas.microsoft.com/office/drawing/2014/main" id="{F09C087E-33B3-4724-B8D1-34D4B9264FE6}"/>
              </a:ext>
            </a:extLst>
          </p:cNvPr>
          <p:cNvSpPr>
            <a:spLocks xmlns:a="http://schemas.openxmlformats.org/drawingml/2006/main" noGrp="1"/>
          </p:cNvSpPr>
          <p:nvPr/>
        </p:nvSpPr>
        <p:spPr>
          <a:xfrm xmlns:a="http://schemas.openxmlformats.org/drawingml/2006/main">
            <a:off x="9001125" y="2286000"/>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1D6F8A"/>
                </a:solidFill>
                <a:latin typeface="Lato"/>
                <a:ea typeface="Lato"/>
                <a:cs typeface="Lato"/>
              </a:defRPr>
            </a:defPPr>
          </a:lstStyle>
          <a:p xmlns:a="http://schemas.openxmlformats.org/drawingml/2006/main">
            <a:pPr algn="l">
              <a:defRPr sz="5400" b="1">
                <a:solidFill>
                  <a:srgbClr val="1D6F8A"/>
                </a:solidFill>
                <a:latin typeface="Lato"/>
                <a:ea typeface="Lato"/>
                <a:cs typeface="Lato"/>
              </a:defRPr>
            </a:pPr>
            <a:r>
              <a:rPr sz="5400" b="1">
                <a:solidFill>
                  <a:srgbClr val="1D6F8A"/>
                </a:solidFill>
                <a:latin typeface="Lato"/>
                <a:ea typeface="Lato"/>
                <a:cs typeface="Lato"/>
              </a:rPr>
              <a:t>9.83</a:t>
            </a:r>
          </a:p>
        </p:txBody>
      </p:sp>
      <p:sp>
        <p:nvSpPr>
          <p:cNvPr id="13" name="percentage points lower&#10;on held-out real calls">
            <a:extLst xmlns:a="http://schemas.openxmlformats.org/drawingml/2006/main">
              <a:ext uri="{FF2B5EF4-FFF2-40B4-BE49-F238E27FC236}">
                <a16:creationId xmlns:a16="http://schemas.microsoft.com/office/drawing/2014/main" id="{B63425DF-6577-4439-B28E-D3813FC41600}"/>
              </a:ext>
            </a:extLst>
          </p:cNvPr>
          <p:cNvSpPr>
            <a:spLocks xmlns:a="http://schemas.openxmlformats.org/drawingml/2006/main" noGrp="1"/>
          </p:cNvSpPr>
          <p:nvPr/>
        </p:nvSpPr>
        <p:spPr>
          <a:xfrm xmlns:a="http://schemas.openxmlformats.org/drawingml/2006/main">
            <a:off x="9001125" y="31908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42"/>
                </a:solidFill>
                <a:latin typeface="Lato"/>
                <a:ea typeface="Lato"/>
                <a:cs typeface="Lato"/>
              </a:defRPr>
            </a:defPPr>
          </a:lstStyle>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percentage points lower</a:t>
            </a:r>
          </a:p>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on held-out real calls</a:t>
            </a:r>
          </a:p>
        </p:txBody>
      </p:sp>
      <p:sp>
        <p:nvSpPr>
          <p:cNvPr id="14" name="27.6% relative reduction">
            <a:extLst xmlns:a="http://schemas.openxmlformats.org/drawingml/2006/main">
              <a:ext uri="{FF2B5EF4-FFF2-40B4-BE49-F238E27FC236}">
                <a16:creationId xmlns:a16="http://schemas.microsoft.com/office/drawing/2014/main" id="{7141A888-48B0-4E86-9D22-9C1CFD00FB81}"/>
              </a:ext>
            </a:extLst>
          </p:cNvPr>
          <p:cNvSpPr>
            <a:spLocks xmlns:a="http://schemas.openxmlformats.org/drawingml/2006/main" noGrp="1"/>
          </p:cNvSpPr>
          <p:nvPr/>
        </p:nvSpPr>
        <p:spPr>
          <a:xfrm xmlns:a="http://schemas.openxmlformats.org/drawingml/2006/main">
            <a:off x="9001125" y="44291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Lato"/>
                <a:ea typeface="Lato"/>
                <a:cs typeface="Lato"/>
              </a:defRPr>
            </a:defPPr>
          </a:lstStyle>
          <a:p xmlns:a="http://schemas.openxmlformats.org/drawingml/2006/main">
            <a:pPr algn="l">
              <a:defRPr sz="1800" b="0">
                <a:solidFill>
                  <a:srgbClr val="586B78"/>
                </a:solidFill>
                <a:latin typeface="Lato"/>
                <a:ea typeface="Lato"/>
                <a:cs typeface="Lato"/>
              </a:defRPr>
            </a:pPr>
            <a:r>
              <a:rPr sz="1800" b="0">
                <a:solidFill>
                  <a:srgbClr val="586B78"/>
                </a:solidFill>
                <a:latin typeface="Lato"/>
                <a:ea typeface="Lato"/>
                <a:cs typeface="Lato"/>
              </a:rPr>
              <a:t>27.6% relative reduction</a:t>
            </a:r>
          </a:p>
        </p:txBody>
      </p:sp>
      <p:sp>
        <p:nvSpPr>
          <p:cNvPr id="15" name="Lower is better. Aggregate WER: 23.27% to 17.83%. ">
            <a:extLst xmlns:a="http://schemas.openxmlformats.org/drawingml/2006/main">
              <a:ext uri="{FF2B5EF4-FFF2-40B4-BE49-F238E27FC236}">
                <a16:creationId xmlns:a16="http://schemas.microsoft.com/office/drawing/2014/main" id="{62A0CD84-9431-49A3-96E9-06249A7E104E}"/>
              </a:ext>
            </a:extLst>
          </p:cNvPr>
          <p:cNvSpPr>
            <a:spLocks xmlns:a="http://schemas.openxmlformats.org/drawingml/2006/main" noGrp="1"/>
          </p:cNvSpPr>
          <p:nvPr/>
        </p:nvSpPr>
        <p:spPr>
          <a:xfrm xmlns:a="http://schemas.openxmlformats.org/drawingml/2006/main">
            <a:off x="609600" y="58102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Lower is better. Aggregate WER: 23.27% to 17.83%. Codec and network effects were not separately ablated.</a:t>
            </a:r>
          </a:p>
        </p:txBody>
      </p:sp>
    </p:spTree>
    <p:extLst>
      <p:ext uri="{BB962C8B-B14F-4D97-AF65-F5344CB8AC3E}">
        <p14:creationId xmlns:p14="http://schemas.microsoft.com/office/powerpoint/2010/main" val="1277697212"/>
      </p:ext>
    </p:extLst>
  </p:cSld>
</p:sld>
</file>

<file path=ppt/slides/slide9.xml><?xml version="1.0" encoding="utf-8"?>
<p:sld xmlns:p="http://schemas.openxmlformats.org/presentationml/2006/main" show="1">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EEA68E7-9755-44AE-9601-B80E678874A4}"/>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ENHANCEMENT AND FUSION</a:t>
            </a:r>
          </a:p>
        </p:txBody>
      </p:sp>
      <p:sp>
        <p:nvSpPr>
          <p:cNvPr id="5" name="">
            <a:extLst xmlns:a="http://schemas.openxmlformats.org/drawingml/2006/main">
              <a:ext uri="{FF2B5EF4-FFF2-40B4-BE49-F238E27FC236}">
                <a16:creationId xmlns:a16="http://schemas.microsoft.com/office/drawing/2014/main" id="{B32BD910-947C-4796-80AA-A9D8D1763864}"/>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000"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Dual-stream enhancement and fusion</a:t>
            </a:r>
          </a:p>
        </p:txBody>
      </p:sp>
      <p:pic>
        <p:nvPicPr>
          <p:cNvPr id="6" name="">
            <a:extLst xmlns:a="http://schemas.openxmlformats.org/drawingml/2006/main">
              <a:ext uri="{FF2B5EF4-FFF2-40B4-BE49-F238E27FC236}">
                <a16:creationId xmlns:a16="http://schemas.microsoft.com/office/drawing/2014/main" id="{49A11F87-3D74-434D-9C67-204DBBCB2CEC}"/>
              </a:ext>
            </a:extLst>
          </p:cNvPr>
          <p:cNvPicPr>
            <a:picLocks xmlns:a="http://schemas.openxmlformats.org/drawingml/2006/main" noChangeAspect="1"/>
          </p:cNvPicPr>
          <p:nvPr/>
        </p:nvPicPr>
        <p:blipFill>
          <a:blip xmlns:r="http://schemas.openxmlformats.org/officeDocument/2006/relationships" xmlns:a="http://schemas.openxmlformats.org/drawingml/2006/main" r:embed="R65cb8fe45f174353"/>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1BDE398-3714-4520-AD13-09962E377FB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C21A17B1-DAA1-4891-8D8F-5CE69AA49694}"/>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A85F096B-2B72-41CA-990F-8E44482031E4}"/>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9 / 20</a:t>
            </a:r>
          </a:p>
        </p:txBody>
      </p:sp>
      <p:pic>
        <p:nvPicPr>
          <p:cNvPr id="10" name="">
            <a:extLst xmlns:a="http://schemas.openxmlformats.org/drawingml/2006/main">
              <a:ext uri="{FF2B5EF4-FFF2-40B4-BE49-F238E27FC236}">
                <a16:creationId xmlns:a16="http://schemas.microsoft.com/office/drawing/2014/main" id="{A1C624B3-1DC8-431E-9F96-DFCDB89516A6}"/>
              </a:ext>
            </a:extLst>
          </p:cNvPr>
          <p:cNvPicPr>
            <a:picLocks xmlns:a="http://schemas.openxmlformats.org/drawingml/2006/main" noChangeAspect="1"/>
          </p:cNvPicPr>
          <p:nvPr/>
        </p:nvPicPr>
        <p:blipFill>
          <a:blip xmlns:r="http://schemas.openxmlformats.org/officeDocument/2006/relationships" xmlns:a="http://schemas.openxmlformats.org/drawingml/2006/main" r:embed="Re6fd5bd6cfed4b4f"/>
          <a:stretch xmlns:a="http://schemas.openxmlformats.org/drawingml/2006/main"/>
        </p:blipFill>
        <p:spPr>
          <a:xfrm xmlns:a="http://schemas.openxmlformats.org/drawingml/2006/main">
            <a:off x="614112" y="1809750"/>
            <a:ext cx="10963776" cy="3857625"/>
          </a:xfrm>
          <a:prstGeom xmlns:a="http://schemas.openxmlformats.org/drawingml/2006/main" prst="rect">
            <a:avLst/>
          </a:prstGeom>
        </p:spPr>
      </p:pic>
      <p:sp>
        <p:nvSpPr>
          <p:cNvPr id="11" name="Original and enhanced log-Mel views share encoder ">
            <a:extLst xmlns:a="http://schemas.openxmlformats.org/drawingml/2006/main">
              <a:ext uri="{FF2B5EF4-FFF2-40B4-BE49-F238E27FC236}">
                <a16:creationId xmlns:a16="http://schemas.microsoft.com/office/drawing/2014/main" id="{2DA3E7D7-D6C5-4438-8583-74BB9B74D759}"/>
              </a:ext>
            </a:extLst>
          </p:cNvPr>
          <p:cNvSpPr>
            <a:spLocks xmlns:a="http://schemas.openxmlformats.org/drawingml/2006/main" noGrp="1"/>
          </p:cNvSpPr>
          <p:nvPr/>
        </p:nvSpPr>
        <p:spPr>
          <a:xfrm xmlns:a="http://schemas.openxmlformats.org/drawingml/2006/main">
            <a:off x="609600" y="57150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B78"/>
                </a:solidFill>
                <a:latin typeface="Lato"/>
                <a:ea typeface="Lato"/>
                <a:cs typeface="Lato"/>
              </a:defRPr>
            </a:defPPr>
          </a:lstStyle>
          <a:p xmlns:a="http://schemas.openxmlformats.org/drawingml/2006/main">
            <a:pPr algn="l">
              <a:defRPr sz="1725" b="0">
                <a:solidFill>
                  <a:srgbClr val="586B78"/>
                </a:solidFill>
                <a:latin typeface="Lato"/>
                <a:ea typeface="Lato"/>
                <a:cs typeface="Lato"/>
              </a:defRPr>
            </a:pPr>
            <a:r>
              <a:rPr sz="1725" b="0">
                <a:solidFill>
                  <a:srgbClr val="586B78"/>
                </a:solidFill>
                <a:latin typeface="Lato"/>
                <a:ea typeface="Lato"/>
                <a:cs typeface="Lato"/>
              </a:rPr>
              <a:t>Original and enhanced log-Mel views share encoder weights. Fusion starts from the multi-condition checkpoint.</a:t>
            </a:r>
          </a:p>
        </p:txBody>
      </p:sp>
    </p:spTree>
    <p:extLst>
      <p:ext uri="{BB962C8B-B14F-4D97-AF65-F5344CB8AC3E}">
        <p14:creationId xmlns:p14="http://schemas.microsoft.com/office/powerpoint/2010/main" val="1494872209"/>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5FF48CE-821D-49D0-8838-20A22C3FF0F5}"/>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ENHANCEMENT AND FUSION</a:t>
            </a:r>
          </a:p>
        </p:txBody>
      </p:sp>
      <p:sp>
        <p:nvSpPr>
          <p:cNvPr id="5" name="">
            <a:extLst xmlns:a="http://schemas.openxmlformats.org/drawingml/2006/main">
              <a:ext uri="{FF2B5EF4-FFF2-40B4-BE49-F238E27FC236}">
                <a16:creationId xmlns:a16="http://schemas.microsoft.com/office/drawing/2014/main" id="{D7162BD5-216C-4F62-A811-B1FCE26BC684}"/>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225"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Three-stage fusion training</a:t>
            </a:r>
          </a:p>
        </p:txBody>
      </p:sp>
      <p:pic>
        <p:nvPicPr>
          <p:cNvPr id="6" name="">
            <a:extLst xmlns:a="http://schemas.openxmlformats.org/drawingml/2006/main">
              <a:ext uri="{FF2B5EF4-FFF2-40B4-BE49-F238E27FC236}">
                <a16:creationId xmlns:a16="http://schemas.microsoft.com/office/drawing/2014/main" id="{A4608522-24BE-4CD9-B459-9B01C1E30F51}"/>
              </a:ext>
            </a:extLst>
          </p:cNvPr>
          <p:cNvPicPr>
            <a:picLocks xmlns:a="http://schemas.openxmlformats.org/drawingml/2006/main" noChangeAspect="1"/>
          </p:cNvPicPr>
          <p:nvPr/>
        </p:nvPicPr>
        <p:blipFill>
          <a:blip xmlns:r="http://schemas.openxmlformats.org/officeDocument/2006/relationships" xmlns:a="http://schemas.openxmlformats.org/drawingml/2006/main" r:embed="R21caf5c83c424b82"/>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B829AEF-296B-4863-897A-A82F850A468C}"/>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0963B2C0-A23A-4603-A1CA-BFE804662817}"/>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6AF9E846-2E6A-4347-9E3B-2B2FEB25373D}"/>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10 / 20</a:t>
            </a:r>
          </a:p>
        </p:txBody>
      </p:sp>
      <p:pic>
        <p:nvPicPr>
          <p:cNvPr id="10" name="">
            <a:extLst xmlns:a="http://schemas.openxmlformats.org/drawingml/2006/main">
              <a:ext uri="{FF2B5EF4-FFF2-40B4-BE49-F238E27FC236}">
                <a16:creationId xmlns:a16="http://schemas.microsoft.com/office/drawing/2014/main" id="{FF2A4F93-6977-4B51-8F24-68E743835F9D}"/>
              </a:ext>
            </a:extLst>
          </p:cNvPr>
          <p:cNvPicPr>
            <a:picLocks xmlns:a="http://schemas.openxmlformats.org/drawingml/2006/main" noChangeAspect="1"/>
          </p:cNvPicPr>
          <p:nvPr/>
        </p:nvPicPr>
        <p:blipFill>
          <a:blip xmlns:r="http://schemas.openxmlformats.org/officeDocument/2006/relationships" xmlns:a="http://schemas.openxmlformats.org/drawingml/2006/main" r:embed="R1dc0495a178340cf"/>
          <a:stretch xmlns:a="http://schemas.openxmlformats.org/drawingml/2006/main"/>
        </p:blipFill>
        <p:spPr>
          <a:xfrm xmlns:a="http://schemas.openxmlformats.org/drawingml/2006/main">
            <a:off x="609600" y="2141676"/>
            <a:ext cx="10972800" cy="1669774"/>
          </a:xfrm>
          <a:prstGeom xmlns:a="http://schemas.openxmlformats.org/drawingml/2006/main" prst="rect">
            <a:avLst/>
          </a:prstGeom>
        </p:spPr>
      </p:pic>
      <p:sp>
        <p:nvSpPr>
          <p:cNvPr id="11" name="One epoch per stage">
            <a:extLst xmlns:a="http://schemas.openxmlformats.org/drawingml/2006/main">
              <a:ext uri="{FF2B5EF4-FFF2-40B4-BE49-F238E27FC236}">
                <a16:creationId xmlns:a16="http://schemas.microsoft.com/office/drawing/2014/main" id="{371FABB1-F364-45D6-9453-E1CFEAA43C36}"/>
              </a:ext>
            </a:extLst>
          </p:cNvPr>
          <p:cNvSpPr>
            <a:spLocks xmlns:a="http://schemas.openxmlformats.org/drawingml/2006/main" noGrp="1"/>
          </p:cNvSpPr>
          <p:nvPr/>
        </p:nvSpPr>
        <p:spPr>
          <a:xfrm xmlns:a="http://schemas.openxmlformats.org/drawingml/2006/main">
            <a:off x="609600" y="43338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F8A"/>
                </a:solidFill>
                <a:latin typeface="Lato"/>
                <a:ea typeface="Lato"/>
                <a:cs typeface="Lato"/>
              </a:defRPr>
            </a:defPPr>
          </a:lstStyle>
          <a:p xmlns:a="http://schemas.openxmlformats.org/drawingml/2006/main">
            <a:pPr algn="l">
              <a:defRPr sz="2175" b="1">
                <a:solidFill>
                  <a:srgbClr val="1D6F8A"/>
                </a:solidFill>
                <a:latin typeface="Lato"/>
                <a:ea typeface="Lato"/>
                <a:cs typeface="Lato"/>
              </a:defRPr>
            </a:pPr>
            <a:r>
              <a:rPr sz="2175" b="1">
                <a:solidFill>
                  <a:srgbClr val="1D6F8A"/>
                </a:solidFill>
                <a:latin typeface="Lato"/>
                <a:ea typeface="Lato"/>
                <a:cs typeface="Lato"/>
              </a:rPr>
              <a:t>One epoch per stage</a:t>
            </a:r>
          </a:p>
        </p:txBody>
      </p:sp>
      <p:sp>
        <p:nvSpPr>
          <p:cNvPr id="12" name="Final learning rates&#10;Added modules: 1e−4&#10;Whisper: ">
            <a:extLst xmlns:a="http://schemas.openxmlformats.org/drawingml/2006/main">
              <a:ext uri="{FF2B5EF4-FFF2-40B4-BE49-F238E27FC236}">
                <a16:creationId xmlns:a16="http://schemas.microsoft.com/office/drawing/2014/main" id="{5E266829-3209-4A10-9D74-8E34A4F9B84C}"/>
              </a:ext>
            </a:extLst>
          </p:cNvPr>
          <p:cNvSpPr>
            <a:spLocks xmlns:a="http://schemas.openxmlformats.org/drawingml/2006/main" noGrp="1"/>
          </p:cNvSpPr>
          <p:nvPr/>
        </p:nvSpPr>
        <p:spPr>
          <a:xfrm xmlns:a="http://schemas.openxmlformats.org/drawingml/2006/main">
            <a:off x="609600" y="48577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42"/>
                </a:solidFill>
                <a:latin typeface="Lato"/>
                <a:ea typeface="Lato"/>
                <a:cs typeface="Lato"/>
              </a:defRPr>
            </a:defPPr>
          </a:lstStyle>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Final learning rates</a:t>
            </a:r>
          </a:p>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Added modules: 1e−4</a:t>
            </a:r>
          </a:p>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Whisper: 5e−6</a:t>
            </a:r>
          </a:p>
        </p:txBody>
      </p:sp>
      <p:sp>
        <p:nvSpPr>
          <p:cNvPr id="13" name="Final-stage data">
            <a:extLst xmlns:a="http://schemas.openxmlformats.org/drawingml/2006/main">
              <a:ext uri="{FF2B5EF4-FFF2-40B4-BE49-F238E27FC236}">
                <a16:creationId xmlns:a16="http://schemas.microsoft.com/office/drawing/2014/main" id="{45CA12B0-75B5-49BA-990D-71745A9BA89C}"/>
              </a:ext>
            </a:extLst>
          </p:cNvPr>
          <p:cNvSpPr>
            <a:spLocks xmlns:a="http://schemas.openxmlformats.org/drawingml/2006/main" noGrp="1"/>
          </p:cNvSpPr>
          <p:nvPr/>
        </p:nvSpPr>
        <p:spPr>
          <a:xfrm xmlns:a="http://schemas.openxmlformats.org/drawingml/2006/main">
            <a:off x="6286500" y="43338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F8A"/>
                </a:solidFill>
                <a:latin typeface="Lato"/>
                <a:ea typeface="Lato"/>
                <a:cs typeface="Lato"/>
              </a:defRPr>
            </a:defPPr>
          </a:lstStyle>
          <a:p xmlns:a="http://schemas.openxmlformats.org/drawingml/2006/main">
            <a:pPr algn="l">
              <a:defRPr sz="2175" b="1">
                <a:solidFill>
                  <a:srgbClr val="1D6F8A"/>
                </a:solidFill>
                <a:latin typeface="Lato"/>
                <a:ea typeface="Lato"/>
                <a:cs typeface="Lato"/>
              </a:defRPr>
            </a:pPr>
            <a:r>
              <a:rPr sz="2175" b="1">
                <a:solidFill>
                  <a:srgbClr val="1D6F8A"/>
                </a:solidFill>
                <a:latin typeface="Lato"/>
                <a:ea typeface="Lato"/>
                <a:cs typeface="Lato"/>
              </a:rPr>
              <a:t>Final-stage data</a:t>
            </a:r>
          </a:p>
        </p:txBody>
      </p:sp>
      <p:sp>
        <p:nvSpPr>
          <p:cNvPr id="14" name="Degraded and long examples&#10;Random 25% subset of cl">
            <a:extLst xmlns:a="http://schemas.openxmlformats.org/drawingml/2006/main">
              <a:ext uri="{FF2B5EF4-FFF2-40B4-BE49-F238E27FC236}">
                <a16:creationId xmlns:a16="http://schemas.microsoft.com/office/drawing/2014/main" id="{994B903B-053F-4330-90EF-1C4B15268859}"/>
              </a:ext>
            </a:extLst>
          </p:cNvPr>
          <p:cNvSpPr>
            <a:spLocks xmlns:a="http://schemas.openxmlformats.org/drawingml/2006/main" noGrp="1"/>
          </p:cNvSpPr>
          <p:nvPr/>
        </p:nvSpPr>
        <p:spPr>
          <a:xfrm xmlns:a="http://schemas.openxmlformats.org/drawingml/2006/main">
            <a:off x="6286500" y="4857750"/>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42"/>
                </a:solidFill>
                <a:latin typeface="Lato"/>
                <a:ea typeface="Lato"/>
                <a:cs typeface="Lato"/>
              </a:defRPr>
            </a:defPPr>
          </a:lstStyle>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Degraded and long examples</a:t>
            </a:r>
          </a:p>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Random 25% subset of clean data</a:t>
            </a:r>
          </a:p>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Architecture and ASR training both change</a:t>
            </a:r>
          </a:p>
        </p:txBody>
      </p:sp>
    </p:spTree>
    <p:extLst>
      <p:ext uri="{BB962C8B-B14F-4D97-AF65-F5344CB8AC3E}">
        <p14:creationId xmlns:p14="http://schemas.microsoft.com/office/powerpoint/2010/main" val="93109120"/>
      </p:ext>
    </p:extLst>
  </p:cSld>
</p:sld>
</file>

<file path=ppt/slides/slide11.xml><?xml version="1.0" encoding="utf-8"?>
<p:sld xmlns:p="http://schemas.openxmlformats.org/presentationml/2006/main" show="1">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EEA68E7-9755-44AE-9601-B80E678874A4}"/>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ENHANCEMENT AND FUSION</a:t>
            </a:r>
          </a:p>
        </p:txBody>
      </p:sp>
      <p:sp>
        <p:nvSpPr>
          <p:cNvPr id="5" name="">
            <a:extLst xmlns:a="http://schemas.openxmlformats.org/drawingml/2006/main">
              <a:ext uri="{FF2B5EF4-FFF2-40B4-BE49-F238E27FC236}">
                <a16:creationId xmlns:a16="http://schemas.microsoft.com/office/drawing/2014/main" id="{B32BD910-947C-4796-80AA-A9D8D1763864}"/>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000"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Adaptive bridge before recognition</a:t>
            </a:r>
          </a:p>
        </p:txBody>
      </p:sp>
      <p:pic>
        <p:nvPicPr>
          <p:cNvPr id="6" name="">
            <a:extLst xmlns:a="http://schemas.openxmlformats.org/drawingml/2006/main">
              <a:ext uri="{FF2B5EF4-FFF2-40B4-BE49-F238E27FC236}">
                <a16:creationId xmlns:a16="http://schemas.microsoft.com/office/drawing/2014/main" id="{49A11F87-3D74-434D-9C67-204DBBCB2CEC}"/>
              </a:ext>
            </a:extLst>
          </p:cNvPr>
          <p:cNvPicPr>
            <a:picLocks xmlns:a="http://schemas.openxmlformats.org/drawingml/2006/main" noChangeAspect="1"/>
          </p:cNvPicPr>
          <p:nvPr/>
        </p:nvPicPr>
        <p:blipFill>
          <a:blip xmlns:r="http://schemas.openxmlformats.org/officeDocument/2006/relationships" xmlns:a="http://schemas.openxmlformats.org/drawingml/2006/main" r:embed="R88b146fca25a456d"/>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1BDE398-3714-4520-AD13-09962E377FB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C21A17B1-DAA1-4891-8D8F-5CE69AA49694}"/>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A85F096B-2B72-41CA-990F-8E44482031E4}"/>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11 / 20</a:t>
            </a:r>
          </a:p>
        </p:txBody>
      </p:sp>
      <p:pic>
        <p:nvPicPr>
          <p:cNvPr id="10" name="">
            <a:extLst xmlns:a="http://schemas.openxmlformats.org/drawingml/2006/main">
              <a:ext uri="{FF2B5EF4-FFF2-40B4-BE49-F238E27FC236}">
                <a16:creationId xmlns:a16="http://schemas.microsoft.com/office/drawing/2014/main" id="{E327C162-4DD5-4179-84F2-DD48B3C6E8D9}"/>
              </a:ext>
            </a:extLst>
          </p:cNvPr>
          <p:cNvPicPr>
            <a:picLocks xmlns:a="http://schemas.openxmlformats.org/drawingml/2006/main" noChangeAspect="1"/>
          </p:cNvPicPr>
          <p:nvPr/>
        </p:nvPicPr>
        <p:blipFill>
          <a:blip xmlns:r="http://schemas.openxmlformats.org/officeDocument/2006/relationships" xmlns:a="http://schemas.openxmlformats.org/drawingml/2006/main" r:embed="Rfa7437cab36640d0"/>
          <a:stretch xmlns:a="http://schemas.openxmlformats.org/drawingml/2006/main"/>
        </p:blipFill>
        <p:spPr>
          <a:xfrm xmlns:a="http://schemas.openxmlformats.org/drawingml/2006/main">
            <a:off x="609600" y="1811082"/>
            <a:ext cx="8382000" cy="3864487"/>
          </a:xfrm>
          <a:prstGeom xmlns:a="http://schemas.openxmlformats.org/drawingml/2006/main" prst="rect">
            <a:avLst/>
          </a:prstGeom>
        </p:spPr>
      </p:pic>
      <p:sp>
        <p:nvSpPr>
          <p:cNvPr id="11" name="This thesis implementation">
            <a:extLst xmlns:a="http://schemas.openxmlformats.org/drawingml/2006/main">
              <a:ext uri="{FF2B5EF4-FFF2-40B4-BE49-F238E27FC236}">
                <a16:creationId xmlns:a16="http://schemas.microsoft.com/office/drawing/2014/main" id="{B301317C-9A5F-4096-B08D-C5E2EFEC462F}"/>
              </a:ext>
            </a:extLst>
          </p:cNvPr>
          <p:cNvSpPr>
            <a:spLocks xmlns:a="http://schemas.openxmlformats.org/drawingml/2006/main" noGrp="1"/>
          </p:cNvSpPr>
          <p:nvPr/>
        </p:nvSpPr>
        <p:spPr>
          <a:xfrm xmlns:a="http://schemas.openxmlformats.org/drawingml/2006/main">
            <a:off x="9334500" y="19526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D6F8A"/>
                </a:solidFill>
                <a:latin typeface="Lato"/>
                <a:ea typeface="Lato"/>
                <a:cs typeface="Lato"/>
              </a:defRPr>
            </a:defPPr>
          </a:lstStyle>
          <a:p xmlns:a="http://schemas.openxmlformats.org/drawingml/2006/main">
            <a:pPr algn="l">
              <a:defRPr sz="2025" b="1">
                <a:solidFill>
                  <a:srgbClr val="1D6F8A"/>
                </a:solidFill>
                <a:latin typeface="Lato"/>
                <a:ea typeface="Lato"/>
                <a:cs typeface="Lato"/>
              </a:defRPr>
            </a:pPr>
            <a:r>
              <a:rPr sz="2025" b="1">
                <a:solidFill>
                  <a:srgbClr val="1D6F8A"/>
                </a:solidFill>
                <a:latin typeface="Lato"/>
                <a:ea typeface="Lato"/>
                <a:cs typeface="Lato"/>
              </a:rPr>
              <a:t>This thesis implementation</a:t>
            </a:r>
          </a:p>
        </p:txBody>
      </p:sp>
      <p:sp>
        <p:nvSpPr>
          <p:cNvPr id="12" name="Frozen FRCRN&#10;Frozen Whisper&#10;Train the bridge only">
            <a:extLst xmlns:a="http://schemas.openxmlformats.org/drawingml/2006/main">
              <a:ext uri="{FF2B5EF4-FFF2-40B4-BE49-F238E27FC236}">
                <a16:creationId xmlns:a16="http://schemas.microsoft.com/office/drawing/2014/main" id="{28F7FFC9-F5BE-42AC-9047-56B9492C9BC1}"/>
              </a:ext>
            </a:extLst>
          </p:cNvPr>
          <p:cNvSpPr>
            <a:spLocks xmlns:a="http://schemas.openxmlformats.org/drawingml/2006/main" noGrp="1"/>
          </p:cNvSpPr>
          <p:nvPr/>
        </p:nvSpPr>
        <p:spPr>
          <a:xfrm xmlns:a="http://schemas.openxmlformats.org/drawingml/2006/main">
            <a:off x="9334500" y="2952750"/>
            <a:ext cx="219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F42"/>
                </a:solidFill>
                <a:latin typeface="Lato"/>
                <a:ea typeface="Lato"/>
                <a:cs typeface="Lato"/>
              </a:defRPr>
            </a:defPPr>
          </a:lstStyle>
          <a:p xmlns:a="http://schemas.openxmlformats.org/drawingml/2006/main">
            <a:pPr algn="l">
              <a:defRPr sz="1875" b="0">
                <a:solidFill>
                  <a:srgbClr val="172F42"/>
                </a:solidFill>
                <a:latin typeface="Lato"/>
                <a:ea typeface="Lato"/>
                <a:cs typeface="Lato"/>
              </a:defRPr>
            </a:pPr>
            <a:r>
              <a:rPr sz="1875" b="0">
                <a:solidFill>
                  <a:srgbClr val="172F42"/>
                </a:solidFill>
                <a:latin typeface="Lato"/>
                <a:ea typeface="Lato"/>
                <a:cs typeface="Lato"/>
              </a:rPr>
              <a:t>Frozen FRCRN</a:t>
            </a:r>
          </a:p>
          <a:p xmlns:a="http://schemas.openxmlformats.org/drawingml/2006/main">
            <a:pPr algn="l">
              <a:defRPr sz="1875" b="0">
                <a:solidFill>
                  <a:srgbClr val="172F42"/>
                </a:solidFill>
                <a:latin typeface="Lato"/>
                <a:ea typeface="Lato"/>
                <a:cs typeface="Lato"/>
              </a:defRPr>
            </a:pPr>
            <a:r>
              <a:rPr sz="1875" b="0">
                <a:solidFill>
                  <a:srgbClr val="172F42"/>
                </a:solidFill>
                <a:latin typeface="Lato"/>
                <a:ea typeface="Lato"/>
                <a:cs typeface="Lato"/>
              </a:rPr>
              <a:t>Frozen Whisper</a:t>
            </a:r>
          </a:p>
          <a:p xmlns:a="http://schemas.openxmlformats.org/drawingml/2006/main">
            <a:pPr algn="l">
              <a:defRPr sz="1875" b="0">
                <a:solidFill>
                  <a:srgbClr val="172F42"/>
                </a:solidFill>
                <a:latin typeface="Lato"/>
                <a:ea typeface="Lato"/>
                <a:cs typeface="Lato"/>
              </a:defRPr>
            </a:pPr>
            <a:r>
              <a:rPr sz="1875" b="0">
                <a:solidFill>
                  <a:srgbClr val="172F42"/>
                </a:solidFill>
                <a:latin typeface="Lato"/>
                <a:ea typeface="Lato"/>
                <a:cs typeface="Lato"/>
              </a:rPr>
              <a:t>Train the bridge only</a:t>
            </a:r>
          </a:p>
        </p:txBody>
      </p:sp>
      <p:sp>
        <p:nvSpPr>
          <p:cNvPr id="13" name="One mixing coefficient&#10;per utterance">
            <a:extLst xmlns:a="http://schemas.openxmlformats.org/drawingml/2006/main">
              <a:ext uri="{FF2B5EF4-FFF2-40B4-BE49-F238E27FC236}">
                <a16:creationId xmlns:a16="http://schemas.microsoft.com/office/drawing/2014/main" id="{08AE1B12-5B05-4454-B9D5-9F1ACCE25DA6}"/>
              </a:ext>
            </a:extLst>
          </p:cNvPr>
          <p:cNvSpPr>
            <a:spLocks xmlns:a="http://schemas.openxmlformats.org/drawingml/2006/main" noGrp="1"/>
          </p:cNvSpPr>
          <p:nvPr/>
        </p:nvSpPr>
        <p:spPr>
          <a:xfrm xmlns:a="http://schemas.openxmlformats.org/drawingml/2006/main">
            <a:off x="9334500" y="452437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F42"/>
                </a:solidFill>
                <a:latin typeface="Lato"/>
                <a:ea typeface="Lato"/>
                <a:cs typeface="Lato"/>
              </a:defRPr>
            </a:defPPr>
          </a:lstStyle>
          <a:p xmlns:a="http://schemas.openxmlformats.org/drawingml/2006/main">
            <a:pPr algn="l">
              <a:defRPr sz="1875" b="0">
                <a:solidFill>
                  <a:srgbClr val="172F42"/>
                </a:solidFill>
                <a:latin typeface="Lato"/>
                <a:ea typeface="Lato"/>
                <a:cs typeface="Lato"/>
              </a:defRPr>
            </a:pPr>
            <a:r>
              <a:rPr sz="1875" b="0">
                <a:solidFill>
                  <a:srgbClr val="172F42"/>
                </a:solidFill>
                <a:latin typeface="Lato"/>
                <a:ea typeface="Lato"/>
                <a:cs typeface="Lato"/>
              </a:rPr>
              <a:t>One mixing coefficient</a:t>
            </a:r>
          </a:p>
          <a:p xmlns:a="http://schemas.openxmlformats.org/drawingml/2006/main">
            <a:pPr algn="l">
              <a:defRPr sz="1875" b="0">
                <a:solidFill>
                  <a:srgbClr val="172F42"/>
                </a:solidFill>
                <a:latin typeface="Lato"/>
                <a:ea typeface="Lato"/>
                <a:cs typeface="Lato"/>
              </a:defRPr>
            </a:pPr>
            <a:r>
              <a:rPr sz="1875" b="0">
                <a:solidFill>
                  <a:srgbClr val="172F42"/>
                </a:solidFill>
                <a:latin typeface="Lato"/>
                <a:ea typeface="Lato"/>
                <a:cs typeface="Lato"/>
              </a:rPr>
              <a:t>per utterance</a:t>
            </a:r>
          </a:p>
        </p:txBody>
      </p:sp>
      <p:sp>
        <p:nvSpPr>
          <p:cNvPr id="14" name="Cui et al., ICASSP 2025, Fig. 1 (CC BY 4.0)">
            <a:extLst xmlns:a="http://schemas.openxmlformats.org/drawingml/2006/main">
              <a:ext uri="{FF2B5EF4-FFF2-40B4-BE49-F238E27FC236}">
                <a16:creationId xmlns:a16="http://schemas.microsoft.com/office/drawing/2014/main" id="{2097124B-3927-46BE-8F0F-86C61BFD3EEA}"/>
              </a:ext>
            </a:extLst>
          </p:cNvPr>
          <p:cNvSpPr>
            <a:spLocks xmlns:a="http://schemas.openxmlformats.org/drawingml/2006/main" noGrp="1"/>
          </p:cNvSpPr>
          <p:nvPr/>
        </p:nvSpPr>
        <p:spPr>
          <a:xfrm xmlns:a="http://schemas.openxmlformats.org/drawingml/2006/main">
            <a:off x="609600" y="57816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D6F8A"/>
                </a:solidFill>
                <a:latin typeface="Lato"/>
                <a:ea typeface="Lato"/>
                <a:cs typeface="Lato"/>
              </a:defRPr>
            </a:defPPr>
          </a:lstStyle>
          <a:p xmlns:a="http://schemas.openxmlformats.org/drawingml/2006/main">
            <a:pPr algn="l">
              <a:defRPr sz="1500" b="1">
                <a:solidFill>
                  <a:srgbClr val="1D6F8A"/>
                </a:solidFill>
                <a:latin typeface="Lato"/>
                <a:ea typeface="Lato"/>
                <a:cs typeface="Lato"/>
              </a:defRPr>
            </a:pPr>
            <a:r>
              <a:rPr sz="1500" b="1">
                <a:solidFill>
                  <a:srgbClr val="1D6F8A"/>
                </a:solidFill>
                <a:latin typeface="Lato"/>
                <a:ea typeface="Lato"/>
                <a:cs typeface="Lato"/>
              </a:rPr>
              <a:t>Cui et al., ICASSP 2025, Fig. 1 (CC BY 4.0)</a:t>
            </a:r>
          </a:p>
        </p:txBody>
      </p:sp>
      <p:sp>
        <p:nvSpPr>
          <p:cNvPr id="15" name="Independent Persian implementation. Different enha">
            <a:extLst xmlns:a="http://schemas.openxmlformats.org/drawingml/2006/main">
              <a:ext uri="{FF2B5EF4-FFF2-40B4-BE49-F238E27FC236}">
                <a16:creationId xmlns:a16="http://schemas.microsoft.com/office/drawing/2014/main" id="{991785E0-0D09-4A64-BC7A-A1CF73887270}"/>
              </a:ext>
            </a:extLst>
          </p:cNvPr>
          <p:cNvSpPr>
            <a:spLocks xmlns:a="http://schemas.openxmlformats.org/drawingml/2006/main" noGrp="1"/>
          </p:cNvSpPr>
          <p:nvPr/>
        </p:nvSpPr>
        <p:spPr>
          <a:xfrm xmlns:a="http://schemas.openxmlformats.org/drawingml/2006/main">
            <a:off x="609600" y="61055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B78"/>
                </a:solidFill>
                <a:latin typeface="Lato"/>
                <a:ea typeface="Lato"/>
                <a:cs typeface="Lato"/>
              </a:defRPr>
            </a:defPPr>
          </a:lstStyle>
          <a:p xmlns:a="http://schemas.openxmlformats.org/drawingml/2006/main">
            <a:pPr algn="l">
              <a:defRPr sz="1425" b="0">
                <a:solidFill>
                  <a:srgbClr val="586B78"/>
                </a:solidFill>
                <a:latin typeface="Lato"/>
                <a:ea typeface="Lato"/>
                <a:cs typeface="Lato"/>
              </a:defRPr>
            </a:pPr>
            <a:r>
              <a:rPr sz="1425" b="0">
                <a:solidFill>
                  <a:srgbClr val="586B78"/>
                </a:solidFill>
                <a:latin typeface="Lato"/>
                <a:ea typeface="Lato"/>
                <a:cs typeface="Lato"/>
              </a:rPr>
              <a:t>Independent Persian implementation. Different enhancers and training limit attribution to fusion location.</a:t>
            </a:r>
          </a:p>
        </p:txBody>
      </p:sp>
    </p:spTree>
    <p:extLst>
      <p:ext uri="{BB962C8B-B14F-4D97-AF65-F5344CB8AC3E}">
        <p14:creationId xmlns:p14="http://schemas.microsoft.com/office/powerpoint/2010/main" val="1494872209"/>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759A466-6565-4BA4-8A84-CA2A35A471CF}"/>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ENHANCEMENT AND FUSION</a:t>
            </a:r>
          </a:p>
        </p:txBody>
      </p:sp>
      <p:sp>
        <p:nvSpPr>
          <p:cNvPr id="5" name="">
            <a:extLst xmlns:a="http://schemas.openxmlformats.org/drawingml/2006/main">
              <a:ext uri="{FF2B5EF4-FFF2-40B4-BE49-F238E27FC236}">
                <a16:creationId xmlns:a16="http://schemas.microsoft.com/office/drawing/2014/main" id="{E00667C5-25FA-4D03-848F-5C1A2CDA9CC7}"/>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225"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What fusion and the bridge add</a:t>
            </a:r>
          </a:p>
        </p:txBody>
      </p:sp>
      <p:pic>
        <p:nvPicPr>
          <p:cNvPr id="6" name="">
            <a:extLst xmlns:a="http://schemas.openxmlformats.org/drawingml/2006/main">
              <a:ext uri="{FF2B5EF4-FFF2-40B4-BE49-F238E27FC236}">
                <a16:creationId xmlns:a16="http://schemas.microsoft.com/office/drawing/2014/main" id="{6201CD4A-2AFD-495D-BEB6-4194C0788C08}"/>
              </a:ext>
            </a:extLst>
          </p:cNvPr>
          <p:cNvPicPr>
            <a:picLocks xmlns:a="http://schemas.openxmlformats.org/drawingml/2006/main" noChangeAspect="1"/>
          </p:cNvPicPr>
          <p:nvPr/>
        </p:nvPicPr>
        <p:blipFill>
          <a:blip xmlns:r="http://schemas.openxmlformats.org/officeDocument/2006/relationships" xmlns:a="http://schemas.openxmlformats.org/drawingml/2006/main" r:embed="R057dbe1a339545f4"/>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2E50BFE-BD77-4302-AA77-707D82671C0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63DB9763-C0DF-4662-AB43-35D0A6820B07}"/>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4E4C82F0-9330-4156-A27B-30B68660F912}"/>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12 / 20</a:t>
            </a:r>
          </a:p>
        </p:txBody>
      </p:sp>
      <p:graphicFrame>
        <p:nvGraphicFramePr>
          <p:cNvPr id="10" name="Chart">
            <a:extLst xmlns:a="http://schemas.openxmlformats.org/drawingml/2006/main">
              <a:ext uri="{FF2B5EF4-FFF2-40B4-BE49-F238E27FC236}">
                <a16:creationId xmlns:a16="http://schemas.microsoft.com/office/drawing/2014/main" id="{A1294547-82D7-4E6B-B3E0-7A56730F95DC}"/>
              </a:ext>
            </a:extLst>
          </p:cNvPr>
          <p:cNvGraphicFramePr/>
          <p:nvPr/>
        </p:nvGraphicFramePr>
        <p:xfrm>
          <a:off xmlns:a="http://schemas.openxmlformats.org/drawingml/2006/main" x="609600" y="1952625"/>
          <a:ext xmlns:a="http://schemas.openxmlformats.org/drawingml/2006/main" cx="5238750" cy="3143250"/>
        </p:xfrm>
        <a:graphic xmlns:a="http://schemas.openxmlformats.org/drawingml/2006/main">
          <a:graphicData uri="http://schemas.openxmlformats.org/drawingml/2006/chart">
            <c:chart xmlns:r="http://schemas.openxmlformats.org/officeDocument/2006/relationships" xmlns:c="http://schemas.openxmlformats.org/drawingml/2006/chart" r:id="Rb1d298582a5f4feb"/>
          </a:graphicData>
        </a:graphic>
      </p:graphicFrame>
      <p:graphicFrame>
        <p:nvGraphicFramePr>
          <p:cNvPr id="11" name="Chart">
            <a:extLst xmlns:a="http://schemas.openxmlformats.org/drawingml/2006/main">
              <a:ext uri="{FF2B5EF4-FFF2-40B4-BE49-F238E27FC236}">
                <a16:creationId xmlns:a16="http://schemas.microsoft.com/office/drawing/2014/main" id="{139D3F45-828E-4B0D-B31E-93C6C8AFA144}"/>
              </a:ext>
            </a:extLst>
          </p:cNvPr>
          <p:cNvGraphicFramePr/>
          <p:nvPr/>
        </p:nvGraphicFramePr>
        <p:xfrm>
          <a:off xmlns:a="http://schemas.openxmlformats.org/drawingml/2006/main" x="6286500" y="1952625"/>
          <a:ext xmlns:a="http://schemas.openxmlformats.org/drawingml/2006/main" cx="5238750" cy="3143250"/>
        </p:xfrm>
        <a:graphic xmlns:a="http://schemas.openxmlformats.org/drawingml/2006/main">
          <a:graphicData uri="http://schemas.openxmlformats.org/drawingml/2006/chart">
            <c:chart xmlns:r="http://schemas.openxmlformats.org/officeDocument/2006/relationships" xmlns:c="http://schemas.openxmlformats.org/drawingml/2006/chart" r:id="Re39f7f8999df4cf2"/>
          </a:graphicData>
        </a:graphic>
      </p:graphicFrame>
      <p:sp>
        <p:nvSpPr>
          <p:cNvPr id="12" name="Aggregate CER, same order: 7.93%, 8.00%, 7.85%. Lo">
            <a:extLst xmlns:a="http://schemas.openxmlformats.org/drawingml/2006/main">
              <a:ext uri="{FF2B5EF4-FFF2-40B4-BE49-F238E27FC236}">
                <a16:creationId xmlns:a16="http://schemas.microsoft.com/office/drawing/2014/main" id="{6A5C7A5B-1530-4038-A51E-A0341590D2F3}"/>
              </a:ext>
            </a:extLst>
          </p:cNvPr>
          <p:cNvSpPr>
            <a:spLocks xmlns:a="http://schemas.openxmlformats.org/drawingml/2006/main" noGrp="1"/>
          </p:cNvSpPr>
          <p:nvPr/>
        </p:nvSpPr>
        <p:spPr>
          <a:xfrm xmlns:a="http://schemas.openxmlformats.org/drawingml/2006/main">
            <a:off x="609600" y="52863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D6F8A"/>
                </a:solidFill>
                <a:latin typeface="Lato"/>
                <a:ea typeface="Lato"/>
                <a:cs typeface="Lato"/>
              </a:defRPr>
            </a:defPPr>
          </a:lstStyle>
          <a:p xmlns:a="http://schemas.openxmlformats.org/drawingml/2006/main">
            <a:pPr algn="l">
              <a:defRPr sz="1875" b="1">
                <a:solidFill>
                  <a:srgbClr val="1D6F8A"/>
                </a:solidFill>
                <a:latin typeface="Lato"/>
                <a:ea typeface="Lato"/>
                <a:cs typeface="Lato"/>
              </a:defRPr>
            </a:pPr>
            <a:r>
              <a:rPr sz="1875" b="1">
                <a:solidFill>
                  <a:srgbClr val="1D6F8A"/>
                </a:solidFill>
                <a:latin typeface="Lato"/>
                <a:ea typeface="Lato"/>
                <a:cs typeface="Lato"/>
              </a:rPr>
              <a:t>Aggregate CER, same order: 7.93%, 8.00%, 7.85%. Lower is better.</a:t>
            </a:r>
          </a:p>
        </p:txBody>
      </p:sp>
      <p:sp>
        <p:nvSpPr>
          <p:cNvPr id="13" name="Fusion lowers WER by 0.19 points overall and 0.43 ">
            <a:extLst xmlns:a="http://schemas.openxmlformats.org/drawingml/2006/main">
              <a:ext uri="{FF2B5EF4-FFF2-40B4-BE49-F238E27FC236}">
                <a16:creationId xmlns:a16="http://schemas.microsoft.com/office/drawing/2014/main" id="{27E513CB-F3E7-4DB4-9E3A-EF02B4CE80F2}"/>
              </a:ext>
            </a:extLst>
          </p:cNvPr>
          <p:cNvSpPr>
            <a:spLocks xmlns:a="http://schemas.openxmlformats.org/drawingml/2006/main" noGrp="1"/>
          </p:cNvSpPr>
          <p:nvPr/>
        </p:nvSpPr>
        <p:spPr>
          <a:xfrm xmlns:a="http://schemas.openxmlformats.org/drawingml/2006/main">
            <a:off x="609600" y="5810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B78"/>
                </a:solidFill>
                <a:latin typeface="Lato"/>
                <a:ea typeface="Lato"/>
                <a:cs typeface="Lato"/>
              </a:defRPr>
            </a:defPPr>
          </a:lstStyle>
          <a:p xmlns:a="http://schemas.openxmlformats.org/drawingml/2006/main">
            <a:pPr algn="l">
              <a:defRPr sz="1650" b="0">
                <a:solidFill>
                  <a:srgbClr val="586B78"/>
                </a:solidFill>
                <a:latin typeface="Lato"/>
                <a:ea typeface="Lato"/>
                <a:cs typeface="Lato"/>
              </a:defRPr>
            </a:pPr>
            <a:r>
              <a:rPr sz="1650" b="0">
                <a:solidFill>
                  <a:srgbClr val="586B78"/>
                </a:solidFill>
                <a:latin typeface="Lato"/>
                <a:ea typeface="Lato"/>
                <a:cs typeface="Lato"/>
              </a:rPr>
              <a:t>Fusion lowers WER by 0.19 points overall and 0.43 on real calls. Small margins lack confidence intervals.</a:t>
            </a:r>
          </a:p>
        </p:txBody>
      </p:sp>
    </p:spTree>
    <p:extLst>
      <p:ext uri="{BB962C8B-B14F-4D97-AF65-F5344CB8AC3E}">
        <p14:creationId xmlns:p14="http://schemas.microsoft.com/office/powerpoint/2010/main" val="680333881"/>
      </p:ext>
    </p:extLst>
  </p:cSld>
</p:sld>
</file>

<file path=ppt/slides/slide1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698A494-3906-428A-853E-6A51DC600DAB}"/>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ENHANCEMENT AND FUSION</a:t>
            </a:r>
          </a:p>
        </p:txBody>
      </p:sp>
      <p:sp>
        <p:nvSpPr>
          <p:cNvPr id="5" name="">
            <a:extLst xmlns:a="http://schemas.openxmlformats.org/drawingml/2006/main">
              <a:ext uri="{FF2B5EF4-FFF2-40B4-BE49-F238E27FC236}">
                <a16:creationId xmlns:a16="http://schemas.microsoft.com/office/drawing/2014/main" id="{2D0EECA6-1812-441E-A8C1-EA5DDC8F746F}"/>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225"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Ablations: using both views and attention</a:t>
            </a:r>
          </a:p>
        </p:txBody>
      </p:sp>
      <p:pic>
        <p:nvPicPr>
          <p:cNvPr id="6" name="">
            <a:extLst xmlns:a="http://schemas.openxmlformats.org/drawingml/2006/main">
              <a:ext uri="{FF2B5EF4-FFF2-40B4-BE49-F238E27FC236}">
                <a16:creationId xmlns:a16="http://schemas.microsoft.com/office/drawing/2014/main" id="{86CF678E-5BC9-41A0-8663-F35B6ED83DF0}"/>
              </a:ext>
            </a:extLst>
          </p:cNvPr>
          <p:cNvPicPr>
            <a:picLocks xmlns:a="http://schemas.openxmlformats.org/drawingml/2006/main" noChangeAspect="1"/>
          </p:cNvPicPr>
          <p:nvPr/>
        </p:nvPicPr>
        <p:blipFill>
          <a:blip xmlns:r="http://schemas.openxmlformats.org/officeDocument/2006/relationships" xmlns:a="http://schemas.openxmlformats.org/drawingml/2006/main" r:embed="R723b8eaa4bd44f22"/>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4367681-3528-4EF0-858E-22D74663E7D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71616F52-F544-4653-ADE9-307E20C4DC43}"/>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61C06C4C-258F-44E4-B20B-981817D89ED7}"/>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13 / 20</a:t>
            </a:r>
          </a:p>
        </p:txBody>
      </p:sp>
      <p:sp>
        <p:nvSpPr>
          <p:cNvPr id="10" name="Separate Whisper Tiny experiment">
            <a:extLst xmlns:a="http://schemas.openxmlformats.org/drawingml/2006/main">
              <a:ext uri="{FF2B5EF4-FFF2-40B4-BE49-F238E27FC236}">
                <a16:creationId xmlns:a16="http://schemas.microsoft.com/office/drawing/2014/main" id="{C8622598-2BE6-4ED4-A4BD-7E911BD028BC}"/>
              </a:ext>
            </a:extLst>
          </p:cNvPr>
          <p:cNvSpPr>
            <a:spLocks xmlns:a="http://schemas.openxmlformats.org/drawingml/2006/main" noGrp="1"/>
          </p:cNvSpPr>
          <p:nvPr/>
        </p:nvSpPr>
        <p:spPr>
          <a:xfrm xmlns:a="http://schemas.openxmlformats.org/drawingml/2006/main">
            <a:off x="609600" y="1762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D6F8A"/>
                </a:solidFill>
                <a:latin typeface="Lato"/>
                <a:ea typeface="Lato"/>
                <a:cs typeface="Lato"/>
              </a:defRPr>
            </a:defPPr>
          </a:lstStyle>
          <a:p xmlns:a="http://schemas.openxmlformats.org/drawingml/2006/main">
            <a:pPr algn="l">
              <a:defRPr sz="2025" b="1">
                <a:solidFill>
                  <a:srgbClr val="1D6F8A"/>
                </a:solidFill>
                <a:latin typeface="Lato"/>
                <a:ea typeface="Lato"/>
                <a:cs typeface="Lato"/>
              </a:defRPr>
            </a:pPr>
            <a:r>
              <a:rPr sz="2025" b="1">
                <a:solidFill>
                  <a:srgbClr val="1D6F8A"/>
                </a:solidFill>
                <a:latin typeface="Lato"/>
                <a:ea typeface="Lato"/>
                <a:cs typeface="Lato"/>
              </a:rPr>
              <a:t>Separate Whisper Tiny experiment</a:t>
            </a:r>
          </a:p>
        </p:txBody>
      </p:sp>
      <p:graphicFrame>
        <p:nvGraphicFramePr>
          <p:cNvPr id="11" name="Chart">
            <a:extLst xmlns:a="http://schemas.openxmlformats.org/drawingml/2006/main">
              <a:ext uri="{FF2B5EF4-FFF2-40B4-BE49-F238E27FC236}">
                <a16:creationId xmlns:a16="http://schemas.microsoft.com/office/drawing/2014/main" id="{C9BE2BB9-61A7-4366-BE77-D5F734737FCC}"/>
              </a:ext>
            </a:extLst>
          </p:cNvPr>
          <p:cNvGraphicFramePr/>
          <p:nvPr/>
        </p:nvGraphicFramePr>
        <p:xfrm>
          <a:off xmlns:a="http://schemas.openxmlformats.org/drawingml/2006/main" x="609600" y="2286000"/>
          <a:ext xmlns:a="http://schemas.openxmlformats.org/drawingml/2006/main" cx="8001000" cy="3000375"/>
        </p:xfrm>
        <a:graphic xmlns:a="http://schemas.openxmlformats.org/drawingml/2006/main">
          <a:graphicData uri="http://schemas.openxmlformats.org/drawingml/2006/chart">
            <c:chart xmlns:r="http://schemas.openxmlformats.org/officeDocument/2006/relationships" xmlns:c="http://schemas.openxmlformats.org/drawingml/2006/chart" r:id="R3a46fa5c650b46ee"/>
          </a:graphicData>
        </a:graphic>
      </p:graphicFrame>
      <p:sp>
        <p:nvSpPr>
          <p:cNvPr id="12" name="Common Voice WER&#10;Same system order">
            <a:extLst xmlns:a="http://schemas.openxmlformats.org/drawingml/2006/main">
              <a:ext uri="{FF2B5EF4-FFF2-40B4-BE49-F238E27FC236}">
                <a16:creationId xmlns:a16="http://schemas.microsoft.com/office/drawing/2014/main" id="{773351E5-79A0-42A9-A11A-40BF043A57CA}"/>
              </a:ext>
            </a:extLst>
          </p:cNvPr>
          <p:cNvSpPr>
            <a:spLocks xmlns:a="http://schemas.openxmlformats.org/drawingml/2006/main" noGrp="1"/>
          </p:cNvSpPr>
          <p:nvPr/>
        </p:nvSpPr>
        <p:spPr>
          <a:xfrm xmlns:a="http://schemas.openxmlformats.org/drawingml/2006/main">
            <a:off x="9001125" y="2476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D6F8A"/>
                </a:solidFill>
                <a:latin typeface="Lato"/>
                <a:ea typeface="Lato"/>
                <a:cs typeface="Lato"/>
              </a:defRPr>
            </a:defPPr>
          </a:lstStyle>
          <a:p xmlns:a="http://schemas.openxmlformats.org/drawingml/2006/main">
            <a:pPr algn="l">
              <a:defRPr sz="1875" b="1">
                <a:solidFill>
                  <a:srgbClr val="1D6F8A"/>
                </a:solidFill>
                <a:latin typeface="Lato"/>
                <a:ea typeface="Lato"/>
                <a:cs typeface="Lato"/>
              </a:defRPr>
            </a:pPr>
            <a:r>
              <a:rPr sz="1875" b="1">
                <a:solidFill>
                  <a:srgbClr val="1D6F8A"/>
                </a:solidFill>
                <a:latin typeface="Lato"/>
                <a:ea typeface="Lato"/>
                <a:cs typeface="Lato"/>
              </a:rPr>
              <a:t>Common Voice WER</a:t>
            </a:r>
          </a:p>
          <a:p xmlns:a="http://schemas.openxmlformats.org/drawingml/2006/main">
            <a:pPr algn="l">
              <a:defRPr sz="1875" b="1">
                <a:solidFill>
                  <a:srgbClr val="1D6F8A"/>
                </a:solidFill>
                <a:latin typeface="Lato"/>
                <a:ea typeface="Lato"/>
                <a:cs typeface="Lato"/>
              </a:defRPr>
            </a:pPr>
            <a:r>
              <a:rPr sz="1875" b="1">
                <a:solidFill>
                  <a:srgbClr val="1D6F8A"/>
                </a:solidFill>
                <a:latin typeface="Lato"/>
                <a:ea typeface="Lato"/>
                <a:cs typeface="Lato"/>
              </a:rPr>
              <a:t>Same system order</a:t>
            </a:r>
          </a:p>
        </p:txBody>
      </p:sp>
      <p:sp>
        <p:nvSpPr>
          <p:cNvPr id="13" name="57.82%&#10;62.35%&#10;64.10%&#10;63.81%">
            <a:extLst xmlns:a="http://schemas.openxmlformats.org/drawingml/2006/main">
              <a:ext uri="{FF2B5EF4-FFF2-40B4-BE49-F238E27FC236}">
                <a16:creationId xmlns:a16="http://schemas.microsoft.com/office/drawing/2014/main" id="{84E64345-B1FF-4E56-A8FC-2CE348C06B4F}"/>
              </a:ext>
            </a:extLst>
          </p:cNvPr>
          <p:cNvSpPr>
            <a:spLocks xmlns:a="http://schemas.openxmlformats.org/drawingml/2006/main" noGrp="1"/>
          </p:cNvSpPr>
          <p:nvPr/>
        </p:nvSpPr>
        <p:spPr>
          <a:xfrm xmlns:a="http://schemas.openxmlformats.org/drawingml/2006/main">
            <a:off x="9001125" y="3286125"/>
            <a:ext cx="247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F42"/>
                </a:solidFill>
                <a:latin typeface="Lato"/>
                <a:ea typeface="Lato"/>
                <a:cs typeface="Lato"/>
              </a:defRPr>
            </a:defPPr>
          </a:lstStyle>
          <a:p xmlns:a="http://schemas.openxmlformats.org/drawingml/2006/main">
            <a:pPr algn="l">
              <a:defRPr sz="2025" b="0">
                <a:solidFill>
                  <a:srgbClr val="172F42"/>
                </a:solidFill>
                <a:latin typeface="Lato"/>
                <a:ea typeface="Lato"/>
                <a:cs typeface="Lato"/>
              </a:defRPr>
            </a:pPr>
            <a:r>
              <a:rPr sz="2025" b="0">
                <a:solidFill>
                  <a:srgbClr val="172F42"/>
                </a:solidFill>
                <a:latin typeface="Lato"/>
                <a:ea typeface="Lato"/>
                <a:cs typeface="Lato"/>
              </a:rPr>
              <a:t>57.82%</a:t>
            </a:r>
          </a:p>
          <a:p xmlns:a="http://schemas.openxmlformats.org/drawingml/2006/main">
            <a:pPr algn="l">
              <a:defRPr sz="2025" b="0">
                <a:solidFill>
                  <a:srgbClr val="172F42"/>
                </a:solidFill>
                <a:latin typeface="Lato"/>
                <a:ea typeface="Lato"/>
                <a:cs typeface="Lato"/>
              </a:defRPr>
            </a:pPr>
            <a:r>
              <a:rPr sz="2025" b="0">
                <a:solidFill>
                  <a:srgbClr val="172F42"/>
                </a:solidFill>
                <a:latin typeface="Lato"/>
                <a:ea typeface="Lato"/>
                <a:cs typeface="Lato"/>
              </a:rPr>
              <a:t>62.35%</a:t>
            </a:r>
          </a:p>
          <a:p xmlns:a="http://schemas.openxmlformats.org/drawingml/2006/main">
            <a:pPr algn="l">
              <a:defRPr sz="2025" b="0">
                <a:solidFill>
                  <a:srgbClr val="172F42"/>
                </a:solidFill>
                <a:latin typeface="Lato"/>
                <a:ea typeface="Lato"/>
                <a:cs typeface="Lato"/>
              </a:defRPr>
            </a:pPr>
            <a:r>
              <a:rPr sz="2025" b="0">
                <a:solidFill>
                  <a:srgbClr val="172F42"/>
                </a:solidFill>
                <a:latin typeface="Lato"/>
                <a:ea typeface="Lato"/>
                <a:cs typeface="Lato"/>
              </a:rPr>
              <a:t>64.10%</a:t>
            </a:r>
          </a:p>
          <a:p xmlns:a="http://schemas.openxmlformats.org/drawingml/2006/main">
            <a:pPr algn="l">
              <a:defRPr sz="2025" b="0">
                <a:solidFill>
                  <a:srgbClr val="172F42"/>
                </a:solidFill>
                <a:latin typeface="Lato"/>
                <a:ea typeface="Lato"/>
                <a:cs typeface="Lato"/>
              </a:defRPr>
            </a:pPr>
            <a:r>
              <a:rPr sz="2025" b="0">
                <a:solidFill>
                  <a:srgbClr val="172F42"/>
                </a:solidFill>
                <a:latin typeface="Lato"/>
                <a:ea typeface="Lato"/>
                <a:cs typeface="Lato"/>
              </a:rPr>
              <a:t>63.81%</a:t>
            </a:r>
          </a:p>
        </p:txBody>
      </p:sp>
      <p:sp>
        <p:nvSpPr>
          <p:cNvPr id="14" name="¹ Single-view inference from the trained fusion ch">
            <a:extLst xmlns:a="http://schemas.openxmlformats.org/drawingml/2006/main">
              <a:ext uri="{FF2B5EF4-FFF2-40B4-BE49-F238E27FC236}">
                <a16:creationId xmlns:a16="http://schemas.microsoft.com/office/drawing/2014/main" id="{1836FB0C-92F2-4909-A306-A08EAEC2E104}"/>
              </a:ext>
            </a:extLst>
          </p:cNvPr>
          <p:cNvSpPr>
            <a:spLocks xmlns:a="http://schemas.openxmlformats.org/drawingml/2006/main" noGrp="1"/>
          </p:cNvSpPr>
          <p:nvPr/>
        </p:nvSpPr>
        <p:spPr>
          <a:xfrm xmlns:a="http://schemas.openxmlformats.org/drawingml/2006/main">
            <a:off x="609600" y="56197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¹ Single-view inference from the trained fusion checkpoint. Common Voice-only training in this study.</a:t>
            </a:r>
          </a:p>
        </p:txBody>
      </p:sp>
      <p:sp>
        <p:nvSpPr>
          <p:cNvPr id="15" name="Extra training and unequal parameter counts limit ">
            <a:extLst xmlns:a="http://schemas.openxmlformats.org/drawingml/2006/main">
              <a:ext uri="{FF2B5EF4-FFF2-40B4-BE49-F238E27FC236}">
                <a16:creationId xmlns:a16="http://schemas.microsoft.com/office/drawing/2014/main" id="{22F53AA1-5CC0-410F-BABF-6365D6EEA8A0}"/>
              </a:ext>
            </a:extLst>
          </p:cNvPr>
          <p:cNvSpPr>
            <a:spLocks xmlns:a="http://schemas.openxmlformats.org/drawingml/2006/main" noGrp="1"/>
          </p:cNvSpPr>
          <p:nvPr/>
        </p:nvSpPr>
        <p:spPr>
          <a:xfrm xmlns:a="http://schemas.openxmlformats.org/drawingml/2006/main">
            <a:off x="609600" y="6000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Extra training and unequal parameter counts limit attribution to individual modules.</a:t>
            </a:r>
          </a:p>
        </p:txBody>
      </p:sp>
    </p:spTree>
    <p:extLst>
      <p:ext uri="{BB962C8B-B14F-4D97-AF65-F5344CB8AC3E}">
        <p14:creationId xmlns:p14="http://schemas.microsoft.com/office/powerpoint/2010/main" val="2115834533"/>
      </p:ext>
    </p:extLst>
  </p:cSld>
</p:sld>
</file>

<file path=ppt/slides/slide14.xml><?xml version="1.0" encoding="utf-8"?>
<p:sld xmlns:p="http://schemas.openxmlformats.org/presentationml/2006/main" show="1">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11F5FB5-4904-4237-9B27-447E987DE871}"/>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AUDIOBOOK DATA</a:t>
            </a:r>
          </a:p>
        </p:txBody>
      </p:sp>
      <p:sp>
        <p:nvSpPr>
          <p:cNvPr id="5" name="">
            <a:extLst xmlns:a="http://schemas.openxmlformats.org/drawingml/2006/main">
              <a:ext uri="{FF2B5EF4-FFF2-40B4-BE49-F238E27FC236}">
                <a16:creationId xmlns:a16="http://schemas.microsoft.com/office/drawing/2014/main" id="{60147BCB-9AFB-4121-A9EF-5D2A810F1D7C}"/>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000"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IranSeda acquisition and segmentation</a:t>
            </a:r>
          </a:p>
        </p:txBody>
      </p:sp>
      <p:pic>
        <p:nvPicPr>
          <p:cNvPr id="6" name="">
            <a:extLst xmlns:a="http://schemas.openxmlformats.org/drawingml/2006/main">
              <a:ext uri="{FF2B5EF4-FFF2-40B4-BE49-F238E27FC236}">
                <a16:creationId xmlns:a16="http://schemas.microsoft.com/office/drawing/2014/main" id="{B8467ABF-3094-47D7-83FC-1136A855C016}"/>
              </a:ext>
            </a:extLst>
          </p:cNvPr>
          <p:cNvPicPr>
            <a:picLocks xmlns:a="http://schemas.openxmlformats.org/drawingml/2006/main" noChangeAspect="1"/>
          </p:cNvPicPr>
          <p:nvPr/>
        </p:nvPicPr>
        <p:blipFill>
          <a:blip xmlns:r="http://schemas.openxmlformats.org/officeDocument/2006/relationships" xmlns:a="http://schemas.openxmlformats.org/drawingml/2006/main" r:embed="R0216bec63c494c60"/>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CBB2326-C8E5-4264-89ED-EC5757E8785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768FF6D4-5E2F-4E55-A5BD-0682560E209E}"/>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787666C5-364C-48DA-B884-42FAE11F9681}"/>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14 / 20</a:t>
            </a:r>
          </a:p>
        </p:txBody>
      </p:sp>
      <p:pic>
        <p:nvPicPr>
          <p:cNvPr id="10" name="">
            <a:extLst xmlns:a="http://schemas.openxmlformats.org/drawingml/2006/main">
              <a:ext uri="{FF2B5EF4-FFF2-40B4-BE49-F238E27FC236}">
                <a16:creationId xmlns:a16="http://schemas.microsoft.com/office/drawing/2014/main" id="{6B86CF1B-D9FB-4E96-8490-D371A53CEA30}"/>
              </a:ext>
            </a:extLst>
          </p:cNvPr>
          <p:cNvPicPr>
            <a:picLocks xmlns:a="http://schemas.openxmlformats.org/drawingml/2006/main" noChangeAspect="1"/>
          </p:cNvPicPr>
          <p:nvPr/>
        </p:nvPicPr>
        <p:blipFill>
          <a:blip xmlns:r="http://schemas.openxmlformats.org/officeDocument/2006/relationships" xmlns:a="http://schemas.openxmlformats.org/drawingml/2006/main" r:embed="R9f1e105f1a714ff6"/>
          <a:stretch xmlns:a="http://schemas.openxmlformats.org/drawingml/2006/main"/>
        </p:blipFill>
        <p:spPr>
          <a:xfrm xmlns:a="http://schemas.openxmlformats.org/drawingml/2006/main">
            <a:off x="848898" y="1809750"/>
            <a:ext cx="3712404" cy="4381500"/>
          </a:xfrm>
          <a:prstGeom xmlns:a="http://schemas.openxmlformats.org/drawingml/2006/main" prst="rect">
            <a:avLst/>
          </a:prstGeom>
        </p:spPr>
      </p:pic>
      <p:sp>
        <p:nvSpPr>
          <p:cNvPr id="11" name="3,777 audiobooks">
            <a:extLst xmlns:a="http://schemas.openxmlformats.org/drawingml/2006/main">
              <a:ext uri="{FF2B5EF4-FFF2-40B4-BE49-F238E27FC236}">
                <a16:creationId xmlns:a16="http://schemas.microsoft.com/office/drawing/2014/main" id="{41EB8001-876E-4C36-9A1D-C68DE3BD801E}"/>
              </a:ext>
            </a:extLst>
          </p:cNvPr>
          <p:cNvSpPr>
            <a:spLocks xmlns:a="http://schemas.openxmlformats.org/drawingml/2006/main" noGrp="1"/>
          </p:cNvSpPr>
          <p:nvPr/>
        </p:nvSpPr>
        <p:spPr>
          <a:xfrm xmlns:a="http://schemas.openxmlformats.org/drawingml/2006/main">
            <a:off x="5810250" y="1952625"/>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D6F8A"/>
                </a:solidFill>
                <a:latin typeface="Lato"/>
                <a:ea typeface="Lato"/>
                <a:cs typeface="Lato"/>
              </a:defRPr>
            </a:defPPr>
          </a:lstStyle>
          <a:p xmlns:a="http://schemas.openxmlformats.org/drawingml/2006/main">
            <a:pPr algn="l">
              <a:defRPr sz="2700" b="1">
                <a:solidFill>
                  <a:srgbClr val="1D6F8A"/>
                </a:solidFill>
                <a:latin typeface="Lato"/>
                <a:ea typeface="Lato"/>
                <a:cs typeface="Lato"/>
              </a:defRPr>
            </a:pPr>
            <a:r>
              <a:rPr sz="2700" b="1">
                <a:solidFill>
                  <a:srgbClr val="1D6F8A"/>
                </a:solidFill>
                <a:latin typeface="Lato"/>
                <a:ea typeface="Lato"/>
                <a:cs typeface="Lato"/>
              </a:rPr>
              <a:t>3,777 audiobooks</a:t>
            </a:r>
          </a:p>
        </p:txBody>
      </p:sp>
      <p:sp>
        <p:nvSpPr>
          <p:cNvPr id="12" name="Approximately 6,300 raw hours acquired">
            <a:extLst xmlns:a="http://schemas.openxmlformats.org/drawingml/2006/main">
              <a:ext uri="{FF2B5EF4-FFF2-40B4-BE49-F238E27FC236}">
                <a16:creationId xmlns:a16="http://schemas.microsoft.com/office/drawing/2014/main" id="{432E2400-056A-4501-955B-A7D781E78A3D}"/>
              </a:ext>
            </a:extLst>
          </p:cNvPr>
          <p:cNvSpPr>
            <a:spLocks xmlns:a="http://schemas.openxmlformats.org/drawingml/2006/main" noGrp="1"/>
          </p:cNvSpPr>
          <p:nvPr/>
        </p:nvSpPr>
        <p:spPr>
          <a:xfrm xmlns:a="http://schemas.openxmlformats.org/drawingml/2006/main">
            <a:off x="5810250" y="2619375"/>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F42"/>
                </a:solidFill>
                <a:latin typeface="Lato"/>
                <a:ea typeface="Lato"/>
                <a:cs typeface="Lato"/>
              </a:defRPr>
            </a:defPPr>
          </a:lstStyle>
          <a:p xmlns:a="http://schemas.openxmlformats.org/drawingml/2006/main">
            <a:pPr algn="l">
              <a:defRPr sz="2025" b="0">
                <a:solidFill>
                  <a:srgbClr val="172F42"/>
                </a:solidFill>
                <a:latin typeface="Lato"/>
                <a:ea typeface="Lato"/>
                <a:cs typeface="Lato"/>
              </a:defRPr>
            </a:pPr>
            <a:r>
              <a:rPr sz="2025" b="0">
                <a:solidFill>
                  <a:srgbClr val="172F42"/>
                </a:solidFill>
                <a:latin typeface="Lato"/>
                <a:ea typeface="Lato"/>
                <a:cs typeface="Lato"/>
              </a:rPr>
              <a:t>Approximately 6,300 raw hours acquired</a:t>
            </a:r>
          </a:p>
        </p:txBody>
      </p:sp>
      <p:sp>
        <p:nvSpPr>
          <p:cNvPr id="13" name="250 hours selected for processing">
            <a:extLst xmlns:a="http://schemas.openxmlformats.org/drawingml/2006/main">
              <a:ext uri="{FF2B5EF4-FFF2-40B4-BE49-F238E27FC236}">
                <a16:creationId xmlns:a16="http://schemas.microsoft.com/office/drawing/2014/main" id="{D211571E-F9DD-4F54-9D5D-1A44E8E769B4}"/>
              </a:ext>
            </a:extLst>
          </p:cNvPr>
          <p:cNvSpPr>
            <a:spLocks xmlns:a="http://schemas.openxmlformats.org/drawingml/2006/main" noGrp="1"/>
          </p:cNvSpPr>
          <p:nvPr/>
        </p:nvSpPr>
        <p:spPr>
          <a:xfrm xmlns:a="http://schemas.openxmlformats.org/drawingml/2006/main">
            <a:off x="5810250" y="333375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D6F8A"/>
                </a:solidFill>
                <a:latin typeface="Lato"/>
                <a:ea typeface="Lato"/>
                <a:cs typeface="Lato"/>
              </a:defRPr>
            </a:defPPr>
          </a:lstStyle>
          <a:p xmlns:a="http://schemas.openxmlformats.org/drawingml/2006/main">
            <a:pPr algn="l">
              <a:defRPr sz="2325" b="1">
                <a:solidFill>
                  <a:srgbClr val="1D6F8A"/>
                </a:solidFill>
                <a:latin typeface="Lato"/>
                <a:ea typeface="Lato"/>
                <a:cs typeface="Lato"/>
              </a:defRPr>
            </a:pPr>
            <a:r>
              <a:rPr sz="2325" b="1">
                <a:solidFill>
                  <a:srgbClr val="1D6F8A"/>
                </a:solidFill>
                <a:latin typeface="Lato"/>
                <a:ea typeface="Lato"/>
                <a:cs typeface="Lato"/>
              </a:rPr>
              <a:t>250 hours selected for processing</a:t>
            </a:r>
          </a:p>
        </p:txBody>
      </p:sp>
      <p:sp>
        <p:nvSpPr>
          <p:cNvPr id="14" name="Silero VAD segmentation&#10;20-second target, preferab">
            <a:extLst xmlns:a="http://schemas.openxmlformats.org/drawingml/2006/main">
              <a:ext uri="{FF2B5EF4-FFF2-40B4-BE49-F238E27FC236}">
                <a16:creationId xmlns:a16="http://schemas.microsoft.com/office/drawing/2014/main" id="{4CED7225-3BDD-4929-94D0-70E16D041676}"/>
              </a:ext>
            </a:extLst>
          </p:cNvPr>
          <p:cNvSpPr>
            <a:spLocks xmlns:a="http://schemas.openxmlformats.org/drawingml/2006/main" noGrp="1"/>
          </p:cNvSpPr>
          <p:nvPr/>
        </p:nvSpPr>
        <p:spPr>
          <a:xfrm xmlns:a="http://schemas.openxmlformats.org/drawingml/2006/main">
            <a:off x="5810250" y="4381500"/>
            <a:ext cx="5715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42"/>
                </a:solidFill>
                <a:latin typeface="Lato"/>
                <a:ea typeface="Lato"/>
                <a:cs typeface="Lato"/>
              </a:defRPr>
            </a:defPPr>
          </a:lstStyle>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Silero VAD segmentation</a:t>
            </a:r>
          </a:p>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20-second target, preferably 15–25 seconds</a:t>
            </a:r>
          </a:p>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Hard maximum: 28 seconds</a:t>
            </a:r>
          </a:p>
        </p:txBody>
      </p:sp>
      <p:sp>
        <p:nvSpPr>
          <p:cNvPr id="15" name="The acquired collection is larger than the subset ">
            <a:extLst xmlns:a="http://schemas.openxmlformats.org/drawingml/2006/main">
              <a:ext uri="{FF2B5EF4-FFF2-40B4-BE49-F238E27FC236}">
                <a16:creationId xmlns:a16="http://schemas.microsoft.com/office/drawing/2014/main" id="{26ADAFA7-500D-4FA9-9C51-ADCBD55B9347}"/>
              </a:ext>
            </a:extLst>
          </p:cNvPr>
          <p:cNvSpPr>
            <a:spLocks xmlns:a="http://schemas.openxmlformats.org/drawingml/2006/main" noGrp="1"/>
          </p:cNvSpPr>
          <p:nvPr/>
        </p:nvSpPr>
        <p:spPr>
          <a:xfrm xmlns:a="http://schemas.openxmlformats.org/drawingml/2006/main">
            <a:off x="5810250" y="5715000"/>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B78"/>
                </a:solidFill>
                <a:latin typeface="Lato"/>
                <a:ea typeface="Lato"/>
                <a:cs typeface="Lato"/>
              </a:defRPr>
            </a:defPPr>
          </a:lstStyle>
          <a:p xmlns:a="http://schemas.openxmlformats.org/drawingml/2006/main">
            <a:pPr algn="l">
              <a:defRPr sz="1650" b="0">
                <a:solidFill>
                  <a:srgbClr val="586B78"/>
                </a:solidFill>
                <a:latin typeface="Lato"/>
                <a:ea typeface="Lato"/>
                <a:cs typeface="Lato"/>
              </a:defRPr>
            </a:pPr>
            <a:r>
              <a:rPr sz="1650" b="0">
                <a:solidFill>
                  <a:srgbClr val="586B78"/>
                </a:solidFill>
                <a:latin typeface="Lato"/>
                <a:ea typeface="Lato"/>
                <a:cs typeface="Lato"/>
              </a:rPr>
              <a:t>The acquired collection is larger than the subset used for training.</a:t>
            </a:r>
          </a:p>
        </p:txBody>
      </p:sp>
    </p:spTree>
    <p:extLst>
      <p:ext uri="{BB962C8B-B14F-4D97-AF65-F5344CB8AC3E}">
        <p14:creationId xmlns:p14="http://schemas.microsoft.com/office/powerpoint/2010/main" val="542529481"/>
      </p:ext>
    </p:extLst>
  </p:cSld>
</p:sld>
</file>

<file path=ppt/slides/slide15.xml><?xml version="1.0" encoding="utf-8"?>
<p:sld xmlns:p="http://schemas.openxmlformats.org/presentationml/2006/main" show="1">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11F5FB5-4904-4237-9B27-447E987DE871}"/>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AUDIOBOOK DATA</a:t>
            </a:r>
          </a:p>
        </p:txBody>
      </p:sp>
      <p:sp>
        <p:nvSpPr>
          <p:cNvPr id="5" name="">
            <a:extLst xmlns:a="http://schemas.openxmlformats.org/drawingml/2006/main">
              <a:ext uri="{FF2B5EF4-FFF2-40B4-BE49-F238E27FC236}">
                <a16:creationId xmlns:a16="http://schemas.microsoft.com/office/drawing/2014/main" id="{60147BCB-9AFB-4121-A9EF-5D2A810F1D7C}"/>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000"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Teacher transcripts, refinement and training</a:t>
            </a:r>
          </a:p>
        </p:txBody>
      </p:sp>
      <p:pic>
        <p:nvPicPr>
          <p:cNvPr id="6" name="">
            <a:extLst xmlns:a="http://schemas.openxmlformats.org/drawingml/2006/main">
              <a:ext uri="{FF2B5EF4-FFF2-40B4-BE49-F238E27FC236}">
                <a16:creationId xmlns:a16="http://schemas.microsoft.com/office/drawing/2014/main" id="{B8467ABF-3094-47D7-83FC-1136A855C016}"/>
              </a:ext>
            </a:extLst>
          </p:cNvPr>
          <p:cNvPicPr>
            <a:picLocks xmlns:a="http://schemas.openxmlformats.org/drawingml/2006/main" noChangeAspect="1"/>
          </p:cNvPicPr>
          <p:nvPr/>
        </p:nvPicPr>
        <p:blipFill>
          <a:blip xmlns:r="http://schemas.openxmlformats.org/officeDocument/2006/relationships" xmlns:a="http://schemas.openxmlformats.org/drawingml/2006/main" r:embed="Rb4cf09ca23f54fd5"/>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CBB2326-C8E5-4264-89ED-EC5757E8785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768FF6D4-5E2F-4E55-A5BD-0682560E209E}"/>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787666C5-364C-48DA-B884-42FAE11F9681}"/>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15 / 20</a:t>
            </a:r>
          </a:p>
        </p:txBody>
      </p:sp>
      <p:sp>
        <p:nvSpPr>
          <p:cNvPr id="10" name="1. Teacher transcription">
            <a:extLst xmlns:a="http://schemas.openxmlformats.org/drawingml/2006/main">
              <a:ext uri="{FF2B5EF4-FFF2-40B4-BE49-F238E27FC236}">
                <a16:creationId xmlns:a16="http://schemas.microsoft.com/office/drawing/2014/main" id="{C8A63BB8-C8E7-40D6-9695-50A30AD40B19}"/>
              </a:ext>
            </a:extLst>
          </p:cNvPr>
          <p:cNvSpPr>
            <a:spLocks xmlns:a="http://schemas.openxmlformats.org/drawingml/2006/main" noGrp="1"/>
          </p:cNvSpPr>
          <p:nvPr/>
        </p:nvSpPr>
        <p:spPr>
          <a:xfrm xmlns:a="http://schemas.openxmlformats.org/drawingml/2006/main">
            <a:off x="609600" y="16859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D6F8A"/>
                </a:solidFill>
                <a:latin typeface="Lato"/>
                <a:ea typeface="Lato"/>
                <a:cs typeface="Lato"/>
              </a:defRPr>
            </a:defPPr>
          </a:lstStyle>
          <a:p xmlns:a="http://schemas.openxmlformats.org/drawingml/2006/main">
            <a:pPr algn="l">
              <a:defRPr sz="1650" b="1">
                <a:solidFill>
                  <a:srgbClr val="1D6F8A"/>
                </a:solidFill>
                <a:latin typeface="Lato"/>
                <a:ea typeface="Lato"/>
                <a:cs typeface="Lato"/>
              </a:defRPr>
            </a:pPr>
            <a:r>
              <a:rPr sz="1650" b="1">
                <a:solidFill>
                  <a:srgbClr val="1D6F8A"/>
                </a:solidFill>
                <a:latin typeface="Lato"/>
                <a:ea typeface="Lato"/>
                <a:cs typeface="Lato"/>
              </a:rPr>
              <a:t>1. Teacher transcription</a:t>
            </a:r>
          </a:p>
        </p:txBody>
      </p:sp>
      <p:pic>
        <p:nvPicPr>
          <p:cNvPr id="11" name="">
            <a:extLst xmlns:a="http://schemas.openxmlformats.org/drawingml/2006/main">
              <a:ext uri="{FF2B5EF4-FFF2-40B4-BE49-F238E27FC236}">
                <a16:creationId xmlns:a16="http://schemas.microsoft.com/office/drawing/2014/main" id="{265CB57A-ABA0-4200-A1B3-360290E70A4A}"/>
              </a:ext>
            </a:extLst>
          </p:cNvPr>
          <p:cNvPicPr>
            <a:picLocks xmlns:a="http://schemas.openxmlformats.org/drawingml/2006/main" noChangeAspect="1"/>
          </p:cNvPicPr>
          <p:nvPr/>
        </p:nvPicPr>
        <p:blipFill>
          <a:blip xmlns:r="http://schemas.openxmlformats.org/officeDocument/2006/relationships" xmlns:a="http://schemas.openxmlformats.org/drawingml/2006/main" r:embed="R94a20269d7ac4053"/>
          <a:stretch xmlns:a="http://schemas.openxmlformats.org/drawingml/2006/main"/>
        </p:blipFill>
        <p:spPr>
          <a:xfrm xmlns:a="http://schemas.openxmlformats.org/drawingml/2006/main">
            <a:off x="1161727" y="1952625"/>
            <a:ext cx="3848746" cy="1524000"/>
          </a:xfrm>
          <a:prstGeom xmlns:a="http://schemas.openxmlformats.org/drawingml/2006/main" prst="rect">
            <a:avLst/>
          </a:prstGeom>
        </p:spPr>
      </p:pic>
      <p:sp>
        <p:nvSpPr>
          <p:cNvPr id="12" name="2. Persian normalization">
            <a:extLst xmlns:a="http://schemas.openxmlformats.org/drawingml/2006/main">
              <a:ext uri="{FF2B5EF4-FFF2-40B4-BE49-F238E27FC236}">
                <a16:creationId xmlns:a16="http://schemas.microsoft.com/office/drawing/2014/main" id="{416380DD-B0FA-4293-A5F7-9FBE62D73C43}"/>
              </a:ext>
            </a:extLst>
          </p:cNvPr>
          <p:cNvSpPr>
            <a:spLocks xmlns:a="http://schemas.openxmlformats.org/drawingml/2006/main" noGrp="1"/>
          </p:cNvSpPr>
          <p:nvPr/>
        </p:nvSpPr>
        <p:spPr>
          <a:xfrm xmlns:a="http://schemas.openxmlformats.org/drawingml/2006/main">
            <a:off x="6324600" y="16859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D6F8A"/>
                </a:solidFill>
                <a:latin typeface="Lato"/>
                <a:ea typeface="Lato"/>
                <a:cs typeface="Lato"/>
              </a:defRPr>
            </a:defPPr>
          </a:lstStyle>
          <a:p xmlns:a="http://schemas.openxmlformats.org/drawingml/2006/main">
            <a:pPr algn="l">
              <a:defRPr sz="1650" b="1">
                <a:solidFill>
                  <a:srgbClr val="1D6F8A"/>
                </a:solidFill>
                <a:latin typeface="Lato"/>
                <a:ea typeface="Lato"/>
                <a:cs typeface="Lato"/>
              </a:defRPr>
            </a:pPr>
            <a:r>
              <a:rPr sz="1650" b="1">
                <a:solidFill>
                  <a:srgbClr val="1D6F8A"/>
                </a:solidFill>
                <a:latin typeface="Lato"/>
                <a:ea typeface="Lato"/>
                <a:cs typeface="Lato"/>
              </a:rPr>
              <a:t>2. Persian normalization</a:t>
            </a:r>
          </a:p>
        </p:txBody>
      </p:sp>
      <p:pic>
        <p:nvPicPr>
          <p:cNvPr id="13" name="">
            <a:extLst xmlns:a="http://schemas.openxmlformats.org/drawingml/2006/main">
              <a:ext uri="{FF2B5EF4-FFF2-40B4-BE49-F238E27FC236}">
                <a16:creationId xmlns:a16="http://schemas.microsoft.com/office/drawing/2014/main" id="{E290D9A9-AA5F-45BA-A98A-767301162BFA}"/>
              </a:ext>
            </a:extLst>
          </p:cNvPr>
          <p:cNvPicPr>
            <a:picLocks xmlns:a="http://schemas.openxmlformats.org/drawingml/2006/main" noChangeAspect="1"/>
          </p:cNvPicPr>
          <p:nvPr/>
        </p:nvPicPr>
        <p:blipFill>
          <a:blip xmlns:r="http://schemas.openxmlformats.org/officeDocument/2006/relationships" xmlns:a="http://schemas.openxmlformats.org/drawingml/2006/main" r:embed="Rd760e7f98bca430c"/>
          <a:stretch xmlns:a="http://schemas.openxmlformats.org/drawingml/2006/main"/>
        </p:blipFill>
        <p:spPr>
          <a:xfrm xmlns:a="http://schemas.openxmlformats.org/drawingml/2006/main">
            <a:off x="6876727" y="1952625"/>
            <a:ext cx="3848746" cy="1524000"/>
          </a:xfrm>
          <a:prstGeom xmlns:a="http://schemas.openxmlformats.org/drawingml/2006/main" prst="rect">
            <a:avLst/>
          </a:prstGeom>
        </p:spPr>
      </p:pic>
      <p:sp>
        <p:nvSpPr>
          <p:cNvPr id="14" name="3. Qwen refinement">
            <a:extLst xmlns:a="http://schemas.openxmlformats.org/drawingml/2006/main">
              <a:ext uri="{FF2B5EF4-FFF2-40B4-BE49-F238E27FC236}">
                <a16:creationId xmlns:a16="http://schemas.microsoft.com/office/drawing/2014/main" id="{12D2BCE3-0B20-4F07-845F-274C93F64859}"/>
              </a:ext>
            </a:extLst>
          </p:cNvPr>
          <p:cNvSpPr>
            <a:spLocks xmlns:a="http://schemas.openxmlformats.org/drawingml/2006/main" noGrp="1"/>
          </p:cNvSpPr>
          <p:nvPr/>
        </p:nvSpPr>
        <p:spPr>
          <a:xfrm xmlns:a="http://schemas.openxmlformats.org/drawingml/2006/main">
            <a:off x="609600" y="349567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D6F8A"/>
                </a:solidFill>
                <a:latin typeface="Lato"/>
                <a:ea typeface="Lato"/>
                <a:cs typeface="Lato"/>
              </a:defRPr>
            </a:defPPr>
          </a:lstStyle>
          <a:p xmlns:a="http://schemas.openxmlformats.org/drawingml/2006/main">
            <a:pPr algn="l">
              <a:defRPr sz="1650" b="1">
                <a:solidFill>
                  <a:srgbClr val="1D6F8A"/>
                </a:solidFill>
                <a:latin typeface="Lato"/>
                <a:ea typeface="Lato"/>
                <a:cs typeface="Lato"/>
              </a:defRPr>
            </a:pPr>
            <a:r>
              <a:rPr sz="1650" b="1">
                <a:solidFill>
                  <a:srgbClr val="1D6F8A"/>
                </a:solidFill>
                <a:latin typeface="Lato"/>
                <a:ea typeface="Lato"/>
                <a:cs typeface="Lato"/>
              </a:rPr>
              <a:t>3. Qwen refinement</a:t>
            </a:r>
          </a:p>
        </p:txBody>
      </p:sp>
      <p:pic>
        <p:nvPicPr>
          <p:cNvPr id="15" name="">
            <a:extLst xmlns:a="http://schemas.openxmlformats.org/drawingml/2006/main">
              <a:ext uri="{FF2B5EF4-FFF2-40B4-BE49-F238E27FC236}">
                <a16:creationId xmlns:a16="http://schemas.microsoft.com/office/drawing/2014/main" id="{BE50434D-43EB-4E8D-A0C0-B6BE3199A2DF}"/>
              </a:ext>
            </a:extLst>
          </p:cNvPr>
          <p:cNvPicPr>
            <a:picLocks xmlns:a="http://schemas.openxmlformats.org/drawingml/2006/main" noChangeAspect="1"/>
          </p:cNvPicPr>
          <p:nvPr/>
        </p:nvPicPr>
        <p:blipFill>
          <a:blip xmlns:r="http://schemas.openxmlformats.org/officeDocument/2006/relationships" xmlns:a="http://schemas.openxmlformats.org/drawingml/2006/main" r:embed="R6513b3076a87404a"/>
          <a:stretch xmlns:a="http://schemas.openxmlformats.org/drawingml/2006/main"/>
        </p:blipFill>
        <p:spPr>
          <a:xfrm xmlns:a="http://schemas.openxmlformats.org/drawingml/2006/main">
            <a:off x="1161727" y="3762375"/>
            <a:ext cx="3848746" cy="1524000"/>
          </a:xfrm>
          <a:prstGeom xmlns:a="http://schemas.openxmlformats.org/drawingml/2006/main" prst="rect">
            <a:avLst/>
          </a:prstGeom>
        </p:spPr>
      </p:pic>
      <p:sp>
        <p:nvSpPr>
          <p:cNvPr id="16" name="4. Quality filtering">
            <a:extLst xmlns:a="http://schemas.openxmlformats.org/drawingml/2006/main">
              <a:ext uri="{FF2B5EF4-FFF2-40B4-BE49-F238E27FC236}">
                <a16:creationId xmlns:a16="http://schemas.microsoft.com/office/drawing/2014/main" id="{6148FEB5-A92C-48F9-A1D9-1E9600A489C2}"/>
              </a:ext>
            </a:extLst>
          </p:cNvPr>
          <p:cNvSpPr>
            <a:spLocks xmlns:a="http://schemas.openxmlformats.org/drawingml/2006/main" noGrp="1"/>
          </p:cNvSpPr>
          <p:nvPr/>
        </p:nvSpPr>
        <p:spPr>
          <a:xfrm xmlns:a="http://schemas.openxmlformats.org/drawingml/2006/main">
            <a:off x="6324600" y="349567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D6F8A"/>
                </a:solidFill>
                <a:latin typeface="Lato"/>
                <a:ea typeface="Lato"/>
                <a:cs typeface="Lato"/>
              </a:defRPr>
            </a:defPPr>
          </a:lstStyle>
          <a:p xmlns:a="http://schemas.openxmlformats.org/drawingml/2006/main">
            <a:pPr algn="l">
              <a:defRPr sz="1650" b="1">
                <a:solidFill>
                  <a:srgbClr val="1D6F8A"/>
                </a:solidFill>
                <a:latin typeface="Lato"/>
                <a:ea typeface="Lato"/>
                <a:cs typeface="Lato"/>
              </a:defRPr>
            </a:pPr>
            <a:r>
              <a:rPr sz="1650" b="1">
                <a:solidFill>
                  <a:srgbClr val="1D6F8A"/>
                </a:solidFill>
                <a:latin typeface="Lato"/>
                <a:ea typeface="Lato"/>
                <a:cs typeface="Lato"/>
              </a:rPr>
              <a:t>4. Quality filtering</a:t>
            </a:r>
          </a:p>
        </p:txBody>
      </p:sp>
      <p:pic>
        <p:nvPicPr>
          <p:cNvPr id="17" name="">
            <a:extLst xmlns:a="http://schemas.openxmlformats.org/drawingml/2006/main">
              <a:ext uri="{FF2B5EF4-FFF2-40B4-BE49-F238E27FC236}">
                <a16:creationId xmlns:a16="http://schemas.microsoft.com/office/drawing/2014/main" id="{A4EE3F2C-1F06-4F97-A426-2A102FA18BF2}"/>
              </a:ext>
            </a:extLst>
          </p:cNvPr>
          <p:cNvPicPr>
            <a:picLocks xmlns:a="http://schemas.openxmlformats.org/drawingml/2006/main" noChangeAspect="1"/>
          </p:cNvPicPr>
          <p:nvPr/>
        </p:nvPicPr>
        <p:blipFill>
          <a:blip xmlns:r="http://schemas.openxmlformats.org/officeDocument/2006/relationships" xmlns:a="http://schemas.openxmlformats.org/drawingml/2006/main" r:embed="Rdee1f8e22e374255"/>
          <a:stretch xmlns:a="http://schemas.openxmlformats.org/drawingml/2006/main"/>
        </p:blipFill>
        <p:spPr>
          <a:xfrm xmlns:a="http://schemas.openxmlformats.org/drawingml/2006/main">
            <a:off x="7179129" y="3762375"/>
            <a:ext cx="3243943" cy="1524000"/>
          </a:xfrm>
          <a:prstGeom xmlns:a="http://schemas.openxmlformats.org/drawingml/2006/main" prst="rect">
            <a:avLst/>
          </a:prstGeom>
        </p:spPr>
      </p:pic>
      <p:sp>
        <p:nvSpPr>
          <p:cNvPr id="18" name="Train Whisper-small with accepted clips plus the f">
            <a:extLst xmlns:a="http://schemas.openxmlformats.org/drawingml/2006/main">
              <a:ext uri="{FF2B5EF4-FFF2-40B4-BE49-F238E27FC236}">
                <a16:creationId xmlns:a16="http://schemas.microsoft.com/office/drawing/2014/main" id="{056AC3CC-C0ED-4F25-87A4-E7B08027A8B5}"/>
              </a:ext>
            </a:extLst>
          </p:cNvPr>
          <p:cNvSpPr>
            <a:spLocks xmlns:a="http://schemas.openxmlformats.org/drawingml/2006/main" noGrp="1"/>
          </p:cNvSpPr>
          <p:nvPr/>
        </p:nvSpPr>
        <p:spPr>
          <a:xfrm xmlns:a="http://schemas.openxmlformats.org/drawingml/2006/main">
            <a:off x="609600" y="56007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2F42"/>
                </a:solidFill>
                <a:latin typeface="Lato"/>
                <a:ea typeface="Lato"/>
                <a:cs typeface="Lato"/>
              </a:defRPr>
            </a:defPPr>
          </a:lstStyle>
          <a:p xmlns:a="http://schemas.openxmlformats.org/drawingml/2006/main">
            <a:pPr algn="l">
              <a:defRPr sz="1875" b="1">
                <a:solidFill>
                  <a:srgbClr val="172F42"/>
                </a:solidFill>
                <a:latin typeface="Lato"/>
                <a:ea typeface="Lato"/>
                <a:cs typeface="Lato"/>
              </a:defRPr>
            </a:pPr>
            <a:r>
              <a:rPr sz="1875" b="1">
                <a:solidFill>
                  <a:srgbClr val="172F42"/>
                </a:solidFill>
                <a:latin typeface="Lato"/>
                <a:ea typeface="Lato"/>
                <a:cs typeface="Lato"/>
              </a:rPr>
              <a:t>Train Whisper-small with accepted clips plus the full original, long and degraded mixture.</a:t>
            </a:r>
          </a:p>
        </p:txBody>
      </p:sp>
      <p:sp>
        <p:nvSpPr>
          <p:cNvPr id="19" name="The IranSeda run retains the main training setting">
            <a:extLst xmlns:a="http://schemas.openxmlformats.org/drawingml/2006/main">
              <a:ext uri="{FF2B5EF4-FFF2-40B4-BE49-F238E27FC236}">
                <a16:creationId xmlns:a16="http://schemas.microsoft.com/office/drawing/2014/main" id="{F9BCC60A-A6A6-4419-8CBA-80D1D3A08E9E}"/>
              </a:ext>
            </a:extLst>
          </p:cNvPr>
          <p:cNvSpPr>
            <a:spLocks xmlns:a="http://schemas.openxmlformats.org/drawingml/2006/main" noGrp="1"/>
          </p:cNvSpPr>
          <p:nvPr/>
        </p:nvSpPr>
        <p:spPr>
          <a:xfrm xmlns:a="http://schemas.openxmlformats.org/drawingml/2006/main">
            <a:off x="609600" y="6038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B78"/>
                </a:solidFill>
                <a:latin typeface="Lato"/>
                <a:ea typeface="Lato"/>
                <a:cs typeface="Lato"/>
              </a:defRPr>
            </a:defPPr>
          </a:lstStyle>
          <a:p xmlns:a="http://schemas.openxmlformats.org/drawingml/2006/main">
            <a:pPr algn="l">
              <a:defRPr sz="1650" b="0">
                <a:solidFill>
                  <a:srgbClr val="586B78"/>
                </a:solidFill>
                <a:latin typeface="Lato"/>
                <a:ea typeface="Lato"/>
                <a:cs typeface="Lato"/>
              </a:defRPr>
            </a:pPr>
            <a:r>
              <a:rPr sz="1650" b="0">
                <a:solidFill>
                  <a:srgbClr val="586B78"/>
                </a:solidFill>
                <a:latin typeface="Lato"/>
                <a:ea typeface="Lato"/>
                <a:cs typeface="Lato"/>
              </a:rPr>
              <a:t>The IranSeda run retains the main training settings and step budget.</a:t>
            </a:r>
          </a:p>
        </p:txBody>
      </p:sp>
    </p:spTree>
    <p:extLst>
      <p:ext uri="{BB962C8B-B14F-4D97-AF65-F5344CB8AC3E}">
        <p14:creationId xmlns:p14="http://schemas.microsoft.com/office/powerpoint/2010/main" val="542529481"/>
      </p:ext>
    </p:extLst>
  </p:cSld>
</p:sld>
</file>

<file path=ppt/slides/slide1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50FAE07-62B8-474B-9BBF-D12F9AFA3751}"/>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AUDIOBOOK DATA</a:t>
            </a:r>
          </a:p>
        </p:txBody>
      </p:sp>
      <p:sp>
        <p:nvSpPr>
          <p:cNvPr id="5" name="">
            <a:extLst xmlns:a="http://schemas.openxmlformats.org/drawingml/2006/main">
              <a:ext uri="{FF2B5EF4-FFF2-40B4-BE49-F238E27FC236}">
                <a16:creationId xmlns:a16="http://schemas.microsoft.com/office/drawing/2014/main" id="{290858EC-F9DA-4420-9EEF-F929F47A1A3E}"/>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225"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Accepted data and label safeguards</a:t>
            </a:r>
          </a:p>
        </p:txBody>
      </p:sp>
      <p:pic>
        <p:nvPicPr>
          <p:cNvPr id="6" name="">
            <a:extLst xmlns:a="http://schemas.openxmlformats.org/drawingml/2006/main">
              <a:ext uri="{FF2B5EF4-FFF2-40B4-BE49-F238E27FC236}">
                <a16:creationId xmlns:a16="http://schemas.microsoft.com/office/drawing/2014/main" id="{A8EE64C8-9A3D-4E6E-B7EB-90EE2984C70D}"/>
              </a:ext>
            </a:extLst>
          </p:cNvPr>
          <p:cNvPicPr>
            <a:picLocks xmlns:a="http://schemas.openxmlformats.org/drawingml/2006/main" noChangeAspect="1"/>
          </p:cNvPicPr>
          <p:nvPr/>
        </p:nvPicPr>
        <p:blipFill>
          <a:blip xmlns:r="http://schemas.openxmlformats.org/officeDocument/2006/relationships" xmlns:a="http://schemas.openxmlformats.org/drawingml/2006/main" r:embed="Rb261289f395f4e50"/>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8CFB98B-387E-4621-8146-897554FA0E1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EEFDC55F-6096-4C9A-8B3C-258200535371}"/>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436F76C1-50E9-470E-801F-912DCE3D8685}"/>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16 / 20</a:t>
            </a:r>
          </a:p>
        </p:txBody>
      </p:sp>
      <p:sp>
        <p:nvSpPr>
          <p:cNvPr id="10" name="39,454">
            <a:extLst xmlns:a="http://schemas.openxmlformats.org/drawingml/2006/main">
              <a:ext uri="{FF2B5EF4-FFF2-40B4-BE49-F238E27FC236}">
                <a16:creationId xmlns:a16="http://schemas.microsoft.com/office/drawing/2014/main" id="{D77D0910-8DE4-4D4F-8ED1-6F47D19BF2DE}"/>
              </a:ext>
            </a:extLst>
          </p:cNvPr>
          <p:cNvSpPr>
            <a:spLocks xmlns:a="http://schemas.openxmlformats.org/drawingml/2006/main" noGrp="1"/>
          </p:cNvSpPr>
          <p:nvPr/>
        </p:nvSpPr>
        <p:spPr>
          <a:xfrm xmlns:a="http://schemas.openxmlformats.org/drawingml/2006/main">
            <a:off x="609600" y="1857375"/>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1D6F8A"/>
                </a:solidFill>
                <a:latin typeface="Lato"/>
                <a:ea typeface="Lato"/>
                <a:cs typeface="Lato"/>
              </a:defRPr>
            </a:defPPr>
          </a:lstStyle>
          <a:p xmlns:a="http://schemas.openxmlformats.org/drawingml/2006/main">
            <a:pPr algn="l">
              <a:defRPr sz="4875" b="1">
                <a:solidFill>
                  <a:srgbClr val="1D6F8A"/>
                </a:solidFill>
                <a:latin typeface="Lato"/>
                <a:ea typeface="Lato"/>
                <a:cs typeface="Lato"/>
              </a:defRPr>
            </a:pPr>
            <a:r>
              <a:rPr sz="4875" b="1">
                <a:solidFill>
                  <a:srgbClr val="1D6F8A"/>
                </a:solidFill>
                <a:latin typeface="Lato"/>
                <a:ea typeface="Lato"/>
                <a:cs typeface="Lato"/>
              </a:rPr>
              <a:t>39,454</a:t>
            </a:r>
          </a:p>
        </p:txBody>
      </p:sp>
      <p:sp>
        <p:nvSpPr>
          <p:cNvPr id="11" name="accepted clips">
            <a:extLst xmlns:a="http://schemas.openxmlformats.org/drawingml/2006/main">
              <a:ext uri="{FF2B5EF4-FFF2-40B4-BE49-F238E27FC236}">
                <a16:creationId xmlns:a16="http://schemas.microsoft.com/office/drawing/2014/main" id="{ED7A6752-7316-472A-B8E1-CDBC11C1D6BD}"/>
              </a:ext>
            </a:extLst>
          </p:cNvPr>
          <p:cNvSpPr>
            <a:spLocks xmlns:a="http://schemas.openxmlformats.org/drawingml/2006/main" noGrp="1"/>
          </p:cNvSpPr>
          <p:nvPr/>
        </p:nvSpPr>
        <p:spPr>
          <a:xfrm xmlns:a="http://schemas.openxmlformats.org/drawingml/2006/main">
            <a:off x="609600" y="27622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F42"/>
                </a:solidFill>
                <a:latin typeface="Lato"/>
                <a:ea typeface="Lato"/>
                <a:cs typeface="Lato"/>
              </a:defRPr>
            </a:defPPr>
          </a:lstStyle>
          <a:p xmlns:a="http://schemas.openxmlformats.org/drawingml/2006/main">
            <a:pPr algn="l">
              <a:defRPr sz="2250" b="1">
                <a:solidFill>
                  <a:srgbClr val="172F42"/>
                </a:solidFill>
                <a:latin typeface="Lato"/>
                <a:ea typeface="Lato"/>
                <a:cs typeface="Lato"/>
              </a:defRPr>
            </a:pPr>
            <a:r>
              <a:rPr sz="2250" b="1">
                <a:solidFill>
                  <a:srgbClr val="172F42"/>
                </a:solidFill>
                <a:latin typeface="Lato"/>
                <a:ea typeface="Lato"/>
                <a:cs typeface="Lato"/>
              </a:rPr>
              <a:t>accepted clips</a:t>
            </a:r>
          </a:p>
        </p:txBody>
      </p:sp>
      <p:sp>
        <p:nvSpPr>
          <p:cNvPr id="12" name="218.564 hours">
            <a:extLst xmlns:a="http://schemas.openxmlformats.org/drawingml/2006/main">
              <a:ext uri="{FF2B5EF4-FFF2-40B4-BE49-F238E27FC236}">
                <a16:creationId xmlns:a16="http://schemas.microsoft.com/office/drawing/2014/main" id="{34FE3BE9-B135-4BDA-B6C3-27CE997FEB2A}"/>
              </a:ext>
            </a:extLst>
          </p:cNvPr>
          <p:cNvSpPr>
            <a:spLocks xmlns:a="http://schemas.openxmlformats.org/drawingml/2006/main" noGrp="1"/>
          </p:cNvSpPr>
          <p:nvPr/>
        </p:nvSpPr>
        <p:spPr>
          <a:xfrm xmlns:a="http://schemas.openxmlformats.org/drawingml/2006/main">
            <a:off x="609600" y="34290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D6F8A"/>
                </a:solidFill>
                <a:latin typeface="Lato"/>
                <a:ea typeface="Lato"/>
                <a:cs typeface="Lato"/>
              </a:defRPr>
            </a:defPPr>
          </a:lstStyle>
          <a:p xmlns:a="http://schemas.openxmlformats.org/drawingml/2006/main">
            <a:pPr algn="l">
              <a:defRPr sz="3225" b="1">
                <a:solidFill>
                  <a:srgbClr val="1D6F8A"/>
                </a:solidFill>
                <a:latin typeface="Lato"/>
                <a:ea typeface="Lato"/>
                <a:cs typeface="Lato"/>
              </a:defRPr>
            </a:pPr>
            <a:r>
              <a:rPr sz="3225" b="1">
                <a:solidFill>
                  <a:srgbClr val="1D6F8A"/>
                </a:solidFill>
                <a:latin typeface="Lato"/>
                <a:ea typeface="Lato"/>
                <a:cs typeface="Lato"/>
              </a:rPr>
              <a:t>218.564 hours</a:t>
            </a:r>
          </a:p>
        </p:txBody>
      </p:sp>
      <p:sp>
        <p:nvSpPr>
          <p:cNvPr id="13" name="44,820 reviewed, 5,366 rejected&#10;136 source files&#10;S">
            <a:extLst xmlns:a="http://schemas.openxmlformats.org/drawingml/2006/main">
              <a:ext uri="{FF2B5EF4-FFF2-40B4-BE49-F238E27FC236}">
                <a16:creationId xmlns:a16="http://schemas.microsoft.com/office/drawing/2014/main" id="{1310BBFF-00E2-44C7-8566-7F2FF07A84A4}"/>
              </a:ext>
            </a:extLst>
          </p:cNvPr>
          <p:cNvSpPr>
            <a:spLocks xmlns:a="http://schemas.openxmlformats.org/drawingml/2006/main" noGrp="1"/>
          </p:cNvSpPr>
          <p:nvPr/>
        </p:nvSpPr>
        <p:spPr>
          <a:xfrm xmlns:a="http://schemas.openxmlformats.org/drawingml/2006/main">
            <a:off x="609600" y="4429125"/>
            <a:ext cx="4905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F42"/>
                </a:solidFill>
                <a:latin typeface="Lato"/>
                <a:ea typeface="Lato"/>
                <a:cs typeface="Lato"/>
              </a:defRPr>
            </a:defPPr>
          </a:lstStyle>
          <a:p xmlns:a="http://schemas.openxmlformats.org/drawingml/2006/main">
            <a:pPr algn="l">
              <a:defRPr sz="1875" b="0">
                <a:solidFill>
                  <a:srgbClr val="172F42"/>
                </a:solidFill>
                <a:latin typeface="Lato"/>
                <a:ea typeface="Lato"/>
                <a:cs typeface="Lato"/>
              </a:defRPr>
            </a:pPr>
            <a:r>
              <a:rPr sz="1875" b="0">
                <a:solidFill>
                  <a:srgbClr val="172F42"/>
                </a:solidFill>
                <a:latin typeface="Lato"/>
                <a:ea typeface="Lato"/>
                <a:cs typeface="Lato"/>
              </a:rPr>
              <a:t>44,820 reviewed, 5,366 rejected</a:t>
            </a:r>
          </a:p>
          <a:p xmlns:a="http://schemas.openxmlformats.org/drawingml/2006/main">
            <a:pPr algn="l">
              <a:defRPr sz="1875" b="0">
                <a:solidFill>
                  <a:srgbClr val="172F42"/>
                </a:solidFill>
                <a:latin typeface="Lato"/>
                <a:ea typeface="Lato"/>
                <a:cs typeface="Lato"/>
              </a:defRPr>
            </a:pPr>
            <a:r>
              <a:rPr sz="1875" b="0">
                <a:solidFill>
                  <a:srgbClr val="172F42"/>
                </a:solidFill>
                <a:latin typeface="Lato"/>
                <a:ea typeface="Lato"/>
                <a:cs typeface="Lato"/>
              </a:rPr>
              <a:t>136 source files</a:t>
            </a:r>
          </a:p>
          <a:p xmlns:a="http://schemas.openxmlformats.org/drawingml/2006/main">
            <a:pPr algn="l">
              <a:defRPr sz="1875" b="0">
                <a:solidFill>
                  <a:srgbClr val="172F42"/>
                </a:solidFill>
                <a:latin typeface="Lato"/>
                <a:ea typeface="Lato"/>
                <a:cs typeface="Lato"/>
              </a:defRPr>
            </a:pPr>
            <a:r>
              <a:rPr sz="1875" b="0">
                <a:solidFill>
                  <a:srgbClr val="172F42"/>
                </a:solidFill>
                <a:latin typeface="Lato"/>
                <a:ea typeface="Lato"/>
                <a:cs typeface="Lato"/>
              </a:rPr>
              <a:t>Split by original book; retain raw text</a:t>
            </a:r>
          </a:p>
        </p:txBody>
      </p:sp>
      <p:sp>
        <p:nvSpPr>
          <p:cNvPr id="14" name="Refinement prompt excerpt">
            <a:extLst xmlns:a="http://schemas.openxmlformats.org/drawingml/2006/main">
              <a:ext uri="{FF2B5EF4-FFF2-40B4-BE49-F238E27FC236}">
                <a16:creationId xmlns:a16="http://schemas.microsoft.com/office/drawing/2014/main" id="{AFDEB80B-BF0B-4E4D-8B12-F2AAA603FF2A}"/>
              </a:ext>
            </a:extLst>
          </p:cNvPr>
          <p:cNvSpPr>
            <a:spLocks xmlns:a="http://schemas.openxmlformats.org/drawingml/2006/main" noGrp="1"/>
          </p:cNvSpPr>
          <p:nvPr/>
        </p:nvSpPr>
        <p:spPr>
          <a:xfrm xmlns:a="http://schemas.openxmlformats.org/drawingml/2006/main">
            <a:off x="6286500" y="185737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F8A"/>
                </a:solidFill>
                <a:latin typeface="Lato"/>
                <a:ea typeface="Lato"/>
                <a:cs typeface="Lato"/>
              </a:defRPr>
            </a:defPPr>
          </a:lstStyle>
          <a:p xmlns:a="http://schemas.openxmlformats.org/drawingml/2006/main">
            <a:pPr algn="l">
              <a:defRPr sz="2175" b="1">
                <a:solidFill>
                  <a:srgbClr val="1D6F8A"/>
                </a:solidFill>
                <a:latin typeface="Lato"/>
                <a:ea typeface="Lato"/>
                <a:cs typeface="Lato"/>
              </a:defRPr>
            </a:pPr>
            <a:r>
              <a:rPr sz="2175" b="1">
                <a:solidFill>
                  <a:srgbClr val="1D6F8A"/>
                </a:solidFill>
                <a:latin typeface="Lato"/>
                <a:ea typeface="Lato"/>
                <a:cs typeface="Lato"/>
              </a:rPr>
              <a:t>Refinement prompt excerpt</a:t>
            </a:r>
          </a:p>
        </p:txBody>
      </p:sp>
      <p:sp>
        <p:nvSpPr>
          <p:cNvPr id="15" name="“Preserve every numeric token exactly as written, ">
            <a:extLst xmlns:a="http://schemas.openxmlformats.org/drawingml/2006/main">
              <a:ext uri="{FF2B5EF4-FFF2-40B4-BE49-F238E27FC236}">
                <a16:creationId xmlns:a16="http://schemas.microsoft.com/office/drawing/2014/main" id="{334B4CDE-F5EF-43A8-9D15-E7DBA9A2A8EA}"/>
              </a:ext>
            </a:extLst>
          </p:cNvPr>
          <p:cNvSpPr>
            <a:spLocks xmlns:a="http://schemas.openxmlformats.org/drawingml/2006/main" noGrp="1"/>
          </p:cNvSpPr>
          <p:nvPr/>
        </p:nvSpPr>
        <p:spPr>
          <a:xfrm xmlns:a="http://schemas.openxmlformats.org/drawingml/2006/main">
            <a:off x="6286500" y="2476500"/>
            <a:ext cx="523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F42"/>
                </a:solidFill>
                <a:latin typeface="Lato"/>
                <a:ea typeface="Lato"/>
                <a:cs typeface="Lato"/>
              </a:defRPr>
            </a:defPPr>
          </a:lstStyle>
          <a:p xmlns:a="http://schemas.openxmlformats.org/drawingml/2006/main">
            <a:pPr algn="l">
              <a:defRPr sz="2100" b="0">
                <a:solidFill>
                  <a:srgbClr val="172F42"/>
                </a:solidFill>
                <a:latin typeface="Lato"/>
                <a:ea typeface="Lato"/>
                <a:cs typeface="Lato"/>
              </a:defRPr>
            </a:pPr>
            <a:r>
              <a:rPr sz="2100" b="0">
                <a:solidFill>
                  <a:srgbClr val="172F42"/>
                </a:solidFill>
                <a:latin typeface="Lato"/>
                <a:ea typeface="Lato"/>
                <a:cs typeface="Lato"/>
              </a:rPr>
              <a:t>“Preserve every numeric token exactly as written, including digits, signs, separators, and formatting.”</a:t>
            </a:r>
          </a:p>
        </p:txBody>
      </p:sp>
      <p:sp>
        <p:nvSpPr>
          <p:cNvPr id="16" name="Text and context only, no audio&#10;Reject uncertainty">
            <a:extLst xmlns:a="http://schemas.openxmlformats.org/drawingml/2006/main">
              <a:ext uri="{FF2B5EF4-FFF2-40B4-BE49-F238E27FC236}">
                <a16:creationId xmlns:a16="http://schemas.microsoft.com/office/drawing/2014/main" id="{0814493B-280B-4FBD-92BD-CFDE6B098866}"/>
              </a:ext>
            </a:extLst>
          </p:cNvPr>
          <p:cNvSpPr>
            <a:spLocks xmlns:a="http://schemas.openxmlformats.org/drawingml/2006/main" noGrp="1"/>
          </p:cNvSpPr>
          <p:nvPr/>
        </p:nvSpPr>
        <p:spPr>
          <a:xfrm xmlns:a="http://schemas.openxmlformats.org/drawingml/2006/main">
            <a:off x="6286500" y="4381500"/>
            <a:ext cx="523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F42"/>
                </a:solidFill>
                <a:latin typeface="Lato"/>
                <a:ea typeface="Lato"/>
                <a:cs typeface="Lato"/>
              </a:defRPr>
            </a:defPPr>
          </a:lstStyle>
          <a:p xmlns:a="http://schemas.openxmlformats.org/drawingml/2006/main">
            <a:pPr algn="l">
              <a:defRPr sz="1875" b="0">
                <a:solidFill>
                  <a:srgbClr val="172F42"/>
                </a:solidFill>
                <a:latin typeface="Lato"/>
                <a:ea typeface="Lato"/>
                <a:cs typeface="Lato"/>
              </a:defRPr>
            </a:pPr>
            <a:r>
              <a:rPr sz="1875" b="0">
                <a:solidFill>
                  <a:srgbClr val="172F42"/>
                </a:solidFill>
                <a:latin typeface="Lato"/>
                <a:ea typeface="Lato"/>
                <a:cs typeface="Lato"/>
              </a:rPr>
              <a:t>Text and context only, no audio</a:t>
            </a:r>
          </a:p>
          <a:p xmlns:a="http://schemas.openxmlformats.org/drawingml/2006/main">
            <a:pPr algn="l">
              <a:defRPr sz="1875" b="0">
                <a:solidFill>
                  <a:srgbClr val="172F42"/>
                </a:solidFill>
                <a:latin typeface="Lato"/>
                <a:ea typeface="Lato"/>
                <a:cs typeface="Lato"/>
              </a:defRPr>
            </a:pPr>
            <a:r>
              <a:rPr sz="1875" b="0">
                <a:solidFill>
                  <a:srgbClr val="172F42"/>
                </a:solidFill>
                <a:latin typeface="Lato"/>
                <a:ea typeface="Lato"/>
                <a:cs typeface="Lato"/>
              </a:rPr>
              <a:t>Reject uncertainty and excessive edits</a:t>
            </a:r>
          </a:p>
          <a:p xmlns:a="http://schemas.openxmlformats.org/drawingml/2006/main">
            <a:pPr algn="l">
              <a:defRPr sz="1875" b="0">
                <a:solidFill>
                  <a:srgbClr val="172F42"/>
                </a:solidFill>
                <a:latin typeface="Lato"/>
                <a:ea typeface="Lato"/>
                <a:cs typeface="Lato"/>
              </a:defRPr>
            </a:pPr>
            <a:r>
              <a:rPr sz="1875" b="0">
                <a:solidFill>
                  <a:srgbClr val="172F42"/>
                </a:solidFill>
                <a:latin typeface="Lato"/>
                <a:ea typeface="Lato"/>
                <a:cs typeface="Lato"/>
              </a:rPr>
              <a:t>Allow strongly supported word corrections</a:t>
            </a:r>
          </a:p>
        </p:txBody>
      </p:sp>
      <p:sp>
        <p:nvSpPr>
          <p:cNvPr id="17" name="No quantitative human transcription audit establis">
            <a:extLst xmlns:a="http://schemas.openxmlformats.org/drawingml/2006/main">
              <a:ext uri="{FF2B5EF4-FFF2-40B4-BE49-F238E27FC236}">
                <a16:creationId xmlns:a16="http://schemas.microsoft.com/office/drawing/2014/main" id="{B8CADC16-38D2-4D0E-A6AB-F45F12659642}"/>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No quantitative human transcription audit establishes label accuracy. Forty operational failures are separate.</a:t>
            </a:r>
          </a:p>
        </p:txBody>
      </p:sp>
    </p:spTree>
    <p:extLst>
      <p:ext uri="{BB962C8B-B14F-4D97-AF65-F5344CB8AC3E}">
        <p14:creationId xmlns:p14="http://schemas.microsoft.com/office/powerpoint/2010/main" val="1821764869"/>
      </p:ext>
    </p:extLst>
  </p:cSld>
</p:sld>
</file>

<file path=ppt/slides/slide1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236AA4-AE4B-4653-A1ED-ABC60E2A6CC9}"/>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AUDIOBOOK DATA</a:t>
            </a:r>
          </a:p>
        </p:txBody>
      </p:sp>
      <p:sp>
        <p:nvSpPr>
          <p:cNvPr id="6" name="">
            <a:extLst xmlns:a="http://schemas.openxmlformats.org/drawingml/2006/main">
              <a:ext uri="{FF2B5EF4-FFF2-40B4-BE49-F238E27FC236}">
                <a16:creationId xmlns:a16="http://schemas.microsoft.com/office/drawing/2014/main" id="{F623E183-0864-4F26-9E70-4D2D25DFC289}"/>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225"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Audiobook gains depend on the domain</a:t>
            </a:r>
          </a:p>
        </p:txBody>
      </p:sp>
      <p:pic>
        <p:nvPicPr>
          <p:cNvPr id="7" name="">
            <a:extLst xmlns:a="http://schemas.openxmlformats.org/drawingml/2006/main">
              <a:ext uri="{FF2B5EF4-FFF2-40B4-BE49-F238E27FC236}">
                <a16:creationId xmlns:a16="http://schemas.microsoft.com/office/drawing/2014/main" id="{5DF96CA1-4357-44B4-AB19-86CDD88784C5}"/>
              </a:ext>
            </a:extLst>
          </p:cNvPr>
          <p:cNvPicPr>
            <a:picLocks xmlns:a="http://schemas.openxmlformats.org/drawingml/2006/main" noChangeAspect="1"/>
          </p:cNvPicPr>
          <p:nvPr/>
        </p:nvPicPr>
        <p:blipFill>
          <a:blip xmlns:r="http://schemas.openxmlformats.org/officeDocument/2006/relationships" xmlns:a="http://schemas.openxmlformats.org/drawingml/2006/main" r:embed="Rf2cb26e864cd400b"/>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E9F582B-0A51-4BF7-9288-70330FCF18E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9" name="">
            <a:extLst xmlns:a="http://schemas.openxmlformats.org/drawingml/2006/main">
              <a:ext uri="{FF2B5EF4-FFF2-40B4-BE49-F238E27FC236}">
                <a16:creationId xmlns:a16="http://schemas.microsoft.com/office/drawing/2014/main" id="{B47E6E26-A335-4706-9B57-29FE42928DD4}"/>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10" name="slide-counter">
            <a:extLst xmlns:a="http://schemas.openxmlformats.org/drawingml/2006/main">
              <a:ext uri="{FF2B5EF4-FFF2-40B4-BE49-F238E27FC236}">
                <a16:creationId xmlns:a16="http://schemas.microsoft.com/office/drawing/2014/main" id="{F517C170-F4B4-4B1C-8232-0D4FDF8CD6BC}"/>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17 / 20</a:t>
            </a:r>
          </a:p>
        </p:txBody>
      </p:sp>
      <p:sp>
        <p:nvSpPr>
          <p:cNvPr id="11" name="Change = with IranSeda minus multi-condition basel">
            <a:extLst xmlns:a="http://schemas.openxmlformats.org/drawingml/2006/main">
              <a:ext uri="{FF2B5EF4-FFF2-40B4-BE49-F238E27FC236}">
                <a16:creationId xmlns:a16="http://schemas.microsoft.com/office/drawing/2014/main" id="{E69909D3-D6AD-47F8-8454-2F8CED34835D}"/>
              </a:ext>
            </a:extLst>
          </p:cNvPr>
          <p:cNvSpPr>
            <a:spLocks xmlns:a="http://schemas.openxmlformats.org/drawingml/2006/main" noGrp="1"/>
          </p:cNvSpPr>
          <p:nvPr/>
        </p:nvSpPr>
        <p:spPr>
          <a:xfrm xmlns:a="http://schemas.openxmlformats.org/drawingml/2006/main">
            <a:off x="609600" y="1762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Lato"/>
                <a:ea typeface="Lato"/>
                <a:cs typeface="Lato"/>
              </a:defRPr>
            </a:defPPr>
          </a:lstStyle>
          <a:p xmlns:a="http://schemas.openxmlformats.org/drawingml/2006/main">
            <a:pPr algn="l">
              <a:defRPr sz="1800" b="0">
                <a:solidFill>
                  <a:srgbClr val="586B78"/>
                </a:solidFill>
                <a:latin typeface="Lato"/>
                <a:ea typeface="Lato"/>
                <a:cs typeface="Lato"/>
              </a:defRPr>
            </a:pPr>
            <a:r>
              <a:rPr sz="1800" b="0">
                <a:solidFill>
                  <a:srgbClr val="586B78"/>
                </a:solidFill>
                <a:latin typeface="Lato"/>
                <a:ea typeface="Lato"/>
                <a:cs typeface="Lato"/>
              </a:rPr>
              <a:t>Change = with IranSeda minus multi-condition baseline, in percentage points</a:t>
            </a:r>
          </a:p>
        </p:txBody>
      </p:sp>
      <p:graphicFrame>
        <p:nvGraphicFramePr>
          <p:cNvPr id="12" name="Chart">
            <a:extLst xmlns:a="http://schemas.openxmlformats.org/drawingml/2006/main">
              <a:ext uri="{FF2B5EF4-FFF2-40B4-BE49-F238E27FC236}">
                <a16:creationId xmlns:a16="http://schemas.microsoft.com/office/drawing/2014/main" id="{73D38A2B-4BEE-4F36-BA36-3EE536135C98}"/>
              </a:ext>
            </a:extLst>
          </p:cNvPr>
          <p:cNvGraphicFramePr/>
          <p:nvPr/>
        </p:nvGraphicFramePr>
        <p:xfrm>
          <a:off xmlns:a="http://schemas.openxmlformats.org/drawingml/2006/main" x="609600" y="2238375"/>
          <a:ext xmlns:a="http://schemas.openxmlformats.org/drawingml/2006/main" cx="10972800" cy="2952750"/>
        </p:xfrm>
        <a:graphic xmlns:a="http://schemas.openxmlformats.org/drawingml/2006/main">
          <a:graphicData uri="http://schemas.openxmlformats.org/drawingml/2006/chart">
            <c:chart xmlns:r="http://schemas.openxmlformats.org/officeDocument/2006/relationships" xmlns:c="http://schemas.openxmlformats.org/drawingml/2006/chart" r:id="R5e50a281357c4704"/>
          </a:graphicData>
        </a:graphic>
      </p:graphicFrame>
      <p:sp>
        <p:nvSpPr>
          <p:cNvPr id="13" name="Negative means improvement. Aggregate WER: 17.83% ">
            <a:extLst xmlns:a="http://schemas.openxmlformats.org/drawingml/2006/main">
              <a:ext uri="{FF2B5EF4-FFF2-40B4-BE49-F238E27FC236}">
                <a16:creationId xmlns:a16="http://schemas.microsoft.com/office/drawing/2014/main" id="{208D8008-52F1-4823-9CA7-DBDFAAEB289F}"/>
              </a:ext>
            </a:extLst>
          </p:cNvPr>
          <p:cNvSpPr>
            <a:spLocks xmlns:a="http://schemas.openxmlformats.org/drawingml/2006/main" noGrp="1"/>
          </p:cNvSpPr>
          <p:nvPr/>
        </p:nvSpPr>
        <p:spPr>
          <a:xfrm xmlns:a="http://schemas.openxmlformats.org/drawingml/2006/main">
            <a:off x="609600" y="5381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D6F8A"/>
                </a:solidFill>
                <a:latin typeface="Lato"/>
                <a:ea typeface="Lato"/>
                <a:cs typeface="Lato"/>
              </a:defRPr>
            </a:defPPr>
          </a:lstStyle>
          <a:p xmlns:a="http://schemas.openxmlformats.org/drawingml/2006/main">
            <a:pPr algn="l">
              <a:defRPr sz="1725" b="1">
                <a:solidFill>
                  <a:srgbClr val="1D6F8A"/>
                </a:solidFill>
                <a:latin typeface="Lato"/>
                <a:ea typeface="Lato"/>
                <a:cs typeface="Lato"/>
              </a:defRPr>
            </a:pPr>
            <a:r>
              <a:rPr sz="1725" b="1">
                <a:solidFill>
                  <a:srgbClr val="1D6F8A"/>
                </a:solidFill>
                <a:latin typeface="Lato"/>
                <a:ea typeface="Lato"/>
                <a:cs typeface="Lato"/>
              </a:rPr>
              <a:t>Negative means improvement. Aggregate WER: 17.83% to 17.22%. CER: 7.93% to 7.70%.</a:t>
            </a:r>
          </a:p>
        </p:txBody>
      </p:sp>
      <p:sp>
        <p:nvSpPr>
          <p:cNvPr id="14" name="¹ PersianSpeech has 24 examples. Style, channel, l">
            <a:extLst xmlns:a="http://schemas.openxmlformats.org/drawingml/2006/main">
              <a:ext uri="{FF2B5EF4-FFF2-40B4-BE49-F238E27FC236}">
                <a16:creationId xmlns:a16="http://schemas.microsoft.com/office/drawing/2014/main" id="{291E610B-828C-4418-BC4A-B086171CFBE4}"/>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B78"/>
                </a:solidFill>
                <a:latin typeface="Lato"/>
                <a:ea typeface="Lato"/>
                <a:cs typeface="Lato"/>
              </a:defRPr>
            </a:defPPr>
          </a:lstStyle>
          <a:p xmlns:a="http://schemas.openxmlformats.org/drawingml/2006/main">
            <a:pPr algn="l">
              <a:defRPr sz="1650" b="0">
                <a:solidFill>
                  <a:srgbClr val="586B78"/>
                </a:solidFill>
                <a:latin typeface="Lato"/>
                <a:ea typeface="Lato"/>
                <a:cs typeface="Lato"/>
              </a:defRPr>
            </a:pPr>
            <a:r>
              <a:rPr sz="1650" b="0">
                <a:solidFill>
                  <a:srgbClr val="586B78"/>
                </a:solidFill>
                <a:latin typeface="Lato"/>
                <a:ea typeface="Lato"/>
                <a:cs typeface="Lato"/>
              </a:rPr>
              <a:t>¹ PersianSpeech has 24 examples. Style, channel, labels and sampling effects are not isolated.</a:t>
            </a:r>
          </a:p>
        </p:txBody>
      </p:sp>
    </p:spTree>
    <p:extLst>
      <p:ext uri="{BB962C8B-B14F-4D97-AF65-F5344CB8AC3E}">
        <p14:creationId xmlns:p14="http://schemas.microsoft.com/office/powerpoint/2010/main" val="1647300925"/>
      </p:ext>
    </p:extLst>
  </p:cSld>
</p:sld>
</file>

<file path=ppt/slides/slide1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06EFC41-51CE-4D5B-85D2-0F2B0D4AF7FA}"/>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RESULTS</a:t>
            </a:r>
          </a:p>
        </p:txBody>
      </p:sp>
      <p:sp>
        <p:nvSpPr>
          <p:cNvPr id="5" name="">
            <a:extLst xmlns:a="http://schemas.openxmlformats.org/drawingml/2006/main">
              <a:ext uri="{FF2B5EF4-FFF2-40B4-BE49-F238E27FC236}">
                <a16:creationId xmlns:a16="http://schemas.microsoft.com/office/drawing/2014/main" id="{C7814DF8-2ECD-4201-A1B8-7B9BCA476508}"/>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225"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What the main experiments establish</a:t>
            </a:r>
          </a:p>
        </p:txBody>
      </p:sp>
      <p:pic>
        <p:nvPicPr>
          <p:cNvPr id="6" name="">
            <a:extLst xmlns:a="http://schemas.openxmlformats.org/drawingml/2006/main">
              <a:ext uri="{FF2B5EF4-FFF2-40B4-BE49-F238E27FC236}">
                <a16:creationId xmlns:a16="http://schemas.microsoft.com/office/drawing/2014/main" id="{37D2397C-88D5-40A2-805C-4E32C798D22C}"/>
              </a:ext>
            </a:extLst>
          </p:cNvPr>
          <p:cNvPicPr>
            <a:picLocks xmlns:a="http://schemas.openxmlformats.org/drawingml/2006/main" noChangeAspect="1"/>
          </p:cNvPicPr>
          <p:nvPr/>
        </p:nvPicPr>
        <p:blipFill>
          <a:blip xmlns:r="http://schemas.openxmlformats.org/officeDocument/2006/relationships" xmlns:a="http://schemas.openxmlformats.org/drawingml/2006/main" r:embed="Rfae6d91ec42d4355"/>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44448C1-7B9A-4D0A-9977-8CBAFFB2765B}"/>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9FE6A4DB-0A67-4CCE-8D5E-A9C4F8672C8B}"/>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AE6681E7-AB32-4B0B-A35B-2709B38E63E6}"/>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18 / 20</a:t>
            </a:r>
          </a:p>
        </p:txBody>
      </p:sp>
      <p:graphicFrame>
        <p:nvGraphicFramePr>
          <p:cNvPr id="10" name="">
            <a:extLst xmlns:a="http://schemas.openxmlformats.org/drawingml/2006/main">
              <a:ext uri="{FF2B5EF4-FFF2-40B4-BE49-F238E27FC236}">
                <a16:creationId xmlns:a16="http://schemas.microsoft.com/office/drawing/2014/main" id="{CE60CE77-A9A0-4A36-82BC-BECADC873897}"/>
              </a:ext>
            </a:extLst>
          </p:cNvPr>
          <p:cNvGraphicFramePr/>
          <p:nvPr/>
        </p:nvGraphicFramePr>
        <p:xfrm>
          <a:off xmlns:a="http://schemas.openxmlformats.org/drawingml/2006/main" x="609600" y="1952625"/>
          <a:ext xmlns:a="http://schemas.openxmlformats.org/drawingml/2006/main" cx="10972800" cy="2857500"/>
        </p:xfrm>
        <a:graphic xmlns:a="http://schemas.openxmlformats.org/drawingml/2006/main">
          <a:graphicData uri="http://schemas.openxmlformats.org/drawingml/2006/table">
            <a:tbl>
              <a:tblPr/>
              <a:tblGrid>
                <a:gridCol w="5524500"/>
                <a:gridCol w="2724150"/>
                <a:gridCol w="2724150"/>
              </a:tblGrid>
              <a:tr h="571500">
                <a:tc>
                  <a:txBody>
                    <a:bodyPr lIns="133350" tIns="133350" rIns="133350" bIns="133350"/>
                    <a:lstStyle/>
                    <a:p>
                      <a:pPr algn="l"/>
                      <a:r>
                        <a:rPr sz="1950" b="1">
                          <a:solidFill>
                            <a:srgbClr val="FFFFFF"/>
                          </a:solidFill>
                          <a:latin typeface="Lato"/>
                          <a:ea typeface="Lato"/>
                          <a:cs typeface="Lato"/>
                        </a:rPr>
                        <a:t>Whisper-small system</a:t>
                      </a:r>
                    </a:p>
                  </a:txBody>
                  <a:tcPr marL="91440" marR="91440" marT="45720" marB="45720" anchor="ctr">
                    <a:lnL w="9525">
                      <a:solidFill>
                        <a:srgbClr val="D9E5EA"/>
                      </a:solidFill>
                    </a:lnL>
                    <a:lnR w="9525">
                      <a:solidFill>
                        <a:srgbClr val="D9E5EA"/>
                      </a:solidFill>
                    </a:lnR>
                    <a:lnT w="9525">
                      <a:solidFill>
                        <a:srgbClr val="D9E5EA"/>
                      </a:solidFill>
                    </a:lnT>
                    <a:lnB w="9525">
                      <a:solidFill>
                        <a:srgbClr val="D9E5EA"/>
                      </a:solidFill>
                    </a:lnB>
                    <a:solidFill>
                      <a:srgbClr val="102B40"/>
                    </a:solidFill>
                  </a:tcPr>
                </a:tc>
                <a:tc>
                  <a:txBody>
                    <a:bodyPr lIns="133350" tIns="133350" rIns="133350" bIns="133350"/>
                    <a:lstStyle/>
                    <a:p>
                      <a:pPr algn="ctr"/>
                      <a:r>
                        <a:rPr sz="1950" b="1">
                          <a:solidFill>
                            <a:srgbClr val="FFFFFF"/>
                          </a:solidFill>
                          <a:latin typeface="Lato"/>
                          <a:ea typeface="Lato"/>
                          <a:cs typeface="Lato"/>
                        </a:rPr>
                        <a:t>Aggregate WER</a:t>
                      </a:r>
                    </a:p>
                  </a:txBody>
                  <a:tcPr marL="91440" marR="91440" marT="45720" marB="45720" anchor="ctr">
                    <a:lnR w="9525">
                      <a:solidFill>
                        <a:srgbClr val="D9E5EA"/>
                      </a:solidFill>
                    </a:lnR>
                    <a:lnT w="9525">
                      <a:solidFill>
                        <a:srgbClr val="D9E5EA"/>
                      </a:solidFill>
                    </a:lnT>
                    <a:lnB w="9525">
                      <a:solidFill>
                        <a:srgbClr val="D9E5EA"/>
                      </a:solidFill>
                    </a:lnB>
                    <a:solidFill>
                      <a:srgbClr val="102B40"/>
                    </a:solidFill>
                  </a:tcPr>
                </a:tc>
                <a:tc>
                  <a:txBody>
                    <a:bodyPr lIns="133350" tIns="133350" rIns="133350" bIns="133350"/>
                    <a:lstStyle/>
                    <a:p>
                      <a:pPr algn="ctr"/>
                      <a:r>
                        <a:rPr sz="1950" b="1">
                          <a:solidFill>
                            <a:srgbClr val="FFFFFF"/>
                          </a:solidFill>
                          <a:latin typeface="Lato"/>
                          <a:ea typeface="Lato"/>
                          <a:cs typeface="Lato"/>
                        </a:rPr>
                        <a:t>AGFarsdat WER</a:t>
                      </a:r>
                    </a:p>
                  </a:txBody>
                  <a:tcPr marL="91440" marR="91440" marT="45720" marB="45720" anchor="ctr">
                    <a:lnR w="9525">
                      <a:solidFill>
                        <a:srgbClr val="D9E5EA"/>
                      </a:solidFill>
                    </a:lnR>
                    <a:lnT w="9525">
                      <a:solidFill>
                        <a:srgbClr val="D9E5EA"/>
                      </a:solidFill>
                    </a:lnT>
                    <a:lnB w="9525">
                      <a:solidFill>
                        <a:srgbClr val="D9E5EA"/>
                      </a:solidFill>
                    </a:lnB>
                    <a:solidFill>
                      <a:srgbClr val="102B40"/>
                    </a:solidFill>
                  </a:tcPr>
                </a:tc>
              </a:tr>
              <a:tr h="571500">
                <a:tc>
                  <a:txBody>
                    <a:bodyPr lIns="133350" tIns="133350" rIns="133350" bIns="133350"/>
                    <a:lstStyle/>
                    <a:p>
                      <a:pPr algn="l"/>
                      <a:r>
                        <a:rPr sz="1950" b="0">
                          <a:solidFill>
                            <a:srgbClr val="172F42"/>
                          </a:solidFill>
                          <a:latin typeface="Lato"/>
                          <a:ea typeface="Lato"/>
                          <a:cs typeface="Lato"/>
                        </a:rPr>
                        <a:t>Ordinary</a:t>
                      </a:r>
                    </a:p>
                  </a:txBody>
                  <a:tcPr marL="91440" marR="91440" marT="45720" marB="45720" anchor="ctr">
                    <a:lnL w="9525">
                      <a:solidFill>
                        <a:srgbClr val="D9E5EA"/>
                      </a:solidFill>
                    </a:lnL>
                    <a:lnR w="9525">
                      <a:solidFill>
                        <a:srgbClr val="D9E5EA"/>
                      </a:solidFill>
                    </a:lnR>
                    <a:lnB w="9525">
                      <a:solidFill>
                        <a:srgbClr val="D9E5EA"/>
                      </a:solidFill>
                    </a:lnB>
                    <a:solidFill>
                      <a:srgbClr val="FFFFFF"/>
                    </a:solidFill>
                  </a:tcPr>
                </a:tc>
                <a:tc>
                  <a:txBody>
                    <a:bodyPr lIns="133350" tIns="133350" rIns="133350" bIns="133350"/>
                    <a:lstStyle/>
                    <a:p>
                      <a:pPr algn="ctr"/>
                      <a:r>
                        <a:rPr sz="1950" b="0">
                          <a:solidFill>
                            <a:srgbClr val="172F42"/>
                          </a:solidFill>
                          <a:latin typeface="Lato"/>
                          <a:ea typeface="Lato"/>
                          <a:cs typeface="Lato"/>
                        </a:rPr>
                        <a:t>23.27%</a:t>
                      </a:r>
                    </a:p>
                  </a:txBody>
                  <a:tcPr marL="91440" marR="91440" marT="45720" marB="45720" anchor="ctr">
                    <a:lnR w="9525">
                      <a:solidFill>
                        <a:srgbClr val="D9E5EA"/>
                      </a:solidFill>
                    </a:lnR>
                    <a:lnB w="9525">
                      <a:solidFill>
                        <a:srgbClr val="D9E5EA"/>
                      </a:solidFill>
                    </a:lnB>
                    <a:solidFill>
                      <a:srgbClr val="FFFFFF"/>
                    </a:solidFill>
                  </a:tcPr>
                </a:tc>
                <a:tc>
                  <a:txBody>
                    <a:bodyPr lIns="133350" tIns="133350" rIns="133350" bIns="133350"/>
                    <a:lstStyle/>
                    <a:p>
                      <a:pPr algn="ctr"/>
                      <a:r>
                        <a:rPr sz="1950" b="0">
                          <a:solidFill>
                            <a:srgbClr val="172F42"/>
                          </a:solidFill>
                          <a:latin typeface="Lato"/>
                          <a:ea typeface="Lato"/>
                          <a:cs typeface="Lato"/>
                        </a:rPr>
                        <a:t>35.63%</a:t>
                      </a:r>
                    </a:p>
                  </a:txBody>
                  <a:tcPr marL="91440" marR="91440" marT="45720" marB="45720" anchor="ctr">
                    <a:lnR w="9525">
                      <a:solidFill>
                        <a:srgbClr val="D9E5EA"/>
                      </a:solidFill>
                    </a:lnR>
                    <a:lnB w="9525">
                      <a:solidFill>
                        <a:srgbClr val="D9E5EA"/>
                      </a:solidFill>
                    </a:lnB>
                    <a:solidFill>
                      <a:srgbClr val="FFFFFF"/>
                    </a:solidFill>
                  </a:tcPr>
                </a:tc>
              </a:tr>
              <a:tr h="571500">
                <a:tc>
                  <a:txBody>
                    <a:bodyPr lIns="133350" tIns="133350" rIns="133350" bIns="133350"/>
                    <a:lstStyle/>
                    <a:p>
                      <a:pPr algn="l"/>
                      <a:r>
                        <a:rPr sz="1950" b="0">
                          <a:solidFill>
                            <a:srgbClr val="172F42"/>
                          </a:solidFill>
                          <a:latin typeface="Lato"/>
                          <a:ea typeface="Lato"/>
                          <a:cs typeface="Lato"/>
                        </a:rPr>
                        <a:t>Multi-condition</a:t>
                      </a:r>
                    </a:p>
                  </a:txBody>
                  <a:tcPr marL="91440" marR="91440" marT="45720" marB="45720" anchor="ctr">
                    <a:lnL w="9525">
                      <a:solidFill>
                        <a:srgbClr val="D9E5EA"/>
                      </a:solidFill>
                    </a:lnL>
                    <a:lnR w="9525">
                      <a:solidFill>
                        <a:srgbClr val="D9E5EA"/>
                      </a:solidFill>
                    </a:lnR>
                    <a:lnB w="9525">
                      <a:solidFill>
                        <a:srgbClr val="D9E5EA"/>
                      </a:solidFill>
                    </a:lnB>
                    <a:solidFill>
                      <a:srgbClr val="EEF1F1"/>
                    </a:solidFill>
                  </a:tcPr>
                </a:tc>
                <a:tc>
                  <a:txBody>
                    <a:bodyPr lIns="133350" tIns="133350" rIns="133350" bIns="133350"/>
                    <a:lstStyle/>
                    <a:p>
                      <a:pPr algn="ctr"/>
                      <a:r>
                        <a:rPr sz="1950" b="0">
                          <a:solidFill>
                            <a:srgbClr val="172F42"/>
                          </a:solidFill>
                          <a:latin typeface="Lato"/>
                          <a:ea typeface="Lato"/>
                          <a:cs typeface="Lato"/>
                        </a:rPr>
                        <a:t>17.83%</a:t>
                      </a:r>
                    </a:p>
                  </a:txBody>
                  <a:tcPr marL="91440" marR="91440" marT="45720" marB="45720" anchor="ctr">
                    <a:lnR w="9525">
                      <a:solidFill>
                        <a:srgbClr val="D9E5EA"/>
                      </a:solidFill>
                    </a:lnR>
                    <a:lnB w="9525">
                      <a:solidFill>
                        <a:srgbClr val="D9E5EA"/>
                      </a:solidFill>
                    </a:lnB>
                    <a:solidFill>
                      <a:srgbClr val="EEF1F1"/>
                    </a:solidFill>
                  </a:tcPr>
                </a:tc>
                <a:tc>
                  <a:txBody>
                    <a:bodyPr lIns="133350" tIns="133350" rIns="133350" bIns="133350"/>
                    <a:lstStyle/>
                    <a:p>
                      <a:pPr algn="ctr"/>
                      <a:r>
                        <a:rPr sz="1950" b="0">
                          <a:solidFill>
                            <a:srgbClr val="172F42"/>
                          </a:solidFill>
                          <a:latin typeface="Lato"/>
                          <a:ea typeface="Lato"/>
                          <a:cs typeface="Lato"/>
                        </a:rPr>
                        <a:t>25.80%</a:t>
                      </a:r>
                    </a:p>
                  </a:txBody>
                  <a:tcPr marL="91440" marR="91440" marT="45720" marB="45720" anchor="ctr">
                    <a:lnR w="9525">
                      <a:solidFill>
                        <a:srgbClr val="D9E5EA"/>
                      </a:solidFill>
                    </a:lnR>
                    <a:lnB w="9525">
                      <a:solidFill>
                        <a:srgbClr val="D9E5EA"/>
                      </a:solidFill>
                    </a:lnB>
                    <a:solidFill>
                      <a:srgbClr val="EEF1F1"/>
                    </a:solidFill>
                  </a:tcPr>
                </a:tc>
              </a:tr>
              <a:tr h="571500">
                <a:tc>
                  <a:txBody>
                    <a:bodyPr lIns="133350" tIns="133350" rIns="133350" bIns="133350"/>
                    <a:lstStyle/>
                    <a:p>
                      <a:pPr algn="l"/>
                      <a:r>
                        <a:rPr sz="1950" b="0">
                          <a:solidFill>
                            <a:srgbClr val="172F42"/>
                          </a:solidFill>
                          <a:latin typeface="Lato"/>
                          <a:ea typeface="Lato"/>
                          <a:cs typeface="Lato"/>
                        </a:rPr>
                        <a:t>Proposed fusion</a:t>
                      </a:r>
                    </a:p>
                  </a:txBody>
                  <a:tcPr marL="91440" marR="91440" marT="45720" marB="45720" anchor="ctr">
                    <a:lnL w="9525">
                      <a:solidFill>
                        <a:srgbClr val="D9E5EA"/>
                      </a:solidFill>
                    </a:lnL>
                    <a:lnR w="9525">
                      <a:solidFill>
                        <a:srgbClr val="D9E5EA"/>
                      </a:solidFill>
                    </a:lnR>
                    <a:lnB w="9525">
                      <a:solidFill>
                        <a:srgbClr val="D9E5EA"/>
                      </a:solidFill>
                    </a:lnB>
                    <a:solidFill>
                      <a:srgbClr val="FFFFFF"/>
                    </a:solidFill>
                  </a:tcPr>
                </a:tc>
                <a:tc>
                  <a:txBody>
                    <a:bodyPr lIns="133350" tIns="133350" rIns="133350" bIns="133350"/>
                    <a:lstStyle/>
                    <a:p>
                      <a:pPr algn="ctr"/>
                      <a:r>
                        <a:rPr sz="1950" b="0">
                          <a:solidFill>
                            <a:srgbClr val="172F42"/>
                          </a:solidFill>
                          <a:latin typeface="Lato"/>
                          <a:ea typeface="Lato"/>
                          <a:cs typeface="Lato"/>
                        </a:rPr>
                        <a:t>17.64%</a:t>
                      </a:r>
                    </a:p>
                  </a:txBody>
                  <a:tcPr marL="91440" marR="91440" marT="45720" marB="45720" anchor="ctr">
                    <a:lnR w="9525">
                      <a:solidFill>
                        <a:srgbClr val="D9E5EA"/>
                      </a:solidFill>
                    </a:lnR>
                    <a:lnB w="9525">
                      <a:solidFill>
                        <a:srgbClr val="D9E5EA"/>
                      </a:solidFill>
                    </a:lnB>
                    <a:solidFill>
                      <a:srgbClr val="FFFFFF"/>
                    </a:solidFill>
                  </a:tcPr>
                </a:tc>
                <a:tc>
                  <a:txBody>
                    <a:bodyPr lIns="133350" tIns="133350" rIns="133350" bIns="133350"/>
                    <a:lstStyle/>
                    <a:p>
                      <a:pPr algn="ctr"/>
                      <a:r>
                        <a:rPr sz="1950" b="1">
                          <a:solidFill>
                            <a:srgbClr val="FFFFFF"/>
                          </a:solidFill>
                          <a:latin typeface="Lato"/>
                          <a:ea typeface="Lato"/>
                          <a:cs typeface="Lato"/>
                        </a:rPr>
                        <a:t>25.37%</a:t>
                      </a:r>
                    </a:p>
                  </a:txBody>
                  <a:tcPr marL="91440" marR="91440" marT="45720" marB="45720" anchor="ctr">
                    <a:lnR w="9525">
                      <a:solidFill>
                        <a:srgbClr val="D9E5EA"/>
                      </a:solidFill>
                    </a:lnR>
                    <a:lnB w="9525">
                      <a:solidFill>
                        <a:srgbClr val="D9E5EA"/>
                      </a:solidFill>
                    </a:lnB>
                    <a:solidFill>
                      <a:srgbClr val="1D6F8A"/>
                    </a:solidFill>
                  </a:tcPr>
                </a:tc>
              </a:tr>
              <a:tr h="571500">
                <a:tc>
                  <a:txBody>
                    <a:bodyPr lIns="133350" tIns="133350" rIns="133350" bIns="133350"/>
                    <a:lstStyle/>
                    <a:p>
                      <a:pPr algn="l"/>
                      <a:r>
                        <a:rPr sz="1950" b="0">
                          <a:solidFill>
                            <a:srgbClr val="172F42"/>
                          </a:solidFill>
                          <a:latin typeface="Lato"/>
                          <a:ea typeface="Lato"/>
                          <a:cs typeface="Lato"/>
                        </a:rPr>
                        <a:t>Multi-condition + IranSeda</a:t>
                      </a:r>
                    </a:p>
                  </a:txBody>
                  <a:tcPr marL="91440" marR="91440" marT="45720" marB="45720" anchor="ctr">
                    <a:lnL w="9525">
                      <a:solidFill>
                        <a:srgbClr val="D9E5EA"/>
                      </a:solidFill>
                    </a:lnL>
                    <a:lnR w="9525">
                      <a:solidFill>
                        <a:srgbClr val="D9E5EA"/>
                      </a:solidFill>
                    </a:lnR>
                    <a:lnB w="9525">
                      <a:solidFill>
                        <a:srgbClr val="D9E5EA"/>
                      </a:solidFill>
                    </a:lnB>
                    <a:solidFill>
                      <a:srgbClr val="EEF1F1"/>
                    </a:solidFill>
                  </a:tcPr>
                </a:tc>
                <a:tc>
                  <a:txBody>
                    <a:bodyPr lIns="133350" tIns="133350" rIns="133350" bIns="133350"/>
                    <a:lstStyle/>
                    <a:p>
                      <a:pPr algn="ctr"/>
                      <a:r>
                        <a:rPr sz="1950" b="1">
                          <a:solidFill>
                            <a:srgbClr val="FFFFFF"/>
                          </a:solidFill>
                          <a:latin typeface="Lato"/>
                          <a:ea typeface="Lato"/>
                          <a:cs typeface="Lato"/>
                        </a:rPr>
                        <a:t>17.22%</a:t>
                      </a:r>
                    </a:p>
                  </a:txBody>
                  <a:tcPr marL="91440" marR="91440" marT="45720" marB="45720" anchor="ctr">
                    <a:lnR w="9525">
                      <a:solidFill>
                        <a:srgbClr val="D9E5EA"/>
                      </a:solidFill>
                    </a:lnR>
                    <a:lnB w="9525">
                      <a:solidFill>
                        <a:srgbClr val="D9E5EA"/>
                      </a:solidFill>
                    </a:lnB>
                    <a:solidFill>
                      <a:srgbClr val="1D6F8A"/>
                    </a:solidFill>
                  </a:tcPr>
                </a:tc>
                <a:tc>
                  <a:txBody>
                    <a:bodyPr lIns="133350" tIns="133350" rIns="133350" bIns="133350"/>
                    <a:lstStyle/>
                    <a:p>
                      <a:pPr algn="ctr"/>
                      <a:r>
                        <a:rPr sz="1950" b="0">
                          <a:solidFill>
                            <a:srgbClr val="172F42"/>
                          </a:solidFill>
                          <a:latin typeface="Lato"/>
                          <a:ea typeface="Lato"/>
                          <a:cs typeface="Lato"/>
                        </a:rPr>
                        <a:t>26.66%</a:t>
                      </a:r>
                    </a:p>
                  </a:txBody>
                  <a:tcPr marL="91440" marR="91440" marT="45720" marB="45720" anchor="ctr">
                    <a:lnR w="9525">
                      <a:solidFill>
                        <a:srgbClr val="D9E5EA"/>
                      </a:solidFill>
                    </a:lnR>
                    <a:lnB w="9525">
                      <a:solidFill>
                        <a:srgbClr val="D9E5EA"/>
                      </a:solidFill>
                    </a:lnB>
                    <a:solidFill>
                      <a:srgbClr val="EEF1F1"/>
                    </a:solidFill>
                  </a:tcPr>
                </a:tc>
              </a:tr>
            </a:tbl>
          </a:graphicData>
        </a:graphic>
      </p:graphicFrame>
      <p:sp>
        <p:nvSpPr>
          <p:cNvPr id="11" name="Lowest aggregate WER: IranSeda. Lowest real-call W">
            <a:extLst xmlns:a="http://schemas.openxmlformats.org/drawingml/2006/main">
              <a:ext uri="{FF2B5EF4-FFF2-40B4-BE49-F238E27FC236}">
                <a16:creationId xmlns:a16="http://schemas.microsoft.com/office/drawing/2014/main" id="{340A0920-FE6C-4226-A25E-9B0429E8A967}"/>
              </a:ext>
            </a:extLst>
          </p:cNvPr>
          <p:cNvSpPr>
            <a:spLocks xmlns:a="http://schemas.openxmlformats.org/drawingml/2006/main" noGrp="1"/>
          </p:cNvSpPr>
          <p:nvPr/>
        </p:nvSpPr>
        <p:spPr>
          <a:xfrm xmlns:a="http://schemas.openxmlformats.org/drawingml/2006/main">
            <a:off x="609600" y="50958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D6F8A"/>
                </a:solidFill>
                <a:latin typeface="Lato"/>
                <a:ea typeface="Lato"/>
                <a:cs typeface="Lato"/>
              </a:defRPr>
            </a:defPPr>
          </a:lstStyle>
          <a:p xmlns:a="http://schemas.openxmlformats.org/drawingml/2006/main">
            <a:pPr algn="l">
              <a:defRPr sz="1950" b="1">
                <a:solidFill>
                  <a:srgbClr val="1D6F8A"/>
                </a:solidFill>
                <a:latin typeface="Lato"/>
                <a:ea typeface="Lato"/>
                <a:cs typeface="Lato"/>
              </a:defRPr>
            </a:pPr>
            <a:r>
              <a:rPr sz="1950" b="1">
                <a:solidFill>
                  <a:srgbClr val="1D6F8A"/>
                </a:solidFill>
                <a:latin typeface="Lato"/>
                <a:ea typeface="Lato"/>
                <a:cs typeface="Lato"/>
              </a:rPr>
              <a:t>Lowest aggregate WER: IranSeda. Lowest real-call WER: fusion.</a:t>
            </a:r>
          </a:p>
        </p:txBody>
      </p:sp>
      <p:sp>
        <p:nvSpPr>
          <p:cNvPr id="12" name="Medium context: 14.36% aggregate and 21.99% real-c">
            <a:extLst xmlns:a="http://schemas.openxmlformats.org/drawingml/2006/main">
              <a:ext uri="{FF2B5EF4-FFF2-40B4-BE49-F238E27FC236}">
                <a16:creationId xmlns:a16="http://schemas.microsoft.com/office/drawing/2014/main" id="{22D76D9B-391A-4380-83B7-6D66B7B9B975}"/>
              </a:ext>
            </a:extLst>
          </p:cNvPr>
          <p:cNvSpPr>
            <a:spLocks xmlns:a="http://schemas.openxmlformats.org/drawingml/2006/main" noGrp="1"/>
          </p:cNvSpPr>
          <p:nvPr/>
        </p:nvSpPr>
        <p:spPr>
          <a:xfrm xmlns:a="http://schemas.openxmlformats.org/drawingml/2006/main">
            <a:off x="609600" y="57150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B78"/>
                </a:solidFill>
                <a:latin typeface="Lato"/>
                <a:ea typeface="Lato"/>
                <a:cs typeface="Lato"/>
              </a:defRPr>
            </a:defPPr>
          </a:lstStyle>
          <a:p xmlns:a="http://schemas.openxmlformats.org/drawingml/2006/main">
            <a:pPr algn="l">
              <a:defRPr sz="1725" b="0">
                <a:solidFill>
                  <a:srgbClr val="586B78"/>
                </a:solidFill>
                <a:latin typeface="Lato"/>
                <a:ea typeface="Lato"/>
                <a:cs typeface="Lato"/>
              </a:defRPr>
            </a:pPr>
            <a:r>
              <a:rPr sz="1725" b="0">
                <a:solidFill>
                  <a:srgbClr val="586B78"/>
                </a:solidFill>
                <a:latin typeface="Lato"/>
                <a:ea typeface="Lato"/>
                <a:cs typeface="Lato"/>
              </a:rPr>
              <a:t>Medium context: 14.36% aggregate and 21.99% real-call WER, with different capacity and training.</a:t>
            </a:r>
          </a:p>
        </p:txBody>
      </p:sp>
    </p:spTree>
    <p:extLst>
      <p:ext uri="{BB962C8B-B14F-4D97-AF65-F5344CB8AC3E}">
        <p14:creationId xmlns:p14="http://schemas.microsoft.com/office/powerpoint/2010/main" val="2146201726"/>
      </p:ext>
    </p:extLst>
  </p:cSld>
</p:sld>
</file>

<file path=ppt/slides/slide1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85300E0-98E3-4A31-BAD9-CC24D0194B01}"/>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buNone/>
              <a:defRPr sz="1050" b="1">
                <a:solidFill>
                  <a:srgbClr val="1D6F8A"/>
                </a:solidFill>
                <a:latin typeface="Lato"/>
                <a:ea typeface="Lato"/>
                <a:cs typeface="Lato"/>
              </a:defRPr>
            </a:pPr>
            <a:r>
              <a:rPr sz="1050" b="1">
                <a:solidFill>
                  <a:srgbClr val="1D6F8A"/>
                </a:solidFill>
                <a:latin typeface="Lato"/>
                <a:ea typeface="Lato"/>
                <a:cs typeface="Lato"/>
              </a:rPr>
              <a:t>CONCLUSIONS</a:t>
            </a:r>
          </a:p>
        </p:txBody>
      </p:sp>
      <p:sp>
        <p:nvSpPr>
          <p:cNvPr id="5" name="">
            <a:extLst xmlns:a="http://schemas.openxmlformats.org/drawingml/2006/main">
              <a:ext uri="{FF2B5EF4-FFF2-40B4-BE49-F238E27FC236}">
                <a16:creationId xmlns:a16="http://schemas.microsoft.com/office/drawing/2014/main" id="{BB01BCDD-B10F-45F5-B201-407BD87E7E18}"/>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B40"/>
                </a:solidFill>
                <a:latin typeface="Bitstream Charter"/>
                <a:ea typeface="Bitstream Charter"/>
                <a:cs typeface="Bitstream Charter"/>
              </a:defRPr>
            </a:defPPr>
          </a:lstStyle>
          <a:p xmlns:a="http://schemas.openxmlformats.org/drawingml/2006/main">
            <a:pPr algn="l">
              <a:buNone/>
              <a:defRPr sz="3225" b="0">
                <a:solidFill>
                  <a:srgbClr val="172F42"/>
                </a:solidFill>
                <a:latin typeface="Bitstream Charter"/>
                <a:ea typeface="Bitstream Charter"/>
                <a:cs typeface="Bitstream Charter"/>
              </a:defRPr>
            </a:pPr>
            <a:r>
              <a:rPr sz="3225" b="0">
                <a:solidFill>
                  <a:srgbClr val="102B40"/>
                </a:solidFill>
                <a:latin typeface="Bitstream Charter"/>
                <a:ea typeface="Bitstream Charter"/>
                <a:cs typeface="Bitstream Charter"/>
              </a:rPr>
              <a:t>Limitations and next experiments</a:t>
            </a:r>
          </a:p>
        </p:txBody>
      </p:sp>
      <p:pic>
        <p:nvPicPr>
          <p:cNvPr id="6" name="">
            <a:extLst xmlns:a="http://schemas.openxmlformats.org/drawingml/2006/main">
              <a:ext uri="{FF2B5EF4-FFF2-40B4-BE49-F238E27FC236}">
                <a16:creationId xmlns:a16="http://schemas.microsoft.com/office/drawing/2014/main" id="{9481CE74-E56C-4F0E-BF04-F4DD3AA1D21D}"/>
              </a:ext>
            </a:extLst>
          </p:cNvPr>
          <p:cNvPicPr>
            <a:picLocks xmlns:a="http://schemas.openxmlformats.org/drawingml/2006/main" noChangeAspect="1"/>
          </p:cNvPicPr>
          <p:nvPr/>
        </p:nvPicPr>
        <p:blipFill>
          <a:blip xmlns:r="http://schemas.openxmlformats.org/officeDocument/2006/relationships" xmlns:a="http://schemas.openxmlformats.org/drawingml/2006/main" r:embed="Rc88fb91ea71b44c2"/>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35A716D-E54C-457B-B68A-7DB7E3E49CF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9E5EA"/>
            </a:solidFill>
          </a:ln>
        </p:spPr>
      </p:sp>
      <p:sp>
        <p:nvSpPr>
          <p:cNvPr id="8" name="">
            <a:extLst xmlns:a="http://schemas.openxmlformats.org/drawingml/2006/main">
              <a:ext uri="{FF2B5EF4-FFF2-40B4-BE49-F238E27FC236}">
                <a16:creationId xmlns:a16="http://schemas.microsoft.com/office/drawing/2014/main" id="{B1C7E373-23AD-40AB-A4FD-48C87FFED2C0}"/>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buNone/>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ADA93BF4-9046-4696-A28E-6B380B9B2086}"/>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02B40"/>
                </a:solidFill>
                <a:latin typeface="Lato"/>
                <a:ea typeface="Lato"/>
                <a:cs typeface="Lato"/>
              </a:defRPr>
            </a:defPPr>
          </a:lstStyle>
          <a:p xmlns:a="http://schemas.openxmlformats.org/drawingml/2006/main">
            <a:pPr algn="r">
              <a:buNone/>
              <a:defRPr sz="1350" b="1">
                <a:solidFill>
                  <a:srgbClr val="172F42"/>
                </a:solidFill>
                <a:latin typeface="Lato"/>
                <a:ea typeface="Lato"/>
                <a:cs typeface="Lato"/>
              </a:defRPr>
            </a:pPr>
            <a:r>
              <a:rPr sz="1350" b="1">
                <a:solidFill>
                  <a:srgbClr val="102B40"/>
                </a:solidFill>
                <a:latin typeface="Lato"/>
                <a:ea typeface="Lato"/>
                <a:cs typeface="Lato"/>
              </a:rPr>
              <a:t>19 / 20</a:t>
            </a:r>
          </a:p>
        </p:txBody>
      </p:sp>
      <p:sp>
        <p:nvSpPr>
          <p:cNvPr id="10" name="Reliability">
            <a:extLst xmlns:a="http://schemas.openxmlformats.org/drawingml/2006/main">
              <a:ext uri="{FF2B5EF4-FFF2-40B4-BE49-F238E27FC236}">
                <a16:creationId xmlns:a16="http://schemas.microsoft.com/office/drawing/2014/main" id="{3453ED01-5969-466F-818E-A9A6FAC7BBEC}"/>
              </a:ext>
            </a:extLst>
          </p:cNvPr>
          <p:cNvSpPr>
            <a:spLocks xmlns:a="http://schemas.openxmlformats.org/drawingml/2006/main" noGrp="1"/>
          </p:cNvSpPr>
          <p:nvPr/>
        </p:nvSpPr>
        <p:spPr>
          <a:xfrm xmlns:a="http://schemas.openxmlformats.org/drawingml/2006/main">
            <a:off x="609600" y="1952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D6F8A"/>
                </a:solidFill>
                <a:latin typeface="Lato"/>
                <a:ea typeface="Lato"/>
                <a:cs typeface="Lato"/>
              </a:defRPr>
            </a:defPPr>
          </a:lstStyle>
          <a:p xmlns:a="http://schemas.openxmlformats.org/drawingml/2006/main">
            <a:pPr algn="l">
              <a:defRPr sz="2250" b="1">
                <a:solidFill>
                  <a:srgbClr val="1D6F8A"/>
                </a:solidFill>
                <a:latin typeface="Lato"/>
                <a:ea typeface="Lato"/>
                <a:cs typeface="Lato"/>
              </a:defRPr>
            </a:pPr>
            <a:r>
              <a:rPr sz="2250" b="1">
                <a:solidFill>
                  <a:srgbClr val="1D6F8A"/>
                </a:solidFill>
                <a:latin typeface="Lato"/>
                <a:ea typeface="Lato"/>
                <a:cs typeface="Lato"/>
              </a:rPr>
              <a:t>Reliability</a:t>
            </a:r>
          </a:p>
        </p:txBody>
      </p:sp>
      <p:sp>
        <p:nvSpPr>
          <p:cNvPr id="11" name="Repeated seeds, exact pairing and confidence inter">
            <a:extLst xmlns:a="http://schemas.openxmlformats.org/drawingml/2006/main">
              <a:ext uri="{FF2B5EF4-FFF2-40B4-BE49-F238E27FC236}">
                <a16:creationId xmlns:a16="http://schemas.microsoft.com/office/drawing/2014/main" id="{A06C1618-E41E-42B8-852A-4A978272431E}"/>
              </a:ext>
            </a:extLst>
          </p:cNvPr>
          <p:cNvSpPr>
            <a:spLocks xmlns:a="http://schemas.openxmlformats.org/drawingml/2006/main" noGrp="1"/>
          </p:cNvSpPr>
          <p:nvPr/>
        </p:nvSpPr>
        <p:spPr>
          <a:xfrm xmlns:a="http://schemas.openxmlformats.org/drawingml/2006/main">
            <a:off x="609600" y="24765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F42"/>
                </a:solidFill>
                <a:latin typeface="Lato"/>
                <a:ea typeface="Lato"/>
                <a:cs typeface="Lato"/>
              </a:defRPr>
            </a:defPPr>
          </a:lstStyle>
          <a:p xmlns:a="http://schemas.openxmlformats.org/drawingml/2006/main">
            <a:pPr algn="l">
              <a:defRPr sz="2100" b="0">
                <a:solidFill>
                  <a:srgbClr val="172F42"/>
                </a:solidFill>
                <a:latin typeface="Lato"/>
                <a:ea typeface="Lato"/>
                <a:cs typeface="Lato"/>
              </a:defRPr>
            </a:pPr>
            <a:r>
              <a:rPr sz="2100" b="0">
                <a:solidFill>
                  <a:srgbClr val="172F42"/>
                </a:solidFill>
                <a:latin typeface="Lato"/>
                <a:ea typeface="Lato"/>
                <a:cs typeface="Lato"/>
              </a:rPr>
              <a:t>Repeated seeds, exact pairing and confidence intervals</a:t>
            </a:r>
          </a:p>
        </p:txBody>
      </p:sp>
      <p:sp>
        <p:nvSpPr>
          <p:cNvPr id="12" name="Fusion attribution and value">
            <a:extLst xmlns:a="http://schemas.openxmlformats.org/drawingml/2006/main">
              <a:ext uri="{FF2B5EF4-FFF2-40B4-BE49-F238E27FC236}">
                <a16:creationId xmlns:a16="http://schemas.microsoft.com/office/drawing/2014/main" id="{4DB12F6E-6E8C-43B4-A806-6AF905E98D44}"/>
              </a:ext>
            </a:extLst>
          </p:cNvPr>
          <p:cNvSpPr>
            <a:spLocks xmlns:a="http://schemas.openxmlformats.org/drawingml/2006/main" noGrp="1"/>
          </p:cNvSpPr>
          <p:nvPr/>
        </p:nvSpPr>
        <p:spPr>
          <a:xfrm xmlns:a="http://schemas.openxmlformats.org/drawingml/2006/main">
            <a:off x="609600" y="31908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D6F8A"/>
                </a:solidFill>
                <a:latin typeface="Lato"/>
                <a:ea typeface="Lato"/>
                <a:cs typeface="Lato"/>
              </a:defRPr>
            </a:defPPr>
          </a:lstStyle>
          <a:p xmlns:a="http://schemas.openxmlformats.org/drawingml/2006/main">
            <a:pPr algn="l">
              <a:defRPr sz="2250" b="1">
                <a:solidFill>
                  <a:srgbClr val="1D6F8A"/>
                </a:solidFill>
                <a:latin typeface="Lato"/>
                <a:ea typeface="Lato"/>
                <a:cs typeface="Lato"/>
              </a:defRPr>
            </a:pPr>
            <a:r>
              <a:rPr sz="2250" b="1">
                <a:solidFill>
                  <a:srgbClr val="1D6F8A"/>
                </a:solidFill>
                <a:latin typeface="Lato"/>
                <a:ea typeface="Lato"/>
                <a:cs typeface="Lato"/>
              </a:rPr>
              <a:t>Fusion attribution and value</a:t>
            </a:r>
          </a:p>
        </p:txBody>
      </p:sp>
      <p:sp>
        <p:nvSpPr>
          <p:cNvPr id="13" name="Matched-budget Small controls, module ablations an">
            <a:extLst xmlns:a="http://schemas.openxmlformats.org/drawingml/2006/main">
              <a:ext uri="{FF2B5EF4-FFF2-40B4-BE49-F238E27FC236}">
                <a16:creationId xmlns:a16="http://schemas.microsoft.com/office/drawing/2014/main" id="{609ACD63-0011-4EC9-AE08-B18B6240274E}"/>
              </a:ext>
            </a:extLst>
          </p:cNvPr>
          <p:cNvSpPr>
            <a:spLocks xmlns:a="http://schemas.openxmlformats.org/drawingml/2006/main" noGrp="1"/>
          </p:cNvSpPr>
          <p:nvPr/>
        </p:nvSpPr>
        <p:spPr>
          <a:xfrm xmlns:a="http://schemas.openxmlformats.org/drawingml/2006/main">
            <a:off x="609600" y="3714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F42"/>
                </a:solidFill>
                <a:latin typeface="Lato"/>
                <a:ea typeface="Lato"/>
                <a:cs typeface="Lato"/>
              </a:defRPr>
            </a:defPPr>
          </a:lstStyle>
          <a:p xmlns:a="http://schemas.openxmlformats.org/drawingml/2006/main">
            <a:pPr algn="l">
              <a:defRPr sz="2100" b="0">
                <a:solidFill>
                  <a:srgbClr val="172F42"/>
                </a:solidFill>
                <a:latin typeface="Lato"/>
                <a:ea typeface="Lato"/>
                <a:cs typeface="Lato"/>
              </a:defRPr>
            </a:pPr>
            <a:r>
              <a:rPr sz="2100" b="0">
                <a:solidFill>
                  <a:srgbClr val="172F42"/>
                </a:solidFill>
                <a:latin typeface="Lato"/>
                <a:ea typeface="Lato"/>
                <a:cs typeface="Lato"/>
              </a:rPr>
              <a:t>Matched-budget Small controls, module ablations and inference cost</a:t>
            </a:r>
          </a:p>
        </p:txBody>
      </p:sp>
      <p:sp>
        <p:nvSpPr>
          <p:cNvPr id="14" name="Data quality and relevance">
            <a:extLst xmlns:a="http://schemas.openxmlformats.org/drawingml/2006/main">
              <a:ext uri="{FF2B5EF4-FFF2-40B4-BE49-F238E27FC236}">
                <a16:creationId xmlns:a16="http://schemas.microsoft.com/office/drawing/2014/main" id="{36628713-C62D-40E9-A242-766D0CAB367D}"/>
              </a:ext>
            </a:extLst>
          </p:cNvPr>
          <p:cNvSpPr>
            <a:spLocks xmlns:a="http://schemas.openxmlformats.org/drawingml/2006/main" noGrp="1"/>
          </p:cNvSpPr>
          <p:nvPr/>
        </p:nvSpPr>
        <p:spPr>
          <a:xfrm xmlns:a="http://schemas.openxmlformats.org/drawingml/2006/main">
            <a:off x="609600" y="4429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D6F8A"/>
                </a:solidFill>
                <a:latin typeface="Lato"/>
                <a:ea typeface="Lato"/>
                <a:cs typeface="Lato"/>
              </a:defRPr>
            </a:defPPr>
          </a:lstStyle>
          <a:p xmlns:a="http://schemas.openxmlformats.org/drawingml/2006/main">
            <a:pPr algn="l">
              <a:defRPr sz="2250" b="1">
                <a:solidFill>
                  <a:srgbClr val="1D6F8A"/>
                </a:solidFill>
                <a:latin typeface="Lato"/>
                <a:ea typeface="Lato"/>
                <a:cs typeface="Lato"/>
              </a:defRPr>
            </a:pPr>
            <a:r>
              <a:rPr sz="2250" b="1">
                <a:solidFill>
                  <a:srgbClr val="1D6F8A"/>
                </a:solidFill>
                <a:latin typeface="Lato"/>
                <a:ea typeface="Lato"/>
                <a:cs typeface="Lato"/>
              </a:rPr>
              <a:t>Data quality and relevance</a:t>
            </a:r>
          </a:p>
        </p:txBody>
      </p:sp>
      <p:sp>
        <p:nvSpPr>
          <p:cNvPr id="15" name="Human pseudo-label audit and telephone-oriented mi">
            <a:extLst xmlns:a="http://schemas.openxmlformats.org/drawingml/2006/main">
              <a:ext uri="{FF2B5EF4-FFF2-40B4-BE49-F238E27FC236}">
                <a16:creationId xmlns:a16="http://schemas.microsoft.com/office/drawing/2014/main" id="{686B7857-E865-48A7-BE1B-ECCF7A8E94C6}"/>
              </a:ext>
            </a:extLst>
          </p:cNvPr>
          <p:cNvSpPr>
            <a:spLocks xmlns:a="http://schemas.openxmlformats.org/drawingml/2006/main" noGrp="1"/>
          </p:cNvSpPr>
          <p:nvPr/>
        </p:nvSpPr>
        <p:spPr>
          <a:xfrm xmlns:a="http://schemas.openxmlformats.org/drawingml/2006/main">
            <a:off x="609600" y="49530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F42"/>
                </a:solidFill>
                <a:latin typeface="Lato"/>
                <a:ea typeface="Lato"/>
                <a:cs typeface="Lato"/>
              </a:defRPr>
            </a:defPPr>
          </a:lstStyle>
          <a:p xmlns:a="http://schemas.openxmlformats.org/drawingml/2006/main">
            <a:pPr algn="l">
              <a:defRPr sz="2100" b="0">
                <a:solidFill>
                  <a:srgbClr val="172F42"/>
                </a:solidFill>
                <a:latin typeface="Lato"/>
                <a:ea typeface="Lato"/>
                <a:cs typeface="Lato"/>
              </a:defRPr>
            </a:pPr>
            <a:r>
              <a:rPr sz="2100" b="0">
                <a:solidFill>
                  <a:srgbClr val="172F42"/>
                </a:solidFill>
                <a:latin typeface="Lato"/>
                <a:ea typeface="Lato"/>
                <a:cs typeface="Lato"/>
              </a:rPr>
              <a:t>Human pseudo-label audit and telephone-oriented mixture experiments</a:t>
            </a:r>
          </a:p>
        </p:txBody>
      </p:sp>
      <p:sp>
        <p:nvSpPr>
          <p:cNvPr id="16" name="Simulator coverage and the private real-call test ">
            <a:extLst xmlns:a="http://schemas.openxmlformats.org/drawingml/2006/main">
              <a:ext uri="{FF2B5EF4-FFF2-40B4-BE49-F238E27FC236}">
                <a16:creationId xmlns:a16="http://schemas.microsoft.com/office/drawing/2014/main" id="{E7B17447-C46A-4221-A515-53739F06D110}"/>
              </a:ext>
            </a:extLst>
          </p:cNvPr>
          <p:cNvSpPr>
            <a:spLocks xmlns:a="http://schemas.openxmlformats.org/drawingml/2006/main" noGrp="1"/>
          </p:cNvSpPr>
          <p:nvPr/>
        </p:nvSpPr>
        <p:spPr>
          <a:xfrm xmlns:a="http://schemas.openxmlformats.org/drawingml/2006/main">
            <a:off x="609600" y="5953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B78"/>
                </a:solidFill>
                <a:latin typeface="Lato"/>
                <a:ea typeface="Lato"/>
                <a:cs typeface="Lato"/>
              </a:defRPr>
            </a:defPPr>
          </a:lstStyle>
          <a:p xmlns:a="http://schemas.openxmlformats.org/drawingml/2006/main">
            <a:pPr algn="l">
              <a:defRPr sz="1650" b="0">
                <a:solidFill>
                  <a:srgbClr val="586B78"/>
                </a:solidFill>
                <a:latin typeface="Lato"/>
                <a:ea typeface="Lato"/>
                <a:cs typeface="Lato"/>
              </a:defRPr>
            </a:pPr>
            <a:r>
              <a:rPr sz="1650" b="0">
                <a:solidFill>
                  <a:srgbClr val="586B78"/>
                </a:solidFill>
                <a:latin typeface="Lato"/>
                <a:ea typeface="Lato"/>
                <a:cs typeface="Lato"/>
              </a:rPr>
              <a:t>Simulator coverage and the private real-call test also limit the evidence.</a:t>
            </a:r>
          </a:p>
        </p:txBody>
      </p:sp>
    </p:spTree>
    <p:extLst>
      <p:ext uri="{BB962C8B-B14F-4D97-AF65-F5344CB8AC3E}">
        <p14:creationId xmlns:p14="http://schemas.microsoft.com/office/powerpoint/2010/main" val="720550114"/>
      </p:ext>
    </p:extLst>
  </p:cSld>
</p:sld>
</file>

<file path=ppt/slides/slide20.xml><?xml version="1.0" encoding="utf-8"?>
<p:sld xmlns:p="http://schemas.openxmlformats.org/presentationml/2006/main">
  <p:cSld>
    <p:bg>
      <p:bgPr>
        <a:solidFill xmlns:a="http://schemas.openxmlformats.org/drawingml/2006/main">
          <a:srgbClr val="102B4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2263E3B-AE38-4CCC-A625-1B4FB80C7C1D}"/>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91D5CE"/>
                </a:solidFill>
                <a:latin typeface="Lato"/>
                <a:ea typeface="Lato"/>
                <a:cs typeface="Lato"/>
              </a:defRPr>
            </a:defPPr>
          </a:lstStyle>
          <a:p xmlns:a="http://schemas.openxmlformats.org/drawingml/2006/main">
            <a:pPr algn="l">
              <a:buNone/>
              <a:defRPr sz="1050" b="1">
                <a:solidFill>
                  <a:srgbClr val="91D5CE"/>
                </a:solidFill>
                <a:latin typeface="Lato"/>
                <a:ea typeface="Lato"/>
                <a:cs typeface="Lato"/>
              </a:defRPr>
            </a:pPr>
            <a:r>
              <a:rPr sz="1050" b="1">
                <a:solidFill>
                  <a:srgbClr val="91D5CE"/>
                </a:solidFill>
                <a:latin typeface="Lato"/>
                <a:ea typeface="Lato"/>
                <a:cs typeface="Lato"/>
              </a:rPr>
              <a:t>CONCLUSIONS</a:t>
            </a:r>
          </a:p>
        </p:txBody>
      </p:sp>
      <p:sp>
        <p:nvSpPr>
          <p:cNvPr id="2" name="">
            <a:extLst xmlns:a="http://schemas.openxmlformats.org/drawingml/2006/main">
              <a:ext uri="{FF2B5EF4-FFF2-40B4-BE49-F238E27FC236}">
                <a16:creationId xmlns:a16="http://schemas.microsoft.com/office/drawing/2014/main" id="{F51D4457-854C-41F4-9D6E-FAF190972210}"/>
              </a:ext>
            </a:extLst>
          </p:cNvPr>
          <p:cNvSpPr>
            <a:spLocks xmlns:a="http://schemas.openxmlformats.org/drawingml/2006/main" noGrp="1"/>
          </p:cNvSpPr>
          <p:nvPr/>
        </p:nvSpPr>
        <p:spPr>
          <a:xfrm xmlns:a="http://schemas.openxmlformats.org/drawingml/2006/main">
            <a:off x="609600" y="723900"/>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FFFFF"/>
                </a:solidFill>
                <a:latin typeface="Bitstream Charter"/>
                <a:ea typeface="Bitstream Charter"/>
                <a:cs typeface="Bitstream Charter"/>
              </a:defRPr>
            </a:defPPr>
          </a:lstStyle>
          <a:p xmlns:a="http://schemas.openxmlformats.org/drawingml/2006/main">
            <a:pPr algn="l">
              <a:buNone/>
              <a:defRPr sz="3225" b="0">
                <a:solidFill>
                  <a:srgbClr val="FFFFFF"/>
                </a:solidFill>
                <a:latin typeface="Bitstream Charter"/>
                <a:ea typeface="Bitstream Charter"/>
                <a:cs typeface="Bitstream Charter"/>
              </a:defRPr>
            </a:pPr>
            <a:r>
              <a:rPr sz="3225" b="0">
                <a:solidFill>
                  <a:srgbClr val="FFFFFF"/>
                </a:solidFill>
                <a:latin typeface="Bitstream Charter"/>
                <a:ea typeface="Bitstream Charter"/>
                <a:cs typeface="Bitstream Charter"/>
              </a:rPr>
              <a:t>Conclusion and questions</a:t>
            </a:r>
          </a:p>
        </p:txBody>
      </p:sp>
      <p:pic>
        <p:nvPicPr>
          <p:cNvPr id="3" name="">
            <a:extLst xmlns:a="http://schemas.openxmlformats.org/drawingml/2006/main">
              <a:ext uri="{FF2B5EF4-FFF2-40B4-BE49-F238E27FC236}">
                <a16:creationId xmlns:a16="http://schemas.microsoft.com/office/drawing/2014/main" id="{EA1F9562-E715-4580-8DEC-A821549C257B}"/>
              </a:ext>
            </a:extLst>
          </p:cNvPr>
          <p:cNvPicPr>
            <a:picLocks xmlns:a="http://schemas.openxmlformats.org/drawingml/2006/main" noChangeAspect="1"/>
          </p:cNvPicPr>
          <p:nvPr/>
        </p:nvPicPr>
        <p:blipFill>
          <a:blip xmlns:r="http://schemas.openxmlformats.org/officeDocument/2006/relationships" xmlns:a="http://schemas.openxmlformats.org/drawingml/2006/main" r:embed="R595bdfc8a3424291"/>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1E090B5-F660-4A44-861D-8CE4FDD7273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3C5666"/>
            </a:solidFill>
          </a:ln>
        </p:spPr>
      </p:sp>
      <p:sp>
        <p:nvSpPr>
          <p:cNvPr id="5" name="">
            <a:extLst xmlns:a="http://schemas.openxmlformats.org/drawingml/2006/main">
              <a:ext uri="{FF2B5EF4-FFF2-40B4-BE49-F238E27FC236}">
                <a16:creationId xmlns:a16="http://schemas.microsoft.com/office/drawing/2014/main" id="{71DB4FFD-A1FF-4667-8271-76FC7B6A7C75}"/>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D9E5EA"/>
                </a:solidFill>
                <a:latin typeface="Lato"/>
                <a:ea typeface="Lato"/>
                <a:cs typeface="Lato"/>
              </a:defRPr>
            </a:defPPr>
          </a:lstStyle>
          <a:p xmlns:a="http://schemas.openxmlformats.org/drawingml/2006/main">
            <a:pPr algn="l">
              <a:buNone/>
              <a:defRPr sz="900" b="1">
                <a:solidFill>
                  <a:srgbClr val="D9E5EA"/>
                </a:solidFill>
                <a:latin typeface="Lato"/>
                <a:ea typeface="Lato"/>
                <a:cs typeface="Lato"/>
              </a:defRPr>
            </a:pPr>
            <a:r>
              <a:rPr sz="900" b="1">
                <a:solidFill>
                  <a:srgbClr val="D9E5EA"/>
                </a:solidFill>
                <a:latin typeface="Lato"/>
                <a:ea typeface="Lato"/>
                <a:cs typeface="Lato"/>
              </a:rPr>
              <a:t>POUYA FALLAH SICHANI</a:t>
            </a:r>
          </a:p>
        </p:txBody>
      </p:sp>
      <p:sp>
        <p:nvSpPr>
          <p:cNvPr id="6" name="slide-counter">
            <a:extLst xmlns:a="http://schemas.openxmlformats.org/drawingml/2006/main">
              <a:ext uri="{FF2B5EF4-FFF2-40B4-BE49-F238E27FC236}">
                <a16:creationId xmlns:a16="http://schemas.microsoft.com/office/drawing/2014/main" id="{337994FE-D0E2-40D3-8DAC-777CEFA96267}"/>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FFFFFF"/>
                </a:solidFill>
                <a:latin typeface="Lato"/>
                <a:ea typeface="Lato"/>
                <a:cs typeface="Lato"/>
              </a:defRPr>
            </a:defPPr>
          </a:lstStyle>
          <a:p xmlns:a="http://schemas.openxmlformats.org/drawingml/2006/main">
            <a:pPr algn="r">
              <a:buNone/>
              <a:defRPr sz="1350" b="1">
                <a:solidFill>
                  <a:srgbClr val="FFFFFF"/>
                </a:solidFill>
                <a:latin typeface="Lato"/>
                <a:ea typeface="Lato"/>
                <a:cs typeface="Lato"/>
              </a:defRPr>
            </a:pPr>
            <a:r>
              <a:rPr sz="1350" b="1">
                <a:solidFill>
                  <a:srgbClr val="FFFFFF"/>
                </a:solidFill>
                <a:latin typeface="Lato"/>
                <a:ea typeface="Lato"/>
                <a:cs typeface="Lato"/>
              </a:rPr>
              <a:t>20 / 20</a:t>
            </a:r>
          </a:p>
        </p:txBody>
      </p:sp>
      <p:sp>
        <p:nvSpPr>
          <p:cNvPr id="18" name="Telecom-matched training">
            <a:extLst xmlns:a="http://schemas.openxmlformats.org/drawingml/2006/main">
              <a:ext uri="{FF2B5EF4-FFF2-40B4-BE49-F238E27FC236}">
                <a16:creationId xmlns:a16="http://schemas.microsoft.com/office/drawing/2014/main" id="{4B3F5D5E-5621-4C5A-8B25-6B8E62441D88}"/>
              </a:ext>
            </a:extLst>
          </p:cNvPr>
          <p:cNvSpPr>
            <a:spLocks xmlns:a="http://schemas.openxmlformats.org/drawingml/2006/main" noGrp="1"/>
          </p:cNvSpPr>
          <p:nvPr/>
        </p:nvSpPr>
        <p:spPr>
          <a:xfrm xmlns:a="http://schemas.openxmlformats.org/drawingml/2006/main">
            <a:off x="609600" y="19050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1D5CE"/>
                </a:solidFill>
                <a:latin typeface="Lato"/>
                <a:ea typeface="Lato"/>
                <a:cs typeface="Lato"/>
              </a:defRPr>
            </a:defPPr>
          </a:lstStyle>
          <a:p xmlns:a="http://schemas.openxmlformats.org/drawingml/2006/main">
            <a:pPr algn="l">
              <a:defRPr sz="2175" b="1">
                <a:solidFill>
                  <a:srgbClr val="91D5CE"/>
                </a:solidFill>
                <a:latin typeface="Lato"/>
                <a:ea typeface="Lato"/>
                <a:cs typeface="Lato"/>
              </a:defRPr>
            </a:pPr>
            <a:r>
              <a:rPr sz="2175" b="1">
                <a:solidFill>
                  <a:srgbClr val="91D5CE"/>
                </a:solidFill>
                <a:latin typeface="Lato"/>
                <a:ea typeface="Lato"/>
                <a:cs typeface="Lato"/>
              </a:rPr>
              <a:t>Telecom-matched training</a:t>
            </a:r>
          </a:p>
        </p:txBody>
      </p:sp>
      <p:sp>
        <p:nvSpPr>
          <p:cNvPr id="19" name="35.63%">
            <a:extLst xmlns:a="http://schemas.openxmlformats.org/drawingml/2006/main">
              <a:ext uri="{FF2B5EF4-FFF2-40B4-BE49-F238E27FC236}">
                <a16:creationId xmlns:a16="http://schemas.microsoft.com/office/drawing/2014/main" id="{8AF29777-E096-4A45-B42F-63BF29E5695E}"/>
              </a:ext>
            </a:extLst>
          </p:cNvPr>
          <p:cNvSpPr>
            <a:spLocks xmlns:a="http://schemas.openxmlformats.org/drawingml/2006/main" noGrp="1"/>
          </p:cNvSpPr>
          <p:nvPr/>
        </p:nvSpPr>
        <p:spPr>
          <a:xfrm xmlns:a="http://schemas.openxmlformats.org/drawingml/2006/main">
            <a:off x="609600" y="261937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0">
                <a:solidFill>
                  <a:srgbClr val="FFFFFF"/>
                </a:solidFill>
                <a:latin typeface="Lato"/>
                <a:ea typeface="Lato"/>
                <a:cs typeface="Lato"/>
              </a:defRPr>
            </a:defPPr>
          </a:lstStyle>
          <a:p xmlns:a="http://schemas.openxmlformats.org/drawingml/2006/main">
            <a:pPr algn="l">
              <a:defRPr sz="5850" b="0">
                <a:solidFill>
                  <a:srgbClr val="FFFFFF"/>
                </a:solidFill>
                <a:latin typeface="Lato"/>
                <a:ea typeface="Lato"/>
                <a:cs typeface="Lato"/>
              </a:defRPr>
            </a:pPr>
            <a:r>
              <a:rPr sz="5850" b="0">
                <a:solidFill>
                  <a:srgbClr val="FFFFFF"/>
                </a:solidFill>
                <a:latin typeface="Lato"/>
                <a:ea typeface="Lato"/>
                <a:cs typeface="Lato"/>
              </a:rPr>
              <a:t>35.63%</a:t>
            </a:r>
          </a:p>
        </p:txBody>
      </p:sp>
      <p:sp>
        <p:nvSpPr>
          <p:cNvPr id="20" name="to">
            <a:extLst xmlns:a="http://schemas.openxmlformats.org/drawingml/2006/main">
              <a:ext uri="{FF2B5EF4-FFF2-40B4-BE49-F238E27FC236}">
                <a16:creationId xmlns:a16="http://schemas.microsoft.com/office/drawing/2014/main" id="{6842D082-0EFF-466A-94E8-BE167432D726}"/>
              </a:ext>
            </a:extLst>
          </p:cNvPr>
          <p:cNvSpPr>
            <a:spLocks xmlns:a="http://schemas.openxmlformats.org/drawingml/2006/main" noGrp="1"/>
          </p:cNvSpPr>
          <p:nvPr/>
        </p:nvSpPr>
        <p:spPr>
          <a:xfrm xmlns:a="http://schemas.openxmlformats.org/drawingml/2006/main">
            <a:off x="4143375" y="2857500"/>
            <a:ext cx="95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D9E5EA"/>
                </a:solidFill>
                <a:latin typeface="Lato"/>
                <a:ea typeface="Lato"/>
                <a:cs typeface="Lato"/>
              </a:defRPr>
            </a:defPPr>
          </a:lstStyle>
          <a:p xmlns:a="http://schemas.openxmlformats.org/drawingml/2006/main">
            <a:pPr algn="l">
              <a:defRPr sz="2700" b="0">
                <a:solidFill>
                  <a:srgbClr val="D9E5EA"/>
                </a:solidFill>
                <a:latin typeface="Lato"/>
                <a:ea typeface="Lato"/>
                <a:cs typeface="Lato"/>
              </a:defRPr>
            </a:pPr>
            <a:r>
              <a:rPr sz="2700" b="0">
                <a:solidFill>
                  <a:srgbClr val="D9E5EA"/>
                </a:solidFill>
                <a:latin typeface="Lato"/>
                <a:ea typeface="Lato"/>
                <a:cs typeface="Lato"/>
              </a:rPr>
              <a:t>to</a:t>
            </a:r>
          </a:p>
        </p:txBody>
      </p:sp>
      <p:sp>
        <p:nvSpPr>
          <p:cNvPr id="21" name="25.80%">
            <a:extLst xmlns:a="http://schemas.openxmlformats.org/drawingml/2006/main">
              <a:ext uri="{FF2B5EF4-FFF2-40B4-BE49-F238E27FC236}">
                <a16:creationId xmlns:a16="http://schemas.microsoft.com/office/drawing/2014/main" id="{1A050F99-D4DD-4D60-8ADA-3C76F28E6C1E}"/>
              </a:ext>
            </a:extLst>
          </p:cNvPr>
          <p:cNvSpPr>
            <a:spLocks xmlns:a="http://schemas.openxmlformats.org/drawingml/2006/main" noGrp="1"/>
          </p:cNvSpPr>
          <p:nvPr/>
        </p:nvSpPr>
        <p:spPr>
          <a:xfrm xmlns:a="http://schemas.openxmlformats.org/drawingml/2006/main">
            <a:off x="5715000" y="2619375"/>
            <a:ext cx="476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0">
                <a:solidFill>
                  <a:srgbClr val="91D5CE"/>
                </a:solidFill>
                <a:latin typeface="Lato"/>
                <a:ea typeface="Lato"/>
                <a:cs typeface="Lato"/>
              </a:defRPr>
            </a:defPPr>
          </a:lstStyle>
          <a:p xmlns:a="http://schemas.openxmlformats.org/drawingml/2006/main">
            <a:pPr algn="l">
              <a:defRPr sz="5850" b="0">
                <a:solidFill>
                  <a:srgbClr val="91D5CE"/>
                </a:solidFill>
                <a:latin typeface="Lato"/>
                <a:ea typeface="Lato"/>
                <a:cs typeface="Lato"/>
              </a:defRPr>
            </a:pPr>
            <a:r>
              <a:rPr sz="5850" b="0">
                <a:solidFill>
                  <a:srgbClr val="91D5CE"/>
                </a:solidFill>
                <a:latin typeface="Lato"/>
                <a:ea typeface="Lato"/>
                <a:cs typeface="Lato"/>
              </a:rPr>
              <a:t>25.80%</a:t>
            </a:r>
          </a:p>
        </p:txBody>
      </p:sp>
      <p:sp>
        <p:nvSpPr>
          <p:cNvPr id="22" name="WER on held-out real telephone and VoIP speech">
            <a:extLst xmlns:a="http://schemas.openxmlformats.org/drawingml/2006/main">
              <a:ext uri="{FF2B5EF4-FFF2-40B4-BE49-F238E27FC236}">
                <a16:creationId xmlns:a16="http://schemas.microsoft.com/office/drawing/2014/main" id="{1F62845B-1076-4D75-AF52-00091E495C80}"/>
              </a:ext>
            </a:extLst>
          </p:cNvPr>
          <p:cNvSpPr>
            <a:spLocks xmlns:a="http://schemas.openxmlformats.org/drawingml/2006/main" noGrp="1"/>
          </p:cNvSpPr>
          <p:nvPr/>
        </p:nvSpPr>
        <p:spPr>
          <a:xfrm xmlns:a="http://schemas.openxmlformats.org/drawingml/2006/main">
            <a:off x="609600" y="3714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9E5EA"/>
                </a:solidFill>
                <a:latin typeface="Lato"/>
                <a:ea typeface="Lato"/>
                <a:cs typeface="Lato"/>
              </a:defRPr>
            </a:defPPr>
          </a:lstStyle>
          <a:p xmlns:a="http://schemas.openxmlformats.org/drawingml/2006/main">
            <a:pPr algn="l">
              <a:defRPr sz="2025" b="0">
                <a:solidFill>
                  <a:srgbClr val="D9E5EA"/>
                </a:solidFill>
                <a:latin typeface="Lato"/>
                <a:ea typeface="Lato"/>
                <a:cs typeface="Lato"/>
              </a:defRPr>
            </a:pPr>
            <a:r>
              <a:rPr sz="2025" b="0">
                <a:solidFill>
                  <a:srgbClr val="D9E5EA"/>
                </a:solidFill>
                <a:latin typeface="Lato"/>
                <a:ea typeface="Lato"/>
                <a:cs typeface="Lato"/>
              </a:rPr>
              <a:t>WER on held-out real telephone and VoIP speech</a:t>
            </a:r>
          </a:p>
        </p:txBody>
      </p:sp>
      <p:sp>
        <p:nvSpPr>
          <p:cNvPr id="23" name="Fusion">
            <a:extLst xmlns:a="http://schemas.openxmlformats.org/drawingml/2006/main">
              <a:ext uri="{FF2B5EF4-FFF2-40B4-BE49-F238E27FC236}">
                <a16:creationId xmlns:a16="http://schemas.microsoft.com/office/drawing/2014/main" id="{A53AA58B-C7CD-4713-858B-0FDA7DC24038}"/>
              </a:ext>
            </a:extLst>
          </p:cNvPr>
          <p:cNvSpPr>
            <a:spLocks xmlns:a="http://schemas.openxmlformats.org/drawingml/2006/main" noGrp="1"/>
          </p:cNvSpPr>
          <p:nvPr/>
        </p:nvSpPr>
        <p:spPr>
          <a:xfrm xmlns:a="http://schemas.openxmlformats.org/drawingml/2006/main">
            <a:off x="609600" y="44291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91D5CE"/>
                </a:solidFill>
                <a:latin typeface="Lato"/>
                <a:ea typeface="Lato"/>
                <a:cs typeface="Lato"/>
              </a:defRPr>
            </a:defPPr>
          </a:lstStyle>
          <a:p xmlns:a="http://schemas.openxmlformats.org/drawingml/2006/main">
            <a:pPr algn="l">
              <a:defRPr sz="2100" b="1">
                <a:solidFill>
                  <a:srgbClr val="91D5CE"/>
                </a:solidFill>
                <a:latin typeface="Lato"/>
                <a:ea typeface="Lato"/>
                <a:cs typeface="Lato"/>
              </a:defRPr>
            </a:pPr>
            <a:r>
              <a:rPr sz="2100" b="1">
                <a:solidFill>
                  <a:srgbClr val="91D5CE"/>
                </a:solidFill>
                <a:latin typeface="Lato"/>
                <a:ea typeface="Lato"/>
                <a:cs typeface="Lato"/>
              </a:rPr>
              <a:t>Fusion</a:t>
            </a:r>
          </a:p>
        </p:txBody>
      </p:sp>
      <p:sp>
        <p:nvSpPr>
          <p:cNvPr id="24" name="25.37% real-call WER&#10;A small numerical gain">
            <a:extLst xmlns:a="http://schemas.openxmlformats.org/drawingml/2006/main">
              <a:ext uri="{FF2B5EF4-FFF2-40B4-BE49-F238E27FC236}">
                <a16:creationId xmlns:a16="http://schemas.microsoft.com/office/drawing/2014/main" id="{FBD2FB92-73D3-4F16-896A-2D252056BB41}"/>
              </a:ext>
            </a:extLst>
          </p:cNvPr>
          <p:cNvSpPr>
            <a:spLocks xmlns:a="http://schemas.openxmlformats.org/drawingml/2006/main" noGrp="1"/>
          </p:cNvSpPr>
          <p:nvPr/>
        </p:nvSpPr>
        <p:spPr>
          <a:xfrm xmlns:a="http://schemas.openxmlformats.org/drawingml/2006/main">
            <a:off x="609600" y="49530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Lato"/>
                <a:ea typeface="Lato"/>
                <a:cs typeface="Lato"/>
              </a:defRPr>
            </a:defPPr>
          </a:lstStyle>
          <a:p xmlns:a="http://schemas.openxmlformats.org/drawingml/2006/main">
            <a:pPr algn="l">
              <a:defRPr sz="2025" b="0">
                <a:solidFill>
                  <a:srgbClr val="FFFFFF"/>
                </a:solidFill>
                <a:latin typeface="Lato"/>
                <a:ea typeface="Lato"/>
                <a:cs typeface="Lato"/>
              </a:defRPr>
            </a:pPr>
            <a:r>
              <a:rPr sz="2025" b="0">
                <a:solidFill>
                  <a:srgbClr val="FFFFFF"/>
                </a:solidFill>
                <a:latin typeface="Lato"/>
                <a:ea typeface="Lato"/>
                <a:cs typeface="Lato"/>
              </a:rPr>
              <a:t>25.37% real-call WER</a:t>
            </a:r>
          </a:p>
          <a:p xmlns:a="http://schemas.openxmlformats.org/drawingml/2006/main">
            <a:pPr algn="l">
              <a:defRPr sz="2025" b="0">
                <a:solidFill>
                  <a:srgbClr val="FFFFFF"/>
                </a:solidFill>
                <a:latin typeface="Lato"/>
                <a:ea typeface="Lato"/>
                <a:cs typeface="Lato"/>
              </a:defRPr>
            </a:pPr>
            <a:r>
              <a:rPr sz="2025" b="0">
                <a:solidFill>
                  <a:srgbClr val="FFFFFF"/>
                </a:solidFill>
                <a:latin typeface="Lato"/>
                <a:ea typeface="Lato"/>
                <a:cs typeface="Lato"/>
              </a:rPr>
              <a:t>A small numerical gain</a:t>
            </a:r>
          </a:p>
        </p:txBody>
      </p:sp>
      <p:sp>
        <p:nvSpPr>
          <p:cNvPr id="25" name="Audiobook data">
            <a:extLst xmlns:a="http://schemas.openxmlformats.org/drawingml/2006/main">
              <a:ext uri="{FF2B5EF4-FFF2-40B4-BE49-F238E27FC236}">
                <a16:creationId xmlns:a16="http://schemas.microsoft.com/office/drawing/2014/main" id="{40E6B865-1380-419E-A4B9-73D7D8023709}"/>
              </a:ext>
            </a:extLst>
          </p:cNvPr>
          <p:cNvSpPr>
            <a:spLocks xmlns:a="http://schemas.openxmlformats.org/drawingml/2006/main" noGrp="1"/>
          </p:cNvSpPr>
          <p:nvPr/>
        </p:nvSpPr>
        <p:spPr>
          <a:xfrm xmlns:a="http://schemas.openxmlformats.org/drawingml/2006/main">
            <a:off x="6286500" y="44291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91D5CE"/>
                </a:solidFill>
                <a:latin typeface="Lato"/>
                <a:ea typeface="Lato"/>
                <a:cs typeface="Lato"/>
              </a:defRPr>
            </a:defPPr>
          </a:lstStyle>
          <a:p xmlns:a="http://schemas.openxmlformats.org/drawingml/2006/main">
            <a:pPr algn="l">
              <a:defRPr sz="2100" b="1">
                <a:solidFill>
                  <a:srgbClr val="91D5CE"/>
                </a:solidFill>
                <a:latin typeface="Lato"/>
                <a:ea typeface="Lato"/>
                <a:cs typeface="Lato"/>
              </a:defRPr>
            </a:pPr>
            <a:r>
              <a:rPr sz="2100" b="1">
                <a:solidFill>
                  <a:srgbClr val="91D5CE"/>
                </a:solidFill>
                <a:latin typeface="Lato"/>
                <a:ea typeface="Lato"/>
                <a:cs typeface="Lato"/>
              </a:rPr>
              <a:t>Audiobook data</a:t>
            </a:r>
          </a:p>
        </p:txBody>
      </p:sp>
      <p:sp>
        <p:nvSpPr>
          <p:cNvPr id="26" name="17.22% aggregate WER&#10;Benefits depend on the domain">
            <a:extLst xmlns:a="http://schemas.openxmlformats.org/drawingml/2006/main">
              <a:ext uri="{FF2B5EF4-FFF2-40B4-BE49-F238E27FC236}">
                <a16:creationId xmlns:a16="http://schemas.microsoft.com/office/drawing/2014/main" id="{8CD93B65-8216-4BC4-A389-D7B686481B79}"/>
              </a:ext>
            </a:extLst>
          </p:cNvPr>
          <p:cNvSpPr>
            <a:spLocks xmlns:a="http://schemas.openxmlformats.org/drawingml/2006/main" noGrp="1"/>
          </p:cNvSpPr>
          <p:nvPr/>
        </p:nvSpPr>
        <p:spPr>
          <a:xfrm xmlns:a="http://schemas.openxmlformats.org/drawingml/2006/main">
            <a:off x="6286500" y="495300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Lato"/>
                <a:ea typeface="Lato"/>
                <a:cs typeface="Lato"/>
              </a:defRPr>
            </a:defPPr>
          </a:lstStyle>
          <a:p xmlns:a="http://schemas.openxmlformats.org/drawingml/2006/main">
            <a:pPr algn="l">
              <a:defRPr sz="2025" b="0">
                <a:solidFill>
                  <a:srgbClr val="FFFFFF"/>
                </a:solidFill>
                <a:latin typeface="Lato"/>
                <a:ea typeface="Lato"/>
                <a:cs typeface="Lato"/>
              </a:defRPr>
            </a:pPr>
            <a:r>
              <a:rPr sz="2025" b="0">
                <a:solidFill>
                  <a:srgbClr val="FFFFFF"/>
                </a:solidFill>
                <a:latin typeface="Lato"/>
                <a:ea typeface="Lato"/>
                <a:cs typeface="Lato"/>
              </a:rPr>
              <a:t>17.22% aggregate WER</a:t>
            </a:r>
          </a:p>
          <a:p xmlns:a="http://schemas.openxmlformats.org/drawingml/2006/main">
            <a:pPr algn="l">
              <a:defRPr sz="2025" b="0">
                <a:solidFill>
                  <a:srgbClr val="FFFFFF"/>
                </a:solidFill>
                <a:latin typeface="Lato"/>
                <a:ea typeface="Lato"/>
                <a:cs typeface="Lato"/>
              </a:defRPr>
            </a:pPr>
            <a:r>
              <a:rPr sz="2025" b="0">
                <a:solidFill>
                  <a:srgbClr val="FFFFFF"/>
                </a:solidFill>
                <a:latin typeface="Lato"/>
                <a:ea typeface="Lato"/>
                <a:cs typeface="Lato"/>
              </a:rPr>
              <a:t>Benefits depend on the domain</a:t>
            </a:r>
          </a:p>
        </p:txBody>
      </p:sp>
      <p:sp>
        <p:nvSpPr>
          <p:cNvPr id="27" name="Questions">
            <a:extLst xmlns:a="http://schemas.openxmlformats.org/drawingml/2006/main">
              <a:ext uri="{FF2B5EF4-FFF2-40B4-BE49-F238E27FC236}">
                <a16:creationId xmlns:a16="http://schemas.microsoft.com/office/drawing/2014/main" id="{944EFFE4-16C0-4FE5-B263-1BFAF8C9ADBE}"/>
              </a:ext>
            </a:extLst>
          </p:cNvPr>
          <p:cNvSpPr>
            <a:spLocks xmlns:a="http://schemas.openxmlformats.org/drawingml/2006/main" noGrp="1"/>
          </p:cNvSpPr>
          <p:nvPr/>
        </p:nvSpPr>
        <p:spPr>
          <a:xfrm xmlns:a="http://schemas.openxmlformats.org/drawingml/2006/main">
            <a:off x="609600" y="59531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E6C77C"/>
                </a:solidFill>
                <a:latin typeface="Lato"/>
                <a:ea typeface="Lato"/>
                <a:cs typeface="Lato"/>
              </a:defRPr>
            </a:defPPr>
          </a:lstStyle>
          <a:p xmlns:a="http://schemas.openxmlformats.org/drawingml/2006/main">
            <a:pPr algn="l">
              <a:defRPr sz="2025" b="0">
                <a:solidFill>
                  <a:srgbClr val="E6C77C"/>
                </a:solidFill>
                <a:latin typeface="Lato"/>
                <a:ea typeface="Lato"/>
                <a:cs typeface="Lato"/>
              </a:defRPr>
            </a:pPr>
            <a:r>
              <a:rPr sz="2025" b="0">
                <a:solidFill>
                  <a:srgbClr val="E6C77C"/>
                </a:solidFill>
                <a:latin typeface="Lato"/>
                <a:ea typeface="Lato"/>
                <a:cs typeface="Lato"/>
              </a:rPr>
              <a:t>Questions</a:t>
            </a:r>
          </a:p>
        </p:txBody>
      </p:sp>
    </p:spTree>
    <p:extLst>
      <p:ext uri="{BB962C8B-B14F-4D97-AF65-F5344CB8AC3E}">
        <p14:creationId xmlns:p14="http://schemas.microsoft.com/office/powerpoint/2010/main" val="3313402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2026-10-13T18:38:32.6930000Z</dcterms:created>
  <dcterms:modified xsi:type="dcterms:W3CDTF">2026-10-13T18:38:32.6940000Z</dcterms:modified>
</coreProperties>
</file>