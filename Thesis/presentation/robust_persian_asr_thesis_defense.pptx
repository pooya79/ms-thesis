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1e88aa91ba64a50" /><Relationship Type="http://schemas.openxmlformats.org/officeDocument/2006/relationships/extended-properties" Target="/docProps/app.xml" Id="Raa50d265638d45d8" /><Relationship Type="http://schemas.openxmlformats.org/officeDocument/2006/relationships/officeDocument" Target="/ppt/presentation.xml" Id="R18c2dca4a61e4c51" /></Relationships>
</file>

<file path=ppt/presentation.xml><?xml version="1.0" encoding="utf-8"?>
<p:presentation xmlns:p="http://schemas.openxmlformats.org/presentationml/2006/main">
  <p:sldMasterIdLst>
    <p:sldMasterId xmlns:r="http://schemas.openxmlformats.org/officeDocument/2006/relationships" id="2147483648" r:id="R803ea09520a5499c"/>
  </p:sldMasterIdLst>
  <p:notesMasterIdLst>
    <p:notesMasterId xmlns:r="http://schemas.openxmlformats.org/officeDocument/2006/relationships" r:id="R649e3018a5cb4efb"/>
  </p:notesMasterIdLst>
  <p:sldIdLst>
    <p:sldId xmlns:r="http://schemas.openxmlformats.org/officeDocument/2006/relationships" id="256" r:id="Re1e27f8572674741"/>
    <p:sldId xmlns:r="http://schemas.openxmlformats.org/officeDocument/2006/relationships" id="257" r:id="R5702e2872dec4eb4"/>
    <p:sldId xmlns:r="http://schemas.openxmlformats.org/officeDocument/2006/relationships" id="258" r:id="R96483c1efa5848c6"/>
    <p:sldId xmlns:r="http://schemas.openxmlformats.org/officeDocument/2006/relationships" id="259" r:id="Rbca69268afc54e27"/>
    <p:sldId xmlns:r="http://schemas.openxmlformats.org/officeDocument/2006/relationships" id="260" r:id="R83bc62346237453e"/>
    <p:sldId xmlns:r="http://schemas.openxmlformats.org/officeDocument/2006/relationships" id="261" r:id="Rba44c65c153f4874"/>
    <p:sldId xmlns:r="http://schemas.openxmlformats.org/officeDocument/2006/relationships" id="262" r:id="Rcb181bcd9cc34400"/>
    <p:sldId xmlns:r="http://schemas.openxmlformats.org/officeDocument/2006/relationships" id="263" r:id="Ra039316fcfa04896"/>
    <p:sldId xmlns:r="http://schemas.openxmlformats.org/officeDocument/2006/relationships" id="264" r:id="Rc7556919f69a410c"/>
    <p:sldId xmlns:r="http://schemas.openxmlformats.org/officeDocument/2006/relationships" id="265" r:id="R8c73fecbf902470a"/>
    <p:sldId xmlns:r="http://schemas.openxmlformats.org/officeDocument/2006/relationships" id="266" r:id="R7e2be7d8cdd84dff"/>
    <p:sldId xmlns:r="http://schemas.openxmlformats.org/officeDocument/2006/relationships" id="267" r:id="R7815b62874c34553"/>
    <p:sldId xmlns:r="http://schemas.openxmlformats.org/officeDocument/2006/relationships" id="268" r:id="R8416daf596954814"/>
    <p:sldId xmlns:r="http://schemas.openxmlformats.org/officeDocument/2006/relationships" id="269" r:id="Rdaab12dd60d548eb"/>
    <p:sldId xmlns:r="http://schemas.openxmlformats.org/officeDocument/2006/relationships" id="270" r:id="Re18d6dd046bb41b5"/>
    <p:sldId xmlns:r="http://schemas.openxmlformats.org/officeDocument/2006/relationships" id="271" r:id="Rab6fad2b0da648cd"/>
    <p:sldId xmlns:r="http://schemas.openxmlformats.org/officeDocument/2006/relationships" id="272" r:id="Rd5f76b7b2d6c40f0"/>
    <p:sldId xmlns:r="http://schemas.openxmlformats.org/officeDocument/2006/relationships" id="273" r:id="Rbe38891e7a5944e9"/>
    <p:sldId xmlns:r="http://schemas.openxmlformats.org/officeDocument/2006/relationships" id="274" r:id="Rd27f7f6018814b00"/>
    <p:sldId xmlns:r="http://schemas.openxmlformats.org/officeDocument/2006/relationships" id="275" r:id="R788cd54addef4f1f"/>
    <p:sldId xmlns:r="http://schemas.openxmlformats.org/officeDocument/2006/relationships" id="276" r:id="R90e4c82ae4cb4394"/>
    <p:sldId xmlns:r="http://schemas.openxmlformats.org/officeDocument/2006/relationships" id="277" r:id="R4533968d9c554e8f"/>
    <p:sldId xmlns:r="http://schemas.openxmlformats.org/officeDocument/2006/relationships" id="278" r:id="Rdb2c89eb80e446fc"/>
    <p:sldId xmlns:r="http://schemas.openxmlformats.org/officeDocument/2006/relationships" id="279" r:id="Rc075e6b1e2274a8c"/>
    <p:sldId xmlns:r="http://schemas.openxmlformats.org/officeDocument/2006/relationships" id="280" r:id="Rb96592b790964015"/>
    <p:sldId xmlns:r="http://schemas.openxmlformats.org/officeDocument/2006/relationships" id="281" r:id="R473bbc16ba9c43b0"/>
    <p:sldId xmlns:r="http://schemas.openxmlformats.org/officeDocument/2006/relationships" id="282" r:id="R66c5de366c15401c"/>
    <p:sldId xmlns:r="http://schemas.openxmlformats.org/officeDocument/2006/relationships" id="283" r:id="R7040b14561b44ad5"/>
    <p:sldId xmlns:r="http://schemas.openxmlformats.org/officeDocument/2006/relationships" id="284" r:id="Re411027f1c844405"/>
    <p:sldId xmlns:r="http://schemas.openxmlformats.org/officeDocument/2006/relationships" id="285" r:id="Rb6f51d92ecbb44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96f699fbfd4acc" /><Relationship Type="http://schemas.openxmlformats.org/officeDocument/2006/relationships/slideMaster" Target="/ppt/slideMasters/slideMaster1.xml" Id="R803ea09520a5499c" /><Relationship Type="http://schemas.openxmlformats.org/officeDocument/2006/relationships/notesMaster" Target="/ppt/notesMasters/notesMaster1.xml" Id="R649e3018a5cb4efb" /><Relationship Type="http://schemas.openxmlformats.org/officeDocument/2006/relationships/presProps" Target="/ppt/presProps.xml" Id="Rbad7318e91be4e7e" /><Relationship Type="http://schemas.openxmlformats.org/officeDocument/2006/relationships/tableStyles" Target="/ppt/tableStyles.xml" Id="Ra3402b3a50a84702" /><Relationship Type="http://schemas.openxmlformats.org/officeDocument/2006/relationships/slide" Target="/ppt/slides/slide1.xml" Id="Re1e27f8572674741" /><Relationship Type="http://schemas.openxmlformats.org/officeDocument/2006/relationships/slide" Target="/ppt/slides/slide2.xml" Id="R5702e2872dec4eb4" /><Relationship Type="http://schemas.openxmlformats.org/officeDocument/2006/relationships/slide" Target="/ppt/slides/slide3.xml" Id="R96483c1efa5848c6" /><Relationship Type="http://schemas.openxmlformats.org/officeDocument/2006/relationships/slide" Target="/ppt/slides/slide4.xml" Id="Rbca69268afc54e27" /><Relationship Type="http://schemas.openxmlformats.org/officeDocument/2006/relationships/slide" Target="/ppt/slides/slide5.xml" Id="R83bc62346237453e" /><Relationship Type="http://schemas.openxmlformats.org/officeDocument/2006/relationships/slide" Target="/ppt/slides/slide6.xml" Id="Rba44c65c153f4874" /><Relationship Type="http://schemas.openxmlformats.org/officeDocument/2006/relationships/slide" Target="/ppt/slides/slide7.xml" Id="Rcb181bcd9cc34400" /><Relationship Type="http://schemas.openxmlformats.org/officeDocument/2006/relationships/slide" Target="/ppt/slides/slide8.xml" Id="Ra039316fcfa04896" /><Relationship Type="http://schemas.openxmlformats.org/officeDocument/2006/relationships/slide" Target="/ppt/slides/slide9.xml" Id="Rc7556919f69a410c" /><Relationship Type="http://schemas.openxmlformats.org/officeDocument/2006/relationships/slide" Target="/ppt/slides/slide10.xml" Id="R8c73fecbf902470a" /><Relationship Type="http://schemas.openxmlformats.org/officeDocument/2006/relationships/slide" Target="/ppt/slides/slide11.xml" Id="R7e2be7d8cdd84dff" /><Relationship Type="http://schemas.openxmlformats.org/officeDocument/2006/relationships/slide" Target="/ppt/slides/slide12.xml" Id="R7815b62874c34553" /><Relationship Type="http://schemas.openxmlformats.org/officeDocument/2006/relationships/slide" Target="/ppt/slides/slide13.xml" Id="R8416daf596954814" /><Relationship Type="http://schemas.openxmlformats.org/officeDocument/2006/relationships/slide" Target="/ppt/slides/slide14.xml" Id="Rdaab12dd60d548eb" /><Relationship Type="http://schemas.openxmlformats.org/officeDocument/2006/relationships/slide" Target="/ppt/slides/slide15.xml" Id="Re18d6dd046bb41b5" /><Relationship Type="http://schemas.openxmlformats.org/officeDocument/2006/relationships/slide" Target="/ppt/slides/slide16.xml" Id="Rab6fad2b0da648cd" /><Relationship Type="http://schemas.openxmlformats.org/officeDocument/2006/relationships/slide" Target="/ppt/slides/slide17.xml" Id="Rd5f76b7b2d6c40f0" /><Relationship Type="http://schemas.openxmlformats.org/officeDocument/2006/relationships/slide" Target="/ppt/slides/slide18.xml" Id="Rbe38891e7a5944e9" /><Relationship Type="http://schemas.openxmlformats.org/officeDocument/2006/relationships/slide" Target="/ppt/slides/slide19.xml" Id="Rd27f7f6018814b00" /><Relationship Type="http://schemas.openxmlformats.org/officeDocument/2006/relationships/slide" Target="/ppt/slides/slide20.xml" Id="R788cd54addef4f1f" /><Relationship Type="http://schemas.openxmlformats.org/officeDocument/2006/relationships/slide" Target="/ppt/slides/slide21.xml" Id="R90e4c82ae4cb4394" /><Relationship Type="http://schemas.openxmlformats.org/officeDocument/2006/relationships/slide" Target="/ppt/slides/slide22.xml" Id="R4533968d9c554e8f" /><Relationship Type="http://schemas.openxmlformats.org/officeDocument/2006/relationships/slide" Target="/ppt/slides/slide23.xml" Id="Rdb2c89eb80e446fc" /><Relationship Type="http://schemas.openxmlformats.org/officeDocument/2006/relationships/slide" Target="/ppt/slides/slide24.xml" Id="Rc075e6b1e2274a8c" /><Relationship Type="http://schemas.openxmlformats.org/officeDocument/2006/relationships/slide" Target="/ppt/slides/slide25.xml" Id="Rb96592b790964015" /><Relationship Type="http://schemas.openxmlformats.org/officeDocument/2006/relationships/slide" Target="/ppt/slides/slide26.xml" Id="R473bbc16ba9c43b0" /><Relationship Type="http://schemas.openxmlformats.org/officeDocument/2006/relationships/slide" Target="/ppt/slides/slide27.xml" Id="R66c5de366c15401c" /><Relationship Type="http://schemas.openxmlformats.org/officeDocument/2006/relationships/slide" Target="/ppt/slides/slide28.xml" Id="R7040b14561b44ad5" /><Relationship Type="http://schemas.openxmlformats.org/officeDocument/2006/relationships/slide" Target="/ppt/slides/slide29.xml" Id="Re411027f1c844405" /><Relationship Type="http://schemas.openxmlformats.org/officeDocument/2006/relationships/slide" Target="/ppt/slides/slide30.xml" Id="Rb6f51d92ecbb44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cf456ff60b42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2e675182e54922" /><Relationship Type="http://schemas.openxmlformats.org/officeDocument/2006/relationships/notesMaster" Target="/ppt/notesMasters/notesMaster1.xml" Id="Redea8a7e07a14e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0570fd6dec493d" /><Relationship Type="http://schemas.openxmlformats.org/officeDocument/2006/relationships/notesMaster" Target="/ppt/notesMasters/notesMaster1.xml" Id="Rdfa9a1639e6a4b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3032e6960f4859" /><Relationship Type="http://schemas.openxmlformats.org/officeDocument/2006/relationships/notesMaster" Target="/ppt/notesMasters/notesMaster1.xml" Id="Rf103c8a4730a43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2506c123414538" /><Relationship Type="http://schemas.openxmlformats.org/officeDocument/2006/relationships/notesMaster" Target="/ppt/notesMasters/notesMaster1.xml" Id="Re498a0d9818140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fd32ddb0634341" /><Relationship Type="http://schemas.openxmlformats.org/officeDocument/2006/relationships/notesMaster" Target="/ppt/notesMasters/notesMaster1.xml" Id="Rf5d1b133551f44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5312390e564c89" /><Relationship Type="http://schemas.openxmlformats.org/officeDocument/2006/relationships/notesMaster" Target="/ppt/notesMasters/notesMaster1.xml" Id="R0f8d2758ec8345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91d97ef62d4bf6" /><Relationship Type="http://schemas.openxmlformats.org/officeDocument/2006/relationships/notesMaster" Target="/ppt/notesMasters/notesMaster1.xml" Id="R82f590102f5948f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eb0e2cd1ce4b7a" /><Relationship Type="http://schemas.openxmlformats.org/officeDocument/2006/relationships/notesMaster" Target="/ppt/notesMasters/notesMaster1.xml" Id="Rc5db814e84f34f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2ce27e5a0f4c96" /><Relationship Type="http://schemas.openxmlformats.org/officeDocument/2006/relationships/notesMaster" Target="/ppt/notesMasters/notesMaster1.xml" Id="R8ed59989099c467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237c83b8224bd6" /><Relationship Type="http://schemas.openxmlformats.org/officeDocument/2006/relationships/notesMaster" Target="/ppt/notesMasters/notesMaster1.xml" Id="R5fc2abdb0a934b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54ca73c21d04481" /><Relationship Type="http://schemas.openxmlformats.org/officeDocument/2006/relationships/notesMaster" Target="/ppt/notesMasters/notesMaster1.xml" Id="Rdb8062755e5742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883a6cd866b4eec" /><Relationship Type="http://schemas.openxmlformats.org/officeDocument/2006/relationships/notesMaster" Target="/ppt/notesMasters/notesMaster1.xml" Id="R78956252fd9c48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54caa35b24140a1" /><Relationship Type="http://schemas.openxmlformats.org/officeDocument/2006/relationships/notesMaster" Target="/ppt/notesMasters/notesMaster1.xml" Id="R828c0c3f6ada4db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5b0189e33b84a87" /><Relationship Type="http://schemas.openxmlformats.org/officeDocument/2006/relationships/notesMaster" Target="/ppt/notesMasters/notesMaster1.xml" Id="Re74d7e2dc0494b4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c8ac298592d4aea" /><Relationship Type="http://schemas.openxmlformats.org/officeDocument/2006/relationships/notesMaster" Target="/ppt/notesMasters/notesMaster1.xml" Id="R37131c8a4c4c400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2501cbead364c42" /><Relationship Type="http://schemas.openxmlformats.org/officeDocument/2006/relationships/notesMaster" Target="/ppt/notesMasters/notesMaster1.xml" Id="R5cef09cec6954c0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ac34f823bca4c08" /><Relationship Type="http://schemas.openxmlformats.org/officeDocument/2006/relationships/notesMaster" Target="/ppt/notesMasters/notesMaster1.xml" Id="Ra1731c05292a4d1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73e7b2bd1a649a3" /><Relationship Type="http://schemas.openxmlformats.org/officeDocument/2006/relationships/notesMaster" Target="/ppt/notesMasters/notesMaster1.xml" Id="R0181b2fe5ace410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7b39f31871d49db" /><Relationship Type="http://schemas.openxmlformats.org/officeDocument/2006/relationships/notesMaster" Target="/ppt/notesMasters/notesMaster1.xml" Id="R892fc326ef594e1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28de2f9ee5642bb" /><Relationship Type="http://schemas.openxmlformats.org/officeDocument/2006/relationships/notesMaster" Target="/ppt/notesMasters/notesMaster1.xml" Id="R3eb7984bc3c04c6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c1ff4481c4d46b7" /><Relationship Type="http://schemas.openxmlformats.org/officeDocument/2006/relationships/notesMaster" Target="/ppt/notesMasters/notesMaster1.xml" Id="R471fce818d2b477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9f9d79bcbaa4972" /><Relationship Type="http://schemas.openxmlformats.org/officeDocument/2006/relationships/notesMaster" Target="/ppt/notesMasters/notesMaster1.xml" Id="Rae807aa8675e4fa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29147fa4d414cb8" /><Relationship Type="http://schemas.openxmlformats.org/officeDocument/2006/relationships/notesMaster" Target="/ppt/notesMasters/notesMaster1.xml" Id="R785763fb115d423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7f62c5957134715" /><Relationship Type="http://schemas.openxmlformats.org/officeDocument/2006/relationships/notesMaster" Target="/ppt/notesMasters/notesMaster1.xml" Id="R645d573f63154e5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3c0c36073ef4e0a" /><Relationship Type="http://schemas.openxmlformats.org/officeDocument/2006/relationships/notesMaster" Target="/ppt/notesMasters/notesMaster1.xml" Id="R291ac7cf647d485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d7a136310674c9f" /><Relationship Type="http://schemas.openxmlformats.org/officeDocument/2006/relationships/notesMaster" Target="/ppt/notesMasters/notesMaster1.xml" Id="Rddd67a41dbd840a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a0169c22ff044ba" /><Relationship Type="http://schemas.openxmlformats.org/officeDocument/2006/relationships/notesMaster" Target="/ppt/notesMasters/notesMaster1.xml" Id="Rc2c506560a14472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18844ccd68f4ade" /><Relationship Type="http://schemas.openxmlformats.org/officeDocument/2006/relationships/notesMaster" Target="/ppt/notesMasters/notesMaster1.xml" Id="R5927c3dbbf87432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8b652d24eb14a7d" /><Relationship Type="http://schemas.openxmlformats.org/officeDocument/2006/relationships/notesMaster" Target="/ppt/notesMasters/notesMaster1.xml" Id="R6b5f1946489a4e3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7ebe9c523a644cc" /><Relationship Type="http://schemas.openxmlformats.org/officeDocument/2006/relationships/notesMaster" Target="/ppt/notesMasters/notesMaster1.xml" Id="Ra4bdd3561fd744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thesis studies Persian ASR under telephone and VoIP conditions. I compare improvements from matching training conditions, adding an enhancement-fusion architecture, and expanding training data with pseudo-labelled audiobooks. The largest controlled robustness gain comes from telecom-oriented multi-condition training. The later experiments show smaller and domain-dependent gains.</a:t>
            </a:r>
          </a:p>
          <a:p xmlns:a="http://schemas.openxmlformats.org/drawingml/2006/main">
            <a:r>
              <a:t/>
            </a:r>
          </a:p>
          <a:p xmlns:a="http://schemas.openxmlformats.org/drawingml/2006/main">
            <a:r>
              <a:t>Sources: /home/mint/MS-Thesis/Thesis/front/info.tex; /home/mint/MS-Thesis/Thesis/front/abstract-eng.tex</a:t>
            </a:r>
          </a:p>
          <a:p xmlns:a="http://schemas.openxmlformats.org/drawingml/2006/main">
            <a:r>
              <a:t>Target speaking time: 25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Persian training data includes read and spontaneous speech, but does not fully cover real telecom channels. A call can combine environmental noise, bandwidth restriction, codec distortion, gain changes and packet loss. Collecting large quantities of transcribed calls is expensive and privacy-sensitive. The goal is to improve recognition on real calls while monitoring performance on general Persian speech.</a:t>
            </a:r>
          </a:p>
          <a:p xmlns:a="http://schemas.openxmlformats.org/drawingml/2006/main">
            <a:r>
              <a:t/>
            </a:r>
          </a:p>
          <a:p xmlns:a="http://schemas.openxmlformats.org/drawingml/2006/main">
            <a:r>
              <a:t>Sources: /home/mint/MS-Thesis/Thesis/chapters/introduction.tex; /home/mint/MS-Thesis/Thesis/chapters/preliminaries.tex</a:t>
            </a:r>
          </a:p>
          <a:p xmlns:a="http://schemas.openxmlformats.org/drawingml/2006/main">
            <a:r>
              <a:t>Target speaking time: 50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ordinary Whisper-small baseline includes original and constructed long examples. The multi-condition baseline adds degraded speech. It becomes the reference for both later comparisons. Fusion changes the system architecture and training schedule. The IranSeda experiment retains the complete multi-condition mixture and adds accepted audiobook clips. Fusion and IranSeda are separate branches. I did not train a combined fusion-plus-IranSeda system.</a:t>
            </a:r>
          </a:p>
          <a:p xmlns:a="http://schemas.openxmlformats.org/drawingml/2006/main">
            <a:r>
              <a:t/>
            </a:r>
          </a:p>
          <a:p xmlns:a="http://schemas.openxmlformats.org/drawingml/2006/main">
            <a:r>
              <a:t>Sources: /home/mint/MS-Thesis/Thesis/chapters/work.tex</a:t>
            </a:r>
          </a:p>
          <a:p xmlns:a="http://schemas.openxmlformats.org/drawingml/2006/main">
            <a:r>
              <a:t>Target speaking time: 55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 corpora are Common Voice Persian 25, FarsSpon and FLEURS Persian. All audio uses mono 16 kHz and transcripts share deterministic Persian normalization. Constructed long examples concatenate two to four clips within the same split, with final duration above five and at most twenty seconds. Every main model uses these long variants. Multi-condition training additionally uses two independent degraded variants for each Common Voice clip and its long variant. These counts describe base examples before derived data and IranSeda.</a:t>
            </a:r>
          </a:p>
          <a:p xmlns:a="http://schemas.openxmlformats.org/drawingml/2006/main">
            <a:r>
              <a:t/>
            </a:r>
          </a:p>
          <a:p xmlns:a="http://schemas.openxmlformats.org/drawingml/2006/main">
            <a:r>
              <a:t>Sources: /home/mint/MS-Thesis/Thesis/chapters/work.tex</a:t>
            </a:r>
          </a:p>
          <a:p xmlns:a="http://schemas.openxmlformats.org/drawingml/2006/main">
            <a:r>
              <a:t>Target speaking time: 55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WER is substitutions plus deletions plus insertions divided by reference words. CER uses the same calculation over characters. Lower is better. All main systems use greedy decoding and identical Persian normalization. Aggregate metrics pool error counts and reference units rather than average dataset percentages. The paired single-stream comparisons use 21,848 common eligible examples. The thesis lists a 391 to 396 range for Persian Speech Corpus across models, so model-wide rankings require care about eligibility. AGFarsdat is held out from training and model selection.</a:t>
            </a:r>
          </a:p>
          <a:p xmlns:a="http://schemas.openxmlformats.org/drawingml/2006/main">
            <a:r>
              <a:t/>
            </a:r>
          </a:p>
          <a:p xmlns:a="http://schemas.openxmlformats.org/drawingml/2006/main">
            <a:r>
              <a:t>Sources: /home/mint/MS-Thesis/Thesis/chapters/work.tex; /home/mint/MS-Thesis/Thesis/chapters/results.tex; /home/mint/MS-Thesis/Thesis/chapters/conclusions.tex</a:t>
            </a:r>
          </a:p>
          <a:p xmlns:a="http://schemas.openxmlformats.org/drawingml/2006/main">
            <a:r>
              <a:t>Target speaking time: 60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sampled profiles cover clean telephone, noisy telephone, lossy VoIP and mobile wideband. Their weights describe a designed training distribution, not measured operator traffic. Noise and gain changes precede channel filtering and codec processing. FFmpeg round-trips model codec distortion. Native Opus supports packet loss and decoder PLC. Other paths approximate loss through waveform dropouts. The final aligned pair has a shared transcript, compensated delay and a common peak scale. The clean enhancement target has the same bandwidth as its degraded input. Seeds and settings make each example traceable.</a:t>
            </a:r>
          </a:p>
          <a:p xmlns:a="http://schemas.openxmlformats.org/drawingml/2006/main">
            <a:r>
              <a:t/>
            </a:r>
          </a:p>
          <a:p xmlns:a="http://schemas.openxmlformats.org/drawingml/2006/main">
            <a:r>
              <a:t>Sources: /home/mint/MS-Thesis/Thesis/chapters/work.tex</a:t>
            </a:r>
          </a:p>
          <a:p xmlns:a="http://schemas.openxmlformats.org/drawingml/2006/main">
            <a:r>
              <a:t>Target speaking time: 75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main robustness result. Multi-condition training lowers aggregate WER by 5.44 percentage points, a 23.4 percent relative reduction. On AGFarsdat, WER falls by 9.83 points, a 27.6 percent relative reduction. AGFarsdat contains real telephone and VoIP recordings and did not participate in training or simulator construction. This is evidence of transfer to the target channel. It does not establish uniform improvement across every general speech dataset.</a:t>
            </a:r>
          </a:p>
          <a:p xmlns:a="http://schemas.openxmlformats.org/drawingml/2006/main">
            <a:r>
              <a:t/>
            </a:r>
          </a:p>
          <a:p xmlns:a="http://schemas.openxmlformats.org/drawingml/2006/main">
            <a:r>
              <a:t>Sources: /home/mint/MS-Thesis/Thesis/chapters/results.tex</a:t>
            </a:r>
          </a:p>
          <a:p xmlns:a="http://schemas.openxmlformats.org/drawingml/2006/main">
            <a:r>
              <a:t>Target speaking time: 70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noise-only augmentation and pMCT improve over the ordinary baseline. In the implemented pMCT comparison, aligned clean and noisy examples are divided into one-second pieces, then each piece is selected from either view with equal probability. The full telecom pipeline gives the lowest aggregate and AGFarsdat WER of these augmentation experiments. This supports modelling more than noise. It does not isolate the contribution of each codec or loss mechanism, since those components were not individually ablated.</a:t>
            </a:r>
          </a:p>
          <a:p xmlns:a="http://schemas.openxmlformats.org/drawingml/2006/main">
            <a:r>
              <a:t/>
            </a:r>
          </a:p>
          <a:p xmlns:a="http://schemas.openxmlformats.org/drawingml/2006/main">
            <a:r>
              <a:t>Sources: /home/mint/MS-Thesis/Thesis/chapters/results.tex</a:t>
            </a:r>
          </a:p>
          <a:p xmlns:a="http://schemas.openxmlformats.org/drawingml/2006/main">
            <a:r>
              <a:t>Target speaking time: 55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hypothesis is that a learned enhanced view may complement the original observation. A residual U-Net modifies 80-band log-Mel features without reconstructing a waveform. Original and enhanced features pass through the same Whisper encoder in two passes with shared parameters. One layer of bidirectional cross-attention with four heads exchanges information between streams. A time-feature gate then combines the outputs before the Whisper decoder. Starting from the multi-condition checkpoint makes the comparison more demanding than starting from ordinary Whisper. The diagram in the appendix contains the complete architecture.</a:t>
            </a:r>
          </a:p>
          <a:p xmlns:a="http://schemas.openxmlformats.org/drawingml/2006/main">
            <a:r>
              <a:t/>
            </a:r>
          </a:p>
          <a:p xmlns:a="http://schemas.openxmlformats.org/drawingml/2006/main">
            <a:r>
              <a:t>Sources: /home/mint/MS-Thesis/Thesis/chapters/work.tex</a:t>
            </a:r>
          </a:p>
          <a:p xmlns:a="http://schemas.openxmlformats.org/drawingml/2006/main">
            <a:r>
              <a:t>Target speaking time: 80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stage runs for one epoch. Warm-up trains the enhancer using equal-weight log-Mel reconstruction and encoder-feature matching, while Whisper remains frozen. Stage two trains enhancer and fusion with ASR loss plus 0.3 enhancement loss, again with frozen Whisper. Stage three unfreezes the whole model with ASR loss plus 0.1 enhancement loss. The additional modules use a higher learning rate than Whisper. The last stage includes degraded examples, long examples and a randomly selected 25 percent of clean data. Fusion therefore has extra recognizer training relative to the single-stream baseline.</a:t>
            </a:r>
          </a:p>
          <a:p xmlns:a="http://schemas.openxmlformats.org/drawingml/2006/main">
            <a:r>
              <a:t/>
            </a:r>
          </a:p>
          <a:p xmlns:a="http://schemas.openxmlformats.org/drawingml/2006/main">
            <a:r>
              <a:t>Sources: /home/mint/MS-Thesis/Thesis/chapters/work.tex</a:t>
            </a:r>
          </a:p>
          <a:p xmlns:a="http://schemas.openxmlformats.org/drawingml/2006/main">
            <a:r>
              <a:t>Target speaking time: 50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Fusion lowers aggregate WER from 17.83 to 17.64 percent, a 0.19-point gain, and AGFarsdat WER from 25.80 to 25.37 percent. The independently implemented adaptive bridge combines original and FRCRN-enhanced waveforms before frozen Whisper, rather than encoder representations. It improves aggregate WER slightly but increases CER. Fusion’s mean gate weight for the enhanced stream is 0.6785, with median 0.6930. Because cross-attention already exchanged information, this weight is not a causal contribution estimate. Different enhancers and training schedules prevent isolating the fusion mechanism from the bridge comparison. No significance test establishes reliability of the small margins.</a:t>
            </a:r>
          </a:p>
          <a:p xmlns:a="http://schemas.openxmlformats.org/drawingml/2006/main">
            <a:r>
              <a:t/>
            </a:r>
          </a:p>
          <a:p xmlns:a="http://schemas.openxmlformats.org/drawingml/2006/main">
            <a:r>
              <a:t>Sources: /home/mint/MS-Thesis/Thesis/chapters/results.tex; /home/mint/MS-Thesis/Thesis/chapters/work.tex</a:t>
            </a:r>
          </a:p>
          <a:p xmlns:a="http://schemas.openxmlformats.org/drawingml/2006/main">
            <a:r>
              <a:t>Target speaking time: 65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separate experiments with Whisper Tiny and Common Voice training only. They are not additional rows in the Whisper-small benchmark. Full bidirectional fusion performs best among these variants on both tests. Removing attention or using either stream alone raises WER. The single-view conditions bypass fusion at inference using the same trained checkpoint. They do not represent separately trained single-stream controls. Fusion also receives an extra joint ASR training stage, so the large gap from Tiny’s multi-condition baseline cannot be attributed to architecture alone. Full WER and CER results are in the appendix.</a:t>
            </a:r>
          </a:p>
          <a:p xmlns:a="http://schemas.openxmlformats.org/drawingml/2006/main">
            <a:r>
              <a:t/>
            </a:r>
          </a:p>
          <a:p xmlns:a="http://schemas.openxmlformats.org/drawingml/2006/main">
            <a:r>
              <a:t>Sources: /home/mint/MS-Thesis/Thesis/chapters/results.tex</a:t>
            </a:r>
          </a:p>
          <a:p xmlns:a="http://schemas.openxmlformats.org/drawingml/2006/main">
            <a:r>
              <a:t>Target speaking time: 65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data direction asks whether additional real Persian speech helps after multi-condition training. The acquisition contains 3,777 audiobooks and approximately 6,300 raw hours. Compute limits motivate processing a selected 250-hour subset. Silero VAD segments audio around natural boundaries, with a twenty-second target, preferred fifteen to twenty-five seconds and a hard twenty-eight-second maximum. Persian-adapted Whisper Medium generates each segment’s transcript. Deterministic normalization precedes conservative Qwen refinement and quality filtering. Accepted clips supplement all original, long and degraded data, rather than replacing any baseline component.</a:t>
            </a:r>
          </a:p>
          <a:p xmlns:a="http://schemas.openxmlformats.org/drawingml/2006/main">
            <a:r>
              <a:t/>
            </a:r>
          </a:p>
          <a:p xmlns:a="http://schemas.openxmlformats.org/drawingml/2006/main">
            <a:r>
              <a:t>Sources: /home/mint/MS-Thesis/Thesis/chapters/work.tex</a:t>
            </a:r>
          </a:p>
          <a:p xmlns:a="http://schemas.openxmlformats.org/drawingml/2006/main">
            <a:r>
              <a:t>Target speaking time: 65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250 raw hours must be distinguished from the final accepted corpus. Of 44,820 reviewed clips, 39,454 were accepted and 5,366 rejected. Forty operational failures were tracked separately. Accepted audio totals 218.564 hours from 136 audiobook files. Qwen receives text and context only. It may correct orthography and clearly supported substitutions, but cannot add speech or complete segments. Numeric tokens must remain unchanged. Uncertain or excessive edits are rejected. Raw teacher text and refined text remain separate. Splits operate at book level, not clip level, and provenance preserves source identity, timestamps, hashes and processing settings. There is no human transcription audit that quantifies pseudo-label or LLM correction accuracy.</a:t>
            </a:r>
          </a:p>
          <a:p xmlns:a="http://schemas.openxmlformats.org/drawingml/2006/main">
            <a:r>
              <a:t/>
            </a:r>
          </a:p>
          <a:p xmlns:a="http://schemas.openxmlformats.org/drawingml/2006/main">
            <a:r>
              <a:t>Sources: /home/mint/MS-Thesis/Thesis/chapters/work.tex; /home/mint/MS-Thesis/Thesis/chapters/conclusions.tex</a:t>
            </a:r>
          </a:p>
          <a:p xmlns:a="http://schemas.openxmlformats.org/drawingml/2006/main">
            <a:r>
              <a:t>Target speaking time: 60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Adding IranSeda lowers aggregate WER from 17.83 to 17.22 percent and CER from 7.93 to 7.70 percent. That is a 0.61-point WER reduction when calculated from displayed values. Per-domain changes are more revealing: FLEURS improves by 6.04 points, PersianSpeech by 8.39 points and Persian Speech Corpus by 5.03 points. AGFarsdat worsens by 0.86 points and Common Voice by 0.35 points. PersianSpeech has only 24 examples, so its large change is preliminary. The data improves several general domains but does not add telephone robustness. The experiment does not isolate whether style, recording conditions, label quality or sampling mixture causes this pattern.</a:t>
            </a:r>
          </a:p>
          <a:p xmlns:a="http://schemas.openxmlformats.org/drawingml/2006/main">
            <a:r>
              <a:t/>
            </a:r>
          </a:p>
          <a:p xmlns:a="http://schemas.openxmlformats.org/drawingml/2006/main">
            <a:r>
              <a:t>Sources: /home/mint/MS-Thesis/Thesis/chapters/results.tex</a:t>
            </a:r>
          </a:p>
          <a:p xmlns:a="http://schemas.openxmlformats.org/drawingml/2006/main">
            <a:r>
              <a:t>Target speaking time: 85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brings the primary comparisons together. Ordinary Whisper-small provides the initial reference. Multi-condition training gives the large reduction in aggregate and real-call errors. Fusion adds a small numerical improvement. Additional IranSeda speech produces the lowest aggregate WER among these Whisper-small systems but a higher AGFarsdat WER than multi-condition or fusion. The ranking depends on the application domain. These are observed values from the completed experiments rather than statistically established model rankings. The complete augmentation and bridge comparisons are in backup slides.</a:t>
            </a:r>
          </a:p>
          <a:p xmlns:a="http://schemas.openxmlformats.org/drawingml/2006/main">
            <a:r>
              <a:t/>
            </a:r>
          </a:p>
          <a:p xmlns:a="http://schemas.openxmlformats.org/drawingml/2006/main">
            <a:r>
              <a:t>Sources: /home/mint/MS-Thesis/Thesis/chapters/results.tex</a:t>
            </a:r>
          </a:p>
          <a:p xmlns:a="http://schemas.openxmlformats.org/drawingml/2006/main">
            <a:r>
              <a:t>Target speaking time: 60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Whisper Medium achieved the lowest overall WER and CER of the completed main evaluations. It also served as the pseudo-label teacher. Its aggregate WER is 3.47 percentage points below multi-condition Whisper-small. Its AGFarsdat WER is 21.99 percent. The single-stream models share the same 21,848 eligible examples, but model capacity and training details differ. These numbers give a useful higher-capacity reference and do not identify a data-only or architecture-only causal effect.</a:t>
            </a:r>
          </a:p>
          <a:p xmlns:a="http://schemas.openxmlformats.org/drawingml/2006/main">
            <a:r>
              <a:t/>
            </a:r>
          </a:p>
          <a:p xmlns:a="http://schemas.openxmlformats.org/drawingml/2006/main">
            <a:r>
              <a:t>Sources: /home/mint/MS-Thesis/Thesis/chapters/results.tex; /home/mint/MS-Thesis/Thesis/chapters/work.tex</a:t>
            </a:r>
          </a:p>
          <a:p xmlns:a="http://schemas.openxmlformats.org/drawingml/2006/main">
            <a:r>
              <a:t>Target speaking time: 40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contribution is a reproducible experimental framework, alongside the implemented systems and data preparation. It includes deterministic telecom degradation with provenance, evidence of synthetic-to-real transfer, a task-trained dual-stream system evaluated against a strong multi-condition baseline and an independently implemented waveform bridge, plus a curated audiobook corpus. The domain-specific analysis prevents treating lower aggregate WER as universal robustness. Claims of a new universal architecture or state-of-the-art Persian ASR are outside the evidence.</a:t>
            </a:r>
          </a:p>
          <a:p xmlns:a="http://schemas.openxmlformats.org/drawingml/2006/main">
            <a:r>
              <a:t/>
            </a:r>
          </a:p>
          <a:p xmlns:a="http://schemas.openxmlformats.org/drawingml/2006/main">
            <a:r>
              <a:t>Sources: /home/mint/MS-Thesis/Thesis/chapters/introduction.tex; /home/mint/MS-Thesis/Thesis/chapters/work.tex; /home/mint/MS-Thesis/Thesis/chapters/conclusions.tex</a:t>
            </a:r>
          </a:p>
          <a:p xmlns:a="http://schemas.openxmlformats.org/drawingml/2006/main">
            <a:r>
              <a:t>Target speaking time: 40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urgent follow-ups test reliability and explain mechanism. Repeated seeds, exact paired eligibility and bootstrap confidence intervals are necessary for small differences. Matched-budget ablations should isolate attention and enhancement at Whisper-small scale. A human audit should compare raw teacher text, Qwen refinements and retained labels. Mixture sweeps and more telephone-like unlabelled speech would test the domain trade-off. Codec- and SNR-specific analyses and measurements of latency, memory and real-time factor remain necessary before deployment decisions. AGFarsdat is private, and PersianSpeech is very small.</a:t>
            </a:r>
          </a:p>
          <a:p xmlns:a="http://schemas.openxmlformats.org/drawingml/2006/main">
            <a:r>
              <a:t/>
            </a:r>
          </a:p>
          <a:p xmlns:a="http://schemas.openxmlformats.org/drawingml/2006/main">
            <a:r>
              <a:t>Sources: /home/mint/MS-Thesis/Thesis/chapters/results.tex; /home/mint/MS-Thesis/Thesis/chapters/conclusions.tex</a:t>
            </a:r>
          </a:p>
          <a:p xmlns:a="http://schemas.openxmlformats.org/drawingml/2006/main">
            <a:r>
              <a:t>Target speaking time: 45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answer is that matching the training conditions to the target channel yields the largest controlled improvement. Multi-condition training cuts real-call WER from 35.63 to 25.80 percent without changing the Whisper-small architecture. Fusion improves it slightly further, but statistical reliability and runtime value remain open. Audiobooks lower aggregate WER to 17.22 percent while slightly worsening AGFarsdat, showing why data relevance matters alongside volume. Thank you. I am happy to discuss the experimental controls and the domain-specific results.</a:t>
            </a:r>
          </a:p>
          <a:p xmlns:a="http://schemas.openxmlformats.org/drawingml/2006/main">
            <a:r>
              <a:t/>
            </a:r>
          </a:p>
          <a:p xmlns:a="http://schemas.openxmlformats.org/drawingml/2006/main">
            <a:r>
              <a:t>Sources: /home/mint/MS-Thesis/Thesis/chapters/results.tex; /home/mint/MS-Thesis/Thesis/chapters/conclusions.tex</a:t>
            </a:r>
          </a:p>
          <a:p xmlns:a="http://schemas.openxmlformats.org/drawingml/2006/main">
            <a:r>
              <a:t>Target speaking time: 45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Reported aggregate scores from the current results table. All methods except Medium use Whisper-small. Adaptive bridge is an independent implementation. Lower is better. Aggregate values pool error counts and reference units.</a:t>
            </a:r>
          </a:p>
          <a:p xmlns:a="http://schemas.openxmlformats.org/drawingml/2006/main">
            <a:r>
              <a:t/>
            </a:r>
          </a:p>
          <a:p xmlns:a="http://schemas.openxmlformats.org/drawingml/2006/main">
            <a:r>
              <a:t>Sources: /home/mint/MS-Thesis/Thesis/chapters/results.tex</a:t>
            </a:r>
          </a:p>
          <a:p xmlns:a="http://schemas.openxmlformats.org/drawingml/2006/main">
            <a:r>
              <a:t>Backup slide. Open during questions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WER values are percentages. Lower is better. CV25 means Common Voice Persian 25, PS means PersianSpeech and PSC means Persian Speech Corpus. PersianSpeech has 24 examples. Cross-model eligibility counts vary slightly in PSC. These are the thesis table values, not simple averages of the aggregate scores.</a:t>
            </a:r>
          </a:p>
          <a:p xmlns:a="http://schemas.openxmlformats.org/drawingml/2006/main">
            <a:r>
              <a:t/>
            </a:r>
          </a:p>
          <a:p xmlns:a="http://schemas.openxmlformats.org/drawingml/2006/main">
            <a:r>
              <a:t>Sources: /home/mint/MS-Thesis/Thesis/chapters/results.tex</a:t>
            </a:r>
          </a:p>
          <a:p xmlns:a="http://schemas.openxmlformats.org/drawingml/2006/main">
            <a:r>
              <a:t>Backup slide. Open during questions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CER values are percentages. Lower is better. CV25 means Common Voice Persian 25, PS means PersianSpeech and PSC means Persian Speech Corpus. PersianSpeech has 24 examples. Cross-model eligibility counts vary slightly in PSC. These are the thesis table values, not simple averages of the aggregate scores.</a:t>
            </a:r>
          </a:p>
          <a:p xmlns:a="http://schemas.openxmlformats.org/drawingml/2006/main">
            <a:r>
              <a:t/>
            </a:r>
          </a:p>
          <a:p xmlns:a="http://schemas.openxmlformats.org/drawingml/2006/main">
            <a:r>
              <a:t>Sources: /home/mint/MS-Thesis/Thesis/chapters/results.tex</a:t>
            </a:r>
          </a:p>
          <a:p xmlns:a="http://schemas.openxmlformats.org/drawingml/2006/main">
            <a:r>
              <a:t>Backup slide. Open during questions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Common Voice-only Tiny study. Original-only and enhanced-only bypass fusion at inference using one final checkpoint. Residual cross-attention, gate-only and full attention have unequal parameter counts. Fusion gets an extra ASR training stage. Adaptive bridge uses frozen FRCRN and frozen Whisper, with either perceptual quality (PQ) or PQ plus recognition information (RI). This is an independent implementation, not an author-code reproduction.</a:t>
            </a:r>
          </a:p>
          <a:p xmlns:a="http://schemas.openxmlformats.org/drawingml/2006/main">
            <a:r>
              <a:t/>
            </a:r>
          </a:p>
          <a:p xmlns:a="http://schemas.openxmlformats.org/drawingml/2006/main">
            <a:r>
              <a:t>Sources: /home/mint/MS-Thesis/Thesis/chapters/results.tex</a:t>
            </a:r>
          </a:p>
          <a:p xmlns:a="http://schemas.openxmlformats.org/drawingml/2006/main">
            <a:r>
              <a:t>Backup slide. Open during questions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within-model comparison is the appropriate control. Ordinary and multi-condition Fast Conformer use the same number of steps and learning settings. Their absolute scores cannot isolate architecture differences relative to Whisper because pretraining, decoder and optimization differ. CER values below are transcribed from the thesis table.</a:t>
            </a:r>
          </a:p>
          <a:p xmlns:a="http://schemas.openxmlformats.org/drawingml/2006/main">
            <a:r>
              <a:t/>
            </a:r>
          </a:p>
          <a:p xmlns:a="http://schemas.openxmlformats.org/drawingml/2006/main">
            <a:r>
              <a:t>Sources: /home/mint/MS-Thesis/Thesis/chapters/results.tex</a:t>
            </a:r>
          </a:p>
          <a:p xmlns:a="http://schemas.openxmlformats.org/drawingml/2006/main">
            <a:r>
              <a:t>Backup slide. Open during questions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completed thesis experiment on 20 randomly selected samples from each of the five datasets, with common normalization. These scores apply only to this fixed 100-sample subset and are not directly comparable to full-test results. Chirp 3 leads this subset. The evidence is supplementary and does not support a global model ranking. Names and scores reproduce the archived experiment rather than current product specifications.</a:t>
            </a:r>
          </a:p>
          <a:p xmlns:a="http://schemas.openxmlformats.org/drawingml/2006/main">
            <a:r>
              <a:t/>
            </a:r>
          </a:p>
          <a:p xmlns:a="http://schemas.openxmlformats.org/drawingml/2006/main">
            <a:r>
              <a:t>Sources: /home/mint/MS-Thesis/Thesis/chapters/results.tex</a:t>
            </a:r>
          </a:p>
          <a:p xmlns:a="http://schemas.openxmlformats.org/drawingml/2006/main">
            <a:r>
              <a:t>Backup slide. Open during questions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Ordinary, multi-condition and multi-condition plus IranSeda use Whisper-small with the reported same main training settings and step budget. Fusion starts from multi-condition and receives an additional staged training schedule. Bridge freezes both FRCRN and Whisper, so its comparison with fusion is a system-level comparison. Medium changes capacity. Human-labelled tests and common normalization remain fixed. Exact per-model sample eligibility should be reconciled for small cross-system differences.</a:t>
            </a:r>
          </a:p>
          <a:p xmlns:a="http://schemas.openxmlformats.org/drawingml/2006/main">
            <a:r>
              <a:t/>
            </a:r>
          </a:p>
          <a:p xmlns:a="http://schemas.openxmlformats.org/drawingml/2006/main">
            <a:r>
              <a:t>Sources: /home/mint/MS-Thesis/Thesis/chapters/work.tex; /home/mint/MS-Thesis/Thesis/chapters/results.tex</a:t>
            </a:r>
          </a:p>
          <a:p xmlns:a="http://schemas.openxmlformats.org/drawingml/2006/main">
            <a:r>
              <a:t>Backup slide. Open during questions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diagram. Native Opus applies packet-level loss and PLC. Other codec paths use real FFmpeg round-trips and optionally approximate network loss through waveform dropout. The aligned clean target has matched bandwidth.</a:t>
            </a:r>
          </a:p>
          <a:p xmlns:a="http://schemas.openxmlformats.org/drawingml/2006/main">
            <a:r>
              <a:t/>
            </a:r>
          </a:p>
          <a:p xmlns:a="http://schemas.openxmlformats.org/drawingml/2006/main">
            <a:r>
              <a:t>Sources: /home/mint/MS-Thesis/Thesis/chapters/work.tex; /home/mint/MS-Thesis/Thesis/figs/degradation-pipeline-architecture.png</a:t>
            </a:r>
          </a:p>
          <a:p xmlns:a="http://schemas.openxmlformats.org/drawingml/2006/main">
            <a:r>
              <a:t>Backup slide. Open during questions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diagram. Residual U-Net, shared encoder with two passes, bidirectional attention and a time-feature gate. The lower row gives the three training stages.</a:t>
            </a:r>
          </a:p>
          <a:p xmlns:a="http://schemas.openxmlformats.org/drawingml/2006/main">
            <a:r>
              <a:t/>
            </a:r>
          </a:p>
          <a:p xmlns:a="http://schemas.openxmlformats.org/drawingml/2006/main">
            <a:r>
              <a:t>Sources: /home/mint/MS-Thesis/Thesis/chapters/work.tex; /home/mint/MS-Thesis/Thesis/figs/fusion-model-architecture-left-to-right.png</a:t>
            </a:r>
          </a:p>
          <a:p xmlns:a="http://schemas.openxmlformats.org/drawingml/2006/main">
            <a:r>
              <a:t>Backup slide. Open during questions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diagram. Source validation, VAD segmentation, teacher transcription, normalization, constrained Qwen refinement and filtering. Accepted speech adds to the complete baseline mixture.</a:t>
            </a:r>
          </a:p>
          <a:p xmlns:a="http://schemas.openxmlformats.org/drawingml/2006/main">
            <a:r>
              <a:t/>
            </a:r>
          </a:p>
          <a:p xmlns:a="http://schemas.openxmlformats.org/drawingml/2006/main">
            <a:r>
              <a:t>Sources: /home/mint/MS-Thesis/Thesis/chapters/work.tex; /home/mint/MS-Thesis/Thesis/figs/long-audio-data-creation-pipeline.png</a:t>
            </a:r>
          </a:p>
          <a:p xmlns:a="http://schemas.openxmlformats.org/drawingml/2006/main">
            <a:r>
              <a:t>Backup slide. Open during questions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c190f83f4d417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f42847d07d48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37488a5a97412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2a5852ad4946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defeea306cc417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6851573e392497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CE3839-5C7B-43C5-BFC0-A3D2E1871AE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D11F7C1-B67E-4190-9BC9-23614211B20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24424CE-911E-47A9-96B5-77CCAA85A5B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354C6B-43F1-463C-9B96-DB72712A2F8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CA28E1-D95E-4AB0-AF09-9CEC732FA6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0A415B2-894B-4994-BB05-E1C30A9BF9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71E32F-2B6D-4537-8D31-4B2D7658D2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E8F4F5B-2D0F-4579-ABD8-749F9A26851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5898396-9F99-4B0D-BE58-70694458F8B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7CEDB6-C86C-4E37-8362-071BEF99E9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57c1b88a4d466f" /><Relationship Type="http://schemas.openxmlformats.org/officeDocument/2006/relationships/slideLayout" Target="/ppt/slideLayouts/slideLayout1.xml" Id="R56d18a3b3c434638" /><Relationship Type="http://schemas.openxmlformats.org/officeDocument/2006/relationships/slideLayout" Target="/ppt/slideLayouts/slideLayout2.xml" Id="R09edbd6f5e614043" /><Relationship Type="http://schemas.openxmlformats.org/officeDocument/2006/relationships/slideLayout" Target="/ppt/slideLayouts/slideLayout3.xml" Id="Rdee47c7103f845f8" /><Relationship Type="http://schemas.openxmlformats.org/officeDocument/2006/relationships/slideLayout" Target="/ppt/slideLayouts/slideLayout4.xml" Id="Reb5b3808134a451d" /><Relationship Type="http://schemas.openxmlformats.org/officeDocument/2006/relationships/slideLayout" Target="/ppt/slideLayouts/slideLayout5.xml" Id="R98f241c533c04bc1" /><Relationship Type="http://schemas.openxmlformats.org/officeDocument/2006/relationships/slideLayout" Target="/ppt/slideLayouts/slideLayout6.xml" Id="R0e8d083d05ce46b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d18a3b3c434638"/>
    <p:sldLayoutId xmlns:r="http://schemas.openxmlformats.org/officeDocument/2006/relationships" id="2147483650" r:id="R09edbd6f5e614043"/>
    <p:sldLayoutId xmlns:r="http://schemas.openxmlformats.org/officeDocument/2006/relationships" id="2147483651" r:id="Rdee47c7103f845f8"/>
    <p:sldLayoutId xmlns:r="http://schemas.openxmlformats.org/officeDocument/2006/relationships" id="2147483652" r:id="Reb5b3808134a451d"/>
    <p:sldLayoutId xmlns:r="http://schemas.openxmlformats.org/officeDocument/2006/relationships" id="2147483653" r:id="R98f241c533c04bc1"/>
    <p:sldLayoutId xmlns:r="http://schemas.openxmlformats.org/officeDocument/2006/relationships" id="2147483654" r:id="R0e8d083d05ce46b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b39fffbc8fd464e" /><Relationship Type="http://schemas.openxmlformats.org/officeDocument/2006/relationships/notesSlide" Target="/ppt/notesSlides/notesSlide1.xml" Id="R025ec558e23345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717b1343f7f4114" /><Relationship Type="http://schemas.openxmlformats.org/officeDocument/2006/relationships/notesSlide" Target="/ppt/notesSlides/notesSlide2.xml" Id="Rd82ae6b4985c47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9a21489bb5143f6" /><Relationship Type="http://schemas.openxmlformats.org/officeDocument/2006/relationships/notesSlide" Target="/ppt/notesSlides/notesSlide3.xml" Id="R68b9b4281da74e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e07f55462bb4fc0" /><Relationship Type="http://schemas.openxmlformats.org/officeDocument/2006/relationships/notesSlide" Target="/ppt/notesSlides/notesSlide4.xml" Id="Re9294c3ea38b47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6982ec101cc40bc" /><Relationship Type="http://schemas.openxmlformats.org/officeDocument/2006/relationships/notesSlide" Target="/ppt/notesSlides/notesSlide5.xml" Id="R72c34fce67e244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10244de3cb4d8b" /><Relationship Type="http://schemas.openxmlformats.org/officeDocument/2006/relationships/notesSlide" Target="/ppt/notesSlides/notesSlide6.xml" Id="R4f7cdf71adc944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88030d1af024118" /><Relationship Type="http://schemas.openxmlformats.org/officeDocument/2006/relationships/chart" Target="/ppt/slides/charts/chart1.xml" Id="R7a3652f39f254c6a" /><Relationship Type="http://schemas.openxmlformats.org/officeDocument/2006/relationships/notesSlide" Target="/ppt/notesSlides/notesSlide7.xml" Id="R18939c9c30314a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ccd7a3b407840fa" /><Relationship Type="http://schemas.openxmlformats.org/officeDocument/2006/relationships/notesSlide" Target="/ppt/notesSlides/notesSlide8.xml" Id="R1bbeb79dde39406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0323a90eaf84593" /><Relationship Type="http://schemas.openxmlformats.org/officeDocument/2006/relationships/notesSlide" Target="/ppt/notesSlides/notesSlide9.xml" Id="Rd4f4b9bafa8444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382908ccb554f1b" /><Relationship Type="http://schemas.openxmlformats.org/officeDocument/2006/relationships/notesSlide" Target="/ppt/notesSlides/notesSlide10.xml" Id="Rf7e027563d00412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55030f4bf18455e" /><Relationship Type="http://schemas.openxmlformats.org/officeDocument/2006/relationships/notesSlide" Target="/ppt/notesSlides/notesSlide11.xml" Id="R90ac081b6cf045a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450f46351f643f1" /><Relationship Type="http://schemas.openxmlformats.org/officeDocument/2006/relationships/notesSlide" Target="/ppt/notesSlides/notesSlide12.xml" Id="Rab03926976f64f8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3599587291b4410" /><Relationship Type="http://schemas.openxmlformats.org/officeDocument/2006/relationships/notesSlide" Target="/ppt/notesSlides/notesSlide13.xml" Id="R2618dcb1a2064d4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0d36676b2404c6d" /><Relationship Type="http://schemas.openxmlformats.org/officeDocument/2006/relationships/notesSlide" Target="/ppt/notesSlides/notesSlide14.xml" Id="R816f8de9bfb84be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c438b00419a449a" /><Relationship Type="http://schemas.openxmlformats.org/officeDocument/2006/relationships/chart" Target="/ppt/slides/charts/chart2.xml" Id="R40af18c953e142d6" /><Relationship Type="http://schemas.openxmlformats.org/officeDocument/2006/relationships/notesSlide" Target="/ppt/notesSlides/notesSlide15.xml" Id="Rf7ad9af4311e42e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82852127f224e5a" /><Relationship Type="http://schemas.openxmlformats.org/officeDocument/2006/relationships/notesSlide" Target="/ppt/notesSlides/notesSlide16.xml" Id="Rb6c2882a5a7a4d6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0c9b9f0ab49459d" /><Relationship Type="http://schemas.openxmlformats.org/officeDocument/2006/relationships/notesSlide" Target="/ppt/notesSlides/notesSlide17.xml" Id="R452bfabd8aeb443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144382292c44408" /><Relationship Type="http://schemas.openxmlformats.org/officeDocument/2006/relationships/notesSlide" Target="/ppt/notesSlides/notesSlide18.xml" Id="R4a5f8fa5cd5e443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6b8504549ca4ce5" /><Relationship Type="http://schemas.openxmlformats.org/officeDocument/2006/relationships/notesSlide" Target="/ppt/notesSlides/notesSlide19.xml" Id="R48e0a822c15540d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9e37069d95645c9" /><Relationship Type="http://schemas.openxmlformats.org/officeDocument/2006/relationships/notesSlide" Target="/ppt/notesSlides/notesSlide20.xml" Id="R291daa1bcbe44f3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78fb3c02c224a06" /><Relationship Type="http://schemas.openxmlformats.org/officeDocument/2006/relationships/notesSlide" Target="/ppt/notesSlides/notesSlide21.xml" Id="Rae58b18d5c5e4cf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8f21c96a5a74ef4" /><Relationship Type="http://schemas.openxmlformats.org/officeDocument/2006/relationships/notesSlide" Target="/ppt/notesSlides/notesSlide22.xml" Id="R0a1f9dbbab6d48f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3d1835199e64b78" /><Relationship Type="http://schemas.openxmlformats.org/officeDocument/2006/relationships/notesSlide" Target="/ppt/notesSlides/notesSlide23.xml" Id="R4c87a00da8674a6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6f3677b6d174954" /><Relationship Type="http://schemas.openxmlformats.org/officeDocument/2006/relationships/notesSlide" Target="/ppt/notesSlides/notesSlide24.xml" Id="R15f0976fa528498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d16c98ee51a4e91" /><Relationship Type="http://schemas.openxmlformats.org/officeDocument/2006/relationships/notesSlide" Target="/ppt/notesSlides/notesSlide25.xml" Id="R46ca156bbbab42d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e2f87126eff4ec6" /><Relationship Type="http://schemas.openxmlformats.org/officeDocument/2006/relationships/notesSlide" Target="/ppt/notesSlides/notesSlide26.xml" Id="R92c4c1e7fb58439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07eb56742b6a4bed" /><Relationship Type="http://schemas.openxmlformats.org/officeDocument/2006/relationships/notesSlide" Target="/ppt/notesSlides/notesSlide27.xml" Id="R80badd39b3af426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399b35120cc44e8" /><Relationship Type="http://schemas.openxmlformats.org/officeDocument/2006/relationships/image" Target="/ppt/media/image.png" Id="R0b70cc91282c480b" /><Relationship Type="http://schemas.openxmlformats.org/officeDocument/2006/relationships/notesSlide" Target="/ppt/notesSlides/notesSlide28.xml" Id="R8b89570d89a5415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179af60431749f7" /><Relationship Type="http://schemas.openxmlformats.org/officeDocument/2006/relationships/image" Target="/ppt/media/image2.png" Id="R1873453e64f44f26" /><Relationship Type="http://schemas.openxmlformats.org/officeDocument/2006/relationships/notesSlide" Target="/ppt/notesSlides/notesSlide29.xml" Id="Ra635b8d74f0346f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9dfb1ec981147f3" /><Relationship Type="http://schemas.openxmlformats.org/officeDocument/2006/relationships/image" Target="/ppt/media/image3.png" Id="Rb11713ac409d41bb" /><Relationship Type="http://schemas.openxmlformats.org/officeDocument/2006/relationships/notesSlide" Target="/ppt/notesSlides/notesSlide30.xml" Id="R45dda20183d142c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Ordinary Whisper-small</c:v>
          </c:tx>
          <c:spPr>
            <a:solidFill xmlns:a="http://schemas.openxmlformats.org/drawingml/2006/main">
              <a:srgbClr val="7B8794"/>
            </a:solidFill>
          </c:spPr>
          <c:cat>
            <c:strRef>
              <c:f>'Chart Data'!$A$2:$A$3</c:f>
              <c:strCache>
                <c:ptCount val="2"/>
                <c:pt idx="0">
                  <c:v>Aggregate</c:v>
                </c:pt>
                <c:pt idx="1">
                  <c:v>AGFarsdat</c:v>
                </c:pt>
              </c:strCache>
            </c:strRef>
          </c:cat>
          <c:val>
            <c:numRef>
              <c:f>'Chart Data'!$B$2:$B$3</c:f>
              <c:numCache>
                <c:formatCode>0.00%</c:formatCode>
                <c:ptCount val="2"/>
                <c:pt idx="0">
                  <c:v>0.2327</c:v>
                </c:pt>
                <c:pt idx="1">
                  <c:v>0.3563</c:v>
                </c:pt>
              </c:numCache>
            </c:numRef>
          </c:val>
        </c:ser>
        <c:ser>
          <c:idx val="1"/>
          <c:order val="1"/>
          <c:tx>
            <c:v>Multi-condition Whisper-small</c:v>
          </c:tx>
          <c:spPr>
            <a:solidFill xmlns:a="http://schemas.openxmlformats.org/drawingml/2006/main">
              <a:srgbClr val="1D6F8A"/>
            </a:solidFill>
          </c:spPr>
          <c:cat>
            <c:strRef>
              <c:f>'Chart Data'!$C$2:$C$3</c:f>
              <c:strCache>
                <c:ptCount val="2"/>
                <c:pt idx="0">
                  <c:v>Aggregate</c:v>
                </c:pt>
                <c:pt idx="1">
                  <c:v>AGFarsdat</c:v>
                </c:pt>
              </c:strCache>
            </c:strRef>
          </c:cat>
          <c:val>
            <c:numRef>
              <c:f>'Chart Data'!$D$2:$D$3</c:f>
              <c:numCache>
                <c:formatCode>0.00%</c:formatCode>
                <c:ptCount val="2"/>
                <c:pt idx="0">
                  <c:v>0.1783</c:v>
                </c:pt>
                <c:pt idx="1">
                  <c:v>0.258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F2933"/>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7DCDF"/>
            </a:solidFill>
          </a:ln>
        </c:spPr>
        <c:txPr>
          <a:bodyPr xmlns:a="http://schemas.openxmlformats.org/drawingml/2006/main" anchorCtr="1"/>
          <a:lstStyle xmlns:a="http://schemas.openxmlformats.org/drawingml/2006/main"/>
          <a:p xmlns:a="http://schemas.openxmlformats.org/drawingml/2006/main">
            <a:pPr>
              <a:defRPr sz="1650">
                <a:solidFill>
                  <a:srgbClr val="1F2933"/>
                </a:solidFill>
                <a:latin typeface="DejaVu Sans"/>
                <a:ea typeface="DejaVu Sans"/>
                <a:cs typeface="DejaVu Sans"/>
              </a:defRPr>
            </a:pPr>
          </a:p>
        </c:txPr>
        <c:crossAx val="48672768"/>
      </c:catAx>
      <c:valAx>
        <c:axId val="48672768"/>
        <c:scaling>
          <c:orientation val="minMax"/>
          <c:max val="0.4"/>
          <c:min val="0"/>
        </c:scaling>
        <c:delete val="0"/>
        <c:axPos val="l"/>
        <c:majorGridlines>
          <c:spPr>
            <a:ln xmlns:a="http://schemas.openxmlformats.org/drawingml/2006/main" w="5715">
              <a:solidFill>
                <a:srgbClr val="D7DCD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2606D"/>
                </a:solidFill>
                <a:latin typeface="DejaVu Sans"/>
                <a:ea typeface="DejaVu Sans"/>
                <a:cs typeface="DejaVu Sans"/>
              </a:defRPr>
            </a:pPr>
          </a:p>
        </c:txPr>
        <c:crossAx val="48650112"/>
        <c:crossBetween val="between"/>
      </c:valAx>
      <c:spPr>
        <a:solidFill xmlns:a="http://schemas.openxmlformats.org/drawingml/2006/main">
          <a:srgbClr val="F7F6F2"/>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F2933"/>
              </a:solidFill>
              <a:latin typeface="DejaVu Sans"/>
              <a:ea typeface="DejaVu Sans"/>
              <a:cs typeface="DejaVu Sans"/>
            </a:defRPr>
          </a:pPr>
        </a:p>
      </c:txPr>
    </c:legend>
    <c:plotVisOnly val="1"/>
  </c:chart>
  <c:spPr>
    <a:solidFill xmlns:a="http://schemas.openxmlformats.org/drawingml/2006/main">
      <a:srgbClr val="F7F6F2"/>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With IranSeda − baseline</c:v>
          </c:tx>
          <c:spPr>
            <a:solidFill xmlns:a="http://schemas.openxmlformats.org/drawingml/2006/main">
              <a:srgbClr val="1D6F8A"/>
            </a:solidFill>
          </c:spPr>
          <c:invertIfNegative val="0"/>
          <c:cat>
            <c:strRef>
              <c:f>'Chart Data'!$A$2:$A$6</c:f>
              <c:strCache>
                <c:ptCount val="5"/>
                <c:pt idx="0">
                  <c:v>AGFarsdat</c:v>
                </c:pt>
                <c:pt idx="1">
                  <c:v>Common Voice</c:v>
                </c:pt>
                <c:pt idx="2">
                  <c:v>FLEURS</c:v>
                </c:pt>
                <c:pt idx="3">
                  <c:v>PersianSpeech¹</c:v>
                </c:pt>
                <c:pt idx="4">
                  <c:v>Persian Corpus</c:v>
                </c:pt>
              </c:strCache>
            </c:strRef>
          </c:cat>
          <c:val>
            <c:numRef>
              <c:f>'Chart Data'!$B$2:$B$6</c:f>
              <c:numCache>
                <c:formatCode>0.00;−0.00</c:formatCode>
                <c:ptCount val="5"/>
                <c:pt idx="0">
                  <c:v>0.86</c:v>
                </c:pt>
                <c:pt idx="1">
                  <c:v>0.35</c:v>
                </c:pt>
                <c:pt idx="2">
                  <c:v>-6.04</c:v>
                </c:pt>
                <c:pt idx="3">
                  <c:v>-8.39</c:v>
                </c:pt>
                <c:pt idx="4">
                  <c:v>-5.03</c:v>
                </c:pt>
              </c:numCache>
            </c:numRef>
          </c:val>
        </c:ser>
        <c:dLbls>
          <c:numFmt formatCode="0.00;−0.00" sourceLinked="0"/>
          <c:txPr>
            <a:bodyPr xmlns:a="http://schemas.openxmlformats.org/drawingml/2006/main" anchorCtr="1"/>
            <a:lstStyle xmlns:a="http://schemas.openxmlformats.org/drawingml/2006/main"/>
            <a:p xmlns:a="http://schemas.openxmlformats.org/drawingml/2006/main">
              <a:pPr>
                <a:defRPr sz="1800" b="1">
                  <a:solidFill>
                    <a:srgbClr val="1F2933"/>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7DCDF"/>
            </a:solidFill>
          </a:ln>
        </c:spPr>
        <c:txPr>
          <a:bodyPr xmlns:a="http://schemas.openxmlformats.org/drawingml/2006/main" anchorCtr="1"/>
          <a:lstStyle xmlns:a="http://schemas.openxmlformats.org/drawingml/2006/main"/>
          <a:p xmlns:a="http://schemas.openxmlformats.org/drawingml/2006/main">
            <a:pPr>
              <a:defRPr sz="1650">
                <a:solidFill>
                  <a:srgbClr val="1F2933"/>
                </a:solidFill>
                <a:latin typeface="DejaVu Sans"/>
                <a:ea typeface="DejaVu Sans"/>
                <a:cs typeface="DejaVu Sans"/>
              </a:defRPr>
            </a:pPr>
          </a:p>
        </c:txPr>
        <c:crossAx val="48672768"/>
      </c:catAx>
      <c:valAx>
        <c:axId val="48672768"/>
        <c:scaling>
          <c:orientation val="minMax"/>
          <c:max val="3"/>
          <c:min val="-10"/>
        </c:scaling>
        <c:delete val="0"/>
        <c:axPos val="l"/>
        <c:majorGridlines>
          <c:spPr>
            <a:ln xmlns:a="http://schemas.openxmlformats.org/drawingml/2006/main" w="5715">
              <a:solidFill>
                <a:srgbClr val="D7DCDF"/>
              </a:solidFill>
            </a:ln>
          </c:spPr>
        </c:majorGridlines>
        <c:numFmt formatCode="0.0;−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425">
                <a:solidFill>
                  <a:srgbClr val="52606D"/>
                </a:solidFill>
                <a:latin typeface="DejaVu Sans"/>
                <a:ea typeface="DejaVu Sans"/>
                <a:cs typeface="DejaVu Sans"/>
              </a:defRPr>
            </a:pPr>
          </a:p>
        </c:txPr>
        <c:crossAx val="48650112"/>
        <c:crossBetween val="between"/>
      </c:valAx>
      <c:spPr>
        <a:solidFill xmlns:a="http://schemas.openxmlformats.org/drawingml/2006/main">
          <a:srgbClr val="F7F6F2"/>
        </a:solidFill>
      </c:spPr>
    </c:plotArea>
    <c:plotVisOnly val="1"/>
  </c:chart>
  <c:spPr>
    <a:solidFill xmlns:a="http://schemas.openxmlformats.org/drawingml/2006/main">
      <a:srgbClr val="F7F6F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8EE677C1-02C1-4F15-BF74-06C119B79DAF}"/>
              </a:ext>
            </a:extLst>
          </p:cNvPr>
          <p:cNvSpPr>
            <a:spLocks xmlns:a="http://schemas.openxmlformats.org/drawingml/2006/main" noGrp="1"/>
          </p:cNvSpPr>
          <p:nvPr/>
        </p:nvSpPr>
        <p:spPr>
          <a:xfrm xmlns:a="http://schemas.openxmlformats.org/drawingml/2006/main">
            <a:off x="609600" y="1047750"/>
            <a:ext cx="109728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4650" b="1">
                <a:solidFill>
                  <a:srgbClr val="1F2933"/>
                </a:solidFill>
                <a:latin typeface="DejaVu Sans"/>
                <a:ea typeface="DejaVu Sans"/>
                <a:cs typeface="DejaVu Sans"/>
              </a:rPr>
              <a:t>Robust Speech Recognition</a:t>
            </a:r>
          </a:p>
          <a:p xmlns:a="http://schemas.openxmlformats.org/drawingml/2006/main">
            <a:pPr>
              <a:defRPr sz="3150" b="1">
                <a:solidFill>
                  <a:srgbClr val="1F2933"/>
                </a:solidFill>
                <a:latin typeface="DejaVu Sans"/>
                <a:ea typeface="DejaVu Sans"/>
                <a:cs typeface="DejaVu Sans"/>
              </a:defRPr>
            </a:pPr>
            <a:r>
              <a:rPr sz="4650" b="1">
                <a:solidFill>
                  <a:srgbClr val="1F2933"/>
                </a:solidFill>
                <a:latin typeface="DejaVu Sans"/>
                <a:ea typeface="DejaVu Sans"/>
                <a:cs typeface="DejaVu Sans"/>
              </a:rPr>
              <a:t>in Persian Language</a:t>
            </a:r>
          </a:p>
        </p:txBody>
      </p:sp>
      <p:sp>
        <p:nvSpPr>
          <p:cNvPr id="2" name="text-1">
            <a:extLst xmlns:a="http://schemas.openxmlformats.org/drawingml/2006/main">
              <a:ext uri="{FF2B5EF4-FFF2-40B4-BE49-F238E27FC236}">
                <a16:creationId xmlns:a16="http://schemas.microsoft.com/office/drawing/2014/main" id="{6D822F1E-64EA-4691-BB95-5362AE8F7479}"/>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01</a:t>
            </a:r>
          </a:p>
        </p:txBody>
      </p:sp>
      <p:sp>
        <p:nvSpPr>
          <p:cNvPr id="3" name="text-2">
            <a:extLst xmlns:a="http://schemas.openxmlformats.org/drawingml/2006/main">
              <a:ext uri="{FF2B5EF4-FFF2-40B4-BE49-F238E27FC236}">
                <a16:creationId xmlns:a16="http://schemas.microsoft.com/office/drawing/2014/main" id="{DE89E9E8-7621-4260-AD01-BB473D89371F}"/>
              </a:ext>
            </a:extLst>
          </p:cNvPr>
          <p:cNvSpPr>
            <a:spLocks xmlns:a="http://schemas.openxmlformats.org/drawingml/2006/main" noGrp="1"/>
          </p:cNvSpPr>
          <p:nvPr/>
        </p:nvSpPr>
        <p:spPr>
          <a:xfrm xmlns:a="http://schemas.openxmlformats.org/drawingml/2006/main">
            <a:off x="609600" y="3162300"/>
            <a:ext cx="10477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D6F8A"/>
                </a:solidFill>
                <a:latin typeface="DejaVu Sans"/>
                <a:ea typeface="DejaVu Sans"/>
                <a:cs typeface="DejaVu Sans"/>
              </a:defRPr>
            </a:defPPr>
          </a:lstStyle>
          <a:p xmlns:a="http://schemas.openxmlformats.org/drawingml/2006/main">
            <a:pPr>
              <a:defRPr sz="2400" b="0">
                <a:solidFill>
                  <a:srgbClr val="1D6F8A"/>
                </a:solidFill>
                <a:latin typeface="DejaVu Sans"/>
                <a:ea typeface="DejaVu Sans"/>
                <a:cs typeface="DejaVu Sans"/>
              </a:defRPr>
            </a:pPr>
            <a:r>
              <a:rPr sz="2400" b="0">
                <a:solidFill>
                  <a:srgbClr val="1D6F8A"/>
                </a:solidFill>
                <a:latin typeface="DejaVu Sans"/>
                <a:ea typeface="DejaVu Sans"/>
                <a:cs typeface="DejaVu Sans"/>
              </a:rPr>
              <a:t>Telecom augmentation, dual-stream fusion,</a:t>
            </a:r>
          </a:p>
          <a:p xmlns:a="http://schemas.openxmlformats.org/drawingml/2006/main">
            <a:pPr>
              <a:defRPr sz="2400" b="0">
                <a:solidFill>
                  <a:srgbClr val="1D6F8A"/>
                </a:solidFill>
                <a:latin typeface="DejaVu Sans"/>
                <a:ea typeface="DejaVu Sans"/>
                <a:cs typeface="DejaVu Sans"/>
              </a:defRPr>
            </a:pPr>
            <a:r>
              <a:rPr sz="2400" b="0">
                <a:solidFill>
                  <a:srgbClr val="1D6F8A"/>
                </a:solidFill>
                <a:latin typeface="DejaVu Sans"/>
                <a:ea typeface="DejaVu Sans"/>
                <a:cs typeface="DejaVu Sans"/>
              </a:rPr>
              <a:t>and pseudo-labelled Persian audiobooks</a:t>
            </a:r>
          </a:p>
        </p:txBody>
      </p:sp>
      <p:sp>
        <p:nvSpPr>
          <p:cNvPr id="4" name="text-3">
            <a:extLst xmlns:a="http://schemas.openxmlformats.org/drawingml/2006/main">
              <a:ext uri="{FF2B5EF4-FFF2-40B4-BE49-F238E27FC236}">
                <a16:creationId xmlns:a16="http://schemas.microsoft.com/office/drawing/2014/main" id="{90BCC596-8E86-4A69-9A87-A800528CC73E}"/>
              </a:ext>
            </a:extLst>
          </p:cNvPr>
          <p:cNvSpPr>
            <a:spLocks xmlns:a="http://schemas.openxmlformats.org/drawingml/2006/main" noGrp="1"/>
          </p:cNvSpPr>
          <p:nvPr/>
        </p:nvSpPr>
        <p:spPr>
          <a:xfrm xmlns:a="http://schemas.openxmlformats.org/drawingml/2006/main">
            <a:off x="609600" y="48196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F2933"/>
                </a:solidFill>
                <a:latin typeface="DejaVu Sans"/>
                <a:ea typeface="DejaVu Sans"/>
                <a:cs typeface="DejaVu Sans"/>
              </a:defRPr>
            </a:defPPr>
          </a:lstStyle>
          <a:p xmlns:a="http://schemas.openxmlformats.org/drawingml/2006/main">
            <a:pPr>
              <a:defRPr sz="2100" b="1">
                <a:solidFill>
                  <a:srgbClr val="1F2933"/>
                </a:solidFill>
                <a:latin typeface="DejaVu Sans"/>
                <a:ea typeface="DejaVu Sans"/>
                <a:cs typeface="DejaVu Sans"/>
              </a:defRPr>
            </a:pPr>
            <a:r>
              <a:rPr sz="2100" b="1">
                <a:solidFill>
                  <a:srgbClr val="1F2933"/>
                </a:solidFill>
                <a:latin typeface="DejaVu Sans"/>
                <a:ea typeface="DejaVu Sans"/>
                <a:cs typeface="DejaVu Sans"/>
              </a:rPr>
              <a:t>Pouya Fallah Sichani</a:t>
            </a:r>
          </a:p>
        </p:txBody>
      </p:sp>
      <p:sp>
        <p:nvSpPr>
          <p:cNvPr id="5" name="text-4">
            <a:extLst xmlns:a="http://schemas.openxmlformats.org/drawingml/2006/main">
              <a:ext uri="{FF2B5EF4-FFF2-40B4-BE49-F238E27FC236}">
                <a16:creationId xmlns:a16="http://schemas.microsoft.com/office/drawing/2014/main" id="{6102E4F1-3641-4035-9936-E4BA39D2613D}"/>
              </a:ext>
            </a:extLst>
          </p:cNvPr>
          <p:cNvSpPr>
            <a:spLocks xmlns:a="http://schemas.openxmlformats.org/drawingml/2006/main" noGrp="1"/>
          </p:cNvSpPr>
          <p:nvPr/>
        </p:nvSpPr>
        <p:spPr>
          <a:xfrm xmlns:a="http://schemas.openxmlformats.org/drawingml/2006/main">
            <a:off x="609600" y="531495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06D"/>
                </a:solidFill>
                <a:latin typeface="DejaVu Sans"/>
                <a:ea typeface="DejaVu Sans"/>
                <a:cs typeface="DejaVu Sans"/>
              </a:defRPr>
            </a:defPPr>
          </a:lstStyle>
          <a:p xmlns:a="http://schemas.openxmlformats.org/drawingml/2006/main">
            <a:pPr>
              <a:defRPr sz="1725" b="0">
                <a:solidFill>
                  <a:srgbClr val="52606D"/>
                </a:solidFill>
                <a:latin typeface="DejaVu Sans"/>
                <a:ea typeface="DejaVu Sans"/>
                <a:cs typeface="DejaVu Sans"/>
              </a:defRPr>
            </a:pPr>
            <a:r>
              <a:rPr sz="1725" b="0">
                <a:solidFill>
                  <a:srgbClr val="52606D"/>
                </a:solidFill>
                <a:latin typeface="DejaVu Sans"/>
                <a:ea typeface="DejaVu Sans"/>
                <a:cs typeface="DejaVu Sans"/>
              </a:rPr>
              <a:t>M.Sc. in Computer Engineering</a:t>
            </a:r>
          </a:p>
          <a:p xmlns:a="http://schemas.openxmlformats.org/drawingml/2006/main">
            <a:pPr>
              <a:defRPr sz="1725" b="0">
                <a:solidFill>
                  <a:srgbClr val="52606D"/>
                </a:solidFill>
                <a:latin typeface="DejaVu Sans"/>
                <a:ea typeface="DejaVu Sans"/>
                <a:cs typeface="DejaVu Sans"/>
              </a:defRPr>
            </a:pPr>
            <a:r>
              <a:rPr sz="1725" b="0">
                <a:solidFill>
                  <a:srgbClr val="52606D"/>
                </a:solidFill>
                <a:latin typeface="DejaVu Sans"/>
                <a:ea typeface="DejaVu Sans"/>
                <a:cs typeface="DejaVu Sans"/>
              </a:rPr>
              <a:t>Supervisor: Dr. Hosein Sameti</a:t>
            </a:r>
          </a:p>
          <a:p xmlns:a="http://schemas.openxmlformats.org/drawingml/2006/main">
            <a:pPr>
              <a:defRPr sz="1725" b="0">
                <a:solidFill>
                  <a:srgbClr val="52606D"/>
                </a:solidFill>
                <a:latin typeface="DejaVu Sans"/>
                <a:ea typeface="DejaVu Sans"/>
                <a:cs typeface="DejaVu Sans"/>
              </a:defRPr>
            </a:pPr>
            <a:r>
              <a:rPr sz="1725" b="0">
                <a:solidFill>
                  <a:srgbClr val="52606D"/>
                </a:solidFill>
                <a:latin typeface="DejaVu Sans"/>
                <a:ea typeface="DejaVu Sans"/>
                <a:cs typeface="DejaVu Sans"/>
              </a:rPr>
              <a:t>Sharif University of Technology</a:t>
            </a:r>
          </a:p>
        </p:txBody>
      </p:sp>
    </p:spTree>
    <p:extLst>
      <p:ext uri="{BB962C8B-B14F-4D97-AF65-F5344CB8AC3E}">
        <p14:creationId xmlns:p14="http://schemas.microsoft.com/office/powerpoint/2010/main" val="691127638"/>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D89A99CC-DED1-47C9-B20B-494472F20589}"/>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The mismatch in Persian telephone ASR</a:t>
            </a:r>
          </a:p>
        </p:txBody>
      </p:sp>
      <p:sp>
        <p:nvSpPr>
          <p:cNvPr id="2" name="text-1">
            <a:extLst xmlns:a="http://schemas.openxmlformats.org/drawingml/2006/main">
              <a:ext uri="{FF2B5EF4-FFF2-40B4-BE49-F238E27FC236}">
                <a16:creationId xmlns:a16="http://schemas.microsoft.com/office/drawing/2014/main" id="{F7597F70-A196-40FB-AB38-61FDD7164979}"/>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02</a:t>
            </a:r>
          </a:p>
        </p:txBody>
      </p:sp>
      <p:sp>
        <p:nvSpPr>
          <p:cNvPr id="3" name="text-2">
            <a:extLst xmlns:a="http://schemas.openxmlformats.org/drawingml/2006/main">
              <a:ext uri="{FF2B5EF4-FFF2-40B4-BE49-F238E27FC236}">
                <a16:creationId xmlns:a16="http://schemas.microsoft.com/office/drawing/2014/main" id="{63585E23-B78E-4EFE-9C0B-5DD9D4B092C2}"/>
              </a:ext>
            </a:extLst>
          </p:cNvPr>
          <p:cNvSpPr>
            <a:spLocks xmlns:a="http://schemas.openxmlformats.org/drawingml/2006/main" noGrp="1"/>
          </p:cNvSpPr>
          <p:nvPr/>
        </p:nvSpPr>
        <p:spPr>
          <a:xfrm xmlns:a="http://schemas.openxmlformats.org/drawingml/2006/main">
            <a:off x="609600" y="18097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6F8A"/>
                </a:solidFill>
                <a:latin typeface="DejaVu Sans"/>
                <a:ea typeface="DejaVu Sans"/>
                <a:cs typeface="DejaVu Sans"/>
              </a:defRPr>
            </a:defPPr>
          </a:lstStyle>
          <a:p xmlns:a="http://schemas.openxmlformats.org/drawingml/2006/main">
            <a:pPr>
              <a:defRPr sz="2175" b="1">
                <a:solidFill>
                  <a:srgbClr val="1D6F8A"/>
                </a:solidFill>
                <a:latin typeface="DejaVu Sans"/>
                <a:ea typeface="DejaVu Sans"/>
                <a:cs typeface="DejaVu Sans"/>
              </a:defRPr>
            </a:pPr>
            <a:r>
              <a:rPr sz="2175" b="1">
                <a:solidFill>
                  <a:srgbClr val="1D6F8A"/>
                </a:solidFill>
                <a:latin typeface="DejaVu Sans"/>
                <a:ea typeface="DejaVu Sans"/>
                <a:cs typeface="DejaVu Sans"/>
              </a:rPr>
              <a:t>Available speech</a:t>
            </a:r>
          </a:p>
        </p:txBody>
      </p:sp>
      <p:sp>
        <p:nvSpPr>
          <p:cNvPr id="4" name="text-3">
            <a:extLst xmlns:a="http://schemas.openxmlformats.org/drawingml/2006/main">
              <a:ext uri="{FF2B5EF4-FFF2-40B4-BE49-F238E27FC236}">
                <a16:creationId xmlns:a16="http://schemas.microsoft.com/office/drawing/2014/main" id="{5D164E0E-B3AB-4BBD-A1DD-F1BACA21855C}"/>
              </a:ext>
            </a:extLst>
          </p:cNvPr>
          <p:cNvSpPr>
            <a:spLocks xmlns:a="http://schemas.openxmlformats.org/drawingml/2006/main" noGrp="1"/>
          </p:cNvSpPr>
          <p:nvPr/>
        </p:nvSpPr>
        <p:spPr>
          <a:xfrm xmlns:a="http://schemas.openxmlformats.org/drawingml/2006/main">
            <a:off x="609600" y="22288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F2933"/>
                </a:solidFill>
                <a:latin typeface="DejaVu Sans"/>
                <a:ea typeface="DejaVu Sans"/>
                <a:cs typeface="DejaVu Sans"/>
              </a:defRPr>
            </a:defPPr>
          </a:lstStyle>
          <a:p xmlns:a="http://schemas.openxmlformats.org/drawingml/2006/main">
            <a:pPr>
              <a:defRPr sz="1950" b="0">
                <a:solidFill>
                  <a:srgbClr val="1F2933"/>
                </a:solidFill>
                <a:latin typeface="DejaVu Sans"/>
                <a:ea typeface="DejaVu Sans"/>
                <a:cs typeface="DejaVu Sans"/>
              </a:defRPr>
            </a:pPr>
            <a:r>
              <a:rPr sz="1950" b="0">
                <a:solidFill>
                  <a:srgbClr val="1F2933"/>
                </a:solidFill>
                <a:latin typeface="DejaVu Sans"/>
                <a:ea typeface="DejaVu Sans"/>
                <a:cs typeface="DejaVu Sans"/>
              </a:rPr>
              <a:t>General Persian corpora, many short clips, varied recording conditions</a:t>
            </a:r>
          </a:p>
        </p:txBody>
      </p:sp>
      <p:sp>
        <p:nvSpPr>
          <p:cNvPr id="5" name="text-4">
            <a:extLst xmlns:a="http://schemas.openxmlformats.org/drawingml/2006/main">
              <a:ext uri="{FF2B5EF4-FFF2-40B4-BE49-F238E27FC236}">
                <a16:creationId xmlns:a16="http://schemas.microsoft.com/office/drawing/2014/main" id="{CEEC3A65-826B-436F-BCED-E1DD00C867B4}"/>
              </a:ext>
            </a:extLst>
          </p:cNvPr>
          <p:cNvSpPr>
            <a:spLocks xmlns:a="http://schemas.openxmlformats.org/drawingml/2006/main" noGrp="1"/>
          </p:cNvSpPr>
          <p:nvPr/>
        </p:nvSpPr>
        <p:spPr>
          <a:xfrm xmlns:a="http://schemas.openxmlformats.org/drawingml/2006/main">
            <a:off x="609600" y="30099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6F8A"/>
                </a:solidFill>
                <a:latin typeface="DejaVu Sans"/>
                <a:ea typeface="DejaVu Sans"/>
                <a:cs typeface="DejaVu Sans"/>
              </a:defRPr>
            </a:defPPr>
          </a:lstStyle>
          <a:p xmlns:a="http://schemas.openxmlformats.org/drawingml/2006/main">
            <a:pPr>
              <a:defRPr sz="2175" b="1">
                <a:solidFill>
                  <a:srgbClr val="1D6F8A"/>
                </a:solidFill>
                <a:latin typeface="DejaVu Sans"/>
                <a:ea typeface="DejaVu Sans"/>
                <a:cs typeface="DejaVu Sans"/>
              </a:defRPr>
            </a:pPr>
            <a:r>
              <a:rPr sz="2175" b="1">
                <a:solidFill>
                  <a:srgbClr val="1D6F8A"/>
                </a:solidFill>
                <a:latin typeface="DejaVu Sans"/>
                <a:ea typeface="DejaVu Sans"/>
                <a:cs typeface="DejaVu Sans"/>
              </a:rPr>
              <a:t>Target speech</a:t>
            </a:r>
          </a:p>
        </p:txBody>
      </p:sp>
      <p:sp>
        <p:nvSpPr>
          <p:cNvPr id="6" name="text-5">
            <a:extLst xmlns:a="http://schemas.openxmlformats.org/drawingml/2006/main">
              <a:ext uri="{FF2B5EF4-FFF2-40B4-BE49-F238E27FC236}">
                <a16:creationId xmlns:a16="http://schemas.microsoft.com/office/drawing/2014/main" id="{D0715A15-E218-40E7-B1AD-D27234ABC947}"/>
              </a:ext>
            </a:extLst>
          </p:cNvPr>
          <p:cNvSpPr>
            <a:spLocks xmlns:a="http://schemas.openxmlformats.org/drawingml/2006/main" noGrp="1"/>
          </p:cNvSpPr>
          <p:nvPr/>
        </p:nvSpPr>
        <p:spPr>
          <a:xfrm xmlns:a="http://schemas.openxmlformats.org/drawingml/2006/main">
            <a:off x="609600" y="34290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F2933"/>
                </a:solidFill>
                <a:latin typeface="DejaVu Sans"/>
                <a:ea typeface="DejaVu Sans"/>
                <a:cs typeface="DejaVu Sans"/>
              </a:defRPr>
            </a:defPPr>
          </a:lstStyle>
          <a:p xmlns:a="http://schemas.openxmlformats.org/drawingml/2006/main">
            <a:pPr>
              <a:defRPr sz="1950" b="0">
                <a:solidFill>
                  <a:srgbClr val="1F2933"/>
                </a:solidFill>
                <a:latin typeface="DejaVu Sans"/>
                <a:ea typeface="DejaVu Sans"/>
                <a:cs typeface="DejaVu Sans"/>
              </a:defRPr>
            </a:pPr>
            <a:r>
              <a:rPr sz="1950" b="0">
                <a:solidFill>
                  <a:srgbClr val="1F2933"/>
                </a:solidFill>
                <a:latin typeface="DejaVu Sans"/>
                <a:ea typeface="DejaVu Sans"/>
                <a:cs typeface="DejaVu Sans"/>
              </a:rPr>
              <a:t>Telephone and VoIP with noise, limited bandwidth, codecs and packet loss</a:t>
            </a:r>
          </a:p>
        </p:txBody>
      </p:sp>
      <p:sp>
        <p:nvSpPr>
          <p:cNvPr id="7" name="text-6">
            <a:extLst xmlns:a="http://schemas.openxmlformats.org/drawingml/2006/main">
              <a:ext uri="{FF2B5EF4-FFF2-40B4-BE49-F238E27FC236}">
                <a16:creationId xmlns:a16="http://schemas.microsoft.com/office/drawing/2014/main" id="{98491BF6-BB98-4BEE-A7F8-C14928DD49E7}"/>
              </a:ext>
            </a:extLst>
          </p:cNvPr>
          <p:cNvSpPr>
            <a:spLocks xmlns:a="http://schemas.openxmlformats.org/drawingml/2006/main" noGrp="1"/>
          </p:cNvSpPr>
          <p:nvPr/>
        </p:nvSpPr>
        <p:spPr>
          <a:xfrm xmlns:a="http://schemas.openxmlformats.org/drawingml/2006/main">
            <a:off x="609600" y="4210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6F8A"/>
                </a:solidFill>
                <a:latin typeface="DejaVu Sans"/>
                <a:ea typeface="DejaVu Sans"/>
                <a:cs typeface="DejaVu Sans"/>
              </a:defRPr>
            </a:defPPr>
          </a:lstStyle>
          <a:p xmlns:a="http://schemas.openxmlformats.org/drawingml/2006/main">
            <a:pPr>
              <a:defRPr sz="2175" b="1">
                <a:solidFill>
                  <a:srgbClr val="1D6F8A"/>
                </a:solidFill>
                <a:latin typeface="DejaVu Sans"/>
                <a:ea typeface="DejaVu Sans"/>
                <a:cs typeface="DejaVu Sans"/>
              </a:defRPr>
            </a:pPr>
            <a:r>
              <a:rPr sz="2175" b="1">
                <a:solidFill>
                  <a:srgbClr val="1D6F8A"/>
                </a:solidFill>
                <a:latin typeface="DejaVu Sans"/>
                <a:ea typeface="DejaVu Sans"/>
                <a:cs typeface="DejaVu Sans"/>
              </a:rPr>
              <a:t>Research objective</a:t>
            </a:r>
          </a:p>
        </p:txBody>
      </p:sp>
      <p:sp>
        <p:nvSpPr>
          <p:cNvPr id="8" name="text-7">
            <a:extLst xmlns:a="http://schemas.openxmlformats.org/drawingml/2006/main">
              <a:ext uri="{FF2B5EF4-FFF2-40B4-BE49-F238E27FC236}">
                <a16:creationId xmlns:a16="http://schemas.microsoft.com/office/drawing/2014/main" id="{F1EEB3D7-1DEE-4F06-A37A-1D88B6286D5E}"/>
              </a:ext>
            </a:extLst>
          </p:cNvPr>
          <p:cNvSpPr>
            <a:spLocks xmlns:a="http://schemas.openxmlformats.org/drawingml/2006/main" noGrp="1"/>
          </p:cNvSpPr>
          <p:nvPr/>
        </p:nvSpPr>
        <p:spPr>
          <a:xfrm xmlns:a="http://schemas.openxmlformats.org/drawingml/2006/main">
            <a:off x="609600" y="46291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F2933"/>
                </a:solidFill>
                <a:latin typeface="DejaVu Sans"/>
                <a:ea typeface="DejaVu Sans"/>
                <a:cs typeface="DejaVu Sans"/>
              </a:defRPr>
            </a:defPPr>
          </a:lstStyle>
          <a:p xmlns:a="http://schemas.openxmlformats.org/drawingml/2006/main">
            <a:pPr>
              <a:defRPr sz="1950" b="0">
                <a:solidFill>
                  <a:srgbClr val="1F2933"/>
                </a:solidFill>
                <a:latin typeface="DejaVu Sans"/>
                <a:ea typeface="DejaVu Sans"/>
                <a:cs typeface="DejaVu Sans"/>
              </a:defRPr>
            </a:pPr>
            <a:r>
              <a:rPr sz="1950" b="0">
                <a:solidFill>
                  <a:srgbClr val="1F2933"/>
                </a:solidFill>
                <a:latin typeface="DejaVu Sans"/>
                <a:ea typeface="DejaVu Sans"/>
                <a:cs typeface="DejaVu Sans"/>
              </a:rPr>
              <a:t>Improve real-call recognition using existing speech and unlabelled audio</a:t>
            </a:r>
          </a:p>
        </p:txBody>
      </p:sp>
      <p:sp>
        <p:nvSpPr>
          <p:cNvPr id="9" name="text-8">
            <a:extLst xmlns:a="http://schemas.openxmlformats.org/drawingml/2006/main">
              <a:ext uri="{FF2B5EF4-FFF2-40B4-BE49-F238E27FC236}">
                <a16:creationId xmlns:a16="http://schemas.microsoft.com/office/drawing/2014/main" id="{D437B927-BF45-4B4B-B44D-8941706D0484}"/>
              </a:ext>
            </a:extLst>
          </p:cNvPr>
          <p:cNvSpPr>
            <a:spLocks xmlns:a="http://schemas.openxmlformats.org/drawingml/2006/main" noGrp="1"/>
          </p:cNvSpPr>
          <p:nvPr/>
        </p:nvSpPr>
        <p:spPr>
          <a:xfrm xmlns:a="http://schemas.openxmlformats.org/drawingml/2006/main">
            <a:off x="609600" y="59055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06D"/>
                </a:solidFill>
                <a:latin typeface="DejaVu Sans"/>
                <a:ea typeface="DejaVu Sans"/>
                <a:cs typeface="DejaVu Sans"/>
              </a:defRPr>
            </a:defPPr>
          </a:lstStyle>
          <a:p xmlns:a="http://schemas.openxmlformats.org/drawingml/2006/main">
            <a:pPr>
              <a:defRPr sz="1650" b="0">
                <a:solidFill>
                  <a:srgbClr val="52606D"/>
                </a:solidFill>
                <a:latin typeface="DejaVu Sans"/>
                <a:ea typeface="DejaVu Sans"/>
                <a:cs typeface="DejaVu Sans"/>
              </a:defRPr>
            </a:pPr>
            <a:r>
              <a:rPr sz="1650" b="0">
                <a:solidFill>
                  <a:srgbClr val="52606D"/>
                </a:solidFill>
                <a:latin typeface="DejaVu Sans"/>
                <a:ea typeface="DejaVu Sans"/>
                <a:cs typeface="DejaVu Sans"/>
              </a:rPr>
              <a:t>The test must include real calls that the simulator never generated.</a:t>
            </a:r>
          </a:p>
        </p:txBody>
      </p:sp>
    </p:spTree>
    <p:extLst>
      <p:ext uri="{BB962C8B-B14F-4D97-AF65-F5344CB8AC3E}">
        <p14:creationId xmlns:p14="http://schemas.microsoft.com/office/powerpoint/2010/main" val="533681330"/>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AFC8EAFE-20AB-4496-A255-61AB6F4BBF06}"/>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Research design</a:t>
            </a:r>
          </a:p>
        </p:txBody>
      </p:sp>
      <p:sp>
        <p:nvSpPr>
          <p:cNvPr id="2" name="text-1">
            <a:extLst xmlns:a="http://schemas.openxmlformats.org/drawingml/2006/main">
              <a:ext uri="{FF2B5EF4-FFF2-40B4-BE49-F238E27FC236}">
                <a16:creationId xmlns:a16="http://schemas.microsoft.com/office/drawing/2014/main" id="{E963DD6F-F0F4-4A11-9725-60914D3403B6}"/>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03</a:t>
            </a:r>
          </a:p>
        </p:txBody>
      </p:sp>
      <p:graphicFrame>
        <p:nvGraphicFramePr>
          <p:cNvPr id="3" name="">
            <a:extLst xmlns:a="http://schemas.openxmlformats.org/drawingml/2006/main">
              <a:ext uri="{FF2B5EF4-FFF2-40B4-BE49-F238E27FC236}">
                <a16:creationId xmlns:a16="http://schemas.microsoft.com/office/drawing/2014/main" id="{5FCB4765-3B35-4CB8-9E69-B639119C25D8}"/>
              </a:ext>
            </a:extLst>
          </p:cNvPr>
          <p:cNvGraphicFramePr/>
          <p:nvPr/>
        </p:nvGraphicFramePr>
        <p:xfrm>
          <a:off xmlns:a="http://schemas.openxmlformats.org/drawingml/2006/main" x="609600" y="1790700"/>
          <a:ext xmlns:a="http://schemas.openxmlformats.org/drawingml/2006/main" cx="10972800" cy="3238500"/>
        </p:xfrm>
        <a:graphic xmlns:a="http://schemas.openxmlformats.org/drawingml/2006/main">
          <a:graphicData uri="http://schemas.openxmlformats.org/drawingml/2006/table">
            <a:tbl>
              <a:tblPr/>
              <a:tblGrid>
                <a:gridCol w="3048000"/>
                <a:gridCol w="4667250"/>
                <a:gridCol w="3257550"/>
              </a:tblGrid>
              <a:tr h="809625">
                <a:tc>
                  <a:txBody>
                    <a:bodyPr/>
                    <a:lstStyle/>
                    <a:p>
                      <a:pPr algn="l"/>
                      <a:r>
                        <a:rPr sz="1800" b="1">
                          <a:solidFill>
                            <a:srgbClr val="FFFFFF"/>
                          </a:solidFill>
                          <a:latin typeface="DejaVu Sans"/>
                          <a:ea typeface="DejaVu Sans"/>
                          <a:cs typeface="DejaVu Sans"/>
                        </a:rPr>
                        <a:t>Comparison</a:t>
                      </a:r>
                    </a:p>
                  </a:txBody>
                  <a:tcPr marL="133350" marR="114300" marT="76200" marB="76200" anchor="ctr">
                    <a:solidFill>
                      <a:srgbClr val="1F2933"/>
                    </a:solidFill>
                  </a:tcPr>
                </a:tc>
                <a:tc>
                  <a:txBody>
                    <a:bodyPr/>
                    <a:lstStyle/>
                    <a:p>
                      <a:pPr algn="ctr"/>
                      <a:r>
                        <a:rPr sz="1800" b="1">
                          <a:solidFill>
                            <a:srgbClr val="FFFFFF"/>
                          </a:solidFill>
                          <a:latin typeface="DejaVu Sans"/>
                          <a:ea typeface="DejaVu Sans"/>
                          <a:cs typeface="DejaVu Sans"/>
                        </a:rPr>
                        <a:t>What changes</a:t>
                      </a:r>
                    </a:p>
                  </a:txBody>
                  <a:tcPr marL="133350" marR="114300" marT="76200" marB="76200" anchor="ctr">
                    <a:solidFill>
                      <a:srgbClr val="1F2933"/>
                    </a:solidFill>
                  </a:tcPr>
                </a:tc>
                <a:tc>
                  <a:txBody>
                    <a:bodyPr/>
                    <a:lstStyle/>
                    <a:p>
                      <a:pPr algn="ctr"/>
                      <a:r>
                        <a:rPr sz="1800" b="1">
                          <a:solidFill>
                            <a:srgbClr val="FFFFFF"/>
                          </a:solidFill>
                          <a:latin typeface="DejaVu Sans"/>
                          <a:ea typeface="DejaVu Sans"/>
                          <a:cs typeface="DejaVu Sans"/>
                        </a:rPr>
                        <a:t>Reference</a:t>
                      </a:r>
                    </a:p>
                  </a:txBody>
                  <a:tcPr marL="133350" marR="114300" marT="76200" marB="76200" anchor="ctr">
                    <a:solidFill>
                      <a:srgbClr val="1F2933"/>
                    </a:solidFill>
                  </a:tcPr>
                </a:tc>
              </a:tr>
              <a:tr h="809625">
                <a:tc>
                  <a:txBody>
                    <a:bodyPr/>
                    <a:lstStyle/>
                    <a:p>
                      <a:pPr algn="l"/>
                      <a:r>
                        <a:rPr sz="1800" b="0">
                          <a:solidFill>
                            <a:srgbClr val="1F2933"/>
                          </a:solidFill>
                          <a:latin typeface="DejaVu Sans"/>
                          <a:ea typeface="DejaVu Sans"/>
                          <a:cs typeface="DejaVu Sans"/>
                        </a:rPr>
                        <a:t>Telecom augmentation</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Add degraded speech</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Ordinary Whisper-small</a:t>
                      </a:r>
                    </a:p>
                  </a:txBody>
                  <a:tcPr marL="133350" marR="114300" marT="76200" marB="76200" anchor="ctr">
                    <a:solidFill>
                      <a:srgbClr val="F7F6F2"/>
                    </a:solidFill>
                  </a:tcPr>
                </a:tc>
              </a:tr>
              <a:tr h="809625">
                <a:tc>
                  <a:txBody>
                    <a:bodyPr/>
                    <a:lstStyle/>
                    <a:p>
                      <a:pPr algn="l"/>
                      <a:r>
                        <a:rPr sz="1800" b="0">
                          <a:solidFill>
                            <a:srgbClr val="1F2933"/>
                          </a:solidFill>
                          <a:latin typeface="DejaVu Sans"/>
                          <a:ea typeface="DejaVu Sans"/>
                          <a:cs typeface="DejaVu Sans"/>
                        </a:rPr>
                        <a:t>Enhancement and fusion</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Add dual streams and staged training</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Multi-condition Whisper-small</a:t>
                      </a:r>
                    </a:p>
                  </a:txBody>
                  <a:tcPr marL="133350" marR="114300" marT="76200" marB="76200" anchor="ctr">
                    <a:solidFill>
                      <a:srgbClr val="F7F6F2"/>
                    </a:solidFill>
                  </a:tcPr>
                </a:tc>
              </a:tr>
              <a:tr h="809625">
                <a:tc>
                  <a:txBody>
                    <a:bodyPr/>
                    <a:lstStyle/>
                    <a:p>
                      <a:pPr algn="l"/>
                      <a:r>
                        <a:rPr sz="1800" b="0">
                          <a:solidFill>
                            <a:srgbClr val="1F2933"/>
                          </a:solidFill>
                          <a:latin typeface="DejaVu Sans"/>
                          <a:ea typeface="DejaVu Sans"/>
                          <a:cs typeface="DejaVu Sans"/>
                        </a:rPr>
                        <a:t>Audiobook data</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Add accepted IranSeda clips</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Multi-condition Whisper-small</a:t>
                      </a:r>
                    </a:p>
                  </a:txBody>
                  <a:tcPr marL="133350" marR="114300" marT="76200" marB="76200" anchor="ctr">
                    <a:solidFill>
                      <a:srgbClr val="F7F6F2"/>
                    </a:solidFill>
                  </a:tcPr>
                </a:tc>
              </a:tr>
            </a:tbl>
          </a:graphicData>
        </a:graphic>
      </p:graphicFrame>
      <p:sp>
        <p:nvSpPr>
          <p:cNvPr id="4" name="text-2">
            <a:extLst xmlns:a="http://schemas.openxmlformats.org/drawingml/2006/main">
              <a:ext uri="{FF2B5EF4-FFF2-40B4-BE49-F238E27FC236}">
                <a16:creationId xmlns:a16="http://schemas.microsoft.com/office/drawing/2014/main" id="{C58467D1-C6E7-454F-8CD9-6558CFEEE38F}"/>
              </a:ext>
            </a:extLst>
          </p:cNvPr>
          <p:cNvSpPr>
            <a:spLocks xmlns:a="http://schemas.openxmlformats.org/drawingml/2006/main" noGrp="1"/>
          </p:cNvSpPr>
          <p:nvPr/>
        </p:nvSpPr>
        <p:spPr>
          <a:xfrm xmlns:a="http://schemas.openxmlformats.org/drawingml/2006/main">
            <a:off x="609600" y="54673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06D"/>
                </a:solidFill>
                <a:latin typeface="DejaVu Sans"/>
                <a:ea typeface="DejaVu Sans"/>
                <a:cs typeface="DejaVu Sans"/>
              </a:defRPr>
            </a:defPPr>
          </a:lstStyle>
          <a:p xmlns:a="http://schemas.openxmlformats.org/drawingml/2006/main">
            <a:pPr>
              <a:defRPr sz="1650" b="0">
                <a:solidFill>
                  <a:srgbClr val="52606D"/>
                </a:solidFill>
                <a:latin typeface="DejaVu Sans"/>
                <a:ea typeface="DejaVu Sans"/>
                <a:cs typeface="DejaVu Sans"/>
              </a:defRPr>
            </a:pPr>
            <a:r>
              <a:rPr sz="1650" b="0">
                <a:solidFill>
                  <a:srgbClr val="52606D"/>
                </a:solidFill>
                <a:latin typeface="DejaVu Sans"/>
                <a:ea typeface="DejaVu Sans"/>
                <a:cs typeface="DejaVu Sans"/>
              </a:rPr>
              <a:t>Whisper-small remains the recognizer for the main comparisons.</a:t>
            </a:r>
          </a:p>
          <a:p xmlns:a="http://schemas.openxmlformats.org/drawingml/2006/main">
            <a:pPr>
              <a:defRPr sz="1650" b="0">
                <a:solidFill>
                  <a:srgbClr val="52606D"/>
                </a:solidFill>
                <a:latin typeface="DejaVu Sans"/>
                <a:ea typeface="DejaVu Sans"/>
                <a:cs typeface="DejaVu Sans"/>
              </a:defRPr>
            </a:pPr>
            <a:r>
              <a:rPr sz="1650" b="0">
                <a:solidFill>
                  <a:srgbClr val="52606D"/>
                </a:solidFill>
                <a:latin typeface="DejaVu Sans"/>
                <a:ea typeface="DejaVu Sans"/>
                <a:cs typeface="DejaVu Sans"/>
              </a:rPr>
              <a:t>Whisper Medium and Fast Conformer provide additional context.</a:t>
            </a:r>
          </a:p>
        </p:txBody>
      </p:sp>
    </p:spTree>
    <p:extLst>
      <p:ext uri="{BB962C8B-B14F-4D97-AF65-F5344CB8AC3E}">
        <p14:creationId xmlns:p14="http://schemas.microsoft.com/office/powerpoint/2010/main" val="1041551889"/>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820EF46-B3CB-4796-AEFB-ADF966967559}"/>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A shared Persian training foundation</a:t>
            </a:r>
          </a:p>
        </p:txBody>
      </p:sp>
      <p:sp>
        <p:nvSpPr>
          <p:cNvPr id="2" name="text-1">
            <a:extLst xmlns:a="http://schemas.openxmlformats.org/drawingml/2006/main">
              <a:ext uri="{FF2B5EF4-FFF2-40B4-BE49-F238E27FC236}">
                <a16:creationId xmlns:a16="http://schemas.microsoft.com/office/drawing/2014/main" id="{0C60E4B1-4534-4021-AF28-132B5238D70D}"/>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04</a:t>
            </a:r>
          </a:p>
        </p:txBody>
      </p:sp>
      <p:graphicFrame>
        <p:nvGraphicFramePr>
          <p:cNvPr id="3" name="">
            <a:extLst xmlns:a="http://schemas.openxmlformats.org/drawingml/2006/main">
              <a:ext uri="{FF2B5EF4-FFF2-40B4-BE49-F238E27FC236}">
                <a16:creationId xmlns:a16="http://schemas.microsoft.com/office/drawing/2014/main" id="{7676532D-5B7C-4621-A4DF-9CF89D86DCFF}"/>
              </a:ext>
            </a:extLst>
          </p:cNvPr>
          <p:cNvGraphicFramePr/>
          <p:nvPr/>
        </p:nvGraphicFramePr>
        <p:xfrm>
          <a:off xmlns:a="http://schemas.openxmlformats.org/drawingml/2006/main" x="609600" y="1752600"/>
          <a:ext xmlns:a="http://schemas.openxmlformats.org/drawingml/2006/main" cx="10972800" cy="2838450"/>
        </p:xfrm>
        <a:graphic xmlns:a="http://schemas.openxmlformats.org/drawingml/2006/main">
          <a:graphicData uri="http://schemas.openxmlformats.org/drawingml/2006/table">
            <a:tbl>
              <a:tblPr/>
              <a:tblGrid>
                <a:gridCol w="5524500"/>
                <a:gridCol w="2724150"/>
                <a:gridCol w="2724150"/>
              </a:tblGrid>
              <a:tr h="709613">
                <a:tc>
                  <a:txBody>
                    <a:bodyPr/>
                    <a:lstStyle/>
                    <a:p>
                      <a:pPr algn="l"/>
                      <a:r>
                        <a:rPr sz="2025" b="1">
                          <a:solidFill>
                            <a:srgbClr val="FFFFFF"/>
                          </a:solidFill>
                          <a:latin typeface="DejaVu Sans"/>
                          <a:ea typeface="DejaVu Sans"/>
                          <a:cs typeface="DejaVu Sans"/>
                        </a:rPr>
                        <a:t>Base corpus</a:t>
                      </a:r>
                    </a:p>
                  </a:txBody>
                  <a:tcPr marL="133350" marR="114300" marT="76200" marB="76200" anchor="ctr">
                    <a:solidFill>
                      <a:srgbClr val="1F2933"/>
                    </a:solidFill>
                  </a:tcPr>
                </a:tc>
                <a:tc>
                  <a:txBody>
                    <a:bodyPr/>
                    <a:lstStyle/>
                    <a:p>
                      <a:pPr algn="ctr"/>
                      <a:r>
                        <a:rPr sz="2025" b="1">
                          <a:solidFill>
                            <a:srgbClr val="FFFFFF"/>
                          </a:solidFill>
                          <a:latin typeface="DejaVu Sans"/>
                          <a:ea typeface="DejaVu Sans"/>
                          <a:cs typeface="DejaVu Sans"/>
                        </a:rPr>
                        <a:t>Training clips</a:t>
                      </a:r>
                    </a:p>
                  </a:txBody>
                  <a:tcPr marL="133350" marR="114300" marT="76200" marB="76200" anchor="ctr">
                    <a:solidFill>
                      <a:srgbClr val="1F2933"/>
                    </a:solidFill>
                  </a:tcPr>
                </a:tc>
                <a:tc>
                  <a:txBody>
                    <a:bodyPr/>
                    <a:lstStyle/>
                    <a:p>
                      <a:pPr algn="ctr"/>
                      <a:r>
                        <a:rPr sz="2025" b="1">
                          <a:solidFill>
                            <a:srgbClr val="FFFFFF"/>
                          </a:solidFill>
                          <a:latin typeface="DejaVu Sans"/>
                          <a:ea typeface="DejaVu Sans"/>
                          <a:cs typeface="DejaVu Sans"/>
                        </a:rPr>
                        <a:t>Validation clips</a:t>
                      </a:r>
                    </a:p>
                  </a:txBody>
                  <a:tcPr marL="133350" marR="114300" marT="76200" marB="76200" anchor="ctr">
                    <a:solidFill>
                      <a:srgbClr val="1F2933"/>
                    </a:solidFill>
                  </a:tcPr>
                </a:tc>
              </a:tr>
              <a:tr h="709613">
                <a:tc>
                  <a:txBody>
                    <a:bodyPr/>
                    <a:lstStyle/>
                    <a:p>
                      <a:pPr algn="l"/>
                      <a:r>
                        <a:rPr sz="2025" b="0">
                          <a:solidFill>
                            <a:srgbClr val="1F2933"/>
                          </a:solidFill>
                          <a:latin typeface="DejaVu Sans"/>
                          <a:ea typeface="DejaVu Sans"/>
                          <a:cs typeface="DejaVu Sans"/>
                        </a:rPr>
                        <a:t>Common Voice Persian 25</a:t>
                      </a:r>
                    </a:p>
                  </a:txBody>
                  <a:tcPr marL="133350" marR="114300" marT="76200" marB="76200" anchor="ctr">
                    <a:solidFill>
                      <a:srgbClr val="F7F6F2"/>
                    </a:solidFill>
                  </a:tcPr>
                </a:tc>
                <a:tc>
                  <a:txBody>
                    <a:bodyPr/>
                    <a:lstStyle/>
                    <a:p>
                      <a:pPr algn="ctr"/>
                      <a:r>
                        <a:rPr sz="2025" b="0">
                          <a:solidFill>
                            <a:srgbClr val="1F2933"/>
                          </a:solidFill>
                          <a:latin typeface="DejaVu Sans"/>
                          <a:ea typeface="DejaVu Sans"/>
                          <a:cs typeface="DejaVu Sans"/>
                        </a:rPr>
                        <a:t>299,430</a:t>
                      </a:r>
                    </a:p>
                  </a:txBody>
                  <a:tcPr marL="133350" marR="114300" marT="76200" marB="76200" anchor="ctr">
                    <a:solidFill>
                      <a:srgbClr val="F7F6F2"/>
                    </a:solidFill>
                  </a:tcPr>
                </a:tc>
                <a:tc>
                  <a:txBody>
                    <a:bodyPr/>
                    <a:lstStyle/>
                    <a:p>
                      <a:pPr algn="ctr"/>
                      <a:r>
                        <a:rPr sz="2025" b="0">
                          <a:solidFill>
                            <a:srgbClr val="1F2933"/>
                          </a:solidFill>
                          <a:latin typeface="DejaVu Sans"/>
                          <a:ea typeface="DejaVu Sans"/>
                          <a:cs typeface="DejaVu Sans"/>
                        </a:rPr>
                        <a:t>10,006</a:t>
                      </a:r>
                    </a:p>
                  </a:txBody>
                  <a:tcPr marL="133350" marR="114300" marT="76200" marB="76200" anchor="ctr">
                    <a:solidFill>
                      <a:srgbClr val="F7F6F2"/>
                    </a:solidFill>
                  </a:tcPr>
                </a:tc>
              </a:tr>
              <a:tr h="709613">
                <a:tc>
                  <a:txBody>
                    <a:bodyPr/>
                    <a:lstStyle/>
                    <a:p>
                      <a:pPr algn="l"/>
                      <a:r>
                        <a:rPr sz="2025" b="0">
                          <a:solidFill>
                            <a:srgbClr val="1F2933"/>
                          </a:solidFill>
                          <a:latin typeface="DejaVu Sans"/>
                          <a:ea typeface="DejaVu Sans"/>
                          <a:cs typeface="DejaVu Sans"/>
                        </a:rPr>
                        <a:t>FarsSpon, limited subset</a:t>
                      </a:r>
                    </a:p>
                  </a:txBody>
                  <a:tcPr marL="133350" marR="114300" marT="76200" marB="76200" anchor="ctr">
                    <a:solidFill>
                      <a:srgbClr val="F7F6F2"/>
                    </a:solidFill>
                  </a:tcPr>
                </a:tc>
                <a:tc>
                  <a:txBody>
                    <a:bodyPr/>
                    <a:lstStyle/>
                    <a:p>
                      <a:pPr algn="ctr"/>
                      <a:r>
                        <a:rPr sz="2025" b="0">
                          <a:solidFill>
                            <a:srgbClr val="1F2933"/>
                          </a:solidFill>
                          <a:latin typeface="DejaVu Sans"/>
                          <a:ea typeface="DejaVu Sans"/>
                          <a:cs typeface="DejaVu Sans"/>
                        </a:rPr>
                        <a:t>600,672</a:t>
                      </a:r>
                    </a:p>
                  </a:txBody>
                  <a:tcPr marL="133350" marR="114300" marT="76200" marB="76200" anchor="ctr">
                    <a:solidFill>
                      <a:srgbClr val="F7F6F2"/>
                    </a:solidFill>
                  </a:tcPr>
                </a:tc>
                <a:tc>
                  <a:txBody>
                    <a:bodyPr/>
                    <a:lstStyle/>
                    <a:p>
                      <a:pPr algn="ctr"/>
                      <a:r>
                        <a:rPr sz="2025" b="0">
                          <a:solidFill>
                            <a:srgbClr val="1F2933"/>
                          </a:solidFill>
                          <a:latin typeface="DejaVu Sans"/>
                          <a:ea typeface="DejaVu Sans"/>
                          <a:cs typeface="DejaVu Sans"/>
                        </a:rPr>
                        <a:t>6,044</a:t>
                      </a:r>
                    </a:p>
                  </a:txBody>
                  <a:tcPr marL="133350" marR="114300" marT="76200" marB="76200" anchor="ctr">
                    <a:solidFill>
                      <a:srgbClr val="F7F6F2"/>
                    </a:solidFill>
                  </a:tcPr>
                </a:tc>
              </a:tr>
              <a:tr h="709613">
                <a:tc>
                  <a:txBody>
                    <a:bodyPr/>
                    <a:lstStyle/>
                    <a:p>
                      <a:pPr algn="l"/>
                      <a:r>
                        <a:rPr sz="2025" b="0">
                          <a:solidFill>
                            <a:srgbClr val="1F2933"/>
                          </a:solidFill>
                          <a:latin typeface="DejaVu Sans"/>
                          <a:ea typeface="DejaVu Sans"/>
                          <a:cs typeface="DejaVu Sans"/>
                        </a:rPr>
                        <a:t>FLEURS Persian</a:t>
                      </a:r>
                    </a:p>
                  </a:txBody>
                  <a:tcPr marL="133350" marR="114300" marT="76200" marB="76200" anchor="ctr">
                    <a:solidFill>
                      <a:srgbClr val="F7F6F2"/>
                    </a:solidFill>
                  </a:tcPr>
                </a:tc>
                <a:tc>
                  <a:txBody>
                    <a:bodyPr/>
                    <a:lstStyle/>
                    <a:p>
                      <a:pPr algn="ctr"/>
                      <a:r>
                        <a:rPr sz="2025" b="0">
                          <a:solidFill>
                            <a:srgbClr val="1F2933"/>
                          </a:solidFill>
                          <a:latin typeface="DejaVu Sans"/>
                          <a:ea typeface="DejaVu Sans"/>
                          <a:cs typeface="DejaVu Sans"/>
                        </a:rPr>
                        <a:t>3,019</a:t>
                      </a:r>
                    </a:p>
                  </a:txBody>
                  <a:tcPr marL="133350" marR="114300" marT="76200" marB="76200" anchor="ctr">
                    <a:solidFill>
                      <a:srgbClr val="F7F6F2"/>
                    </a:solidFill>
                  </a:tcPr>
                </a:tc>
                <a:tc>
                  <a:txBody>
                    <a:bodyPr/>
                    <a:lstStyle/>
                    <a:p>
                      <a:pPr algn="ctr"/>
                      <a:r>
                        <a:rPr sz="2025" b="0">
                          <a:solidFill>
                            <a:srgbClr val="1F2933"/>
                          </a:solidFill>
                          <a:latin typeface="DejaVu Sans"/>
                          <a:ea typeface="DejaVu Sans"/>
                          <a:cs typeface="DejaVu Sans"/>
                        </a:rPr>
                        <a:t>362</a:t>
                      </a:r>
                    </a:p>
                  </a:txBody>
                  <a:tcPr marL="133350" marR="114300" marT="76200" marB="76200" anchor="ctr">
                    <a:solidFill>
                      <a:srgbClr val="F7F6F2"/>
                    </a:solidFill>
                  </a:tcPr>
                </a:tc>
              </a:tr>
            </a:tbl>
          </a:graphicData>
        </a:graphic>
      </p:graphicFrame>
      <p:sp>
        <p:nvSpPr>
          <p:cNvPr id="4" name="text-2">
            <a:extLst xmlns:a="http://schemas.openxmlformats.org/drawingml/2006/main">
              <a:ext uri="{FF2B5EF4-FFF2-40B4-BE49-F238E27FC236}">
                <a16:creationId xmlns:a16="http://schemas.microsoft.com/office/drawing/2014/main" id="{33CDE118-857C-41CA-8B60-A0B8BDB6FD54}"/>
              </a:ext>
            </a:extLst>
          </p:cNvPr>
          <p:cNvSpPr>
            <a:spLocks xmlns:a="http://schemas.openxmlformats.org/drawingml/2006/main" noGrp="1"/>
          </p:cNvSpPr>
          <p:nvPr/>
        </p:nvSpPr>
        <p:spPr>
          <a:xfrm xmlns:a="http://schemas.openxmlformats.org/drawingml/2006/main">
            <a:off x="609600" y="49149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D6F8A"/>
                </a:solidFill>
                <a:latin typeface="DejaVu Sans"/>
                <a:ea typeface="DejaVu Sans"/>
                <a:cs typeface="DejaVu Sans"/>
              </a:defRPr>
            </a:defPPr>
          </a:lstStyle>
          <a:p xmlns:a="http://schemas.openxmlformats.org/drawingml/2006/main">
            <a:pPr>
              <a:defRPr sz="2175" b="0">
                <a:solidFill>
                  <a:srgbClr val="1D6F8A"/>
                </a:solidFill>
                <a:latin typeface="DejaVu Sans"/>
                <a:ea typeface="DejaVu Sans"/>
                <a:cs typeface="DejaVu Sans"/>
              </a:defRPr>
            </a:pPr>
            <a:r>
              <a:rPr sz="2175" b="0">
                <a:solidFill>
                  <a:srgbClr val="1D6F8A"/>
                </a:solidFill>
                <a:latin typeface="DejaVu Sans"/>
                <a:ea typeface="DejaVu Sans"/>
                <a:cs typeface="DejaVu Sans"/>
              </a:rPr>
              <a:t>Mono 16 kHz audio and one Persian text normalizer</a:t>
            </a:r>
          </a:p>
        </p:txBody>
      </p:sp>
      <p:sp>
        <p:nvSpPr>
          <p:cNvPr id="5" name="text-3">
            <a:extLst xmlns:a="http://schemas.openxmlformats.org/drawingml/2006/main">
              <a:ext uri="{FF2B5EF4-FFF2-40B4-BE49-F238E27FC236}">
                <a16:creationId xmlns:a16="http://schemas.microsoft.com/office/drawing/2014/main" id="{D7E544CB-E272-4A29-BC1E-489B1161B277}"/>
              </a:ext>
            </a:extLst>
          </p:cNvPr>
          <p:cNvSpPr>
            <a:spLocks xmlns:a="http://schemas.openxmlformats.org/drawingml/2006/main" noGrp="1"/>
          </p:cNvSpPr>
          <p:nvPr/>
        </p:nvSpPr>
        <p:spPr>
          <a:xfrm xmlns:a="http://schemas.openxmlformats.org/drawingml/2006/main">
            <a:off x="609600" y="56197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06D"/>
                </a:solidFill>
                <a:latin typeface="DejaVu Sans"/>
                <a:ea typeface="DejaVu Sans"/>
                <a:cs typeface="DejaVu Sans"/>
              </a:defRPr>
            </a:defPPr>
          </a:lstStyle>
          <a:p xmlns:a="http://schemas.openxmlformats.org/drawingml/2006/main">
            <a:pPr>
              <a:defRPr sz="1650" b="0">
                <a:solidFill>
                  <a:srgbClr val="52606D"/>
                </a:solidFill>
                <a:latin typeface="DejaVu Sans"/>
                <a:ea typeface="DejaVu Sans"/>
                <a:cs typeface="DejaVu Sans"/>
              </a:defRPr>
            </a:pPr>
            <a:r>
              <a:rPr sz="1650" b="0">
                <a:solidFill>
                  <a:srgbClr val="52606D"/>
                </a:solidFill>
                <a:latin typeface="DejaVu Sans"/>
                <a:ea typeface="DejaVu Sans"/>
                <a:cs typeface="DejaVu Sans"/>
              </a:rPr>
              <a:t>Long variants join 2–4 clips within a split, with durations above 5 and at most 20 seconds.</a:t>
            </a:r>
          </a:p>
        </p:txBody>
      </p:sp>
    </p:spTree>
    <p:extLst>
      <p:ext uri="{BB962C8B-B14F-4D97-AF65-F5344CB8AC3E}">
        <p14:creationId xmlns:p14="http://schemas.microsoft.com/office/powerpoint/2010/main" val="1200284876"/>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41F735DF-3E20-4D45-9459-C4B251486ED7}"/>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Evaluation on real calls and general speech</a:t>
            </a:r>
          </a:p>
        </p:txBody>
      </p:sp>
      <p:sp>
        <p:nvSpPr>
          <p:cNvPr id="2" name="text-1">
            <a:extLst xmlns:a="http://schemas.openxmlformats.org/drawingml/2006/main">
              <a:ext uri="{FF2B5EF4-FFF2-40B4-BE49-F238E27FC236}">
                <a16:creationId xmlns:a16="http://schemas.microsoft.com/office/drawing/2014/main" id="{496EB21F-581B-47B9-A801-1E6F7D014B9C}"/>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05</a:t>
            </a:r>
          </a:p>
        </p:txBody>
      </p:sp>
      <p:graphicFrame>
        <p:nvGraphicFramePr>
          <p:cNvPr id="3" name="">
            <a:extLst xmlns:a="http://schemas.openxmlformats.org/drawingml/2006/main">
              <a:ext uri="{FF2B5EF4-FFF2-40B4-BE49-F238E27FC236}">
                <a16:creationId xmlns:a16="http://schemas.microsoft.com/office/drawing/2014/main" id="{614E33D1-48D1-40A2-8291-07EEA077C43F}"/>
              </a:ext>
            </a:extLst>
          </p:cNvPr>
          <p:cNvGraphicFramePr/>
          <p:nvPr/>
        </p:nvGraphicFramePr>
        <p:xfrm>
          <a:off xmlns:a="http://schemas.openxmlformats.org/drawingml/2006/main" x="609600" y="1714500"/>
          <a:ext xmlns:a="http://schemas.openxmlformats.org/drawingml/2006/main" cx="10972800" cy="3200400"/>
        </p:xfrm>
        <a:graphic xmlns:a="http://schemas.openxmlformats.org/drawingml/2006/main">
          <a:graphicData uri="http://schemas.openxmlformats.org/drawingml/2006/table">
            <a:tbl>
              <a:tblPr/>
              <a:tblGrid>
                <a:gridCol w="4810125"/>
                <a:gridCol w="1905000"/>
                <a:gridCol w="4257675"/>
              </a:tblGrid>
              <a:tr h="533400">
                <a:tc>
                  <a:txBody>
                    <a:bodyPr/>
                    <a:lstStyle/>
                    <a:p>
                      <a:pPr algn="l"/>
                      <a:r>
                        <a:rPr sz="1725" b="1">
                          <a:solidFill>
                            <a:srgbClr val="FFFFFF"/>
                          </a:solidFill>
                          <a:latin typeface="DejaVu Sans"/>
                          <a:ea typeface="DejaVu Sans"/>
                          <a:cs typeface="DejaVu Sans"/>
                        </a:rPr>
                        <a:t>Test set</a:t>
                      </a:r>
                    </a:p>
                  </a:txBody>
                  <a:tcPr marL="133350" marR="114300" marT="76200" marB="76200" anchor="ctr">
                    <a:solidFill>
                      <a:srgbClr val="1F2933"/>
                    </a:solidFill>
                  </a:tcPr>
                </a:tc>
                <a:tc>
                  <a:txBody>
                    <a:bodyPr/>
                    <a:lstStyle/>
                    <a:p>
                      <a:pPr algn="ctr"/>
                      <a:r>
                        <a:rPr sz="1725" b="1">
                          <a:solidFill>
                            <a:srgbClr val="FFFFFF"/>
                          </a:solidFill>
                          <a:latin typeface="DejaVu Sans"/>
                          <a:ea typeface="DejaVu Sans"/>
                          <a:cs typeface="DejaVu Sans"/>
                        </a:rPr>
                        <a:t>Examples</a:t>
                      </a:r>
                    </a:p>
                  </a:txBody>
                  <a:tcPr marL="133350" marR="114300" marT="76200" marB="76200" anchor="ctr">
                    <a:solidFill>
                      <a:srgbClr val="1F2933"/>
                    </a:solidFill>
                  </a:tcPr>
                </a:tc>
                <a:tc>
                  <a:txBody>
                    <a:bodyPr/>
                    <a:lstStyle/>
                    <a:p>
                      <a:pPr algn="ctr"/>
                      <a:r>
                        <a:rPr sz="1725" b="1">
                          <a:solidFill>
                            <a:srgbClr val="FFFFFF"/>
                          </a:solidFill>
                          <a:latin typeface="DejaVu Sans"/>
                          <a:ea typeface="DejaVu Sans"/>
                          <a:cs typeface="DejaVu Sans"/>
                        </a:rPr>
                        <a:t>Role</a:t>
                      </a:r>
                    </a:p>
                  </a:txBody>
                  <a:tcPr marL="133350" marR="114300" marT="76200" marB="76200" anchor="ctr">
                    <a:solidFill>
                      <a:srgbClr val="1F2933"/>
                    </a:solidFill>
                  </a:tcPr>
                </a:tc>
              </a:tr>
              <a:tr h="533400">
                <a:tc>
                  <a:txBody>
                    <a:bodyPr/>
                    <a:lstStyle/>
                    <a:p>
                      <a:pPr algn="l"/>
                      <a:r>
                        <a:rPr sz="1725" b="0">
                          <a:solidFill>
                            <a:srgbClr val="1F2933"/>
                          </a:solidFill>
                          <a:latin typeface="DejaVu Sans"/>
                          <a:ea typeface="DejaVu Sans"/>
                          <a:cs typeface="DejaVu Sans"/>
                        </a:rPr>
                        <a:t>AGFarsdat</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10,044</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Real telephone and VoIP</a:t>
                      </a:r>
                    </a:p>
                  </a:txBody>
                  <a:tcPr marL="133350" marR="114300" marT="76200" marB="76200" anchor="ctr">
                    <a:solidFill>
                      <a:srgbClr val="F7F6F2"/>
                    </a:solidFill>
                  </a:tcPr>
                </a:tc>
              </a:tr>
              <a:tr h="533400">
                <a:tc>
                  <a:txBody>
                    <a:bodyPr/>
                    <a:lstStyle/>
                    <a:p>
                      <a:pPr algn="l"/>
                      <a:r>
                        <a:rPr sz="1725" b="0">
                          <a:solidFill>
                            <a:srgbClr val="1F2933"/>
                          </a:solidFill>
                          <a:latin typeface="DejaVu Sans"/>
                          <a:ea typeface="DejaVu Sans"/>
                          <a:cs typeface="DejaVu Sans"/>
                        </a:rPr>
                        <a:t>Common Voice Persian 25</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~10,518</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Crowdsourced general speech</a:t>
                      </a:r>
                    </a:p>
                  </a:txBody>
                  <a:tcPr marL="133350" marR="114300" marT="76200" marB="76200" anchor="ctr">
                    <a:solidFill>
                      <a:srgbClr val="F7F6F2"/>
                    </a:solidFill>
                  </a:tcPr>
                </a:tc>
              </a:tr>
              <a:tr h="533400">
                <a:tc>
                  <a:txBody>
                    <a:bodyPr/>
                    <a:lstStyle/>
                    <a:p>
                      <a:pPr algn="l"/>
                      <a:r>
                        <a:rPr sz="1725" b="0">
                          <a:solidFill>
                            <a:srgbClr val="1F2933"/>
                          </a:solidFill>
                          <a:latin typeface="DejaVu Sans"/>
                          <a:ea typeface="DejaVu Sans"/>
                          <a:cs typeface="DejaVu Sans"/>
                        </a:rPr>
                        <a:t>FLEURS Persian</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871</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Read speech across domains</a:t>
                      </a:r>
                    </a:p>
                  </a:txBody>
                  <a:tcPr marL="133350" marR="114300" marT="76200" marB="76200" anchor="ctr">
                    <a:solidFill>
                      <a:srgbClr val="F7F6F2"/>
                    </a:solidFill>
                  </a:tcPr>
                </a:tc>
              </a:tr>
              <a:tr h="533400">
                <a:tc>
                  <a:txBody>
                    <a:bodyPr/>
                    <a:lstStyle/>
                    <a:p>
                      <a:pPr algn="l"/>
                      <a:r>
                        <a:rPr sz="1725" b="0">
                          <a:solidFill>
                            <a:srgbClr val="1F2933"/>
                          </a:solidFill>
                          <a:latin typeface="DejaVu Sans"/>
                          <a:ea typeface="DejaVu Sans"/>
                          <a:cs typeface="DejaVu Sans"/>
                        </a:rPr>
                        <a:t>PersianSpeech</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24</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Small supplementary test</a:t>
                      </a:r>
                    </a:p>
                  </a:txBody>
                  <a:tcPr marL="133350" marR="114300" marT="76200" marB="76200" anchor="ctr">
                    <a:solidFill>
                      <a:srgbClr val="F7F6F2"/>
                    </a:solidFill>
                  </a:tcPr>
                </a:tc>
              </a:tr>
              <a:tr h="533400">
                <a:tc>
                  <a:txBody>
                    <a:bodyPr/>
                    <a:lstStyle/>
                    <a:p>
                      <a:pPr algn="l"/>
                      <a:r>
                        <a:rPr sz="1725" b="0">
                          <a:solidFill>
                            <a:srgbClr val="1F2933"/>
                          </a:solidFill>
                          <a:latin typeface="DejaVu Sans"/>
                          <a:ea typeface="DejaVu Sans"/>
                          <a:cs typeface="DejaVu Sans"/>
                        </a:rPr>
                        <a:t>Persian Speech Corpus</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391–396</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Studio speech outside training domain</a:t>
                      </a:r>
                    </a:p>
                  </a:txBody>
                  <a:tcPr marL="133350" marR="114300" marT="76200" marB="76200" anchor="ctr">
                    <a:solidFill>
                      <a:srgbClr val="F7F6F2"/>
                    </a:solidFill>
                  </a:tcPr>
                </a:tc>
              </a:tr>
            </a:tbl>
          </a:graphicData>
        </a:graphic>
      </p:graphicFrame>
      <p:sp>
        <p:nvSpPr>
          <p:cNvPr id="4" name="text-2">
            <a:extLst xmlns:a="http://schemas.openxmlformats.org/drawingml/2006/main">
              <a:ext uri="{FF2B5EF4-FFF2-40B4-BE49-F238E27FC236}">
                <a16:creationId xmlns:a16="http://schemas.microsoft.com/office/drawing/2014/main" id="{A23C6A6B-DE5D-4F56-9D13-FA647946B64D}"/>
              </a:ext>
            </a:extLst>
          </p:cNvPr>
          <p:cNvSpPr>
            <a:spLocks xmlns:a="http://schemas.openxmlformats.org/drawingml/2006/main" noGrp="1"/>
          </p:cNvSpPr>
          <p:nvPr/>
        </p:nvSpPr>
        <p:spPr>
          <a:xfrm xmlns:a="http://schemas.openxmlformats.org/drawingml/2006/main">
            <a:off x="609600" y="52197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06D"/>
                </a:solidFill>
                <a:latin typeface="DejaVu Sans"/>
                <a:ea typeface="DejaVu Sans"/>
                <a:cs typeface="DejaVu Sans"/>
              </a:defRPr>
            </a:defPPr>
          </a:lstStyle>
          <a:p xmlns:a="http://schemas.openxmlformats.org/drawingml/2006/main">
            <a:pPr>
              <a:defRPr sz="1725" b="0">
                <a:solidFill>
                  <a:srgbClr val="52606D"/>
                </a:solidFill>
                <a:latin typeface="DejaVu Sans"/>
                <a:ea typeface="DejaVu Sans"/>
                <a:cs typeface="DejaVu Sans"/>
              </a:defRPr>
            </a:pPr>
            <a:r>
              <a:rPr sz="1725" b="0">
                <a:solidFill>
                  <a:srgbClr val="52606D"/>
                </a:solidFill>
                <a:latin typeface="DejaVu Sans"/>
                <a:ea typeface="DejaVu Sans"/>
                <a:cs typeface="DejaVu Sans"/>
              </a:rPr>
              <a:t>WER = (substitutions + deletions + insertions) / reference words</a:t>
            </a:r>
          </a:p>
          <a:p xmlns:a="http://schemas.openxmlformats.org/drawingml/2006/main">
            <a:pPr>
              <a:defRPr sz="1725" b="0">
                <a:solidFill>
                  <a:srgbClr val="52606D"/>
                </a:solidFill>
                <a:latin typeface="DejaVu Sans"/>
                <a:ea typeface="DejaVu Sans"/>
                <a:cs typeface="DejaVu Sans"/>
              </a:defRPr>
            </a:pPr>
            <a:r>
              <a:rPr sz="1725" b="0">
                <a:solidFill>
                  <a:srgbClr val="52606D"/>
                </a:solidFill>
                <a:latin typeface="DejaVu Sans"/>
                <a:ea typeface="DejaVu Sans"/>
                <a:cs typeface="DejaVu Sans"/>
              </a:rPr>
              <a:t>CER counts characters. Aggregate scores pool counts. Lower is better.</a:t>
            </a:r>
          </a:p>
        </p:txBody>
      </p:sp>
    </p:spTree>
    <p:extLst>
      <p:ext uri="{BB962C8B-B14F-4D97-AF65-F5344CB8AC3E}">
        <p14:creationId xmlns:p14="http://schemas.microsoft.com/office/powerpoint/2010/main" val="1186143357"/>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837A6533-0497-4C80-839B-D1B692D97083}"/>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Reproducible telecom augmentation</a:t>
            </a:r>
          </a:p>
        </p:txBody>
      </p:sp>
      <p:sp>
        <p:nvSpPr>
          <p:cNvPr id="2" name="text-1">
            <a:extLst xmlns:a="http://schemas.openxmlformats.org/drawingml/2006/main">
              <a:ext uri="{FF2B5EF4-FFF2-40B4-BE49-F238E27FC236}">
                <a16:creationId xmlns:a16="http://schemas.microsoft.com/office/drawing/2014/main" id="{531A1F95-5753-4114-BEF7-CDC50D5776B4}"/>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06</a:t>
            </a:r>
          </a:p>
        </p:txBody>
      </p:sp>
      <p:graphicFrame>
        <p:nvGraphicFramePr>
          <p:cNvPr id="3" name="">
            <a:extLst xmlns:a="http://schemas.openxmlformats.org/drawingml/2006/main">
              <a:ext uri="{FF2B5EF4-FFF2-40B4-BE49-F238E27FC236}">
                <a16:creationId xmlns:a16="http://schemas.microsoft.com/office/drawing/2014/main" id="{928E2574-6CA8-486B-874A-6E50709FFBC6}"/>
              </a:ext>
            </a:extLst>
          </p:cNvPr>
          <p:cNvGraphicFramePr/>
          <p:nvPr/>
        </p:nvGraphicFramePr>
        <p:xfrm>
          <a:off xmlns:a="http://schemas.openxmlformats.org/drawingml/2006/main" x="609600" y="1752600"/>
          <a:ext xmlns:a="http://schemas.openxmlformats.org/drawingml/2006/main" cx="10972800" cy="3333750"/>
        </p:xfrm>
        <a:graphic xmlns:a="http://schemas.openxmlformats.org/drawingml/2006/main">
          <a:graphicData uri="http://schemas.openxmlformats.org/drawingml/2006/table">
            <a:tbl>
              <a:tblPr/>
              <a:tblGrid>
                <a:gridCol w="2952750"/>
                <a:gridCol w="8020050"/>
              </a:tblGrid>
              <a:tr h="666750">
                <a:tc>
                  <a:txBody>
                    <a:bodyPr/>
                    <a:lstStyle/>
                    <a:p>
                      <a:pPr algn="l"/>
                      <a:r>
                        <a:rPr sz="1875" b="1">
                          <a:solidFill>
                            <a:srgbClr val="FFFFFF"/>
                          </a:solidFill>
                          <a:latin typeface="DejaVu Sans"/>
                          <a:ea typeface="DejaVu Sans"/>
                          <a:cs typeface="DejaVu Sans"/>
                        </a:rPr>
                        <a:t>Stage</a:t>
                      </a:r>
                    </a:p>
                  </a:txBody>
                  <a:tcPr marL="133350" marR="114300" marT="76200" marB="76200" anchor="ctr">
                    <a:solidFill>
                      <a:srgbClr val="1F2933"/>
                    </a:solidFill>
                  </a:tcPr>
                </a:tc>
                <a:tc>
                  <a:txBody>
                    <a:bodyPr/>
                    <a:lstStyle/>
                    <a:p>
                      <a:pPr algn="ctr"/>
                      <a:r>
                        <a:rPr sz="1875" b="1">
                          <a:solidFill>
                            <a:srgbClr val="FFFFFF"/>
                          </a:solidFill>
                          <a:latin typeface="DejaVu Sans"/>
                          <a:ea typeface="DejaVu Sans"/>
                          <a:cs typeface="DejaVu Sans"/>
                        </a:rPr>
                        <a:t>Implementation</a:t>
                      </a:r>
                    </a:p>
                  </a:txBody>
                  <a:tcPr marL="133350" marR="114300" marT="76200" marB="76200" anchor="ctr">
                    <a:solidFill>
                      <a:srgbClr val="1F2933"/>
                    </a:solidFill>
                  </a:tcPr>
                </a:tc>
              </a:tr>
              <a:tr h="666750">
                <a:tc>
                  <a:txBody>
                    <a:bodyPr/>
                    <a:lstStyle/>
                    <a:p>
                      <a:pPr algn="l"/>
                      <a:r>
                        <a:rPr sz="1875" b="0">
                          <a:solidFill>
                            <a:srgbClr val="1F2933"/>
                          </a:solidFill>
                          <a:latin typeface="DejaVu Sans"/>
                          <a:ea typeface="DejaVu Sans"/>
                          <a:cs typeface="DejaVu Sans"/>
                        </a:rPr>
                        <a:t>Noise and gain</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DEMAND noise, SNR from −5 to 15 dB, gain ±6 dB</a:t>
                      </a:r>
                    </a:p>
                  </a:txBody>
                  <a:tcPr marL="133350" marR="114300" marT="76200" marB="76200" anchor="ctr">
                    <a:solidFill>
                      <a:srgbClr val="F7F6F2"/>
                    </a:solidFill>
                  </a:tcPr>
                </a:tc>
              </a:tr>
              <a:tr h="666750">
                <a:tc>
                  <a:txBody>
                    <a:bodyPr/>
                    <a:lstStyle/>
                    <a:p>
                      <a:pPr algn="l"/>
                      <a:r>
                        <a:rPr sz="1875" b="0">
                          <a:solidFill>
                            <a:srgbClr val="1F2933"/>
                          </a:solidFill>
                          <a:latin typeface="DejaVu Sans"/>
                          <a:ea typeface="DejaVu Sans"/>
                          <a:cs typeface="DejaVu Sans"/>
                        </a:rPr>
                        <a:t>Channel and codec</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Narrowband / wideband, real codec encode–decode</a:t>
                      </a:r>
                    </a:p>
                  </a:txBody>
                  <a:tcPr marL="133350" marR="114300" marT="76200" marB="76200" anchor="ctr">
                    <a:solidFill>
                      <a:srgbClr val="F7F6F2"/>
                    </a:solidFill>
                  </a:tcPr>
                </a:tc>
              </a:tr>
              <a:tr h="666750">
                <a:tc>
                  <a:txBody>
                    <a:bodyPr/>
                    <a:lstStyle/>
                    <a:p>
                      <a:pPr algn="l"/>
                      <a:r>
                        <a:rPr sz="1875" b="0">
                          <a:solidFill>
                            <a:srgbClr val="1F2933"/>
                          </a:solidFill>
                          <a:latin typeface="DejaVu Sans"/>
                          <a:ea typeface="DejaVu Sans"/>
                          <a:cs typeface="DejaVu Sans"/>
                        </a:rPr>
                        <a:t>Network effects</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Opus packet loss + PLC, waveform-dropout approximation elsewhere</a:t>
                      </a:r>
                    </a:p>
                  </a:txBody>
                  <a:tcPr marL="133350" marR="114300" marT="76200" marB="76200" anchor="ctr">
                    <a:solidFill>
                      <a:srgbClr val="F7F6F2"/>
                    </a:solidFill>
                  </a:tcPr>
                </a:tc>
              </a:tr>
              <a:tr h="666750">
                <a:tc>
                  <a:txBody>
                    <a:bodyPr/>
                    <a:lstStyle/>
                    <a:p>
                      <a:pPr algn="l"/>
                      <a:r>
                        <a:rPr sz="1875" b="0">
                          <a:solidFill>
                            <a:srgbClr val="1F2933"/>
                          </a:solidFill>
                          <a:latin typeface="DejaVu Sans"/>
                          <a:ea typeface="DejaVu Sans"/>
                          <a:cs typeface="DejaVu Sans"/>
                        </a:rPr>
                        <a:t>Aligned output</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16 kHz pair, matched bandwidth target, saved seed and metadata</a:t>
                      </a:r>
                    </a:p>
                  </a:txBody>
                  <a:tcPr marL="133350" marR="114300" marT="76200" marB="76200" anchor="ctr">
                    <a:solidFill>
                      <a:srgbClr val="F7F6F2"/>
                    </a:solidFill>
                  </a:tcPr>
                </a:tc>
              </a:tr>
            </a:tbl>
          </a:graphicData>
        </a:graphic>
      </p:graphicFrame>
      <p:sp>
        <p:nvSpPr>
          <p:cNvPr id="4" name="text-2">
            <a:extLst xmlns:a="http://schemas.openxmlformats.org/drawingml/2006/main">
              <a:ext uri="{FF2B5EF4-FFF2-40B4-BE49-F238E27FC236}">
                <a16:creationId xmlns:a16="http://schemas.microsoft.com/office/drawing/2014/main" id="{9BC75334-BBD8-4446-91CC-9459A31966CB}"/>
              </a:ext>
            </a:extLst>
          </p:cNvPr>
          <p:cNvSpPr>
            <a:spLocks xmlns:a="http://schemas.openxmlformats.org/drawingml/2006/main" noGrp="1"/>
          </p:cNvSpPr>
          <p:nvPr/>
        </p:nvSpPr>
        <p:spPr>
          <a:xfrm xmlns:a="http://schemas.openxmlformats.org/drawingml/2006/main">
            <a:off x="609600" y="55054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06D"/>
                </a:solidFill>
                <a:latin typeface="DejaVu Sans"/>
                <a:ea typeface="DejaVu Sans"/>
                <a:cs typeface="DejaVu Sans"/>
              </a:defRPr>
            </a:defPPr>
          </a:lstStyle>
          <a:p xmlns:a="http://schemas.openxmlformats.org/drawingml/2006/main">
            <a:pPr>
              <a:defRPr sz="1650" b="0">
                <a:solidFill>
                  <a:srgbClr val="52606D"/>
                </a:solidFill>
                <a:latin typeface="DejaVu Sans"/>
                <a:ea typeface="DejaVu Sans"/>
                <a:cs typeface="DejaVu Sans"/>
              </a:defRPr>
            </a:pPr>
            <a:r>
              <a:rPr sz="1650" b="0">
                <a:solidFill>
                  <a:srgbClr val="52606D"/>
                </a:solidFill>
                <a:latin typeface="DejaVu Sans"/>
                <a:ea typeface="DejaVu Sans"/>
                <a:cs typeface="DejaVu Sans"/>
              </a:rPr>
              <a:t>G.711, GSM, AMR-NB, AMR-WB and Opus cover the implemented codec paths.</a:t>
            </a:r>
          </a:p>
        </p:txBody>
      </p:sp>
    </p:spTree>
    <p:extLst>
      <p:ext uri="{BB962C8B-B14F-4D97-AF65-F5344CB8AC3E}">
        <p14:creationId xmlns:p14="http://schemas.microsoft.com/office/powerpoint/2010/main" val="1426059434"/>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840254D3-6CCB-4DDA-8A8E-5DCD79C7054A}"/>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Synthetic training transfers to real calls</a:t>
            </a:r>
          </a:p>
        </p:txBody>
      </p:sp>
      <p:sp>
        <p:nvSpPr>
          <p:cNvPr id="2" name="text-1">
            <a:extLst xmlns:a="http://schemas.openxmlformats.org/drawingml/2006/main">
              <a:ext uri="{FF2B5EF4-FFF2-40B4-BE49-F238E27FC236}">
                <a16:creationId xmlns:a16="http://schemas.microsoft.com/office/drawing/2014/main" id="{5B617703-01F7-449D-960B-3DB4F6ADA6A5}"/>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07</a:t>
            </a:r>
          </a:p>
        </p:txBody>
      </p:sp>
      <p:sp>
        <p:nvSpPr>
          <p:cNvPr id="3" name="text-2">
            <a:extLst xmlns:a="http://schemas.openxmlformats.org/drawingml/2006/main">
              <a:ext uri="{FF2B5EF4-FFF2-40B4-BE49-F238E27FC236}">
                <a16:creationId xmlns:a16="http://schemas.microsoft.com/office/drawing/2014/main" id="{F55F108F-9B63-4DD7-8C71-D56D5F7E1FA3}"/>
              </a:ext>
            </a:extLst>
          </p:cNvPr>
          <p:cNvSpPr>
            <a:spLocks xmlns:a="http://schemas.openxmlformats.org/drawingml/2006/main" noGrp="1"/>
          </p:cNvSpPr>
          <p:nvPr/>
        </p:nvSpPr>
        <p:spPr>
          <a:xfrm xmlns:a="http://schemas.openxmlformats.org/drawingml/2006/main">
            <a:off x="609600" y="1504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06D"/>
                </a:solidFill>
                <a:latin typeface="DejaVu Sans"/>
                <a:ea typeface="DejaVu Sans"/>
                <a:cs typeface="DejaVu Sans"/>
              </a:defRPr>
            </a:defPPr>
          </a:lstStyle>
          <a:p xmlns:a="http://schemas.openxmlformats.org/drawingml/2006/main">
            <a:pPr>
              <a:defRPr sz="1875" b="0">
                <a:solidFill>
                  <a:srgbClr val="52606D"/>
                </a:solidFill>
                <a:latin typeface="DejaVu Sans"/>
                <a:ea typeface="DejaVu Sans"/>
                <a:cs typeface="DejaVu Sans"/>
              </a:defRPr>
            </a:pPr>
            <a:r>
              <a:rPr sz="1875" b="0">
                <a:solidFill>
                  <a:srgbClr val="52606D"/>
                </a:solidFill>
                <a:latin typeface="DejaVu Sans"/>
                <a:ea typeface="DejaVu Sans"/>
                <a:cs typeface="DejaVu Sans"/>
              </a:rPr>
              <a:t>WER (%) on the aggregate evaluation and held-out real calls. Lower is better.</a:t>
            </a:r>
          </a:p>
        </p:txBody>
      </p:sp>
      <p:graphicFrame>
        <p:nvGraphicFramePr>
          <p:cNvPr id="4" name="Chart">
            <a:extLst xmlns:a="http://schemas.openxmlformats.org/drawingml/2006/main">
              <a:ext uri="{FF2B5EF4-FFF2-40B4-BE49-F238E27FC236}">
                <a16:creationId xmlns:a16="http://schemas.microsoft.com/office/drawing/2014/main" id="{9B212BA7-A209-4428-A858-758143A5F266}"/>
              </a:ext>
            </a:extLst>
          </p:cNvPr>
          <p:cNvGraphicFramePr/>
          <p:nvPr/>
        </p:nvGraphicFramePr>
        <p:xfrm>
          <a:off xmlns:a="http://schemas.openxmlformats.org/drawingml/2006/main" x="609600" y="2228850"/>
          <a:ext xmlns:a="http://schemas.openxmlformats.org/drawingml/2006/main" cx="10972800" cy="3333750"/>
        </p:xfrm>
        <a:graphic xmlns:a="http://schemas.openxmlformats.org/drawingml/2006/main">
          <a:graphicData uri="http://schemas.openxmlformats.org/drawingml/2006/chart">
            <c:chart xmlns:r="http://schemas.openxmlformats.org/officeDocument/2006/relationships" xmlns:c="http://schemas.openxmlformats.org/drawingml/2006/chart" r:id="R7a3652f39f254c6a"/>
          </a:graphicData>
        </a:graphic>
      </p:graphicFrame>
      <p:sp>
        <p:nvSpPr>
          <p:cNvPr id="5" name="text-3">
            <a:extLst xmlns:a="http://schemas.openxmlformats.org/drawingml/2006/main">
              <a:ext uri="{FF2B5EF4-FFF2-40B4-BE49-F238E27FC236}">
                <a16:creationId xmlns:a16="http://schemas.microsoft.com/office/drawing/2014/main" id="{073904D2-1D26-4D49-852C-AACCACE79959}"/>
              </a:ext>
            </a:extLst>
          </p:cNvPr>
          <p:cNvSpPr>
            <a:spLocks xmlns:a="http://schemas.openxmlformats.org/drawingml/2006/main" noGrp="1"/>
          </p:cNvSpPr>
          <p:nvPr/>
        </p:nvSpPr>
        <p:spPr>
          <a:xfrm xmlns:a="http://schemas.openxmlformats.org/drawingml/2006/main">
            <a:off x="609600" y="58674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06D"/>
                </a:solidFill>
                <a:latin typeface="DejaVu Sans"/>
                <a:ea typeface="DejaVu Sans"/>
                <a:cs typeface="DejaVu Sans"/>
              </a:defRPr>
            </a:defPPr>
          </a:lstStyle>
          <a:p xmlns:a="http://schemas.openxmlformats.org/drawingml/2006/main">
            <a:pPr>
              <a:defRPr sz="1875" b="0">
                <a:solidFill>
                  <a:srgbClr val="52606D"/>
                </a:solidFill>
                <a:latin typeface="DejaVu Sans"/>
                <a:ea typeface="DejaVu Sans"/>
                <a:cs typeface="DejaVu Sans"/>
              </a:defRPr>
            </a:pPr>
            <a:r>
              <a:rPr sz="1875" b="0">
                <a:solidFill>
                  <a:srgbClr val="52606D"/>
                </a:solidFill>
                <a:latin typeface="DejaVu Sans"/>
                <a:ea typeface="DejaVu Sans"/>
                <a:cs typeface="DejaVu Sans"/>
              </a:rPr>
              <a:t>5.44 points lower overall                         9.83 points lower on real calls</a:t>
            </a:r>
          </a:p>
        </p:txBody>
      </p:sp>
    </p:spTree>
    <p:extLst>
      <p:ext uri="{BB962C8B-B14F-4D97-AF65-F5344CB8AC3E}">
        <p14:creationId xmlns:p14="http://schemas.microsoft.com/office/powerpoint/2010/main" val="1277697212"/>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BE807684-E786-4B27-8E7A-B7BB3C56636F}"/>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Noise alone leaves part of the gap</a:t>
            </a:r>
          </a:p>
        </p:txBody>
      </p:sp>
      <p:sp>
        <p:nvSpPr>
          <p:cNvPr id="2" name="text-1">
            <a:extLst xmlns:a="http://schemas.openxmlformats.org/drawingml/2006/main">
              <a:ext uri="{FF2B5EF4-FFF2-40B4-BE49-F238E27FC236}">
                <a16:creationId xmlns:a16="http://schemas.microsoft.com/office/drawing/2014/main" id="{402C9E43-C787-4A29-930E-B903DFDDD21F}"/>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08</a:t>
            </a:r>
          </a:p>
        </p:txBody>
      </p:sp>
      <p:graphicFrame>
        <p:nvGraphicFramePr>
          <p:cNvPr id="3" name="">
            <a:extLst xmlns:a="http://schemas.openxmlformats.org/drawingml/2006/main">
              <a:ext uri="{FF2B5EF4-FFF2-40B4-BE49-F238E27FC236}">
                <a16:creationId xmlns:a16="http://schemas.microsoft.com/office/drawing/2014/main" id="{6A3FE249-D7DD-4E54-A3B6-558BFC0A3911}"/>
              </a:ext>
            </a:extLst>
          </p:cNvPr>
          <p:cNvGraphicFramePr/>
          <p:nvPr/>
        </p:nvGraphicFramePr>
        <p:xfrm>
          <a:off xmlns:a="http://schemas.openxmlformats.org/drawingml/2006/main" x="609600" y="1828800"/>
          <a:ext xmlns:a="http://schemas.openxmlformats.org/drawingml/2006/main" cx="10972800" cy="3238500"/>
        </p:xfrm>
        <a:graphic xmlns:a="http://schemas.openxmlformats.org/drawingml/2006/main">
          <a:graphicData uri="http://schemas.openxmlformats.org/drawingml/2006/table">
            <a:tbl>
              <a:tblPr/>
              <a:tblGrid>
                <a:gridCol w="5619750"/>
                <a:gridCol w="2676525"/>
                <a:gridCol w="2676525"/>
              </a:tblGrid>
              <a:tr h="647700">
                <a:tc>
                  <a:txBody>
                    <a:bodyPr/>
                    <a:lstStyle/>
                    <a:p>
                      <a:pPr algn="l"/>
                      <a:r>
                        <a:rPr sz="1950" b="1">
                          <a:solidFill>
                            <a:srgbClr val="FFFFFF"/>
                          </a:solidFill>
                          <a:latin typeface="DejaVu Sans"/>
                          <a:ea typeface="DejaVu Sans"/>
                          <a:cs typeface="DejaVu Sans"/>
                        </a:rPr>
                        <a:t>Whisper-small training</a:t>
                      </a:r>
                    </a:p>
                  </a:txBody>
                  <a:tcPr marL="133350" marR="114300" marT="76200" marB="76200" anchor="ctr">
                    <a:solidFill>
                      <a:srgbClr val="1F2933"/>
                    </a:solidFill>
                  </a:tcPr>
                </a:tc>
                <a:tc>
                  <a:txBody>
                    <a:bodyPr/>
                    <a:lstStyle/>
                    <a:p>
                      <a:pPr algn="ctr"/>
                      <a:r>
                        <a:rPr sz="1950" b="1">
                          <a:solidFill>
                            <a:srgbClr val="FFFFFF"/>
                          </a:solidFill>
                          <a:latin typeface="DejaVu Sans"/>
                          <a:ea typeface="DejaVu Sans"/>
                          <a:cs typeface="DejaVu Sans"/>
                        </a:rPr>
                        <a:t>Aggregate WER</a:t>
                      </a:r>
                    </a:p>
                  </a:txBody>
                  <a:tcPr marL="133350" marR="114300" marT="76200" marB="76200" anchor="ctr">
                    <a:solidFill>
                      <a:srgbClr val="1F2933"/>
                    </a:solidFill>
                  </a:tcPr>
                </a:tc>
                <a:tc>
                  <a:txBody>
                    <a:bodyPr/>
                    <a:lstStyle/>
                    <a:p>
                      <a:pPr algn="ctr"/>
                      <a:r>
                        <a:rPr sz="1950" b="1">
                          <a:solidFill>
                            <a:srgbClr val="FFFFFF"/>
                          </a:solidFill>
                          <a:latin typeface="DejaVu Sans"/>
                          <a:ea typeface="DejaVu Sans"/>
                          <a:cs typeface="DejaVu Sans"/>
                        </a:rPr>
                        <a:t>AGFarsdat WER</a:t>
                      </a:r>
                    </a:p>
                  </a:txBody>
                  <a:tcPr marL="133350" marR="114300" marT="76200" marB="76200" anchor="ctr">
                    <a:solidFill>
                      <a:srgbClr val="1F2933"/>
                    </a:solidFill>
                  </a:tcPr>
                </a:tc>
              </a:tr>
              <a:tr h="647700">
                <a:tc>
                  <a:txBody>
                    <a:bodyPr/>
                    <a:lstStyle/>
                    <a:p>
                      <a:pPr algn="l"/>
                      <a:r>
                        <a:rPr sz="1950" b="0">
                          <a:solidFill>
                            <a:srgbClr val="1F2933"/>
                          </a:solidFill>
                          <a:latin typeface="DejaVu Sans"/>
                          <a:ea typeface="DejaVu Sans"/>
                          <a:cs typeface="DejaVu Sans"/>
                        </a:rPr>
                        <a:t>Ordinary</a:t>
                      </a:r>
                    </a:p>
                  </a:txBody>
                  <a:tcPr marL="133350" marR="114300" marT="76200" marB="76200" anchor="ctr">
                    <a:solidFill>
                      <a:srgbClr val="F7F6F2"/>
                    </a:solidFill>
                  </a:tcPr>
                </a:tc>
                <a:tc>
                  <a:txBody>
                    <a:bodyPr/>
                    <a:lstStyle/>
                    <a:p>
                      <a:pPr algn="ctr"/>
                      <a:r>
                        <a:rPr sz="1950" b="0">
                          <a:solidFill>
                            <a:srgbClr val="1F2933"/>
                          </a:solidFill>
                          <a:latin typeface="DejaVu Sans"/>
                          <a:ea typeface="DejaVu Sans"/>
                          <a:cs typeface="DejaVu Sans"/>
                        </a:rPr>
                        <a:t>23.27%</a:t>
                      </a:r>
                    </a:p>
                  </a:txBody>
                  <a:tcPr marL="133350" marR="114300" marT="76200" marB="76200" anchor="ctr">
                    <a:solidFill>
                      <a:srgbClr val="F7F6F2"/>
                    </a:solidFill>
                  </a:tcPr>
                </a:tc>
                <a:tc>
                  <a:txBody>
                    <a:bodyPr/>
                    <a:lstStyle/>
                    <a:p>
                      <a:pPr algn="ctr"/>
                      <a:r>
                        <a:rPr sz="1950" b="0">
                          <a:solidFill>
                            <a:srgbClr val="1F2933"/>
                          </a:solidFill>
                          <a:latin typeface="DejaVu Sans"/>
                          <a:ea typeface="DejaVu Sans"/>
                          <a:cs typeface="DejaVu Sans"/>
                        </a:rPr>
                        <a:t>35.63%</a:t>
                      </a:r>
                    </a:p>
                  </a:txBody>
                  <a:tcPr marL="133350" marR="114300" marT="76200" marB="76200" anchor="ctr">
                    <a:solidFill>
                      <a:srgbClr val="F7F6F2"/>
                    </a:solidFill>
                  </a:tcPr>
                </a:tc>
              </a:tr>
              <a:tr h="647700">
                <a:tc>
                  <a:txBody>
                    <a:bodyPr/>
                    <a:lstStyle/>
                    <a:p>
                      <a:pPr algn="l"/>
                      <a:r>
                        <a:rPr sz="1950" b="0">
                          <a:solidFill>
                            <a:srgbClr val="1F2933"/>
                          </a:solidFill>
                          <a:latin typeface="DejaVu Sans"/>
                          <a:ea typeface="DejaVu Sans"/>
                          <a:cs typeface="DejaVu Sans"/>
                        </a:rPr>
                        <a:t>Noise only</a:t>
                      </a:r>
                    </a:p>
                  </a:txBody>
                  <a:tcPr marL="133350" marR="114300" marT="76200" marB="76200" anchor="ctr">
                    <a:solidFill>
                      <a:srgbClr val="F7F6F2"/>
                    </a:solidFill>
                  </a:tcPr>
                </a:tc>
                <a:tc>
                  <a:txBody>
                    <a:bodyPr/>
                    <a:lstStyle/>
                    <a:p>
                      <a:pPr algn="ctr"/>
                      <a:r>
                        <a:rPr sz="1950" b="0">
                          <a:solidFill>
                            <a:srgbClr val="1F2933"/>
                          </a:solidFill>
                          <a:latin typeface="DejaVu Sans"/>
                          <a:ea typeface="DejaVu Sans"/>
                          <a:cs typeface="DejaVu Sans"/>
                        </a:rPr>
                        <a:t>20.38%</a:t>
                      </a:r>
                    </a:p>
                  </a:txBody>
                  <a:tcPr marL="133350" marR="114300" marT="76200" marB="76200" anchor="ctr">
                    <a:solidFill>
                      <a:srgbClr val="F7F6F2"/>
                    </a:solidFill>
                  </a:tcPr>
                </a:tc>
                <a:tc>
                  <a:txBody>
                    <a:bodyPr/>
                    <a:lstStyle/>
                    <a:p>
                      <a:pPr algn="ctr"/>
                      <a:r>
                        <a:rPr sz="1950" b="0">
                          <a:solidFill>
                            <a:srgbClr val="1F2933"/>
                          </a:solidFill>
                          <a:latin typeface="DejaVu Sans"/>
                          <a:ea typeface="DejaVu Sans"/>
                          <a:cs typeface="DejaVu Sans"/>
                        </a:rPr>
                        <a:t>32.67%</a:t>
                      </a:r>
                    </a:p>
                  </a:txBody>
                  <a:tcPr marL="133350" marR="114300" marT="76200" marB="76200" anchor="ctr">
                    <a:solidFill>
                      <a:srgbClr val="F7F6F2"/>
                    </a:solidFill>
                  </a:tcPr>
                </a:tc>
              </a:tr>
              <a:tr h="647700">
                <a:tc>
                  <a:txBody>
                    <a:bodyPr/>
                    <a:lstStyle/>
                    <a:p>
                      <a:pPr algn="l"/>
                      <a:r>
                        <a:rPr sz="1950" b="0">
                          <a:solidFill>
                            <a:srgbClr val="1F2933"/>
                          </a:solidFill>
                          <a:latin typeface="DejaVu Sans"/>
                          <a:ea typeface="DejaVu Sans"/>
                          <a:cs typeface="DejaVu Sans"/>
                        </a:rPr>
                        <a:t>pMCT, clean/noisy segment mixing</a:t>
                      </a:r>
                    </a:p>
                  </a:txBody>
                  <a:tcPr marL="133350" marR="114300" marT="76200" marB="76200" anchor="ctr">
                    <a:solidFill>
                      <a:srgbClr val="F7F6F2"/>
                    </a:solidFill>
                  </a:tcPr>
                </a:tc>
                <a:tc>
                  <a:txBody>
                    <a:bodyPr/>
                    <a:lstStyle/>
                    <a:p>
                      <a:pPr algn="ctr"/>
                      <a:r>
                        <a:rPr sz="1950" b="0">
                          <a:solidFill>
                            <a:srgbClr val="1F2933"/>
                          </a:solidFill>
                          <a:latin typeface="DejaVu Sans"/>
                          <a:ea typeface="DejaVu Sans"/>
                          <a:cs typeface="DejaVu Sans"/>
                        </a:rPr>
                        <a:t>19.21%</a:t>
                      </a:r>
                    </a:p>
                  </a:txBody>
                  <a:tcPr marL="133350" marR="114300" marT="76200" marB="76200" anchor="ctr">
                    <a:solidFill>
                      <a:srgbClr val="F7F6F2"/>
                    </a:solidFill>
                  </a:tcPr>
                </a:tc>
                <a:tc>
                  <a:txBody>
                    <a:bodyPr/>
                    <a:lstStyle/>
                    <a:p>
                      <a:pPr algn="ctr"/>
                      <a:r>
                        <a:rPr sz="1950" b="0">
                          <a:solidFill>
                            <a:srgbClr val="1F2933"/>
                          </a:solidFill>
                          <a:latin typeface="DejaVu Sans"/>
                          <a:ea typeface="DejaVu Sans"/>
                          <a:cs typeface="DejaVu Sans"/>
                        </a:rPr>
                        <a:t>30.01%</a:t>
                      </a:r>
                    </a:p>
                  </a:txBody>
                  <a:tcPr marL="133350" marR="114300" marT="76200" marB="76200" anchor="ctr">
                    <a:solidFill>
                      <a:srgbClr val="F7F6F2"/>
                    </a:solidFill>
                  </a:tcPr>
                </a:tc>
              </a:tr>
              <a:tr h="647700">
                <a:tc>
                  <a:txBody>
                    <a:bodyPr/>
                    <a:lstStyle/>
                    <a:p>
                      <a:pPr algn="l"/>
                      <a:r>
                        <a:rPr sz="1950" b="1">
                          <a:solidFill>
                            <a:srgbClr val="1D6F8A"/>
                          </a:solidFill>
                          <a:latin typeface="DejaVu Sans"/>
                          <a:ea typeface="DejaVu Sans"/>
                          <a:cs typeface="DejaVu Sans"/>
                        </a:rPr>
                        <a:t>Full telecom multi-condition</a:t>
                      </a:r>
                    </a:p>
                  </a:txBody>
                  <a:tcPr marL="133350" marR="114300" marT="76200" marB="76200" anchor="ctr">
                    <a:solidFill>
                      <a:srgbClr val="E8F3F6"/>
                    </a:solidFill>
                  </a:tcPr>
                </a:tc>
                <a:tc>
                  <a:txBody>
                    <a:bodyPr/>
                    <a:lstStyle/>
                    <a:p>
                      <a:pPr algn="ctr"/>
                      <a:r>
                        <a:rPr sz="1950" b="1">
                          <a:solidFill>
                            <a:srgbClr val="1D6F8A"/>
                          </a:solidFill>
                          <a:latin typeface="DejaVu Sans"/>
                          <a:ea typeface="DejaVu Sans"/>
                          <a:cs typeface="DejaVu Sans"/>
                        </a:rPr>
                        <a:t>17.83%</a:t>
                      </a:r>
                    </a:p>
                  </a:txBody>
                  <a:tcPr marL="133350" marR="114300" marT="76200" marB="76200" anchor="ctr">
                    <a:solidFill>
                      <a:srgbClr val="E8F3F6"/>
                    </a:solidFill>
                  </a:tcPr>
                </a:tc>
                <a:tc>
                  <a:txBody>
                    <a:bodyPr/>
                    <a:lstStyle/>
                    <a:p>
                      <a:pPr algn="ctr"/>
                      <a:r>
                        <a:rPr sz="1950" b="1">
                          <a:solidFill>
                            <a:srgbClr val="1D6F8A"/>
                          </a:solidFill>
                          <a:latin typeface="DejaVu Sans"/>
                          <a:ea typeface="DejaVu Sans"/>
                          <a:cs typeface="DejaVu Sans"/>
                        </a:rPr>
                        <a:t>25.80%</a:t>
                      </a:r>
                    </a:p>
                  </a:txBody>
                  <a:tcPr marL="133350" marR="114300" marT="76200" marB="76200" anchor="ctr">
                    <a:solidFill>
                      <a:srgbClr val="E8F3F6"/>
                    </a:solidFill>
                  </a:tcPr>
                </a:tc>
              </a:tr>
            </a:tbl>
          </a:graphicData>
        </a:graphic>
      </p:graphicFrame>
      <p:sp>
        <p:nvSpPr>
          <p:cNvPr id="4" name="text-2">
            <a:extLst xmlns:a="http://schemas.openxmlformats.org/drawingml/2006/main">
              <a:ext uri="{FF2B5EF4-FFF2-40B4-BE49-F238E27FC236}">
                <a16:creationId xmlns:a16="http://schemas.microsoft.com/office/drawing/2014/main" id="{E2601775-F6B1-44C8-9D29-69C3D65F2197}"/>
              </a:ext>
            </a:extLst>
          </p:cNvPr>
          <p:cNvSpPr>
            <a:spLocks xmlns:a="http://schemas.openxmlformats.org/drawingml/2006/main" noGrp="1"/>
          </p:cNvSpPr>
          <p:nvPr/>
        </p:nvSpPr>
        <p:spPr>
          <a:xfrm xmlns:a="http://schemas.openxmlformats.org/drawingml/2006/main">
            <a:off x="609600" y="59055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06D"/>
                </a:solidFill>
                <a:latin typeface="DejaVu Sans"/>
                <a:ea typeface="DejaVu Sans"/>
                <a:cs typeface="DejaVu Sans"/>
              </a:defRPr>
            </a:defPPr>
          </a:lstStyle>
          <a:p xmlns:a="http://schemas.openxmlformats.org/drawingml/2006/main">
            <a:pPr>
              <a:defRPr sz="1650" b="0">
                <a:solidFill>
                  <a:srgbClr val="52606D"/>
                </a:solidFill>
                <a:latin typeface="DejaVu Sans"/>
                <a:ea typeface="DejaVu Sans"/>
                <a:cs typeface="DejaVu Sans"/>
              </a:defRPr>
            </a:pPr>
            <a:r>
              <a:rPr sz="1650" b="0">
                <a:solidFill>
                  <a:srgbClr val="52606D"/>
                </a:solidFill>
                <a:latin typeface="DejaVu Sans"/>
                <a:ea typeface="DejaVu Sans"/>
                <a:cs typeface="DejaVu Sans"/>
              </a:rPr>
              <a:t>Lower is better. The full pipeline adds bandwidth, codec and network effects.</a:t>
            </a:r>
          </a:p>
        </p:txBody>
      </p:sp>
    </p:spTree>
    <p:extLst>
      <p:ext uri="{BB962C8B-B14F-4D97-AF65-F5344CB8AC3E}">
        <p14:creationId xmlns:p14="http://schemas.microsoft.com/office/powerpoint/2010/main" val="1946520024"/>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F195EC07-A648-494C-B161-5069E1DA8057}"/>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Dual-stream enhancement and fusion</a:t>
            </a:r>
          </a:p>
        </p:txBody>
      </p:sp>
      <p:sp>
        <p:nvSpPr>
          <p:cNvPr id="2" name="text-1">
            <a:extLst xmlns:a="http://schemas.openxmlformats.org/drawingml/2006/main">
              <a:ext uri="{FF2B5EF4-FFF2-40B4-BE49-F238E27FC236}">
                <a16:creationId xmlns:a16="http://schemas.microsoft.com/office/drawing/2014/main" id="{77F3AAB9-FFAC-41B6-9C73-9BDD0E396A47}"/>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09</a:t>
            </a:r>
          </a:p>
        </p:txBody>
      </p:sp>
      <p:sp>
        <p:nvSpPr>
          <p:cNvPr id="3" name="text-2">
            <a:extLst xmlns:a="http://schemas.openxmlformats.org/drawingml/2006/main">
              <a:ext uri="{FF2B5EF4-FFF2-40B4-BE49-F238E27FC236}">
                <a16:creationId xmlns:a16="http://schemas.microsoft.com/office/drawing/2014/main" id="{C7824EB8-D721-4762-B19D-23823BE42620}"/>
              </a:ext>
            </a:extLst>
          </p:cNvPr>
          <p:cNvSpPr>
            <a:spLocks xmlns:a="http://schemas.openxmlformats.org/drawingml/2006/main" noGrp="1"/>
          </p:cNvSpPr>
          <p:nvPr/>
        </p:nvSpPr>
        <p:spPr>
          <a:xfrm xmlns:a="http://schemas.openxmlformats.org/drawingml/2006/main">
            <a:off x="609600" y="1752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6F8A"/>
                </a:solidFill>
                <a:latin typeface="DejaVu Sans"/>
                <a:ea typeface="DejaVu Sans"/>
                <a:cs typeface="DejaVu Sans"/>
              </a:defRPr>
            </a:defPPr>
          </a:lstStyle>
          <a:p xmlns:a="http://schemas.openxmlformats.org/drawingml/2006/main">
            <a:pPr>
              <a:defRPr sz="2175" b="1">
                <a:solidFill>
                  <a:srgbClr val="1D6F8A"/>
                </a:solidFill>
                <a:latin typeface="DejaVu Sans"/>
                <a:ea typeface="DejaVu Sans"/>
                <a:cs typeface="DejaVu Sans"/>
              </a:defRPr>
            </a:pPr>
            <a:r>
              <a:rPr sz="2175" b="1">
                <a:solidFill>
                  <a:srgbClr val="1D6F8A"/>
                </a:solidFill>
                <a:latin typeface="DejaVu Sans"/>
                <a:ea typeface="DejaVu Sans"/>
                <a:cs typeface="DejaVu Sans"/>
              </a:rPr>
              <a:t>Two views</a:t>
            </a:r>
          </a:p>
        </p:txBody>
      </p:sp>
      <p:sp>
        <p:nvSpPr>
          <p:cNvPr id="4" name="text-3">
            <a:extLst xmlns:a="http://schemas.openxmlformats.org/drawingml/2006/main">
              <a:ext uri="{FF2B5EF4-FFF2-40B4-BE49-F238E27FC236}">
                <a16:creationId xmlns:a16="http://schemas.microsoft.com/office/drawing/2014/main" id="{23A80CDF-CA86-45E8-B1EB-C1E999BB7DBE}"/>
              </a:ext>
            </a:extLst>
          </p:cNvPr>
          <p:cNvSpPr>
            <a:spLocks xmlns:a="http://schemas.openxmlformats.org/drawingml/2006/main" noGrp="1"/>
          </p:cNvSpPr>
          <p:nvPr/>
        </p:nvSpPr>
        <p:spPr>
          <a:xfrm xmlns:a="http://schemas.openxmlformats.org/drawingml/2006/main">
            <a:off x="609600" y="21717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F2933"/>
                </a:solidFill>
                <a:latin typeface="DejaVu Sans"/>
                <a:ea typeface="DejaVu Sans"/>
                <a:cs typeface="DejaVu Sans"/>
              </a:defRPr>
            </a:defPPr>
          </a:lstStyle>
          <a:p xmlns:a="http://schemas.openxmlformats.org/drawingml/2006/main">
            <a:pPr>
              <a:defRPr sz="1950" b="0">
                <a:solidFill>
                  <a:srgbClr val="1F2933"/>
                </a:solidFill>
                <a:latin typeface="DejaVu Sans"/>
                <a:ea typeface="DejaVu Sans"/>
                <a:cs typeface="DejaVu Sans"/>
              </a:defRPr>
            </a:pPr>
            <a:r>
              <a:rPr sz="1950" b="0">
                <a:solidFill>
                  <a:srgbClr val="1F2933"/>
                </a:solidFill>
                <a:latin typeface="DejaVu Sans"/>
                <a:ea typeface="DejaVu Sans"/>
                <a:cs typeface="DejaVu Sans"/>
              </a:rPr>
              <a:t>Original log-Mel and a residual U-Net enhanced view</a:t>
            </a:r>
          </a:p>
        </p:txBody>
      </p:sp>
      <p:sp>
        <p:nvSpPr>
          <p:cNvPr id="5" name="text-4">
            <a:extLst xmlns:a="http://schemas.openxmlformats.org/drawingml/2006/main">
              <a:ext uri="{FF2B5EF4-FFF2-40B4-BE49-F238E27FC236}">
                <a16:creationId xmlns:a16="http://schemas.microsoft.com/office/drawing/2014/main" id="{6184DFFD-FFAF-498C-B92F-B9E2DE08569F}"/>
              </a:ext>
            </a:extLst>
          </p:cNvPr>
          <p:cNvSpPr>
            <a:spLocks xmlns:a="http://schemas.openxmlformats.org/drawingml/2006/main" noGrp="1"/>
          </p:cNvSpPr>
          <p:nvPr/>
        </p:nvSpPr>
        <p:spPr>
          <a:xfrm xmlns:a="http://schemas.openxmlformats.org/drawingml/2006/main">
            <a:off x="609600" y="2857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6F8A"/>
                </a:solidFill>
                <a:latin typeface="DejaVu Sans"/>
                <a:ea typeface="DejaVu Sans"/>
                <a:cs typeface="DejaVu Sans"/>
              </a:defRPr>
            </a:defPPr>
          </a:lstStyle>
          <a:p xmlns:a="http://schemas.openxmlformats.org/drawingml/2006/main">
            <a:pPr>
              <a:defRPr sz="2175" b="1">
                <a:solidFill>
                  <a:srgbClr val="1D6F8A"/>
                </a:solidFill>
                <a:latin typeface="DejaVu Sans"/>
                <a:ea typeface="DejaVu Sans"/>
                <a:cs typeface="DejaVu Sans"/>
              </a:defRPr>
            </a:pPr>
            <a:r>
              <a:rPr sz="2175" b="1">
                <a:solidFill>
                  <a:srgbClr val="1D6F8A"/>
                </a:solidFill>
                <a:latin typeface="DejaVu Sans"/>
                <a:ea typeface="DejaVu Sans"/>
                <a:cs typeface="DejaVu Sans"/>
              </a:rPr>
              <a:t>Shared encoding</a:t>
            </a:r>
          </a:p>
        </p:txBody>
      </p:sp>
      <p:sp>
        <p:nvSpPr>
          <p:cNvPr id="6" name="text-5">
            <a:extLst xmlns:a="http://schemas.openxmlformats.org/drawingml/2006/main">
              <a:ext uri="{FF2B5EF4-FFF2-40B4-BE49-F238E27FC236}">
                <a16:creationId xmlns:a16="http://schemas.microsoft.com/office/drawing/2014/main" id="{7D4F0DCB-CA14-4B51-8FDF-B166C7D45A24}"/>
              </a:ext>
            </a:extLst>
          </p:cNvPr>
          <p:cNvSpPr>
            <a:spLocks xmlns:a="http://schemas.openxmlformats.org/drawingml/2006/main" noGrp="1"/>
          </p:cNvSpPr>
          <p:nvPr/>
        </p:nvSpPr>
        <p:spPr>
          <a:xfrm xmlns:a="http://schemas.openxmlformats.org/drawingml/2006/main">
            <a:off x="609600" y="32766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F2933"/>
                </a:solidFill>
                <a:latin typeface="DejaVu Sans"/>
                <a:ea typeface="DejaVu Sans"/>
                <a:cs typeface="DejaVu Sans"/>
              </a:defRPr>
            </a:defPPr>
          </a:lstStyle>
          <a:p xmlns:a="http://schemas.openxmlformats.org/drawingml/2006/main">
            <a:pPr>
              <a:defRPr sz="1950" b="0">
                <a:solidFill>
                  <a:srgbClr val="1F2933"/>
                </a:solidFill>
                <a:latin typeface="DejaVu Sans"/>
                <a:ea typeface="DejaVu Sans"/>
                <a:cs typeface="DejaVu Sans"/>
              </a:defRPr>
            </a:pPr>
            <a:r>
              <a:rPr sz="1950" b="0">
                <a:solidFill>
                  <a:srgbClr val="1F2933"/>
                </a:solidFill>
                <a:latin typeface="DejaVu Sans"/>
                <a:ea typeface="DejaVu Sans"/>
                <a:cs typeface="DejaVu Sans"/>
              </a:rPr>
              <a:t>One Whisper encoder, two passes with shared weights</a:t>
            </a:r>
          </a:p>
        </p:txBody>
      </p:sp>
      <p:sp>
        <p:nvSpPr>
          <p:cNvPr id="7" name="text-6">
            <a:extLst xmlns:a="http://schemas.openxmlformats.org/drawingml/2006/main">
              <a:ext uri="{FF2B5EF4-FFF2-40B4-BE49-F238E27FC236}">
                <a16:creationId xmlns:a16="http://schemas.microsoft.com/office/drawing/2014/main" id="{4126F506-293D-4BB3-8F1B-E1E3E724064D}"/>
              </a:ext>
            </a:extLst>
          </p:cNvPr>
          <p:cNvSpPr>
            <a:spLocks xmlns:a="http://schemas.openxmlformats.org/drawingml/2006/main" noGrp="1"/>
          </p:cNvSpPr>
          <p:nvPr/>
        </p:nvSpPr>
        <p:spPr>
          <a:xfrm xmlns:a="http://schemas.openxmlformats.org/drawingml/2006/main">
            <a:off x="609600" y="3962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6F8A"/>
                </a:solidFill>
                <a:latin typeface="DejaVu Sans"/>
                <a:ea typeface="DejaVu Sans"/>
                <a:cs typeface="DejaVu Sans"/>
              </a:defRPr>
            </a:defPPr>
          </a:lstStyle>
          <a:p xmlns:a="http://schemas.openxmlformats.org/drawingml/2006/main">
            <a:pPr>
              <a:defRPr sz="2175" b="1">
                <a:solidFill>
                  <a:srgbClr val="1D6F8A"/>
                </a:solidFill>
                <a:latin typeface="DejaVu Sans"/>
                <a:ea typeface="DejaVu Sans"/>
                <a:cs typeface="DejaVu Sans"/>
              </a:defRPr>
            </a:pPr>
            <a:r>
              <a:rPr sz="2175" b="1">
                <a:solidFill>
                  <a:srgbClr val="1D6F8A"/>
                </a:solidFill>
                <a:latin typeface="DejaVu Sans"/>
                <a:ea typeface="DejaVu Sans"/>
                <a:cs typeface="DejaVu Sans"/>
              </a:rPr>
              <a:t>Learned combination</a:t>
            </a:r>
          </a:p>
        </p:txBody>
      </p:sp>
      <p:sp>
        <p:nvSpPr>
          <p:cNvPr id="8" name="text-7">
            <a:extLst xmlns:a="http://schemas.openxmlformats.org/drawingml/2006/main">
              <a:ext uri="{FF2B5EF4-FFF2-40B4-BE49-F238E27FC236}">
                <a16:creationId xmlns:a16="http://schemas.microsoft.com/office/drawing/2014/main" id="{BC6C89AD-8466-44B0-BDDA-A135F2B70C3B}"/>
              </a:ext>
            </a:extLst>
          </p:cNvPr>
          <p:cNvSpPr>
            <a:spLocks xmlns:a="http://schemas.openxmlformats.org/drawingml/2006/main" noGrp="1"/>
          </p:cNvSpPr>
          <p:nvPr/>
        </p:nvSpPr>
        <p:spPr>
          <a:xfrm xmlns:a="http://schemas.openxmlformats.org/drawingml/2006/main">
            <a:off x="609600" y="43815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F2933"/>
                </a:solidFill>
                <a:latin typeface="DejaVu Sans"/>
                <a:ea typeface="DejaVu Sans"/>
                <a:cs typeface="DejaVu Sans"/>
              </a:defRPr>
            </a:defPPr>
          </a:lstStyle>
          <a:p xmlns:a="http://schemas.openxmlformats.org/drawingml/2006/main">
            <a:pPr>
              <a:defRPr sz="1950" b="0">
                <a:solidFill>
                  <a:srgbClr val="1F2933"/>
                </a:solidFill>
                <a:latin typeface="DejaVu Sans"/>
                <a:ea typeface="DejaVu Sans"/>
                <a:cs typeface="DejaVu Sans"/>
              </a:defRPr>
            </a:pPr>
            <a:r>
              <a:rPr sz="1950" b="0">
                <a:solidFill>
                  <a:srgbClr val="1F2933"/>
                </a:solidFill>
                <a:latin typeface="DejaVu Sans"/>
                <a:ea typeface="DejaVu Sans"/>
                <a:cs typeface="DejaVu Sans"/>
              </a:rPr>
              <a:t>Bidirectional cross-attention, then a gate per time and feature</a:t>
            </a:r>
          </a:p>
        </p:txBody>
      </p:sp>
      <p:sp>
        <p:nvSpPr>
          <p:cNvPr id="9" name="text-8">
            <a:extLst xmlns:a="http://schemas.openxmlformats.org/drawingml/2006/main">
              <a:ext uri="{FF2B5EF4-FFF2-40B4-BE49-F238E27FC236}">
                <a16:creationId xmlns:a16="http://schemas.microsoft.com/office/drawing/2014/main" id="{1304265C-3837-4D62-B1E9-6EDC6A31DA9D}"/>
              </a:ext>
            </a:extLst>
          </p:cNvPr>
          <p:cNvSpPr>
            <a:spLocks xmlns:a="http://schemas.openxmlformats.org/drawingml/2006/main" noGrp="1"/>
          </p:cNvSpPr>
          <p:nvPr/>
        </p:nvSpPr>
        <p:spPr>
          <a:xfrm xmlns:a="http://schemas.openxmlformats.org/drawingml/2006/main">
            <a:off x="609600" y="56578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2606D"/>
                </a:solidFill>
                <a:latin typeface="DejaVu Sans"/>
                <a:ea typeface="DejaVu Sans"/>
                <a:cs typeface="DejaVu Sans"/>
              </a:defRPr>
            </a:defPPr>
          </a:lstStyle>
          <a:p xmlns:a="http://schemas.openxmlformats.org/drawingml/2006/main">
            <a:pPr>
              <a:defRPr sz="2250" b="0">
                <a:solidFill>
                  <a:srgbClr val="52606D"/>
                </a:solidFill>
                <a:latin typeface="DejaVu Sans"/>
                <a:ea typeface="DejaVu Sans"/>
                <a:cs typeface="DejaVu Sans"/>
              </a:defRPr>
            </a:pPr>
            <a:r>
              <a:rPr sz="2250" b="0">
                <a:solidFill>
                  <a:srgbClr val="52606D"/>
                </a:solidFill>
                <a:latin typeface="DejaVu Sans"/>
                <a:ea typeface="DejaVu Sans"/>
                <a:cs typeface="DejaVu Sans"/>
              </a:rPr>
              <a:t>Fused = g ⊙ Enhanced′ + (1 − g) ⊙ Original′</a:t>
            </a:r>
          </a:p>
        </p:txBody>
      </p:sp>
    </p:spTree>
    <p:extLst>
      <p:ext uri="{BB962C8B-B14F-4D97-AF65-F5344CB8AC3E}">
        <p14:creationId xmlns:p14="http://schemas.microsoft.com/office/powerpoint/2010/main" val="836358931"/>
      </p:ext>
    </p:extLst>
  </p:cSld>
</p:sld>
</file>

<file path=ppt/slides/slide1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4B5C7786-C8D2-4771-A32C-77CA5B77DC63}"/>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Three-stage fusion training</a:t>
            </a:r>
          </a:p>
        </p:txBody>
      </p:sp>
      <p:sp>
        <p:nvSpPr>
          <p:cNvPr id="2" name="text-1">
            <a:extLst xmlns:a="http://schemas.openxmlformats.org/drawingml/2006/main">
              <a:ext uri="{FF2B5EF4-FFF2-40B4-BE49-F238E27FC236}">
                <a16:creationId xmlns:a16="http://schemas.microsoft.com/office/drawing/2014/main" id="{65B1C072-ED0E-4A9A-9AA5-0408565938A8}"/>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10</a:t>
            </a:r>
          </a:p>
        </p:txBody>
      </p:sp>
      <p:graphicFrame>
        <p:nvGraphicFramePr>
          <p:cNvPr id="3" name="">
            <a:extLst xmlns:a="http://schemas.openxmlformats.org/drawingml/2006/main">
              <a:ext uri="{FF2B5EF4-FFF2-40B4-BE49-F238E27FC236}">
                <a16:creationId xmlns:a16="http://schemas.microsoft.com/office/drawing/2014/main" id="{CB9A50C0-80C0-40E4-879A-F4B4F6A2E4F8}"/>
              </a:ext>
            </a:extLst>
          </p:cNvPr>
          <p:cNvGraphicFramePr/>
          <p:nvPr/>
        </p:nvGraphicFramePr>
        <p:xfrm>
          <a:off xmlns:a="http://schemas.openxmlformats.org/drawingml/2006/main" x="609600" y="1866900"/>
          <a:ext xmlns:a="http://schemas.openxmlformats.org/drawingml/2006/main" cx="10972800" cy="2857500"/>
        </p:xfrm>
        <a:graphic xmlns:a="http://schemas.openxmlformats.org/drawingml/2006/main">
          <a:graphicData uri="http://schemas.openxmlformats.org/drawingml/2006/table">
            <a:tbl>
              <a:tblPr/>
              <a:tblGrid>
                <a:gridCol w="3476625"/>
                <a:gridCol w="3619500"/>
                <a:gridCol w="3876675"/>
              </a:tblGrid>
              <a:tr h="714375">
                <a:tc>
                  <a:txBody>
                    <a:bodyPr/>
                    <a:lstStyle/>
                    <a:p>
                      <a:pPr algn="l"/>
                      <a:r>
                        <a:rPr sz="1950" b="1">
                          <a:solidFill>
                            <a:srgbClr val="FFFFFF"/>
                          </a:solidFill>
                          <a:latin typeface="DejaVu Sans"/>
                          <a:ea typeface="DejaVu Sans"/>
                          <a:cs typeface="DejaVu Sans"/>
                        </a:rPr>
                        <a:t>Stage</a:t>
                      </a:r>
                    </a:p>
                  </a:txBody>
                  <a:tcPr marL="133350" marR="114300" marT="76200" marB="76200" anchor="ctr">
                    <a:solidFill>
                      <a:srgbClr val="1F2933"/>
                    </a:solidFill>
                  </a:tcPr>
                </a:tc>
                <a:tc>
                  <a:txBody>
                    <a:bodyPr/>
                    <a:lstStyle/>
                    <a:p>
                      <a:pPr algn="ctr"/>
                      <a:r>
                        <a:rPr sz="1950" b="1">
                          <a:solidFill>
                            <a:srgbClr val="FFFFFF"/>
                          </a:solidFill>
                          <a:latin typeface="DejaVu Sans"/>
                          <a:ea typeface="DejaVu Sans"/>
                          <a:cs typeface="DejaVu Sans"/>
                        </a:rPr>
                        <a:t>Trainable components</a:t>
                      </a:r>
                    </a:p>
                  </a:txBody>
                  <a:tcPr marL="133350" marR="114300" marT="76200" marB="76200" anchor="ctr">
                    <a:solidFill>
                      <a:srgbClr val="1F2933"/>
                    </a:solidFill>
                  </a:tcPr>
                </a:tc>
                <a:tc>
                  <a:txBody>
                    <a:bodyPr/>
                    <a:lstStyle/>
                    <a:p>
                      <a:pPr algn="ctr"/>
                      <a:r>
                        <a:rPr sz="1950" b="1">
                          <a:solidFill>
                            <a:srgbClr val="FFFFFF"/>
                          </a:solidFill>
                          <a:latin typeface="DejaVu Sans"/>
                          <a:ea typeface="DejaVu Sans"/>
                          <a:cs typeface="DejaVu Sans"/>
                        </a:rPr>
                        <a:t>Objective</a:t>
                      </a:r>
                    </a:p>
                  </a:txBody>
                  <a:tcPr marL="133350" marR="114300" marT="76200" marB="76200" anchor="ctr">
                    <a:solidFill>
                      <a:srgbClr val="1F2933"/>
                    </a:solidFill>
                  </a:tcPr>
                </a:tc>
              </a:tr>
              <a:tr h="714375">
                <a:tc>
                  <a:txBody>
                    <a:bodyPr/>
                    <a:lstStyle/>
                    <a:p>
                      <a:pPr algn="l"/>
                      <a:r>
                        <a:rPr sz="1950" b="0">
                          <a:solidFill>
                            <a:srgbClr val="1F2933"/>
                          </a:solidFill>
                          <a:latin typeface="DejaVu Sans"/>
                          <a:ea typeface="DejaVu Sans"/>
                          <a:cs typeface="DejaVu Sans"/>
                        </a:rPr>
                        <a:t>1. Enhancer warm-up</a:t>
                      </a:r>
                    </a:p>
                  </a:txBody>
                  <a:tcPr marL="133350" marR="114300" marT="76200" marB="76200" anchor="ctr">
                    <a:solidFill>
                      <a:srgbClr val="F7F6F2"/>
                    </a:solidFill>
                  </a:tcPr>
                </a:tc>
                <a:tc>
                  <a:txBody>
                    <a:bodyPr/>
                    <a:lstStyle/>
                    <a:p>
                      <a:pPr algn="ctr"/>
                      <a:r>
                        <a:rPr sz="1950" b="0">
                          <a:solidFill>
                            <a:srgbClr val="1F2933"/>
                          </a:solidFill>
                          <a:latin typeface="DejaVu Sans"/>
                          <a:ea typeface="DejaVu Sans"/>
                          <a:cs typeface="DejaVu Sans"/>
                        </a:rPr>
                        <a:t>Enhancer only</a:t>
                      </a:r>
                    </a:p>
                  </a:txBody>
                  <a:tcPr marL="133350" marR="114300" marT="76200" marB="76200" anchor="ctr">
                    <a:solidFill>
                      <a:srgbClr val="F7F6F2"/>
                    </a:solidFill>
                  </a:tcPr>
                </a:tc>
                <a:tc>
                  <a:txBody>
                    <a:bodyPr/>
                    <a:lstStyle/>
                    <a:p>
                      <a:pPr algn="ctr"/>
                      <a:r>
                        <a:rPr sz="1950" b="0">
                          <a:solidFill>
                            <a:srgbClr val="1F2933"/>
                          </a:solidFill>
                          <a:latin typeface="DejaVu Sans"/>
                          <a:ea typeface="DejaVu Sans"/>
                          <a:cs typeface="DejaVu Sans"/>
                        </a:rPr>
                        <a:t>0.5 enhancement + 0.5 feature</a:t>
                      </a:r>
                    </a:p>
                  </a:txBody>
                  <a:tcPr marL="133350" marR="114300" marT="76200" marB="76200" anchor="ctr">
                    <a:solidFill>
                      <a:srgbClr val="F7F6F2"/>
                    </a:solidFill>
                  </a:tcPr>
                </a:tc>
              </a:tr>
              <a:tr h="714375">
                <a:tc>
                  <a:txBody>
                    <a:bodyPr/>
                    <a:lstStyle/>
                    <a:p>
                      <a:pPr algn="l"/>
                      <a:r>
                        <a:rPr sz="1950" b="0">
                          <a:solidFill>
                            <a:srgbClr val="1F2933"/>
                          </a:solidFill>
                          <a:latin typeface="DejaVu Sans"/>
                          <a:ea typeface="DejaVu Sans"/>
                          <a:cs typeface="DejaVu Sans"/>
                        </a:rPr>
                        <a:t>2. Frozen recognizer</a:t>
                      </a:r>
                    </a:p>
                  </a:txBody>
                  <a:tcPr marL="133350" marR="114300" marT="76200" marB="76200" anchor="ctr">
                    <a:solidFill>
                      <a:srgbClr val="F7F6F2"/>
                    </a:solidFill>
                  </a:tcPr>
                </a:tc>
                <a:tc>
                  <a:txBody>
                    <a:bodyPr/>
                    <a:lstStyle/>
                    <a:p>
                      <a:pPr algn="ctr"/>
                      <a:r>
                        <a:rPr sz="1950" b="0">
                          <a:solidFill>
                            <a:srgbClr val="1F2933"/>
                          </a:solidFill>
                          <a:latin typeface="DejaVu Sans"/>
                          <a:ea typeface="DejaVu Sans"/>
                          <a:cs typeface="DejaVu Sans"/>
                        </a:rPr>
                        <a:t>Enhancer and fusion</a:t>
                      </a:r>
                    </a:p>
                  </a:txBody>
                  <a:tcPr marL="133350" marR="114300" marT="76200" marB="76200" anchor="ctr">
                    <a:solidFill>
                      <a:srgbClr val="F7F6F2"/>
                    </a:solidFill>
                  </a:tcPr>
                </a:tc>
                <a:tc>
                  <a:txBody>
                    <a:bodyPr/>
                    <a:lstStyle/>
                    <a:p>
                      <a:pPr algn="ctr"/>
                      <a:r>
                        <a:rPr sz="1950" b="0">
                          <a:solidFill>
                            <a:srgbClr val="1F2933"/>
                          </a:solidFill>
                          <a:latin typeface="DejaVu Sans"/>
                          <a:ea typeface="DejaVu Sans"/>
                          <a:cs typeface="DejaVu Sans"/>
                        </a:rPr>
                        <a:t>ASR + 0.3 enhancement</a:t>
                      </a:r>
                    </a:p>
                  </a:txBody>
                  <a:tcPr marL="133350" marR="114300" marT="76200" marB="76200" anchor="ctr">
                    <a:solidFill>
                      <a:srgbClr val="F7F6F2"/>
                    </a:solidFill>
                  </a:tcPr>
                </a:tc>
              </a:tr>
              <a:tr h="714375">
                <a:tc>
                  <a:txBody>
                    <a:bodyPr/>
                    <a:lstStyle/>
                    <a:p>
                      <a:pPr algn="l"/>
                      <a:r>
                        <a:rPr sz="1950" b="0">
                          <a:solidFill>
                            <a:srgbClr val="1F2933"/>
                          </a:solidFill>
                          <a:latin typeface="DejaVu Sans"/>
                          <a:ea typeface="DejaVu Sans"/>
                          <a:cs typeface="DejaVu Sans"/>
                        </a:rPr>
                        <a:t>3. Joint training</a:t>
                      </a:r>
                    </a:p>
                  </a:txBody>
                  <a:tcPr marL="133350" marR="114300" marT="76200" marB="76200" anchor="ctr">
                    <a:solidFill>
                      <a:srgbClr val="F7F6F2"/>
                    </a:solidFill>
                  </a:tcPr>
                </a:tc>
                <a:tc>
                  <a:txBody>
                    <a:bodyPr/>
                    <a:lstStyle/>
                    <a:p>
                      <a:pPr algn="ctr"/>
                      <a:r>
                        <a:rPr sz="1950" b="0">
                          <a:solidFill>
                            <a:srgbClr val="1F2933"/>
                          </a:solidFill>
                          <a:latin typeface="DejaVu Sans"/>
                          <a:ea typeface="DejaVu Sans"/>
                          <a:cs typeface="DejaVu Sans"/>
                        </a:rPr>
                        <a:t>All components</a:t>
                      </a:r>
                    </a:p>
                  </a:txBody>
                  <a:tcPr marL="133350" marR="114300" marT="76200" marB="76200" anchor="ctr">
                    <a:solidFill>
                      <a:srgbClr val="F7F6F2"/>
                    </a:solidFill>
                  </a:tcPr>
                </a:tc>
                <a:tc>
                  <a:txBody>
                    <a:bodyPr/>
                    <a:lstStyle/>
                    <a:p>
                      <a:pPr algn="ctr"/>
                      <a:r>
                        <a:rPr sz="1950" b="0">
                          <a:solidFill>
                            <a:srgbClr val="1F2933"/>
                          </a:solidFill>
                          <a:latin typeface="DejaVu Sans"/>
                          <a:ea typeface="DejaVu Sans"/>
                          <a:cs typeface="DejaVu Sans"/>
                        </a:rPr>
                        <a:t>ASR + 0.1 enhancement</a:t>
                      </a:r>
                    </a:p>
                  </a:txBody>
                  <a:tcPr marL="133350" marR="114300" marT="76200" marB="76200" anchor="ctr">
                    <a:solidFill>
                      <a:srgbClr val="F7F6F2"/>
                    </a:solidFill>
                  </a:tcPr>
                </a:tc>
              </a:tr>
            </a:tbl>
          </a:graphicData>
        </a:graphic>
      </p:graphicFrame>
      <p:sp>
        <p:nvSpPr>
          <p:cNvPr id="4" name="text-2">
            <a:extLst xmlns:a="http://schemas.openxmlformats.org/drawingml/2006/main">
              <a:ext uri="{FF2B5EF4-FFF2-40B4-BE49-F238E27FC236}">
                <a16:creationId xmlns:a16="http://schemas.microsoft.com/office/drawing/2014/main" id="{71E381C9-B0B4-4C21-A61D-19ABFD80A416}"/>
              </a:ext>
            </a:extLst>
          </p:cNvPr>
          <p:cNvSpPr>
            <a:spLocks xmlns:a="http://schemas.openxmlformats.org/drawingml/2006/main" noGrp="1"/>
          </p:cNvSpPr>
          <p:nvPr/>
        </p:nvSpPr>
        <p:spPr>
          <a:xfrm xmlns:a="http://schemas.openxmlformats.org/drawingml/2006/main">
            <a:off x="609600" y="52387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06D"/>
                </a:solidFill>
                <a:latin typeface="DejaVu Sans"/>
                <a:ea typeface="DejaVu Sans"/>
                <a:cs typeface="DejaVu Sans"/>
              </a:defRPr>
            </a:defPPr>
          </a:lstStyle>
          <a:p xmlns:a="http://schemas.openxmlformats.org/drawingml/2006/main">
            <a:pPr>
              <a:defRPr sz="1725" b="0">
                <a:solidFill>
                  <a:srgbClr val="52606D"/>
                </a:solidFill>
                <a:latin typeface="DejaVu Sans"/>
                <a:ea typeface="DejaVu Sans"/>
                <a:cs typeface="DejaVu Sans"/>
              </a:defRPr>
            </a:pPr>
            <a:r>
              <a:rPr sz="1725" b="0">
                <a:solidFill>
                  <a:srgbClr val="52606D"/>
                </a:solidFill>
                <a:latin typeface="DejaVu Sans"/>
                <a:ea typeface="DejaVu Sans"/>
                <a:cs typeface="DejaVu Sans"/>
              </a:rPr>
              <a:t>One epoch per stage. Final learning rates: added modules 10⁻⁴, Whisper 5 × 10⁻⁶.</a:t>
            </a:r>
          </a:p>
          <a:p xmlns:a="http://schemas.openxmlformats.org/drawingml/2006/main">
            <a:pPr>
              <a:defRPr sz="1725" b="0">
                <a:solidFill>
                  <a:srgbClr val="52606D"/>
                </a:solidFill>
                <a:latin typeface="DejaVu Sans"/>
                <a:ea typeface="DejaVu Sans"/>
                <a:cs typeface="DejaVu Sans"/>
              </a:defRPr>
            </a:pPr>
            <a:r>
              <a:rPr sz="1725" b="0">
                <a:solidFill>
                  <a:srgbClr val="52606D"/>
                </a:solidFill>
                <a:latin typeface="DejaVu Sans"/>
                <a:ea typeface="DejaVu Sans"/>
                <a:cs typeface="DejaVu Sans"/>
              </a:rPr>
              <a:t>Fusion changes both architecture and the training schedule.</a:t>
            </a:r>
          </a:p>
        </p:txBody>
      </p:sp>
    </p:spTree>
    <p:extLst>
      <p:ext uri="{BB962C8B-B14F-4D97-AF65-F5344CB8AC3E}">
        <p14:creationId xmlns:p14="http://schemas.microsoft.com/office/powerpoint/2010/main" val="93109120"/>
      </p:ext>
    </p:extLst>
  </p:cSld>
</p:sld>
</file>

<file path=ppt/slides/slide11.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478C9FA9-B92B-4067-A64D-7FB35F8DDF8D}"/>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Fusion gives a small numerical improvement</a:t>
            </a:r>
          </a:p>
        </p:txBody>
      </p:sp>
      <p:sp>
        <p:nvSpPr>
          <p:cNvPr id="2" name="text-1">
            <a:extLst xmlns:a="http://schemas.openxmlformats.org/drawingml/2006/main">
              <a:ext uri="{FF2B5EF4-FFF2-40B4-BE49-F238E27FC236}">
                <a16:creationId xmlns:a16="http://schemas.microsoft.com/office/drawing/2014/main" id="{6D7A89D6-2A1F-4651-84C6-FDAEFD5D0AAE}"/>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11</a:t>
            </a:r>
          </a:p>
        </p:txBody>
      </p:sp>
      <p:graphicFrame>
        <p:nvGraphicFramePr>
          <p:cNvPr id="3" name="">
            <a:extLst xmlns:a="http://schemas.openxmlformats.org/drawingml/2006/main">
              <a:ext uri="{FF2B5EF4-FFF2-40B4-BE49-F238E27FC236}">
                <a16:creationId xmlns:a16="http://schemas.microsoft.com/office/drawing/2014/main" id="{FEF80D04-DBC8-4823-82A2-84C1AF1E9B01}"/>
              </a:ext>
            </a:extLst>
          </p:cNvPr>
          <p:cNvGraphicFramePr/>
          <p:nvPr/>
        </p:nvGraphicFramePr>
        <p:xfrm>
          <a:off xmlns:a="http://schemas.openxmlformats.org/drawingml/2006/main" x="609600" y="1809750"/>
          <a:ext xmlns:a="http://schemas.openxmlformats.org/drawingml/2006/main" cx="10972800" cy="2667000"/>
        </p:xfrm>
        <a:graphic xmlns:a="http://schemas.openxmlformats.org/drawingml/2006/main">
          <a:graphicData uri="http://schemas.openxmlformats.org/drawingml/2006/table">
            <a:tbl>
              <a:tblPr/>
              <a:tblGrid>
                <a:gridCol w="4095750"/>
                <a:gridCol w="2286000"/>
                <a:gridCol w="2286000"/>
                <a:gridCol w="2305050"/>
              </a:tblGrid>
              <a:tr h="666750">
                <a:tc>
                  <a:txBody>
                    <a:bodyPr/>
                    <a:lstStyle/>
                    <a:p>
                      <a:pPr algn="l"/>
                      <a:r>
                        <a:rPr sz="1800" b="1">
                          <a:solidFill>
                            <a:srgbClr val="FFFFFF"/>
                          </a:solidFill>
                          <a:latin typeface="DejaVu Sans"/>
                          <a:ea typeface="DejaVu Sans"/>
                          <a:cs typeface="DejaVu Sans"/>
                        </a:rPr>
                        <a:t>System</a:t>
                      </a:r>
                    </a:p>
                  </a:txBody>
                  <a:tcPr marL="133350" marR="114300" marT="76200" marB="76200" anchor="ctr">
                    <a:solidFill>
                      <a:srgbClr val="1F2933"/>
                    </a:solidFill>
                  </a:tcPr>
                </a:tc>
                <a:tc>
                  <a:txBody>
                    <a:bodyPr/>
                    <a:lstStyle/>
                    <a:p>
                      <a:pPr algn="ctr"/>
                      <a:r>
                        <a:rPr sz="1800" b="1">
                          <a:solidFill>
                            <a:srgbClr val="FFFFFF"/>
                          </a:solidFill>
                          <a:latin typeface="DejaVu Sans"/>
                          <a:ea typeface="DejaVu Sans"/>
                          <a:cs typeface="DejaVu Sans"/>
                        </a:rPr>
                        <a:t>Aggregate WER</a:t>
                      </a:r>
                    </a:p>
                  </a:txBody>
                  <a:tcPr marL="133350" marR="114300" marT="76200" marB="76200" anchor="ctr">
                    <a:solidFill>
                      <a:srgbClr val="1F2933"/>
                    </a:solidFill>
                  </a:tcPr>
                </a:tc>
                <a:tc>
                  <a:txBody>
                    <a:bodyPr/>
                    <a:lstStyle/>
                    <a:p>
                      <a:pPr algn="ctr"/>
                      <a:r>
                        <a:rPr sz="1800" b="1">
                          <a:solidFill>
                            <a:srgbClr val="FFFFFF"/>
                          </a:solidFill>
                          <a:latin typeface="DejaVu Sans"/>
                          <a:ea typeface="DejaVu Sans"/>
                          <a:cs typeface="DejaVu Sans"/>
                        </a:rPr>
                        <a:t>Aggregate CER</a:t>
                      </a:r>
                    </a:p>
                  </a:txBody>
                  <a:tcPr marL="133350" marR="114300" marT="76200" marB="76200" anchor="ctr">
                    <a:solidFill>
                      <a:srgbClr val="1F2933"/>
                    </a:solidFill>
                  </a:tcPr>
                </a:tc>
                <a:tc>
                  <a:txBody>
                    <a:bodyPr/>
                    <a:lstStyle/>
                    <a:p>
                      <a:pPr algn="ctr"/>
                      <a:r>
                        <a:rPr sz="1800" b="1">
                          <a:solidFill>
                            <a:srgbClr val="FFFFFF"/>
                          </a:solidFill>
                          <a:latin typeface="DejaVu Sans"/>
                          <a:ea typeface="DejaVu Sans"/>
                          <a:cs typeface="DejaVu Sans"/>
                        </a:rPr>
                        <a:t>AGFarsdat WER</a:t>
                      </a:r>
                    </a:p>
                  </a:txBody>
                  <a:tcPr marL="133350" marR="114300" marT="76200" marB="76200" anchor="ctr">
                    <a:solidFill>
                      <a:srgbClr val="1F2933"/>
                    </a:solidFill>
                  </a:tcPr>
                </a:tc>
              </a:tr>
              <a:tr h="666750">
                <a:tc>
                  <a:txBody>
                    <a:bodyPr/>
                    <a:lstStyle/>
                    <a:p>
                      <a:pPr algn="l"/>
                      <a:r>
                        <a:rPr sz="1800" b="0">
                          <a:solidFill>
                            <a:srgbClr val="1F2933"/>
                          </a:solidFill>
                          <a:latin typeface="DejaVu Sans"/>
                          <a:ea typeface="DejaVu Sans"/>
                          <a:cs typeface="DejaVu Sans"/>
                        </a:rPr>
                        <a:t>Multi-condition</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17.83%</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7.93%</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25.80%</a:t>
                      </a:r>
                    </a:p>
                  </a:txBody>
                  <a:tcPr marL="133350" marR="114300" marT="76200" marB="76200" anchor="ctr">
                    <a:solidFill>
                      <a:srgbClr val="F7F6F2"/>
                    </a:solidFill>
                  </a:tcPr>
                </a:tc>
              </a:tr>
              <a:tr h="666750">
                <a:tc>
                  <a:txBody>
                    <a:bodyPr/>
                    <a:lstStyle/>
                    <a:p>
                      <a:pPr algn="l"/>
                      <a:r>
                        <a:rPr sz="1800" b="1">
                          <a:solidFill>
                            <a:srgbClr val="1D6F8A"/>
                          </a:solidFill>
                          <a:latin typeface="DejaVu Sans"/>
                          <a:ea typeface="DejaVu Sans"/>
                          <a:cs typeface="DejaVu Sans"/>
                        </a:rPr>
                        <a:t>Dual-stream fusion</a:t>
                      </a:r>
                    </a:p>
                  </a:txBody>
                  <a:tcPr marL="133350" marR="114300" marT="76200" marB="76200" anchor="ctr">
                    <a:solidFill>
                      <a:srgbClr val="E8F3F6"/>
                    </a:solidFill>
                  </a:tcPr>
                </a:tc>
                <a:tc>
                  <a:txBody>
                    <a:bodyPr/>
                    <a:lstStyle/>
                    <a:p>
                      <a:pPr algn="ctr"/>
                      <a:r>
                        <a:rPr sz="1800" b="1">
                          <a:solidFill>
                            <a:srgbClr val="1D6F8A"/>
                          </a:solidFill>
                          <a:latin typeface="DejaVu Sans"/>
                          <a:ea typeface="DejaVu Sans"/>
                          <a:cs typeface="DejaVu Sans"/>
                        </a:rPr>
                        <a:t>17.64%</a:t>
                      </a:r>
                    </a:p>
                  </a:txBody>
                  <a:tcPr marL="133350" marR="114300" marT="76200" marB="76200" anchor="ctr">
                    <a:solidFill>
                      <a:srgbClr val="E8F3F6"/>
                    </a:solidFill>
                  </a:tcPr>
                </a:tc>
                <a:tc>
                  <a:txBody>
                    <a:bodyPr/>
                    <a:lstStyle/>
                    <a:p>
                      <a:pPr algn="ctr"/>
                      <a:r>
                        <a:rPr sz="1800" b="1">
                          <a:solidFill>
                            <a:srgbClr val="1D6F8A"/>
                          </a:solidFill>
                          <a:latin typeface="DejaVu Sans"/>
                          <a:ea typeface="DejaVu Sans"/>
                          <a:cs typeface="DejaVu Sans"/>
                        </a:rPr>
                        <a:t>7.85%</a:t>
                      </a:r>
                    </a:p>
                  </a:txBody>
                  <a:tcPr marL="133350" marR="114300" marT="76200" marB="76200" anchor="ctr">
                    <a:solidFill>
                      <a:srgbClr val="E8F3F6"/>
                    </a:solidFill>
                  </a:tcPr>
                </a:tc>
                <a:tc>
                  <a:txBody>
                    <a:bodyPr/>
                    <a:lstStyle/>
                    <a:p>
                      <a:pPr algn="ctr"/>
                      <a:r>
                        <a:rPr sz="1800" b="1">
                          <a:solidFill>
                            <a:srgbClr val="1D6F8A"/>
                          </a:solidFill>
                          <a:latin typeface="DejaVu Sans"/>
                          <a:ea typeface="DejaVu Sans"/>
                          <a:cs typeface="DejaVu Sans"/>
                        </a:rPr>
                        <a:t>25.37%</a:t>
                      </a:r>
                    </a:p>
                  </a:txBody>
                  <a:tcPr marL="133350" marR="114300" marT="76200" marB="76200" anchor="ctr">
                    <a:solidFill>
                      <a:srgbClr val="E8F3F6"/>
                    </a:solidFill>
                  </a:tcPr>
                </a:tc>
              </a:tr>
              <a:tr h="666750">
                <a:tc>
                  <a:txBody>
                    <a:bodyPr/>
                    <a:lstStyle/>
                    <a:p>
                      <a:pPr algn="l"/>
                      <a:r>
                        <a:rPr sz="1800" b="0">
                          <a:solidFill>
                            <a:srgbClr val="1F2933"/>
                          </a:solidFill>
                          <a:latin typeface="DejaVu Sans"/>
                          <a:ea typeface="DejaVu Sans"/>
                          <a:cs typeface="DejaVu Sans"/>
                        </a:rPr>
                        <a:t>Adaptive bridge, independent</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17.74%</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8.00%</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25.84%</a:t>
                      </a:r>
                    </a:p>
                  </a:txBody>
                  <a:tcPr marL="133350" marR="114300" marT="76200" marB="76200" anchor="ctr">
                    <a:solidFill>
                      <a:srgbClr val="F7F6F2"/>
                    </a:solidFill>
                  </a:tcPr>
                </a:tc>
              </a:tr>
            </a:tbl>
          </a:graphicData>
        </a:graphic>
      </p:graphicFrame>
      <p:sp>
        <p:nvSpPr>
          <p:cNvPr id="4" name="text-2">
            <a:extLst xmlns:a="http://schemas.openxmlformats.org/drawingml/2006/main">
              <a:ext uri="{FF2B5EF4-FFF2-40B4-BE49-F238E27FC236}">
                <a16:creationId xmlns:a16="http://schemas.microsoft.com/office/drawing/2014/main" id="{A14AC1BC-BD33-4175-85BC-CCE78029F590}"/>
              </a:ext>
            </a:extLst>
          </p:cNvPr>
          <p:cNvSpPr>
            <a:spLocks xmlns:a="http://schemas.openxmlformats.org/drawingml/2006/main" noGrp="1"/>
          </p:cNvSpPr>
          <p:nvPr/>
        </p:nvSpPr>
        <p:spPr>
          <a:xfrm xmlns:a="http://schemas.openxmlformats.org/drawingml/2006/main">
            <a:off x="609600" y="48577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D6F8A"/>
                </a:solidFill>
                <a:latin typeface="DejaVu Sans"/>
                <a:ea typeface="DejaVu Sans"/>
                <a:cs typeface="DejaVu Sans"/>
              </a:defRPr>
            </a:defPPr>
          </a:lstStyle>
          <a:p xmlns:a="http://schemas.openxmlformats.org/drawingml/2006/main">
            <a:pPr>
              <a:defRPr sz="2325" b="0">
                <a:solidFill>
                  <a:srgbClr val="1D6F8A"/>
                </a:solidFill>
                <a:latin typeface="DejaVu Sans"/>
                <a:ea typeface="DejaVu Sans"/>
                <a:cs typeface="DejaVu Sans"/>
              </a:defRPr>
            </a:pPr>
            <a:r>
              <a:rPr sz="2325" b="0">
                <a:solidFill>
                  <a:srgbClr val="1D6F8A"/>
                </a:solidFill>
                <a:latin typeface="DejaVu Sans"/>
                <a:ea typeface="DejaVu Sans"/>
                <a:cs typeface="DejaVu Sans"/>
              </a:rPr>
              <a:t>Mean enhanced-stream gate weight: 0.6785</a:t>
            </a:r>
          </a:p>
        </p:txBody>
      </p:sp>
      <p:sp>
        <p:nvSpPr>
          <p:cNvPr id="5" name="text-3">
            <a:extLst xmlns:a="http://schemas.openxmlformats.org/drawingml/2006/main">
              <a:ext uri="{FF2B5EF4-FFF2-40B4-BE49-F238E27FC236}">
                <a16:creationId xmlns:a16="http://schemas.microsoft.com/office/drawing/2014/main" id="{544DFF3B-985B-4A97-B703-C4318868F6EE}"/>
              </a:ext>
            </a:extLst>
          </p:cNvPr>
          <p:cNvSpPr>
            <a:spLocks xmlns:a="http://schemas.openxmlformats.org/drawingml/2006/main" noGrp="1"/>
          </p:cNvSpPr>
          <p:nvPr/>
        </p:nvSpPr>
        <p:spPr>
          <a:xfrm xmlns:a="http://schemas.openxmlformats.org/drawingml/2006/main">
            <a:off x="609600" y="54864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06D"/>
                </a:solidFill>
                <a:latin typeface="DejaVu Sans"/>
                <a:ea typeface="DejaVu Sans"/>
                <a:cs typeface="DejaVu Sans"/>
              </a:defRPr>
            </a:defPPr>
          </a:lstStyle>
          <a:p xmlns:a="http://schemas.openxmlformats.org/drawingml/2006/main">
            <a:pPr>
              <a:defRPr sz="1725" b="0">
                <a:solidFill>
                  <a:srgbClr val="52606D"/>
                </a:solidFill>
                <a:latin typeface="DejaVu Sans"/>
                <a:ea typeface="DejaVu Sans"/>
                <a:cs typeface="DejaVu Sans"/>
              </a:defRPr>
            </a:pPr>
            <a:r>
              <a:rPr sz="1725" b="0">
                <a:solidFill>
                  <a:srgbClr val="52606D"/>
                </a:solidFill>
                <a:latin typeface="DejaVu Sans"/>
                <a:ea typeface="DejaVu Sans"/>
                <a:cs typeface="DejaVu Sans"/>
              </a:rPr>
              <a:t>Gate weights do not measure independent causal contribution.</a:t>
            </a:r>
          </a:p>
          <a:p xmlns:a="http://schemas.openxmlformats.org/drawingml/2006/main">
            <a:pPr>
              <a:defRPr sz="1725" b="0">
                <a:solidFill>
                  <a:srgbClr val="52606D"/>
                </a:solidFill>
                <a:latin typeface="DejaVu Sans"/>
                <a:ea typeface="DejaVu Sans"/>
                <a:cs typeface="DejaVu Sans"/>
              </a:defRPr>
            </a:pPr>
            <a:r>
              <a:rPr sz="1725" b="0">
                <a:solidFill>
                  <a:srgbClr val="52606D"/>
                </a:solidFill>
                <a:latin typeface="DejaVu Sans"/>
                <a:ea typeface="DejaVu Sans"/>
                <a:cs typeface="DejaVu Sans"/>
              </a:rPr>
              <a:t>Small margins lack confidence intervals and repeated-seed evidence.</a:t>
            </a:r>
          </a:p>
        </p:txBody>
      </p:sp>
    </p:spTree>
    <p:extLst>
      <p:ext uri="{BB962C8B-B14F-4D97-AF65-F5344CB8AC3E}">
        <p14:creationId xmlns:p14="http://schemas.microsoft.com/office/powerpoint/2010/main" val="680333881"/>
      </p:ext>
    </p:extLst>
  </p:cSld>
</p:sld>
</file>

<file path=ppt/slides/slide1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D0CD8120-F90C-4399-B8E2-596177BDBF72}"/>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Tiny-model ablations support using both views</a:t>
            </a:r>
          </a:p>
        </p:txBody>
      </p:sp>
      <p:sp>
        <p:nvSpPr>
          <p:cNvPr id="2" name="text-1">
            <a:extLst xmlns:a="http://schemas.openxmlformats.org/drawingml/2006/main">
              <a:ext uri="{FF2B5EF4-FFF2-40B4-BE49-F238E27FC236}">
                <a16:creationId xmlns:a16="http://schemas.microsoft.com/office/drawing/2014/main" id="{EEB5CAB4-FD04-4A8D-B5A6-81EBF63F2AAB}"/>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12</a:t>
            </a:r>
          </a:p>
        </p:txBody>
      </p:sp>
      <p:graphicFrame>
        <p:nvGraphicFramePr>
          <p:cNvPr id="3" name="">
            <a:extLst xmlns:a="http://schemas.openxmlformats.org/drawingml/2006/main">
              <a:ext uri="{FF2B5EF4-FFF2-40B4-BE49-F238E27FC236}">
                <a16:creationId xmlns:a16="http://schemas.microsoft.com/office/drawing/2014/main" id="{F09B9F79-6928-48AB-9434-D60DA403C829}"/>
              </a:ext>
            </a:extLst>
          </p:cNvPr>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a:tblGrid>
                <a:gridCol w="5905500"/>
                <a:gridCol w="2381250"/>
                <a:gridCol w="2686050"/>
              </a:tblGrid>
              <a:tr h="555625">
                <a:tc>
                  <a:txBody>
                    <a:bodyPr/>
                    <a:lstStyle/>
                    <a:p>
                      <a:pPr algn="l"/>
                      <a:r>
                        <a:rPr sz="1800" b="1">
                          <a:solidFill>
                            <a:srgbClr val="FFFFFF"/>
                          </a:solidFill>
                          <a:latin typeface="DejaVu Sans"/>
                          <a:ea typeface="DejaVu Sans"/>
                          <a:cs typeface="DejaVu Sans"/>
                        </a:rPr>
                        <a:t>Whisper Tiny configuration</a:t>
                      </a:r>
                    </a:p>
                  </a:txBody>
                  <a:tcPr marL="133350" marR="114300" marT="76200" marB="76200" anchor="ctr">
                    <a:solidFill>
                      <a:srgbClr val="1F2933"/>
                    </a:solidFill>
                  </a:tcPr>
                </a:tc>
                <a:tc>
                  <a:txBody>
                    <a:bodyPr/>
                    <a:lstStyle/>
                    <a:p>
                      <a:pPr algn="ctr"/>
                      <a:r>
                        <a:rPr sz="1800" b="1">
                          <a:solidFill>
                            <a:srgbClr val="FFFFFF"/>
                          </a:solidFill>
                          <a:latin typeface="DejaVu Sans"/>
                          <a:ea typeface="DejaVu Sans"/>
                          <a:cs typeface="DejaVu Sans"/>
                        </a:rPr>
                        <a:t>CV25 WER</a:t>
                      </a:r>
                    </a:p>
                  </a:txBody>
                  <a:tcPr marL="133350" marR="114300" marT="76200" marB="76200" anchor="ctr">
                    <a:solidFill>
                      <a:srgbClr val="1F2933"/>
                    </a:solidFill>
                  </a:tcPr>
                </a:tc>
                <a:tc>
                  <a:txBody>
                    <a:bodyPr/>
                    <a:lstStyle/>
                    <a:p>
                      <a:pPr algn="ctr"/>
                      <a:r>
                        <a:rPr sz="1800" b="1">
                          <a:solidFill>
                            <a:srgbClr val="FFFFFF"/>
                          </a:solidFill>
                          <a:latin typeface="DejaVu Sans"/>
                          <a:ea typeface="DejaVu Sans"/>
                          <a:cs typeface="DejaVu Sans"/>
                        </a:rPr>
                        <a:t>AGFarsdat WER</a:t>
                      </a:r>
                    </a:p>
                  </a:txBody>
                  <a:tcPr marL="133350" marR="114300" marT="76200" marB="76200" anchor="ctr">
                    <a:solidFill>
                      <a:srgbClr val="1F2933"/>
                    </a:solidFill>
                  </a:tcPr>
                </a:tc>
              </a:tr>
              <a:tr h="555625">
                <a:tc>
                  <a:txBody>
                    <a:bodyPr/>
                    <a:lstStyle/>
                    <a:p>
                      <a:pPr algn="l"/>
                      <a:r>
                        <a:rPr sz="1800" b="0">
                          <a:solidFill>
                            <a:srgbClr val="1F2933"/>
                          </a:solidFill>
                          <a:latin typeface="DejaVu Sans"/>
                          <a:ea typeface="DejaVu Sans"/>
                          <a:cs typeface="DejaVu Sans"/>
                        </a:rPr>
                        <a:t>Multi-condition baseline</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74.92%</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76.85%</a:t>
                      </a:r>
                    </a:p>
                  </a:txBody>
                  <a:tcPr marL="133350" marR="114300" marT="76200" marB="76200" anchor="ctr">
                    <a:solidFill>
                      <a:srgbClr val="F7F6F2"/>
                    </a:solidFill>
                  </a:tcPr>
                </a:tc>
              </a:tr>
              <a:tr h="555625">
                <a:tc>
                  <a:txBody>
                    <a:bodyPr/>
                    <a:lstStyle/>
                    <a:p>
                      <a:pPr algn="l"/>
                      <a:r>
                        <a:rPr sz="1800" b="1">
                          <a:solidFill>
                            <a:srgbClr val="1D6F8A"/>
                          </a:solidFill>
                          <a:latin typeface="DejaVu Sans"/>
                          <a:ea typeface="DejaVu Sans"/>
                          <a:cs typeface="DejaVu Sans"/>
                        </a:rPr>
                        <a:t>Bidirectional cross-attention fusion</a:t>
                      </a:r>
                    </a:p>
                  </a:txBody>
                  <a:tcPr marL="133350" marR="114300" marT="76200" marB="76200" anchor="ctr">
                    <a:solidFill>
                      <a:srgbClr val="E8F3F6"/>
                    </a:solidFill>
                  </a:tcPr>
                </a:tc>
                <a:tc>
                  <a:txBody>
                    <a:bodyPr/>
                    <a:lstStyle/>
                    <a:p>
                      <a:pPr algn="ctr"/>
                      <a:r>
                        <a:rPr sz="1800" b="1">
                          <a:solidFill>
                            <a:srgbClr val="1D6F8A"/>
                          </a:solidFill>
                          <a:latin typeface="DejaVu Sans"/>
                          <a:ea typeface="DejaVu Sans"/>
                          <a:cs typeface="DejaVu Sans"/>
                        </a:rPr>
                        <a:t>57.82%</a:t>
                      </a:r>
                    </a:p>
                  </a:txBody>
                  <a:tcPr marL="133350" marR="114300" marT="76200" marB="76200" anchor="ctr">
                    <a:solidFill>
                      <a:srgbClr val="E8F3F6"/>
                    </a:solidFill>
                  </a:tcPr>
                </a:tc>
                <a:tc>
                  <a:txBody>
                    <a:bodyPr/>
                    <a:lstStyle/>
                    <a:p>
                      <a:pPr algn="ctr"/>
                      <a:r>
                        <a:rPr sz="1800" b="1">
                          <a:solidFill>
                            <a:srgbClr val="1D6F8A"/>
                          </a:solidFill>
                          <a:latin typeface="DejaVu Sans"/>
                          <a:ea typeface="DejaVu Sans"/>
                          <a:cs typeface="DejaVu Sans"/>
                        </a:rPr>
                        <a:t>63.50%</a:t>
                      </a:r>
                    </a:p>
                  </a:txBody>
                  <a:tcPr marL="133350" marR="114300" marT="76200" marB="76200" anchor="ctr">
                    <a:solidFill>
                      <a:srgbClr val="E8F3F6"/>
                    </a:solidFill>
                  </a:tcPr>
                </a:tc>
              </a:tr>
              <a:tr h="555625">
                <a:tc>
                  <a:txBody>
                    <a:bodyPr/>
                    <a:lstStyle/>
                    <a:p>
                      <a:pPr algn="l"/>
                      <a:r>
                        <a:rPr sz="1800" b="0">
                          <a:solidFill>
                            <a:srgbClr val="1F2933"/>
                          </a:solidFill>
                          <a:latin typeface="DejaVu Sans"/>
                          <a:ea typeface="DejaVu Sans"/>
                          <a:cs typeface="DejaVu Sans"/>
                        </a:rPr>
                        <a:t>Gate only, without cross-attention</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62.35%</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65.88%</a:t>
                      </a:r>
                    </a:p>
                  </a:txBody>
                  <a:tcPr marL="133350" marR="114300" marT="76200" marB="76200" anchor="ctr">
                    <a:solidFill>
                      <a:srgbClr val="F7F6F2"/>
                    </a:solidFill>
                  </a:tcPr>
                </a:tc>
              </a:tr>
              <a:tr h="555625">
                <a:tc>
                  <a:txBody>
                    <a:bodyPr/>
                    <a:lstStyle/>
                    <a:p>
                      <a:pPr algn="l"/>
                      <a:r>
                        <a:rPr sz="1800" b="0">
                          <a:solidFill>
                            <a:srgbClr val="1F2933"/>
                          </a:solidFill>
                          <a:latin typeface="DejaVu Sans"/>
                          <a:ea typeface="DejaVu Sans"/>
                          <a:cs typeface="DejaVu Sans"/>
                        </a:rPr>
                        <a:t>Original representation only¹</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64.10%</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69.23%</a:t>
                      </a:r>
                    </a:p>
                  </a:txBody>
                  <a:tcPr marL="133350" marR="114300" marT="76200" marB="76200" anchor="ctr">
                    <a:solidFill>
                      <a:srgbClr val="F7F6F2"/>
                    </a:solidFill>
                  </a:tcPr>
                </a:tc>
              </a:tr>
              <a:tr h="555625">
                <a:tc>
                  <a:txBody>
                    <a:bodyPr/>
                    <a:lstStyle/>
                    <a:p>
                      <a:pPr algn="l"/>
                      <a:r>
                        <a:rPr sz="1800" b="0">
                          <a:solidFill>
                            <a:srgbClr val="1F2933"/>
                          </a:solidFill>
                          <a:latin typeface="DejaVu Sans"/>
                          <a:ea typeface="DejaVu Sans"/>
                          <a:cs typeface="DejaVu Sans"/>
                        </a:rPr>
                        <a:t>Enhanced representation only¹</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63.81%</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69.69%</a:t>
                      </a:r>
                    </a:p>
                  </a:txBody>
                  <a:tcPr marL="133350" marR="114300" marT="76200" marB="76200" anchor="ctr">
                    <a:solidFill>
                      <a:srgbClr val="F7F6F2"/>
                    </a:solidFill>
                  </a:tcPr>
                </a:tc>
              </a:tr>
            </a:tbl>
          </a:graphicData>
        </a:graphic>
      </p:graphicFrame>
      <p:sp>
        <p:nvSpPr>
          <p:cNvPr id="4" name="text-2">
            <a:extLst xmlns:a="http://schemas.openxmlformats.org/drawingml/2006/main">
              <a:ext uri="{FF2B5EF4-FFF2-40B4-BE49-F238E27FC236}">
                <a16:creationId xmlns:a16="http://schemas.microsoft.com/office/drawing/2014/main" id="{7AA58494-467E-428A-A207-E8D6CC17B4FB}"/>
              </a:ext>
            </a:extLst>
          </p:cNvPr>
          <p:cNvSpPr>
            <a:spLocks xmlns:a="http://schemas.openxmlformats.org/drawingml/2006/main" noGrp="1"/>
          </p:cNvSpPr>
          <p:nvPr/>
        </p:nvSpPr>
        <p:spPr>
          <a:xfrm xmlns:a="http://schemas.openxmlformats.org/drawingml/2006/main">
            <a:off x="609600" y="54292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06D"/>
                </a:solidFill>
                <a:latin typeface="DejaVu Sans"/>
                <a:ea typeface="DejaVu Sans"/>
                <a:cs typeface="DejaVu Sans"/>
              </a:defRPr>
            </a:defPPr>
          </a:lstStyle>
          <a:p xmlns:a="http://schemas.openxmlformats.org/drawingml/2006/main">
            <a:pPr>
              <a:defRPr sz="1650" b="0">
                <a:solidFill>
                  <a:srgbClr val="52606D"/>
                </a:solidFill>
                <a:latin typeface="DejaVu Sans"/>
                <a:ea typeface="DejaVu Sans"/>
                <a:cs typeface="DejaVu Sans"/>
              </a:defRPr>
            </a:pPr>
            <a:r>
              <a:rPr sz="1650" b="0">
                <a:solidFill>
                  <a:srgbClr val="52606D"/>
                </a:solidFill>
                <a:latin typeface="DejaVu Sans"/>
                <a:ea typeface="DejaVu Sans"/>
                <a:cs typeface="DejaVu Sans"/>
              </a:rPr>
              <a:t>¹ Inference-time removal from the trained fusion checkpoint. Lower is better.</a:t>
            </a:r>
          </a:p>
          <a:p xmlns:a="http://schemas.openxmlformats.org/drawingml/2006/main">
            <a:pPr>
              <a:defRPr sz="1650" b="0">
                <a:solidFill>
                  <a:srgbClr val="52606D"/>
                </a:solidFill>
                <a:latin typeface="DejaVu Sans"/>
                <a:ea typeface="DejaVu Sans"/>
                <a:cs typeface="DejaVu Sans"/>
              </a:defRPr>
            </a:pPr>
            <a:r>
              <a:rPr sz="1650" b="0">
                <a:solidFill>
                  <a:srgbClr val="52606D"/>
                </a:solidFill>
                <a:latin typeface="DejaVu Sans"/>
                <a:ea typeface="DejaVu Sans"/>
                <a:cs typeface="DejaVu Sans"/>
              </a:rPr>
              <a:t>Separate Tiny experiment. Extra training and unequal capacity limit attribution.</a:t>
            </a:r>
          </a:p>
        </p:txBody>
      </p:sp>
    </p:spTree>
    <p:extLst>
      <p:ext uri="{BB962C8B-B14F-4D97-AF65-F5344CB8AC3E}">
        <p14:creationId xmlns:p14="http://schemas.microsoft.com/office/powerpoint/2010/main" val="2115834533"/>
      </p:ext>
    </p:extLst>
  </p:cSld>
</p:sld>
</file>

<file path=ppt/slides/slide1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49706076-C496-4D67-AD0F-3C00FC1B0E0E}"/>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IranSeda audiobook preparation</a:t>
            </a:r>
          </a:p>
        </p:txBody>
      </p:sp>
      <p:sp>
        <p:nvSpPr>
          <p:cNvPr id="2" name="text-1">
            <a:extLst xmlns:a="http://schemas.openxmlformats.org/drawingml/2006/main">
              <a:ext uri="{FF2B5EF4-FFF2-40B4-BE49-F238E27FC236}">
                <a16:creationId xmlns:a16="http://schemas.microsoft.com/office/drawing/2014/main" id="{B89F83F2-F6AA-4D8A-98BC-8941EF02FE44}"/>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13</a:t>
            </a:r>
          </a:p>
        </p:txBody>
      </p:sp>
      <p:sp>
        <p:nvSpPr>
          <p:cNvPr id="3" name="text-2">
            <a:extLst xmlns:a="http://schemas.openxmlformats.org/drawingml/2006/main">
              <a:ext uri="{FF2B5EF4-FFF2-40B4-BE49-F238E27FC236}">
                <a16:creationId xmlns:a16="http://schemas.microsoft.com/office/drawing/2014/main" id="{08414EEF-AED8-4F28-B9CF-2BEA9E0EB126}"/>
              </a:ext>
            </a:extLst>
          </p:cNvPr>
          <p:cNvSpPr>
            <a:spLocks xmlns:a="http://schemas.openxmlformats.org/drawingml/2006/main" noGrp="1"/>
          </p:cNvSpPr>
          <p:nvPr/>
        </p:nvSpPr>
        <p:spPr>
          <a:xfrm xmlns:a="http://schemas.openxmlformats.org/drawingml/2006/main">
            <a:off x="609600" y="17907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6F8A"/>
                </a:solidFill>
                <a:latin typeface="DejaVu Sans"/>
                <a:ea typeface="DejaVu Sans"/>
                <a:cs typeface="DejaVu Sans"/>
              </a:defRPr>
            </a:defPPr>
          </a:lstStyle>
          <a:p xmlns:a="http://schemas.openxmlformats.org/drawingml/2006/main">
            <a:pPr>
              <a:defRPr sz="2175" b="1">
                <a:solidFill>
                  <a:srgbClr val="1D6F8A"/>
                </a:solidFill>
                <a:latin typeface="DejaVu Sans"/>
                <a:ea typeface="DejaVu Sans"/>
                <a:cs typeface="DejaVu Sans"/>
              </a:defRPr>
            </a:pPr>
            <a:r>
              <a:rPr sz="2175" b="1">
                <a:solidFill>
                  <a:srgbClr val="1D6F8A"/>
                </a:solidFill>
                <a:latin typeface="DejaVu Sans"/>
                <a:ea typeface="DejaVu Sans"/>
                <a:cs typeface="DejaVu Sans"/>
              </a:rPr>
              <a:t>Source preparation</a:t>
            </a:r>
          </a:p>
        </p:txBody>
      </p:sp>
      <p:sp>
        <p:nvSpPr>
          <p:cNvPr id="4" name="text-3">
            <a:extLst xmlns:a="http://schemas.openxmlformats.org/drawingml/2006/main">
              <a:ext uri="{FF2B5EF4-FFF2-40B4-BE49-F238E27FC236}">
                <a16:creationId xmlns:a16="http://schemas.microsoft.com/office/drawing/2014/main" id="{EB03D6E7-0D19-4B60-B786-8EDF0EF165E3}"/>
              </a:ext>
            </a:extLst>
          </p:cNvPr>
          <p:cNvSpPr>
            <a:spLocks xmlns:a="http://schemas.openxmlformats.org/drawingml/2006/main" noGrp="1"/>
          </p:cNvSpPr>
          <p:nvPr/>
        </p:nvSpPr>
        <p:spPr>
          <a:xfrm xmlns:a="http://schemas.openxmlformats.org/drawingml/2006/main">
            <a:off x="609600" y="22098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F2933"/>
                </a:solidFill>
                <a:latin typeface="DejaVu Sans"/>
                <a:ea typeface="DejaVu Sans"/>
                <a:cs typeface="DejaVu Sans"/>
              </a:defRPr>
            </a:defPPr>
          </a:lstStyle>
          <a:p xmlns:a="http://schemas.openxmlformats.org/drawingml/2006/main">
            <a:pPr>
              <a:defRPr sz="1950" b="0">
                <a:solidFill>
                  <a:srgbClr val="1F2933"/>
                </a:solidFill>
                <a:latin typeface="DejaVu Sans"/>
                <a:ea typeface="DejaVu Sans"/>
                <a:cs typeface="DejaVu Sans"/>
              </a:defRPr>
            </a:pPr>
            <a:r>
              <a:rPr sz="1950" b="0">
                <a:solidFill>
                  <a:srgbClr val="1F2933"/>
                </a:solidFill>
                <a:latin typeface="DejaVu Sans"/>
                <a:ea typeface="DejaVu Sans"/>
                <a:cs typeface="DejaVu Sans"/>
              </a:rPr>
              <a:t>3,777 books, about 6,300 raw hours, 250 hours selected</a:t>
            </a:r>
          </a:p>
        </p:txBody>
      </p:sp>
      <p:sp>
        <p:nvSpPr>
          <p:cNvPr id="5" name="text-4">
            <a:extLst xmlns:a="http://schemas.openxmlformats.org/drawingml/2006/main">
              <a:ext uri="{FF2B5EF4-FFF2-40B4-BE49-F238E27FC236}">
                <a16:creationId xmlns:a16="http://schemas.microsoft.com/office/drawing/2014/main" id="{343E5BA7-084B-4B81-8504-94D3F6007A7E}"/>
              </a:ext>
            </a:extLst>
          </p:cNvPr>
          <p:cNvSpPr>
            <a:spLocks xmlns:a="http://schemas.openxmlformats.org/drawingml/2006/main" noGrp="1"/>
          </p:cNvSpPr>
          <p:nvPr/>
        </p:nvSpPr>
        <p:spPr>
          <a:xfrm xmlns:a="http://schemas.openxmlformats.org/drawingml/2006/main">
            <a:off x="609600" y="29051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6F8A"/>
                </a:solidFill>
                <a:latin typeface="DejaVu Sans"/>
                <a:ea typeface="DejaVu Sans"/>
                <a:cs typeface="DejaVu Sans"/>
              </a:defRPr>
            </a:defPPr>
          </a:lstStyle>
          <a:p xmlns:a="http://schemas.openxmlformats.org/drawingml/2006/main">
            <a:pPr>
              <a:defRPr sz="2175" b="1">
                <a:solidFill>
                  <a:srgbClr val="1D6F8A"/>
                </a:solidFill>
                <a:latin typeface="DejaVu Sans"/>
                <a:ea typeface="DejaVu Sans"/>
                <a:cs typeface="DejaVu Sans"/>
              </a:defRPr>
            </a:pPr>
            <a:r>
              <a:rPr sz="2175" b="1">
                <a:solidFill>
                  <a:srgbClr val="1D6F8A"/>
                </a:solidFill>
                <a:latin typeface="DejaVu Sans"/>
                <a:ea typeface="DejaVu Sans"/>
                <a:cs typeface="DejaVu Sans"/>
              </a:rPr>
              <a:t>Segmentation and transcription</a:t>
            </a:r>
          </a:p>
        </p:txBody>
      </p:sp>
      <p:sp>
        <p:nvSpPr>
          <p:cNvPr id="6" name="text-5">
            <a:extLst xmlns:a="http://schemas.openxmlformats.org/drawingml/2006/main">
              <a:ext uri="{FF2B5EF4-FFF2-40B4-BE49-F238E27FC236}">
                <a16:creationId xmlns:a16="http://schemas.microsoft.com/office/drawing/2014/main" id="{52789647-4DF7-4C52-BCE8-10814B9BCB45}"/>
              </a:ext>
            </a:extLst>
          </p:cNvPr>
          <p:cNvSpPr>
            <a:spLocks xmlns:a="http://schemas.openxmlformats.org/drawingml/2006/main" noGrp="1"/>
          </p:cNvSpPr>
          <p:nvPr/>
        </p:nvSpPr>
        <p:spPr>
          <a:xfrm xmlns:a="http://schemas.openxmlformats.org/drawingml/2006/main">
            <a:off x="609600" y="33242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F2933"/>
                </a:solidFill>
                <a:latin typeface="DejaVu Sans"/>
                <a:ea typeface="DejaVu Sans"/>
                <a:cs typeface="DejaVu Sans"/>
              </a:defRPr>
            </a:defPPr>
          </a:lstStyle>
          <a:p xmlns:a="http://schemas.openxmlformats.org/drawingml/2006/main">
            <a:pPr>
              <a:defRPr sz="1950" b="0">
                <a:solidFill>
                  <a:srgbClr val="1F2933"/>
                </a:solidFill>
                <a:latin typeface="DejaVu Sans"/>
                <a:ea typeface="DejaVu Sans"/>
                <a:cs typeface="DejaVu Sans"/>
              </a:defRPr>
            </a:pPr>
            <a:r>
              <a:rPr sz="1950" b="0">
                <a:solidFill>
                  <a:srgbClr val="1F2933"/>
                </a:solidFill>
                <a:latin typeface="DejaVu Sans"/>
                <a:ea typeface="DejaVu Sans"/>
                <a:cs typeface="DejaVu Sans"/>
              </a:rPr>
              <a:t>Silero VAD, 20-second target, Persian-adapted Whisper Medium teacher</a:t>
            </a:r>
          </a:p>
        </p:txBody>
      </p:sp>
      <p:sp>
        <p:nvSpPr>
          <p:cNvPr id="7" name="text-6">
            <a:extLst xmlns:a="http://schemas.openxmlformats.org/drawingml/2006/main">
              <a:ext uri="{FF2B5EF4-FFF2-40B4-BE49-F238E27FC236}">
                <a16:creationId xmlns:a16="http://schemas.microsoft.com/office/drawing/2014/main" id="{E33390DC-9388-42BF-B5B8-658B7AB32D6C}"/>
              </a:ext>
            </a:extLst>
          </p:cNvPr>
          <p:cNvSpPr>
            <a:spLocks xmlns:a="http://schemas.openxmlformats.org/drawingml/2006/main" noGrp="1"/>
          </p:cNvSpPr>
          <p:nvPr/>
        </p:nvSpPr>
        <p:spPr>
          <a:xfrm xmlns:a="http://schemas.openxmlformats.org/drawingml/2006/main">
            <a:off x="609600" y="40195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6F8A"/>
                </a:solidFill>
                <a:latin typeface="DejaVu Sans"/>
                <a:ea typeface="DejaVu Sans"/>
                <a:cs typeface="DejaVu Sans"/>
              </a:defRPr>
            </a:defPPr>
          </a:lstStyle>
          <a:p xmlns:a="http://schemas.openxmlformats.org/drawingml/2006/main">
            <a:pPr>
              <a:defRPr sz="2175" b="1">
                <a:solidFill>
                  <a:srgbClr val="1D6F8A"/>
                </a:solidFill>
                <a:latin typeface="DejaVu Sans"/>
                <a:ea typeface="DejaVu Sans"/>
                <a:cs typeface="DejaVu Sans"/>
              </a:defRPr>
            </a:pPr>
            <a:r>
              <a:rPr sz="2175" b="1">
                <a:solidFill>
                  <a:srgbClr val="1D6F8A"/>
                </a:solidFill>
                <a:latin typeface="DejaVu Sans"/>
                <a:ea typeface="DejaVu Sans"/>
                <a:cs typeface="DejaVu Sans"/>
              </a:rPr>
              <a:t>Text preparation</a:t>
            </a:r>
          </a:p>
        </p:txBody>
      </p:sp>
      <p:sp>
        <p:nvSpPr>
          <p:cNvPr id="8" name="text-7">
            <a:extLst xmlns:a="http://schemas.openxmlformats.org/drawingml/2006/main">
              <a:ext uri="{FF2B5EF4-FFF2-40B4-BE49-F238E27FC236}">
                <a16:creationId xmlns:a16="http://schemas.microsoft.com/office/drawing/2014/main" id="{D113F6EF-300F-4021-B79D-7E54FEB50DC5}"/>
              </a:ext>
            </a:extLst>
          </p:cNvPr>
          <p:cNvSpPr>
            <a:spLocks xmlns:a="http://schemas.openxmlformats.org/drawingml/2006/main" noGrp="1"/>
          </p:cNvSpPr>
          <p:nvPr/>
        </p:nvSpPr>
        <p:spPr>
          <a:xfrm xmlns:a="http://schemas.openxmlformats.org/drawingml/2006/main">
            <a:off x="609600" y="44386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F2933"/>
                </a:solidFill>
                <a:latin typeface="DejaVu Sans"/>
                <a:ea typeface="DejaVu Sans"/>
                <a:cs typeface="DejaVu Sans"/>
              </a:defRPr>
            </a:defPPr>
          </a:lstStyle>
          <a:p xmlns:a="http://schemas.openxmlformats.org/drawingml/2006/main">
            <a:pPr>
              <a:defRPr sz="1950" b="0">
                <a:solidFill>
                  <a:srgbClr val="1F2933"/>
                </a:solidFill>
                <a:latin typeface="DejaVu Sans"/>
                <a:ea typeface="DejaVu Sans"/>
                <a:cs typeface="DejaVu Sans"/>
              </a:defRPr>
            </a:pPr>
            <a:r>
              <a:rPr sz="1950" b="0">
                <a:solidFill>
                  <a:srgbClr val="1F2933"/>
                </a:solidFill>
                <a:latin typeface="DejaVu Sans"/>
                <a:ea typeface="DejaVu Sans"/>
                <a:cs typeface="DejaVu Sans"/>
              </a:rPr>
              <a:t>Persian normalization, conservative Qwen refinement, quality filtering</a:t>
            </a:r>
          </a:p>
        </p:txBody>
      </p:sp>
      <p:sp>
        <p:nvSpPr>
          <p:cNvPr id="9" name="text-8">
            <a:extLst xmlns:a="http://schemas.openxmlformats.org/drawingml/2006/main">
              <a:ext uri="{FF2B5EF4-FFF2-40B4-BE49-F238E27FC236}">
                <a16:creationId xmlns:a16="http://schemas.microsoft.com/office/drawing/2014/main" id="{B11DDD98-EC9F-4237-B605-BB1A51D1923F}"/>
              </a:ext>
            </a:extLst>
          </p:cNvPr>
          <p:cNvSpPr>
            <a:spLocks xmlns:a="http://schemas.openxmlformats.org/drawingml/2006/main" noGrp="1"/>
          </p:cNvSpPr>
          <p:nvPr/>
        </p:nvSpPr>
        <p:spPr>
          <a:xfrm xmlns:a="http://schemas.openxmlformats.org/drawingml/2006/main">
            <a:off x="609600" y="59055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06D"/>
                </a:solidFill>
                <a:latin typeface="DejaVu Sans"/>
                <a:ea typeface="DejaVu Sans"/>
                <a:cs typeface="DejaVu Sans"/>
              </a:defRPr>
            </a:defPPr>
          </a:lstStyle>
          <a:p xmlns:a="http://schemas.openxmlformats.org/drawingml/2006/main">
            <a:pPr>
              <a:defRPr sz="1650" b="0">
                <a:solidFill>
                  <a:srgbClr val="52606D"/>
                </a:solidFill>
                <a:latin typeface="DejaVu Sans"/>
                <a:ea typeface="DejaVu Sans"/>
                <a:cs typeface="DejaVu Sans"/>
              </a:defRPr>
            </a:pPr>
            <a:r>
              <a:rPr sz="1650" b="0">
                <a:solidFill>
                  <a:srgbClr val="52606D"/>
                </a:solidFill>
                <a:latin typeface="DejaVu Sans"/>
                <a:ea typeface="DejaVu Sans"/>
                <a:cs typeface="DejaVu Sans"/>
              </a:rPr>
              <a:t>The new Whisper-small run retains ordinary, long and degraded speech.</a:t>
            </a:r>
          </a:p>
        </p:txBody>
      </p:sp>
    </p:spTree>
    <p:extLst>
      <p:ext uri="{BB962C8B-B14F-4D97-AF65-F5344CB8AC3E}">
        <p14:creationId xmlns:p14="http://schemas.microsoft.com/office/powerpoint/2010/main" val="300078734"/>
      </p:ext>
    </p:extLst>
  </p:cSld>
</p:sld>
</file>

<file path=ppt/slides/slide1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9EB0E64D-DA4F-43B6-87FA-F70142F3019A}"/>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218.564 hours remain after filtering</a:t>
            </a:r>
          </a:p>
        </p:txBody>
      </p:sp>
      <p:sp>
        <p:nvSpPr>
          <p:cNvPr id="2" name="text-1">
            <a:extLst xmlns:a="http://schemas.openxmlformats.org/drawingml/2006/main">
              <a:ext uri="{FF2B5EF4-FFF2-40B4-BE49-F238E27FC236}">
                <a16:creationId xmlns:a16="http://schemas.microsoft.com/office/drawing/2014/main" id="{8E44441B-A32E-40C0-B308-1B8DAA924174}"/>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14</a:t>
            </a:r>
          </a:p>
        </p:txBody>
      </p:sp>
      <p:graphicFrame>
        <p:nvGraphicFramePr>
          <p:cNvPr id="3" name="">
            <a:extLst xmlns:a="http://schemas.openxmlformats.org/drawingml/2006/main">
              <a:ext uri="{FF2B5EF4-FFF2-40B4-BE49-F238E27FC236}">
                <a16:creationId xmlns:a16="http://schemas.microsoft.com/office/drawing/2014/main" id="{52964CBC-933F-49E1-BF78-88ED73409EC4}"/>
              </a:ext>
            </a:extLst>
          </p:cNvPr>
          <p:cNvGraphicFramePr/>
          <p:nvPr/>
        </p:nvGraphicFramePr>
        <p:xfrm>
          <a:off xmlns:a="http://schemas.openxmlformats.org/drawingml/2006/main" x="609600" y="1752600"/>
          <a:ext xmlns:a="http://schemas.openxmlformats.org/drawingml/2006/main" cx="10972800" cy="1428750"/>
        </p:xfrm>
        <a:graphic xmlns:a="http://schemas.openxmlformats.org/drawingml/2006/main">
          <a:graphicData uri="http://schemas.openxmlformats.org/drawingml/2006/table">
            <a:tbl>
              <a:tblPr/>
              <a:tblGrid>
                <a:gridCol w="3657600"/>
                <a:gridCol w="3657600"/>
                <a:gridCol w="3657600"/>
              </a:tblGrid>
              <a:tr h="714375">
                <a:tc>
                  <a:txBody>
                    <a:bodyPr/>
                    <a:lstStyle/>
                    <a:p>
                      <a:pPr algn="l"/>
                      <a:r>
                        <a:rPr sz="2250" b="1">
                          <a:solidFill>
                            <a:srgbClr val="FFFFFF"/>
                          </a:solidFill>
                          <a:latin typeface="DejaVu Sans"/>
                          <a:ea typeface="DejaVu Sans"/>
                          <a:cs typeface="DejaVu Sans"/>
                        </a:rPr>
                        <a:t>Reviewed clips</a:t>
                      </a:r>
                    </a:p>
                  </a:txBody>
                  <a:tcPr marL="133350" marR="114300" marT="76200" marB="76200" anchor="ctr">
                    <a:solidFill>
                      <a:srgbClr val="1F2933"/>
                    </a:solidFill>
                  </a:tcPr>
                </a:tc>
                <a:tc>
                  <a:txBody>
                    <a:bodyPr/>
                    <a:lstStyle/>
                    <a:p>
                      <a:pPr algn="ctr"/>
                      <a:r>
                        <a:rPr sz="2250" b="1">
                          <a:solidFill>
                            <a:srgbClr val="FFFFFF"/>
                          </a:solidFill>
                          <a:latin typeface="DejaVu Sans"/>
                          <a:ea typeface="DejaVu Sans"/>
                          <a:cs typeface="DejaVu Sans"/>
                        </a:rPr>
                        <a:t>Accepted</a:t>
                      </a:r>
                    </a:p>
                  </a:txBody>
                  <a:tcPr marL="133350" marR="114300" marT="76200" marB="76200" anchor="ctr">
                    <a:solidFill>
                      <a:srgbClr val="1F2933"/>
                    </a:solidFill>
                  </a:tcPr>
                </a:tc>
                <a:tc>
                  <a:txBody>
                    <a:bodyPr/>
                    <a:lstStyle/>
                    <a:p>
                      <a:pPr algn="ctr"/>
                      <a:r>
                        <a:rPr sz="2250" b="1">
                          <a:solidFill>
                            <a:srgbClr val="FFFFFF"/>
                          </a:solidFill>
                          <a:latin typeface="DejaVu Sans"/>
                          <a:ea typeface="DejaVu Sans"/>
                          <a:cs typeface="DejaVu Sans"/>
                        </a:rPr>
                        <a:t>Rejected</a:t>
                      </a:r>
                    </a:p>
                  </a:txBody>
                  <a:tcPr marL="133350" marR="114300" marT="76200" marB="76200" anchor="ctr">
                    <a:solidFill>
                      <a:srgbClr val="1F2933"/>
                    </a:solidFill>
                  </a:tcPr>
                </a:tc>
              </a:tr>
              <a:tr h="714375">
                <a:tc>
                  <a:txBody>
                    <a:bodyPr/>
                    <a:lstStyle/>
                    <a:p>
                      <a:pPr algn="l"/>
                      <a:r>
                        <a:rPr sz="2250" b="1">
                          <a:solidFill>
                            <a:srgbClr val="1D6F8A"/>
                          </a:solidFill>
                          <a:latin typeface="DejaVu Sans"/>
                          <a:ea typeface="DejaVu Sans"/>
                          <a:cs typeface="DejaVu Sans"/>
                        </a:rPr>
                        <a:t>44,820</a:t>
                      </a:r>
                    </a:p>
                  </a:txBody>
                  <a:tcPr marL="133350" marR="114300" marT="76200" marB="76200" anchor="ctr">
                    <a:solidFill>
                      <a:srgbClr val="E8F3F6"/>
                    </a:solidFill>
                  </a:tcPr>
                </a:tc>
                <a:tc>
                  <a:txBody>
                    <a:bodyPr/>
                    <a:lstStyle/>
                    <a:p>
                      <a:pPr algn="ctr"/>
                      <a:r>
                        <a:rPr sz="2250" b="1">
                          <a:solidFill>
                            <a:srgbClr val="1D6F8A"/>
                          </a:solidFill>
                          <a:latin typeface="DejaVu Sans"/>
                          <a:ea typeface="DejaVu Sans"/>
                          <a:cs typeface="DejaVu Sans"/>
                        </a:rPr>
                        <a:t>39,454</a:t>
                      </a:r>
                    </a:p>
                  </a:txBody>
                  <a:tcPr marL="133350" marR="114300" marT="76200" marB="76200" anchor="ctr">
                    <a:solidFill>
                      <a:srgbClr val="E8F3F6"/>
                    </a:solidFill>
                  </a:tcPr>
                </a:tc>
                <a:tc>
                  <a:txBody>
                    <a:bodyPr/>
                    <a:lstStyle/>
                    <a:p>
                      <a:pPr algn="ctr"/>
                      <a:r>
                        <a:rPr sz="2250" b="1">
                          <a:solidFill>
                            <a:srgbClr val="1D6F8A"/>
                          </a:solidFill>
                          <a:latin typeface="DejaVu Sans"/>
                          <a:ea typeface="DejaVu Sans"/>
                          <a:cs typeface="DejaVu Sans"/>
                        </a:rPr>
                        <a:t>5,366</a:t>
                      </a:r>
                    </a:p>
                  </a:txBody>
                  <a:tcPr marL="133350" marR="114300" marT="76200" marB="76200" anchor="ctr">
                    <a:solidFill>
                      <a:srgbClr val="E8F3F6"/>
                    </a:solidFill>
                  </a:tcPr>
                </a:tc>
              </a:tr>
            </a:tbl>
          </a:graphicData>
        </a:graphic>
      </p:graphicFrame>
      <p:sp>
        <p:nvSpPr>
          <p:cNvPr id="4" name="text-2">
            <a:extLst xmlns:a="http://schemas.openxmlformats.org/drawingml/2006/main">
              <a:ext uri="{FF2B5EF4-FFF2-40B4-BE49-F238E27FC236}">
                <a16:creationId xmlns:a16="http://schemas.microsoft.com/office/drawing/2014/main" id="{DBBAB71E-85EF-4120-8343-FDCBF216CF43}"/>
              </a:ext>
            </a:extLst>
          </p:cNvPr>
          <p:cNvSpPr>
            <a:spLocks xmlns:a="http://schemas.openxmlformats.org/drawingml/2006/main" noGrp="1"/>
          </p:cNvSpPr>
          <p:nvPr/>
        </p:nvSpPr>
        <p:spPr>
          <a:xfrm xmlns:a="http://schemas.openxmlformats.org/drawingml/2006/main">
            <a:off x="609600" y="35718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D6F8A"/>
                </a:solidFill>
                <a:latin typeface="DejaVu Sans"/>
                <a:ea typeface="DejaVu Sans"/>
                <a:cs typeface="DejaVu Sans"/>
              </a:defRPr>
            </a:defPPr>
          </a:lstStyle>
          <a:p xmlns:a="http://schemas.openxmlformats.org/drawingml/2006/main">
            <a:pPr>
              <a:defRPr sz="2025" b="1">
                <a:solidFill>
                  <a:srgbClr val="1D6F8A"/>
                </a:solidFill>
                <a:latin typeface="DejaVu Sans"/>
                <a:ea typeface="DejaVu Sans"/>
                <a:cs typeface="DejaVu Sans"/>
              </a:defRPr>
            </a:pPr>
            <a:r>
              <a:rPr sz="2025" b="1">
                <a:solidFill>
                  <a:srgbClr val="1D6F8A"/>
                </a:solidFill>
                <a:latin typeface="DejaVu Sans"/>
                <a:ea typeface="DejaVu Sans"/>
                <a:cs typeface="DejaVu Sans"/>
              </a:rPr>
              <a:t>Label safeguards</a:t>
            </a:r>
          </a:p>
        </p:txBody>
      </p:sp>
      <p:sp>
        <p:nvSpPr>
          <p:cNvPr id="5" name="text-3">
            <a:extLst xmlns:a="http://schemas.openxmlformats.org/drawingml/2006/main">
              <a:ext uri="{FF2B5EF4-FFF2-40B4-BE49-F238E27FC236}">
                <a16:creationId xmlns:a16="http://schemas.microsoft.com/office/drawing/2014/main" id="{0C39DD8B-10D7-4242-A83B-21FF0A2D423F}"/>
              </a:ext>
            </a:extLst>
          </p:cNvPr>
          <p:cNvSpPr>
            <a:spLocks xmlns:a="http://schemas.openxmlformats.org/drawingml/2006/main" noGrp="1"/>
          </p:cNvSpPr>
          <p:nvPr/>
        </p:nvSpPr>
        <p:spPr>
          <a:xfrm xmlns:a="http://schemas.openxmlformats.org/drawingml/2006/main">
            <a:off x="609600" y="39909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F2933"/>
                </a:solidFill>
                <a:latin typeface="DejaVu Sans"/>
                <a:ea typeface="DejaVu Sans"/>
                <a:cs typeface="DejaVu Sans"/>
              </a:defRPr>
            </a:defPPr>
          </a:lstStyle>
          <a:p xmlns:a="http://schemas.openxmlformats.org/drawingml/2006/main">
            <a:pPr>
              <a:defRPr sz="1800" b="0">
                <a:solidFill>
                  <a:srgbClr val="1F2933"/>
                </a:solidFill>
                <a:latin typeface="DejaVu Sans"/>
                <a:ea typeface="DejaVu Sans"/>
                <a:cs typeface="DejaVu Sans"/>
              </a:defRPr>
            </a:pPr>
            <a:r>
              <a:rPr sz="1800" b="0">
                <a:solidFill>
                  <a:srgbClr val="1F2933"/>
                </a:solidFill>
                <a:latin typeface="DejaVu Sans"/>
                <a:ea typeface="DejaVu Sans"/>
                <a:cs typeface="DejaVu Sans"/>
              </a:rPr>
              <a:t>Retain raw text, preserve numbers, reject uncertain or excessive edits</a:t>
            </a:r>
          </a:p>
        </p:txBody>
      </p:sp>
      <p:sp>
        <p:nvSpPr>
          <p:cNvPr id="6" name="text-4">
            <a:extLst xmlns:a="http://schemas.openxmlformats.org/drawingml/2006/main">
              <a:ext uri="{FF2B5EF4-FFF2-40B4-BE49-F238E27FC236}">
                <a16:creationId xmlns:a16="http://schemas.microsoft.com/office/drawing/2014/main" id="{102003DE-5024-4970-922B-B4FD2654B077}"/>
              </a:ext>
            </a:extLst>
          </p:cNvPr>
          <p:cNvSpPr>
            <a:spLocks xmlns:a="http://schemas.openxmlformats.org/drawingml/2006/main" noGrp="1"/>
          </p:cNvSpPr>
          <p:nvPr/>
        </p:nvSpPr>
        <p:spPr>
          <a:xfrm xmlns:a="http://schemas.openxmlformats.org/drawingml/2006/main">
            <a:off x="609600" y="46005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D6F8A"/>
                </a:solidFill>
                <a:latin typeface="DejaVu Sans"/>
                <a:ea typeface="DejaVu Sans"/>
                <a:cs typeface="DejaVu Sans"/>
              </a:defRPr>
            </a:defPPr>
          </a:lstStyle>
          <a:p xmlns:a="http://schemas.openxmlformats.org/drawingml/2006/main">
            <a:pPr>
              <a:defRPr sz="2025" b="1">
                <a:solidFill>
                  <a:srgbClr val="1D6F8A"/>
                </a:solidFill>
                <a:latin typeface="DejaVu Sans"/>
                <a:ea typeface="DejaVu Sans"/>
                <a:cs typeface="DejaVu Sans"/>
              </a:defRPr>
            </a:pPr>
            <a:r>
              <a:rPr sz="2025" b="1">
                <a:solidFill>
                  <a:srgbClr val="1D6F8A"/>
                </a:solidFill>
                <a:latin typeface="DejaVu Sans"/>
                <a:ea typeface="DejaVu Sans"/>
                <a:cs typeface="DejaVu Sans"/>
              </a:rPr>
              <a:t>Leakage control</a:t>
            </a:r>
          </a:p>
        </p:txBody>
      </p:sp>
      <p:sp>
        <p:nvSpPr>
          <p:cNvPr id="7" name="text-5">
            <a:extLst xmlns:a="http://schemas.openxmlformats.org/drawingml/2006/main">
              <a:ext uri="{FF2B5EF4-FFF2-40B4-BE49-F238E27FC236}">
                <a16:creationId xmlns:a16="http://schemas.microsoft.com/office/drawing/2014/main" id="{4C6655D7-0545-4152-9CD4-C43A23677577}"/>
              </a:ext>
            </a:extLst>
          </p:cNvPr>
          <p:cNvSpPr>
            <a:spLocks xmlns:a="http://schemas.openxmlformats.org/drawingml/2006/main" noGrp="1"/>
          </p:cNvSpPr>
          <p:nvPr/>
        </p:nvSpPr>
        <p:spPr>
          <a:xfrm xmlns:a="http://schemas.openxmlformats.org/drawingml/2006/main">
            <a:off x="609600" y="50196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F2933"/>
                </a:solidFill>
                <a:latin typeface="DejaVu Sans"/>
                <a:ea typeface="DejaVu Sans"/>
                <a:cs typeface="DejaVu Sans"/>
              </a:defRPr>
            </a:defPPr>
          </a:lstStyle>
          <a:p xmlns:a="http://schemas.openxmlformats.org/drawingml/2006/main">
            <a:pPr>
              <a:defRPr sz="1800" b="0">
                <a:solidFill>
                  <a:srgbClr val="1F2933"/>
                </a:solidFill>
                <a:latin typeface="DejaVu Sans"/>
                <a:ea typeface="DejaVu Sans"/>
                <a:cs typeface="DejaVu Sans"/>
              </a:defRPr>
            </a:pPr>
            <a:r>
              <a:rPr sz="1800" b="0">
                <a:solidFill>
                  <a:srgbClr val="1F2933"/>
                </a:solidFill>
                <a:latin typeface="DejaVu Sans"/>
                <a:ea typeface="DejaVu Sans"/>
                <a:cs typeface="DejaVu Sans"/>
              </a:rPr>
              <a:t>Split by original book and preserve source identity, times and checksums</a:t>
            </a:r>
          </a:p>
        </p:txBody>
      </p:sp>
      <p:sp>
        <p:nvSpPr>
          <p:cNvPr id="8" name="text-6">
            <a:extLst xmlns:a="http://schemas.openxmlformats.org/drawingml/2006/main">
              <a:ext uri="{FF2B5EF4-FFF2-40B4-BE49-F238E27FC236}">
                <a16:creationId xmlns:a16="http://schemas.microsoft.com/office/drawing/2014/main" id="{F32CAB00-26DB-4D6A-AC1B-F725150D2F9C}"/>
              </a:ext>
            </a:extLst>
          </p:cNvPr>
          <p:cNvSpPr>
            <a:spLocks xmlns:a="http://schemas.openxmlformats.org/drawingml/2006/main" noGrp="1"/>
          </p:cNvSpPr>
          <p:nvPr/>
        </p:nvSpPr>
        <p:spPr>
          <a:xfrm xmlns:a="http://schemas.openxmlformats.org/drawingml/2006/main">
            <a:off x="609600" y="59626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06D"/>
                </a:solidFill>
                <a:latin typeface="DejaVu Sans"/>
                <a:ea typeface="DejaVu Sans"/>
                <a:cs typeface="DejaVu Sans"/>
              </a:defRPr>
            </a:defPPr>
          </a:lstStyle>
          <a:p xmlns:a="http://schemas.openxmlformats.org/drawingml/2006/main">
            <a:pPr>
              <a:defRPr sz="1575" b="0">
                <a:solidFill>
                  <a:srgbClr val="52606D"/>
                </a:solidFill>
                <a:latin typeface="DejaVu Sans"/>
                <a:ea typeface="DejaVu Sans"/>
                <a:cs typeface="DejaVu Sans"/>
              </a:defRPr>
            </a:pPr>
            <a:r>
              <a:rPr sz="1575" b="0">
                <a:solidFill>
                  <a:srgbClr val="52606D"/>
                </a:solidFill>
                <a:latin typeface="DejaVu Sans"/>
                <a:ea typeface="DejaVu Sans"/>
                <a:cs typeface="DejaVu Sans"/>
              </a:rPr>
              <a:t>Accepted corpus: 218.564 hours from 136 files. Forty operational failures are separate.</a:t>
            </a:r>
          </a:p>
        </p:txBody>
      </p:sp>
    </p:spTree>
    <p:extLst>
      <p:ext uri="{BB962C8B-B14F-4D97-AF65-F5344CB8AC3E}">
        <p14:creationId xmlns:p14="http://schemas.microsoft.com/office/powerpoint/2010/main" val="1821764869"/>
      </p:ext>
    </p:extLst>
  </p:cSld>
</p:sld>
</file>

<file path=ppt/slides/slide1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1460AA2B-CC08-4341-B968-CCA68DC6ECD9}"/>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Audiobook gains depend on the test domain</a:t>
            </a:r>
          </a:p>
        </p:txBody>
      </p:sp>
      <p:sp>
        <p:nvSpPr>
          <p:cNvPr id="2" name="text-1">
            <a:extLst xmlns:a="http://schemas.openxmlformats.org/drawingml/2006/main">
              <a:ext uri="{FF2B5EF4-FFF2-40B4-BE49-F238E27FC236}">
                <a16:creationId xmlns:a16="http://schemas.microsoft.com/office/drawing/2014/main" id="{F730FA52-B282-4C97-86A1-1B464858E921}"/>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15</a:t>
            </a:r>
          </a:p>
        </p:txBody>
      </p:sp>
      <p:sp>
        <p:nvSpPr>
          <p:cNvPr id="3" name="text-2">
            <a:extLst xmlns:a="http://schemas.openxmlformats.org/drawingml/2006/main">
              <a:ext uri="{FF2B5EF4-FFF2-40B4-BE49-F238E27FC236}">
                <a16:creationId xmlns:a16="http://schemas.microsoft.com/office/drawing/2014/main" id="{9EFFB476-3E95-4D61-AAE8-74B28D677D06}"/>
              </a:ext>
            </a:extLst>
          </p:cNvPr>
          <p:cNvSpPr>
            <a:spLocks xmlns:a="http://schemas.openxmlformats.org/drawingml/2006/main" noGrp="1"/>
          </p:cNvSpPr>
          <p:nvPr/>
        </p:nvSpPr>
        <p:spPr>
          <a:xfrm xmlns:a="http://schemas.openxmlformats.org/drawingml/2006/main">
            <a:off x="609600" y="15240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06D"/>
                </a:solidFill>
                <a:latin typeface="DejaVu Sans"/>
                <a:ea typeface="DejaVu Sans"/>
                <a:cs typeface="DejaVu Sans"/>
              </a:defRPr>
            </a:defPPr>
          </a:lstStyle>
          <a:p xmlns:a="http://schemas.openxmlformats.org/drawingml/2006/main">
            <a:pPr>
              <a:defRPr sz="1875" b="0">
                <a:solidFill>
                  <a:srgbClr val="52606D"/>
                </a:solidFill>
                <a:latin typeface="DejaVu Sans"/>
                <a:ea typeface="DejaVu Sans"/>
                <a:cs typeface="DejaVu Sans"/>
              </a:defRPr>
            </a:pPr>
            <a:r>
              <a:rPr sz="1875" b="0">
                <a:solidFill>
                  <a:srgbClr val="52606D"/>
                </a:solidFill>
                <a:latin typeface="DejaVu Sans"/>
                <a:ea typeface="DejaVu Sans"/>
                <a:cs typeface="DejaVu Sans"/>
              </a:rPr>
              <a:t>Change in WER versus multi-condition Whisper-small, in percentage points</a:t>
            </a:r>
          </a:p>
        </p:txBody>
      </p:sp>
      <p:graphicFrame>
        <p:nvGraphicFramePr>
          <p:cNvPr id="4" name="Chart">
            <a:extLst xmlns:a="http://schemas.openxmlformats.org/drawingml/2006/main">
              <a:ext uri="{FF2B5EF4-FFF2-40B4-BE49-F238E27FC236}">
                <a16:creationId xmlns:a16="http://schemas.microsoft.com/office/drawing/2014/main" id="{C03C3881-3C43-41D2-B542-16A35B0745C0}"/>
              </a:ext>
            </a:extLst>
          </p:cNvPr>
          <p:cNvGraphicFramePr/>
          <p:nvPr/>
        </p:nvGraphicFramePr>
        <p:xfrm>
          <a:off xmlns:a="http://schemas.openxmlformats.org/drawingml/2006/main" x="609600" y="2266950"/>
          <a:ext xmlns:a="http://schemas.openxmlformats.org/drawingml/2006/main" cx="10972800" cy="3276600"/>
        </p:xfrm>
        <a:graphic xmlns:a="http://schemas.openxmlformats.org/drawingml/2006/main">
          <a:graphicData uri="http://schemas.openxmlformats.org/drawingml/2006/chart">
            <c:chart xmlns:r="http://schemas.openxmlformats.org/officeDocument/2006/relationships" xmlns:c="http://schemas.openxmlformats.org/drawingml/2006/chart" r:id="R40af18c953e142d6"/>
          </a:graphicData>
        </a:graphic>
      </p:graphicFrame>
      <p:sp>
        <p:nvSpPr>
          <p:cNvPr id="5" name="text-3">
            <a:extLst xmlns:a="http://schemas.openxmlformats.org/drawingml/2006/main">
              <a:ext uri="{FF2B5EF4-FFF2-40B4-BE49-F238E27FC236}">
                <a16:creationId xmlns:a16="http://schemas.microsoft.com/office/drawing/2014/main" id="{2DFCBAD7-E068-45BE-9D90-43B93540C736}"/>
              </a:ext>
            </a:extLst>
          </p:cNvPr>
          <p:cNvSpPr>
            <a:spLocks xmlns:a="http://schemas.openxmlformats.org/drawingml/2006/main" noGrp="1"/>
          </p:cNvSpPr>
          <p:nvPr/>
        </p:nvSpPr>
        <p:spPr>
          <a:xfrm xmlns:a="http://schemas.openxmlformats.org/drawingml/2006/main">
            <a:off x="609600" y="58293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2606D"/>
                </a:solidFill>
                <a:latin typeface="DejaVu Sans"/>
                <a:ea typeface="DejaVu Sans"/>
                <a:cs typeface="DejaVu Sans"/>
              </a:defRPr>
            </a:defPPr>
          </a:lstStyle>
          <a:p xmlns:a="http://schemas.openxmlformats.org/drawingml/2006/main">
            <a:pPr>
              <a:defRPr sz="1725" b="0">
                <a:solidFill>
                  <a:srgbClr val="52606D"/>
                </a:solidFill>
                <a:latin typeface="DejaVu Sans"/>
                <a:ea typeface="DejaVu Sans"/>
                <a:cs typeface="DejaVu Sans"/>
              </a:defRPr>
            </a:pPr>
            <a:r>
              <a:rPr sz="1725" b="0">
                <a:solidFill>
                  <a:srgbClr val="52606D"/>
                </a:solidFill>
                <a:latin typeface="DejaVu Sans"/>
                <a:ea typeface="DejaVu Sans"/>
                <a:cs typeface="DejaVu Sans"/>
              </a:rPr>
              <a:t>Negative means improvement. Aggregate WER: 17.83% to 17.22%.</a:t>
            </a:r>
          </a:p>
          <a:p xmlns:a="http://schemas.openxmlformats.org/drawingml/2006/main">
            <a:pPr>
              <a:defRPr sz="1725" b="0">
                <a:solidFill>
                  <a:srgbClr val="52606D"/>
                </a:solidFill>
                <a:latin typeface="DejaVu Sans"/>
                <a:ea typeface="DejaVu Sans"/>
                <a:cs typeface="DejaVu Sans"/>
              </a:defRPr>
            </a:pPr>
            <a:r>
              <a:rPr sz="1725" b="0">
                <a:solidFill>
                  <a:srgbClr val="52606D"/>
                </a:solidFill>
                <a:latin typeface="DejaVu Sans"/>
                <a:ea typeface="DejaVu Sans"/>
                <a:cs typeface="DejaVu Sans"/>
              </a:rPr>
              <a:t>¹ Only 24 test examples. Domain effects require further analysis.</a:t>
            </a:r>
          </a:p>
        </p:txBody>
      </p:sp>
    </p:spTree>
    <p:extLst>
      <p:ext uri="{BB962C8B-B14F-4D97-AF65-F5344CB8AC3E}">
        <p14:creationId xmlns:p14="http://schemas.microsoft.com/office/powerpoint/2010/main" val="1647300925"/>
      </p:ext>
    </p:extLst>
  </p:cSld>
</p:sld>
</file>

<file path=ppt/slides/slide1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5C834EE3-12EA-47E2-8CE9-2A47733BB53F}"/>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Results of the main Whisper-small comparisons</a:t>
            </a:r>
          </a:p>
        </p:txBody>
      </p:sp>
      <p:sp>
        <p:nvSpPr>
          <p:cNvPr id="2" name="text-1">
            <a:extLst xmlns:a="http://schemas.openxmlformats.org/drawingml/2006/main">
              <a:ext uri="{FF2B5EF4-FFF2-40B4-BE49-F238E27FC236}">
                <a16:creationId xmlns:a16="http://schemas.microsoft.com/office/drawing/2014/main" id="{71BD2857-FC2F-424F-8178-7ECBB5A87ADF}"/>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16</a:t>
            </a:r>
          </a:p>
        </p:txBody>
      </p:sp>
      <p:graphicFrame>
        <p:nvGraphicFramePr>
          <p:cNvPr id="3" name="">
            <a:extLst xmlns:a="http://schemas.openxmlformats.org/drawingml/2006/main">
              <a:ext uri="{FF2B5EF4-FFF2-40B4-BE49-F238E27FC236}">
                <a16:creationId xmlns:a16="http://schemas.microsoft.com/office/drawing/2014/main" id="{D88C25FD-C46E-4ED8-A3A7-AD8850FBBD99}"/>
              </a:ext>
            </a:extLst>
          </p:cNvPr>
          <p:cNvGraphicFramePr/>
          <p:nvPr/>
        </p:nvGraphicFramePr>
        <p:xfrm>
          <a:off xmlns:a="http://schemas.openxmlformats.org/drawingml/2006/main" x="609600" y="1847850"/>
          <a:ext xmlns:a="http://schemas.openxmlformats.org/drawingml/2006/main" cx="10972800" cy="3143250"/>
        </p:xfrm>
        <a:graphic xmlns:a="http://schemas.openxmlformats.org/drawingml/2006/main">
          <a:graphicData uri="http://schemas.openxmlformats.org/drawingml/2006/table">
            <a:tbl>
              <a:tblPr/>
              <a:tblGrid>
                <a:gridCol w="4095750"/>
                <a:gridCol w="2286000"/>
                <a:gridCol w="2286000"/>
                <a:gridCol w="2305050"/>
              </a:tblGrid>
              <a:tr h="628650">
                <a:tc>
                  <a:txBody>
                    <a:bodyPr/>
                    <a:lstStyle/>
                    <a:p>
                      <a:pPr algn="l"/>
                      <a:r>
                        <a:rPr sz="1875" b="1">
                          <a:solidFill>
                            <a:srgbClr val="FFFFFF"/>
                          </a:solidFill>
                          <a:latin typeface="DejaVu Sans"/>
                          <a:ea typeface="DejaVu Sans"/>
                          <a:cs typeface="DejaVu Sans"/>
                        </a:rPr>
                        <a:t>Whisper-small system</a:t>
                      </a:r>
                    </a:p>
                  </a:txBody>
                  <a:tcPr marL="133350" marR="114300" marT="76200" marB="76200" anchor="ctr">
                    <a:solidFill>
                      <a:srgbClr val="1F2933"/>
                    </a:solidFill>
                  </a:tcPr>
                </a:tc>
                <a:tc>
                  <a:txBody>
                    <a:bodyPr/>
                    <a:lstStyle/>
                    <a:p>
                      <a:pPr algn="ctr"/>
                      <a:r>
                        <a:rPr sz="1875" b="1">
                          <a:solidFill>
                            <a:srgbClr val="FFFFFF"/>
                          </a:solidFill>
                          <a:latin typeface="DejaVu Sans"/>
                          <a:ea typeface="DejaVu Sans"/>
                          <a:cs typeface="DejaVu Sans"/>
                        </a:rPr>
                        <a:t>Aggregate WER</a:t>
                      </a:r>
                    </a:p>
                  </a:txBody>
                  <a:tcPr marL="133350" marR="114300" marT="76200" marB="76200" anchor="ctr">
                    <a:solidFill>
                      <a:srgbClr val="1F2933"/>
                    </a:solidFill>
                  </a:tcPr>
                </a:tc>
                <a:tc>
                  <a:txBody>
                    <a:bodyPr/>
                    <a:lstStyle/>
                    <a:p>
                      <a:pPr algn="ctr"/>
                      <a:r>
                        <a:rPr sz="1875" b="1">
                          <a:solidFill>
                            <a:srgbClr val="FFFFFF"/>
                          </a:solidFill>
                          <a:latin typeface="DejaVu Sans"/>
                          <a:ea typeface="DejaVu Sans"/>
                          <a:cs typeface="DejaVu Sans"/>
                        </a:rPr>
                        <a:t>Aggregate CER</a:t>
                      </a:r>
                    </a:p>
                  </a:txBody>
                  <a:tcPr marL="133350" marR="114300" marT="76200" marB="76200" anchor="ctr">
                    <a:solidFill>
                      <a:srgbClr val="1F2933"/>
                    </a:solidFill>
                  </a:tcPr>
                </a:tc>
                <a:tc>
                  <a:txBody>
                    <a:bodyPr/>
                    <a:lstStyle/>
                    <a:p>
                      <a:pPr algn="ctr"/>
                      <a:r>
                        <a:rPr sz="1875" b="1">
                          <a:solidFill>
                            <a:srgbClr val="FFFFFF"/>
                          </a:solidFill>
                          <a:latin typeface="DejaVu Sans"/>
                          <a:ea typeface="DejaVu Sans"/>
                          <a:cs typeface="DejaVu Sans"/>
                        </a:rPr>
                        <a:t>AGFarsdat WER</a:t>
                      </a:r>
                    </a:p>
                  </a:txBody>
                  <a:tcPr marL="133350" marR="114300" marT="76200" marB="76200" anchor="ctr">
                    <a:solidFill>
                      <a:srgbClr val="1F2933"/>
                    </a:solidFill>
                  </a:tcPr>
                </a:tc>
              </a:tr>
              <a:tr h="628650">
                <a:tc>
                  <a:txBody>
                    <a:bodyPr/>
                    <a:lstStyle/>
                    <a:p>
                      <a:pPr algn="l"/>
                      <a:r>
                        <a:rPr sz="1875" b="0">
                          <a:solidFill>
                            <a:srgbClr val="1F2933"/>
                          </a:solidFill>
                          <a:latin typeface="DejaVu Sans"/>
                          <a:ea typeface="DejaVu Sans"/>
                          <a:cs typeface="DejaVu Sans"/>
                        </a:rPr>
                        <a:t>Ordinary</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23.27%</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10.84%</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35.63%</a:t>
                      </a:r>
                    </a:p>
                  </a:txBody>
                  <a:tcPr marL="133350" marR="114300" marT="76200" marB="76200" anchor="ctr">
                    <a:solidFill>
                      <a:srgbClr val="F7F6F2"/>
                    </a:solidFill>
                  </a:tcPr>
                </a:tc>
              </a:tr>
              <a:tr h="628650">
                <a:tc>
                  <a:txBody>
                    <a:bodyPr/>
                    <a:lstStyle/>
                    <a:p>
                      <a:pPr algn="l"/>
                      <a:r>
                        <a:rPr sz="1875" b="0">
                          <a:solidFill>
                            <a:srgbClr val="1F2933"/>
                          </a:solidFill>
                          <a:latin typeface="DejaVu Sans"/>
                          <a:ea typeface="DejaVu Sans"/>
                          <a:cs typeface="DejaVu Sans"/>
                        </a:rPr>
                        <a:t>Multi-condition</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17.83%</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7.93%</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25.80%</a:t>
                      </a:r>
                    </a:p>
                  </a:txBody>
                  <a:tcPr marL="133350" marR="114300" marT="76200" marB="76200" anchor="ctr">
                    <a:solidFill>
                      <a:srgbClr val="F7F6F2"/>
                    </a:solidFill>
                  </a:tcPr>
                </a:tc>
              </a:tr>
              <a:tr h="628650">
                <a:tc>
                  <a:txBody>
                    <a:bodyPr/>
                    <a:lstStyle/>
                    <a:p>
                      <a:pPr algn="l"/>
                      <a:r>
                        <a:rPr sz="1875" b="0">
                          <a:solidFill>
                            <a:srgbClr val="1F2933"/>
                          </a:solidFill>
                          <a:latin typeface="DejaVu Sans"/>
                          <a:ea typeface="DejaVu Sans"/>
                          <a:cs typeface="DejaVu Sans"/>
                        </a:rPr>
                        <a:t>Dual-stream fusion</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17.64%</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7.85%</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25.37%</a:t>
                      </a:r>
                    </a:p>
                  </a:txBody>
                  <a:tcPr marL="133350" marR="114300" marT="76200" marB="76200" anchor="ctr">
                    <a:solidFill>
                      <a:srgbClr val="F7F6F2"/>
                    </a:solidFill>
                  </a:tcPr>
                </a:tc>
              </a:tr>
              <a:tr h="628650">
                <a:tc>
                  <a:txBody>
                    <a:bodyPr/>
                    <a:lstStyle/>
                    <a:p>
                      <a:pPr algn="l"/>
                      <a:r>
                        <a:rPr sz="1875" b="0">
                          <a:solidFill>
                            <a:srgbClr val="1F2933"/>
                          </a:solidFill>
                          <a:latin typeface="DejaVu Sans"/>
                          <a:ea typeface="DejaVu Sans"/>
                          <a:cs typeface="DejaVu Sans"/>
                        </a:rPr>
                        <a:t>Multi-condition + IranSeda</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17.22%</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7.70%</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26.66%</a:t>
                      </a:r>
                    </a:p>
                  </a:txBody>
                  <a:tcPr marL="133350" marR="114300" marT="76200" marB="76200" anchor="ctr">
                    <a:solidFill>
                      <a:srgbClr val="F7F6F2"/>
                    </a:solidFill>
                  </a:tcPr>
                </a:tc>
              </a:tr>
            </a:tbl>
          </a:graphicData>
        </a:graphic>
      </p:graphicFrame>
      <p:sp>
        <p:nvSpPr>
          <p:cNvPr id="4" name="text-2">
            <a:extLst xmlns:a="http://schemas.openxmlformats.org/drawingml/2006/main">
              <a:ext uri="{FF2B5EF4-FFF2-40B4-BE49-F238E27FC236}">
                <a16:creationId xmlns:a16="http://schemas.microsoft.com/office/drawing/2014/main" id="{E5F74469-79CA-487B-A76C-A93E0A9817A1}"/>
              </a:ext>
            </a:extLst>
          </p:cNvPr>
          <p:cNvSpPr>
            <a:spLocks xmlns:a="http://schemas.openxmlformats.org/drawingml/2006/main" noGrp="1"/>
          </p:cNvSpPr>
          <p:nvPr/>
        </p:nvSpPr>
        <p:spPr>
          <a:xfrm xmlns:a="http://schemas.openxmlformats.org/drawingml/2006/main">
            <a:off x="609600" y="55340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06D"/>
                </a:solidFill>
                <a:latin typeface="DejaVu Sans"/>
                <a:ea typeface="DejaVu Sans"/>
                <a:cs typeface="DejaVu Sans"/>
              </a:defRPr>
            </a:defPPr>
          </a:lstStyle>
          <a:p xmlns:a="http://schemas.openxmlformats.org/drawingml/2006/main">
            <a:pPr>
              <a:defRPr sz="1875" b="0">
                <a:solidFill>
                  <a:srgbClr val="52606D"/>
                </a:solidFill>
                <a:latin typeface="DejaVu Sans"/>
                <a:ea typeface="DejaVu Sans"/>
                <a:cs typeface="DejaVu Sans"/>
              </a:defRPr>
            </a:pPr>
            <a:r>
              <a:rPr sz="1875" b="0">
                <a:solidFill>
                  <a:srgbClr val="52606D"/>
                </a:solidFill>
                <a:latin typeface="DejaVu Sans"/>
                <a:ea typeface="DejaVu Sans"/>
                <a:cs typeface="DejaVu Sans"/>
              </a:rPr>
              <a:t>Lower is better. The lowest aggregate score and the lowest real-call score differ.</a:t>
            </a:r>
          </a:p>
        </p:txBody>
      </p:sp>
    </p:spTree>
    <p:extLst>
      <p:ext uri="{BB962C8B-B14F-4D97-AF65-F5344CB8AC3E}">
        <p14:creationId xmlns:p14="http://schemas.microsoft.com/office/powerpoint/2010/main" val="2146201726"/>
      </p:ext>
    </p:extLst>
  </p:cSld>
</p:sld>
</file>

<file path=ppt/slides/slide1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94532E0E-B170-4A0B-AB67-30FBD24A65D3}"/>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Whisper Medium provides capacity context</a:t>
            </a:r>
          </a:p>
        </p:txBody>
      </p:sp>
      <p:sp>
        <p:nvSpPr>
          <p:cNvPr id="2" name="text-1">
            <a:extLst xmlns:a="http://schemas.openxmlformats.org/drawingml/2006/main">
              <a:ext uri="{FF2B5EF4-FFF2-40B4-BE49-F238E27FC236}">
                <a16:creationId xmlns:a16="http://schemas.microsoft.com/office/drawing/2014/main" id="{2BE5A746-1844-4370-B2EC-D417AA467A26}"/>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17</a:t>
            </a:r>
          </a:p>
        </p:txBody>
      </p:sp>
      <p:graphicFrame>
        <p:nvGraphicFramePr>
          <p:cNvPr id="3" name="">
            <a:extLst xmlns:a="http://schemas.openxmlformats.org/drawingml/2006/main">
              <a:ext uri="{FF2B5EF4-FFF2-40B4-BE49-F238E27FC236}">
                <a16:creationId xmlns:a16="http://schemas.microsoft.com/office/drawing/2014/main" id="{3B053C8F-13EF-4887-8703-11500FC45964}"/>
              </a:ext>
            </a:extLst>
          </p:cNvPr>
          <p:cNvGraphicFramePr/>
          <p:nvPr/>
        </p:nvGraphicFramePr>
        <p:xfrm>
          <a:off xmlns:a="http://schemas.openxmlformats.org/drawingml/2006/main" x="609600" y="1952625"/>
          <a:ext xmlns:a="http://schemas.openxmlformats.org/drawingml/2006/main" cx="10972800" cy="2647950"/>
        </p:xfrm>
        <a:graphic xmlns:a="http://schemas.openxmlformats.org/drawingml/2006/main">
          <a:graphicData uri="http://schemas.openxmlformats.org/drawingml/2006/table">
            <a:tbl>
              <a:tblPr/>
              <a:tblGrid>
                <a:gridCol w="4095750"/>
                <a:gridCol w="2286000"/>
                <a:gridCol w="2286000"/>
                <a:gridCol w="2305050"/>
              </a:tblGrid>
              <a:tr h="661988">
                <a:tc>
                  <a:txBody>
                    <a:bodyPr/>
                    <a:lstStyle/>
                    <a:p>
                      <a:pPr algn="l"/>
                      <a:r>
                        <a:rPr sz="1875" b="1">
                          <a:solidFill>
                            <a:srgbClr val="FFFFFF"/>
                          </a:solidFill>
                          <a:latin typeface="DejaVu Sans"/>
                          <a:ea typeface="DejaVu Sans"/>
                          <a:cs typeface="DejaVu Sans"/>
                        </a:rPr>
                        <a:t>Model</a:t>
                      </a:r>
                    </a:p>
                  </a:txBody>
                  <a:tcPr marL="133350" marR="114300" marT="76200" marB="76200" anchor="ctr">
                    <a:solidFill>
                      <a:srgbClr val="1F2933"/>
                    </a:solidFill>
                  </a:tcPr>
                </a:tc>
                <a:tc>
                  <a:txBody>
                    <a:bodyPr/>
                    <a:lstStyle/>
                    <a:p>
                      <a:pPr algn="ctr"/>
                      <a:r>
                        <a:rPr sz="1875" b="1">
                          <a:solidFill>
                            <a:srgbClr val="FFFFFF"/>
                          </a:solidFill>
                          <a:latin typeface="DejaVu Sans"/>
                          <a:ea typeface="DejaVu Sans"/>
                          <a:cs typeface="DejaVu Sans"/>
                        </a:rPr>
                        <a:t>Aggregate WER</a:t>
                      </a:r>
                    </a:p>
                  </a:txBody>
                  <a:tcPr marL="133350" marR="114300" marT="76200" marB="76200" anchor="ctr">
                    <a:solidFill>
                      <a:srgbClr val="1F2933"/>
                    </a:solidFill>
                  </a:tcPr>
                </a:tc>
                <a:tc>
                  <a:txBody>
                    <a:bodyPr/>
                    <a:lstStyle/>
                    <a:p>
                      <a:pPr algn="ctr"/>
                      <a:r>
                        <a:rPr sz="1875" b="1">
                          <a:solidFill>
                            <a:srgbClr val="FFFFFF"/>
                          </a:solidFill>
                          <a:latin typeface="DejaVu Sans"/>
                          <a:ea typeface="DejaVu Sans"/>
                          <a:cs typeface="DejaVu Sans"/>
                        </a:rPr>
                        <a:t>Aggregate CER</a:t>
                      </a:r>
                    </a:p>
                  </a:txBody>
                  <a:tcPr marL="133350" marR="114300" marT="76200" marB="76200" anchor="ctr">
                    <a:solidFill>
                      <a:srgbClr val="1F2933"/>
                    </a:solidFill>
                  </a:tcPr>
                </a:tc>
                <a:tc>
                  <a:txBody>
                    <a:bodyPr/>
                    <a:lstStyle/>
                    <a:p>
                      <a:pPr algn="ctr"/>
                      <a:r>
                        <a:rPr sz="1875" b="1">
                          <a:solidFill>
                            <a:srgbClr val="FFFFFF"/>
                          </a:solidFill>
                          <a:latin typeface="DejaVu Sans"/>
                          <a:ea typeface="DejaVu Sans"/>
                          <a:cs typeface="DejaVu Sans"/>
                        </a:rPr>
                        <a:t>AGFarsdat WER</a:t>
                      </a:r>
                    </a:p>
                  </a:txBody>
                  <a:tcPr marL="133350" marR="114300" marT="76200" marB="76200" anchor="ctr">
                    <a:solidFill>
                      <a:srgbClr val="1F2933"/>
                    </a:solidFill>
                  </a:tcPr>
                </a:tc>
              </a:tr>
              <a:tr h="661988">
                <a:tc>
                  <a:txBody>
                    <a:bodyPr/>
                    <a:lstStyle/>
                    <a:p>
                      <a:pPr algn="l"/>
                      <a:r>
                        <a:rPr sz="1875" b="0">
                          <a:solidFill>
                            <a:srgbClr val="1F2933"/>
                          </a:solidFill>
                          <a:latin typeface="DejaVu Sans"/>
                          <a:ea typeface="DejaVu Sans"/>
                          <a:cs typeface="DejaVu Sans"/>
                        </a:rPr>
                        <a:t>Small, multi-condition</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17.83%</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7.93%</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25.80%</a:t>
                      </a:r>
                    </a:p>
                  </a:txBody>
                  <a:tcPr marL="133350" marR="114300" marT="76200" marB="76200" anchor="ctr">
                    <a:solidFill>
                      <a:srgbClr val="F7F6F2"/>
                    </a:solidFill>
                  </a:tcPr>
                </a:tc>
              </a:tr>
              <a:tr h="661988">
                <a:tc>
                  <a:txBody>
                    <a:bodyPr/>
                    <a:lstStyle/>
                    <a:p>
                      <a:pPr algn="l"/>
                      <a:r>
                        <a:rPr sz="1875" b="0">
                          <a:solidFill>
                            <a:srgbClr val="1F2933"/>
                          </a:solidFill>
                          <a:latin typeface="DejaVu Sans"/>
                          <a:ea typeface="DejaVu Sans"/>
                          <a:cs typeface="DejaVu Sans"/>
                        </a:rPr>
                        <a:t>Small, + IranSeda</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17.22%</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7.70%</a:t>
                      </a:r>
                    </a:p>
                  </a:txBody>
                  <a:tcPr marL="133350" marR="114300" marT="76200" marB="76200" anchor="ctr">
                    <a:solidFill>
                      <a:srgbClr val="F7F6F2"/>
                    </a:solidFill>
                  </a:tcPr>
                </a:tc>
                <a:tc>
                  <a:txBody>
                    <a:bodyPr/>
                    <a:lstStyle/>
                    <a:p>
                      <a:pPr algn="ctr"/>
                      <a:r>
                        <a:rPr sz="1875" b="0">
                          <a:solidFill>
                            <a:srgbClr val="1F2933"/>
                          </a:solidFill>
                          <a:latin typeface="DejaVu Sans"/>
                          <a:ea typeface="DejaVu Sans"/>
                          <a:cs typeface="DejaVu Sans"/>
                        </a:rPr>
                        <a:t>26.66%</a:t>
                      </a:r>
                    </a:p>
                  </a:txBody>
                  <a:tcPr marL="133350" marR="114300" marT="76200" marB="76200" anchor="ctr">
                    <a:solidFill>
                      <a:srgbClr val="F7F6F2"/>
                    </a:solidFill>
                  </a:tcPr>
                </a:tc>
              </a:tr>
              <a:tr h="661988">
                <a:tc>
                  <a:txBody>
                    <a:bodyPr/>
                    <a:lstStyle/>
                    <a:p>
                      <a:pPr algn="l"/>
                      <a:r>
                        <a:rPr sz="1875" b="1">
                          <a:solidFill>
                            <a:srgbClr val="1D6F8A"/>
                          </a:solidFill>
                          <a:latin typeface="DejaVu Sans"/>
                          <a:ea typeface="DejaVu Sans"/>
                          <a:cs typeface="DejaVu Sans"/>
                        </a:rPr>
                        <a:t>Medium, Persian-adapted</a:t>
                      </a:r>
                    </a:p>
                  </a:txBody>
                  <a:tcPr marL="133350" marR="114300" marT="76200" marB="76200" anchor="ctr">
                    <a:solidFill>
                      <a:srgbClr val="E8F3F6"/>
                    </a:solidFill>
                  </a:tcPr>
                </a:tc>
                <a:tc>
                  <a:txBody>
                    <a:bodyPr/>
                    <a:lstStyle/>
                    <a:p>
                      <a:pPr algn="ctr"/>
                      <a:r>
                        <a:rPr sz="1875" b="1">
                          <a:solidFill>
                            <a:srgbClr val="1D6F8A"/>
                          </a:solidFill>
                          <a:latin typeface="DejaVu Sans"/>
                          <a:ea typeface="DejaVu Sans"/>
                          <a:cs typeface="DejaVu Sans"/>
                        </a:rPr>
                        <a:t>14.36%</a:t>
                      </a:r>
                    </a:p>
                  </a:txBody>
                  <a:tcPr marL="133350" marR="114300" marT="76200" marB="76200" anchor="ctr">
                    <a:solidFill>
                      <a:srgbClr val="E8F3F6"/>
                    </a:solidFill>
                  </a:tcPr>
                </a:tc>
                <a:tc>
                  <a:txBody>
                    <a:bodyPr/>
                    <a:lstStyle/>
                    <a:p>
                      <a:pPr algn="ctr"/>
                      <a:r>
                        <a:rPr sz="1875" b="1">
                          <a:solidFill>
                            <a:srgbClr val="1D6F8A"/>
                          </a:solidFill>
                          <a:latin typeface="DejaVu Sans"/>
                          <a:ea typeface="DejaVu Sans"/>
                          <a:cs typeface="DejaVu Sans"/>
                        </a:rPr>
                        <a:t>6.68%</a:t>
                      </a:r>
                    </a:p>
                  </a:txBody>
                  <a:tcPr marL="133350" marR="114300" marT="76200" marB="76200" anchor="ctr">
                    <a:solidFill>
                      <a:srgbClr val="E8F3F6"/>
                    </a:solidFill>
                  </a:tcPr>
                </a:tc>
                <a:tc>
                  <a:txBody>
                    <a:bodyPr/>
                    <a:lstStyle/>
                    <a:p>
                      <a:pPr algn="ctr"/>
                      <a:r>
                        <a:rPr sz="1875" b="1">
                          <a:solidFill>
                            <a:srgbClr val="1D6F8A"/>
                          </a:solidFill>
                          <a:latin typeface="DejaVu Sans"/>
                          <a:ea typeface="DejaVu Sans"/>
                          <a:cs typeface="DejaVu Sans"/>
                        </a:rPr>
                        <a:t>21.99%</a:t>
                      </a:r>
                    </a:p>
                  </a:txBody>
                  <a:tcPr marL="133350" marR="114300" marT="76200" marB="76200" anchor="ctr">
                    <a:solidFill>
                      <a:srgbClr val="E8F3F6"/>
                    </a:solidFill>
                  </a:tcPr>
                </a:tc>
              </a:tr>
            </a:tbl>
          </a:graphicData>
        </a:graphic>
      </p:graphicFrame>
      <p:sp>
        <p:nvSpPr>
          <p:cNvPr id="4" name="text-2">
            <a:extLst xmlns:a="http://schemas.openxmlformats.org/drawingml/2006/main">
              <a:ext uri="{FF2B5EF4-FFF2-40B4-BE49-F238E27FC236}">
                <a16:creationId xmlns:a16="http://schemas.microsoft.com/office/drawing/2014/main" id="{1836BC06-D6F2-4B08-B642-F340C0EED37E}"/>
              </a:ext>
            </a:extLst>
          </p:cNvPr>
          <p:cNvSpPr>
            <a:spLocks xmlns:a="http://schemas.openxmlformats.org/drawingml/2006/main" noGrp="1"/>
          </p:cNvSpPr>
          <p:nvPr/>
        </p:nvSpPr>
        <p:spPr>
          <a:xfrm xmlns:a="http://schemas.openxmlformats.org/drawingml/2006/main">
            <a:off x="609600" y="52387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06D"/>
                </a:solidFill>
                <a:latin typeface="DejaVu Sans"/>
                <a:ea typeface="DejaVu Sans"/>
                <a:cs typeface="DejaVu Sans"/>
              </a:defRPr>
            </a:defPPr>
          </a:lstStyle>
          <a:p xmlns:a="http://schemas.openxmlformats.org/drawingml/2006/main">
            <a:pPr>
              <a:defRPr sz="1875" b="0">
                <a:solidFill>
                  <a:srgbClr val="52606D"/>
                </a:solidFill>
                <a:latin typeface="DejaVu Sans"/>
                <a:ea typeface="DejaVu Sans"/>
                <a:cs typeface="DejaVu Sans"/>
              </a:defRPr>
            </a:pPr>
            <a:r>
              <a:rPr sz="1875" b="0">
                <a:solidFill>
                  <a:srgbClr val="52606D"/>
                </a:solidFill>
                <a:latin typeface="DejaVu Sans"/>
                <a:ea typeface="DejaVu Sans"/>
                <a:cs typeface="DejaVu Sans"/>
              </a:rPr>
              <a:t>Medium is also the pseudo-label teacher.</a:t>
            </a:r>
          </a:p>
          <a:p xmlns:a="http://schemas.openxmlformats.org/drawingml/2006/main">
            <a:pPr>
              <a:defRPr sz="1875" b="0">
                <a:solidFill>
                  <a:srgbClr val="52606D"/>
                </a:solidFill>
                <a:latin typeface="DejaVu Sans"/>
                <a:ea typeface="DejaVu Sans"/>
                <a:cs typeface="DejaVu Sans"/>
              </a:defRPr>
            </a:pPr>
            <a:r>
              <a:rPr sz="1875" b="0">
                <a:solidFill>
                  <a:srgbClr val="52606D"/>
                </a:solidFill>
                <a:latin typeface="DejaVu Sans"/>
                <a:ea typeface="DejaVu Sans"/>
                <a:cs typeface="DejaVu Sans"/>
              </a:rPr>
              <a:t>Changing model capacity prevents a data-only interpretation.</a:t>
            </a:r>
          </a:p>
        </p:txBody>
      </p:sp>
    </p:spTree>
    <p:extLst>
      <p:ext uri="{BB962C8B-B14F-4D97-AF65-F5344CB8AC3E}">
        <p14:creationId xmlns:p14="http://schemas.microsoft.com/office/powerpoint/2010/main" val="1617228676"/>
      </p:ext>
    </p:extLst>
  </p:cSld>
</p:sld>
</file>

<file path=ppt/slides/slide1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358F5C8C-8FC7-4925-B903-013FE8C078C5}"/>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Research contributions</a:t>
            </a:r>
          </a:p>
        </p:txBody>
      </p:sp>
      <p:sp>
        <p:nvSpPr>
          <p:cNvPr id="2" name="text-1">
            <a:extLst xmlns:a="http://schemas.openxmlformats.org/drawingml/2006/main">
              <a:ext uri="{FF2B5EF4-FFF2-40B4-BE49-F238E27FC236}">
                <a16:creationId xmlns:a16="http://schemas.microsoft.com/office/drawing/2014/main" id="{9C080DCF-7C06-4B40-95DE-ABE46661CB51}"/>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18</a:t>
            </a:r>
          </a:p>
        </p:txBody>
      </p:sp>
      <p:sp>
        <p:nvSpPr>
          <p:cNvPr id="3" name="text-2">
            <a:extLst xmlns:a="http://schemas.openxmlformats.org/drawingml/2006/main">
              <a:ext uri="{FF2B5EF4-FFF2-40B4-BE49-F238E27FC236}">
                <a16:creationId xmlns:a16="http://schemas.microsoft.com/office/drawing/2014/main" id="{0336C258-D617-4C55-9149-4C5CD9D51BDD}"/>
              </a:ext>
            </a:extLst>
          </p:cNvPr>
          <p:cNvSpPr>
            <a:spLocks xmlns:a="http://schemas.openxmlformats.org/drawingml/2006/main" noGrp="1"/>
          </p:cNvSpPr>
          <p:nvPr/>
        </p:nvSpPr>
        <p:spPr>
          <a:xfrm xmlns:a="http://schemas.openxmlformats.org/drawingml/2006/main">
            <a:off x="609600" y="16859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D6F8A"/>
                </a:solidFill>
                <a:latin typeface="DejaVu Sans"/>
                <a:ea typeface="DejaVu Sans"/>
                <a:cs typeface="DejaVu Sans"/>
              </a:defRPr>
            </a:defPPr>
          </a:lstStyle>
          <a:p xmlns:a="http://schemas.openxmlformats.org/drawingml/2006/main">
            <a:pPr>
              <a:defRPr sz="2025" b="1">
                <a:solidFill>
                  <a:srgbClr val="1D6F8A"/>
                </a:solidFill>
                <a:latin typeface="DejaVu Sans"/>
                <a:ea typeface="DejaVu Sans"/>
                <a:cs typeface="DejaVu Sans"/>
              </a:defRPr>
            </a:pPr>
            <a:r>
              <a:rPr sz="2025" b="1">
                <a:solidFill>
                  <a:srgbClr val="1D6F8A"/>
                </a:solidFill>
                <a:latin typeface="DejaVu Sans"/>
                <a:ea typeface="DejaVu Sans"/>
                <a:cs typeface="DejaVu Sans"/>
              </a:rPr>
              <a:t>Reproducible telecom data</a:t>
            </a:r>
          </a:p>
        </p:txBody>
      </p:sp>
      <p:sp>
        <p:nvSpPr>
          <p:cNvPr id="4" name="text-3">
            <a:extLst xmlns:a="http://schemas.openxmlformats.org/drawingml/2006/main">
              <a:ext uri="{FF2B5EF4-FFF2-40B4-BE49-F238E27FC236}">
                <a16:creationId xmlns:a16="http://schemas.microsoft.com/office/drawing/2014/main" id="{1DA66F2C-9BC5-4AD1-860F-3BBDD81C23E9}"/>
              </a:ext>
            </a:extLst>
          </p:cNvPr>
          <p:cNvSpPr>
            <a:spLocks xmlns:a="http://schemas.openxmlformats.org/drawingml/2006/main" noGrp="1"/>
          </p:cNvSpPr>
          <p:nvPr/>
        </p:nvSpPr>
        <p:spPr>
          <a:xfrm xmlns:a="http://schemas.openxmlformats.org/drawingml/2006/main">
            <a:off x="609600" y="21050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F2933"/>
                </a:solidFill>
                <a:latin typeface="DejaVu Sans"/>
                <a:ea typeface="DejaVu Sans"/>
                <a:cs typeface="DejaVu Sans"/>
              </a:defRPr>
            </a:defPPr>
          </a:lstStyle>
          <a:p xmlns:a="http://schemas.openxmlformats.org/drawingml/2006/main">
            <a:pPr>
              <a:defRPr sz="1800" b="0">
                <a:solidFill>
                  <a:srgbClr val="1F2933"/>
                </a:solidFill>
                <a:latin typeface="DejaVu Sans"/>
                <a:ea typeface="DejaVu Sans"/>
                <a:cs typeface="DejaVu Sans"/>
              </a:defRPr>
            </a:pPr>
            <a:r>
              <a:rPr sz="1800" b="0">
                <a:solidFill>
                  <a:srgbClr val="1F2933"/>
                </a:solidFill>
                <a:latin typeface="DejaVu Sans"/>
                <a:ea typeface="DejaVu Sans"/>
                <a:cs typeface="DejaVu Sans"/>
              </a:rPr>
              <a:t>Aligned pairs with real codec paths and recorded augmentation settings</a:t>
            </a:r>
          </a:p>
        </p:txBody>
      </p:sp>
      <p:sp>
        <p:nvSpPr>
          <p:cNvPr id="5" name="text-4">
            <a:extLst xmlns:a="http://schemas.openxmlformats.org/drawingml/2006/main">
              <a:ext uri="{FF2B5EF4-FFF2-40B4-BE49-F238E27FC236}">
                <a16:creationId xmlns:a16="http://schemas.microsoft.com/office/drawing/2014/main" id="{2D58C0E8-550D-47A2-ABE3-22C6760307D0}"/>
              </a:ext>
            </a:extLst>
          </p:cNvPr>
          <p:cNvSpPr>
            <a:spLocks xmlns:a="http://schemas.openxmlformats.org/drawingml/2006/main" noGrp="1"/>
          </p:cNvSpPr>
          <p:nvPr/>
        </p:nvSpPr>
        <p:spPr>
          <a:xfrm xmlns:a="http://schemas.openxmlformats.org/drawingml/2006/main">
            <a:off x="609600" y="2752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D6F8A"/>
                </a:solidFill>
                <a:latin typeface="DejaVu Sans"/>
                <a:ea typeface="DejaVu Sans"/>
                <a:cs typeface="DejaVu Sans"/>
              </a:defRPr>
            </a:defPPr>
          </a:lstStyle>
          <a:p xmlns:a="http://schemas.openxmlformats.org/drawingml/2006/main">
            <a:pPr>
              <a:defRPr sz="2025" b="1">
                <a:solidFill>
                  <a:srgbClr val="1D6F8A"/>
                </a:solidFill>
                <a:latin typeface="DejaVu Sans"/>
                <a:ea typeface="DejaVu Sans"/>
                <a:cs typeface="DejaVu Sans"/>
              </a:defRPr>
            </a:pPr>
            <a:r>
              <a:rPr sz="2025" b="1">
                <a:solidFill>
                  <a:srgbClr val="1D6F8A"/>
                </a:solidFill>
                <a:latin typeface="DejaVu Sans"/>
                <a:ea typeface="DejaVu Sans"/>
                <a:cs typeface="DejaVu Sans"/>
              </a:rPr>
              <a:t>Controlled robustness evidence</a:t>
            </a:r>
          </a:p>
        </p:txBody>
      </p:sp>
      <p:sp>
        <p:nvSpPr>
          <p:cNvPr id="6" name="text-5">
            <a:extLst xmlns:a="http://schemas.openxmlformats.org/drawingml/2006/main">
              <a:ext uri="{FF2B5EF4-FFF2-40B4-BE49-F238E27FC236}">
                <a16:creationId xmlns:a16="http://schemas.microsoft.com/office/drawing/2014/main" id="{834A963F-49BA-488E-B31A-89A78D05AF74}"/>
              </a:ext>
            </a:extLst>
          </p:cNvPr>
          <p:cNvSpPr>
            <a:spLocks xmlns:a="http://schemas.openxmlformats.org/drawingml/2006/main" noGrp="1"/>
          </p:cNvSpPr>
          <p:nvPr/>
        </p:nvSpPr>
        <p:spPr>
          <a:xfrm xmlns:a="http://schemas.openxmlformats.org/drawingml/2006/main">
            <a:off x="609600" y="31718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F2933"/>
                </a:solidFill>
                <a:latin typeface="DejaVu Sans"/>
                <a:ea typeface="DejaVu Sans"/>
                <a:cs typeface="DejaVu Sans"/>
              </a:defRPr>
            </a:defPPr>
          </a:lstStyle>
          <a:p xmlns:a="http://schemas.openxmlformats.org/drawingml/2006/main">
            <a:pPr>
              <a:defRPr sz="1800" b="0">
                <a:solidFill>
                  <a:srgbClr val="1F2933"/>
                </a:solidFill>
                <a:latin typeface="DejaVu Sans"/>
                <a:ea typeface="DejaVu Sans"/>
                <a:cs typeface="DejaVu Sans"/>
              </a:defRPr>
            </a:pPr>
            <a:r>
              <a:rPr sz="1800" b="0">
                <a:solidFill>
                  <a:srgbClr val="1F2933"/>
                </a:solidFill>
                <a:latin typeface="DejaVu Sans"/>
                <a:ea typeface="DejaVu Sans"/>
                <a:cs typeface="DejaVu Sans"/>
              </a:rPr>
              <a:t>Large Whisper-small gain on held-out real telephone and VoIP speech</a:t>
            </a:r>
          </a:p>
        </p:txBody>
      </p:sp>
      <p:sp>
        <p:nvSpPr>
          <p:cNvPr id="7" name="text-6">
            <a:extLst xmlns:a="http://schemas.openxmlformats.org/drawingml/2006/main">
              <a:ext uri="{FF2B5EF4-FFF2-40B4-BE49-F238E27FC236}">
                <a16:creationId xmlns:a16="http://schemas.microsoft.com/office/drawing/2014/main" id="{ED143B01-1C49-4E04-BA57-164F14557AB6}"/>
              </a:ext>
            </a:extLst>
          </p:cNvPr>
          <p:cNvSpPr>
            <a:spLocks xmlns:a="http://schemas.openxmlformats.org/drawingml/2006/main" noGrp="1"/>
          </p:cNvSpPr>
          <p:nvPr/>
        </p:nvSpPr>
        <p:spPr>
          <a:xfrm xmlns:a="http://schemas.openxmlformats.org/drawingml/2006/main">
            <a:off x="609600" y="38195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D6F8A"/>
                </a:solidFill>
                <a:latin typeface="DejaVu Sans"/>
                <a:ea typeface="DejaVu Sans"/>
                <a:cs typeface="DejaVu Sans"/>
              </a:defRPr>
            </a:defPPr>
          </a:lstStyle>
          <a:p xmlns:a="http://schemas.openxmlformats.org/drawingml/2006/main">
            <a:pPr>
              <a:defRPr sz="2025" b="1">
                <a:solidFill>
                  <a:srgbClr val="1D6F8A"/>
                </a:solidFill>
                <a:latin typeface="DejaVu Sans"/>
                <a:ea typeface="DejaVu Sans"/>
                <a:cs typeface="DejaVu Sans"/>
              </a:defRPr>
            </a:pPr>
            <a:r>
              <a:rPr sz="2025" b="1">
                <a:solidFill>
                  <a:srgbClr val="1D6F8A"/>
                </a:solidFill>
                <a:latin typeface="DejaVu Sans"/>
                <a:ea typeface="DejaVu Sans"/>
                <a:cs typeface="DejaVu Sans"/>
              </a:rPr>
              <a:t>Architecture and data studies</a:t>
            </a:r>
          </a:p>
        </p:txBody>
      </p:sp>
      <p:sp>
        <p:nvSpPr>
          <p:cNvPr id="8" name="text-7">
            <a:extLst xmlns:a="http://schemas.openxmlformats.org/drawingml/2006/main">
              <a:ext uri="{FF2B5EF4-FFF2-40B4-BE49-F238E27FC236}">
                <a16:creationId xmlns:a16="http://schemas.microsoft.com/office/drawing/2014/main" id="{AD36E6B5-4DE4-4097-85A3-2B66DA6EF1E5}"/>
              </a:ext>
            </a:extLst>
          </p:cNvPr>
          <p:cNvSpPr>
            <a:spLocks xmlns:a="http://schemas.openxmlformats.org/drawingml/2006/main" noGrp="1"/>
          </p:cNvSpPr>
          <p:nvPr/>
        </p:nvSpPr>
        <p:spPr>
          <a:xfrm xmlns:a="http://schemas.openxmlformats.org/drawingml/2006/main">
            <a:off x="609600" y="42386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F2933"/>
                </a:solidFill>
                <a:latin typeface="DejaVu Sans"/>
                <a:ea typeface="DejaVu Sans"/>
                <a:cs typeface="DejaVu Sans"/>
              </a:defRPr>
            </a:defPPr>
          </a:lstStyle>
          <a:p xmlns:a="http://schemas.openxmlformats.org/drawingml/2006/main">
            <a:pPr>
              <a:defRPr sz="1800" b="0">
                <a:solidFill>
                  <a:srgbClr val="1F2933"/>
                </a:solidFill>
                <a:latin typeface="DejaVu Sans"/>
                <a:ea typeface="DejaVu Sans"/>
                <a:cs typeface="DejaVu Sans"/>
              </a:defRPr>
            </a:pPr>
            <a:r>
              <a:rPr sz="1800" b="0">
                <a:solidFill>
                  <a:srgbClr val="1F2933"/>
                </a:solidFill>
                <a:latin typeface="DejaVu Sans"/>
                <a:ea typeface="DejaVu Sans"/>
                <a:cs typeface="DejaVu Sans"/>
              </a:rPr>
              <a:t>Fusion evaluation, Tiny ablations and a curated audiobook corpus</a:t>
            </a:r>
          </a:p>
        </p:txBody>
      </p:sp>
      <p:sp>
        <p:nvSpPr>
          <p:cNvPr id="9" name="text-8">
            <a:extLst xmlns:a="http://schemas.openxmlformats.org/drawingml/2006/main">
              <a:ext uri="{FF2B5EF4-FFF2-40B4-BE49-F238E27FC236}">
                <a16:creationId xmlns:a16="http://schemas.microsoft.com/office/drawing/2014/main" id="{9A85B116-6A85-4D89-AD9F-3F60F5616D81}"/>
              </a:ext>
            </a:extLst>
          </p:cNvPr>
          <p:cNvSpPr>
            <a:spLocks xmlns:a="http://schemas.openxmlformats.org/drawingml/2006/main" noGrp="1"/>
          </p:cNvSpPr>
          <p:nvPr/>
        </p:nvSpPr>
        <p:spPr>
          <a:xfrm xmlns:a="http://schemas.openxmlformats.org/drawingml/2006/main">
            <a:off x="609600" y="48863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D6F8A"/>
                </a:solidFill>
                <a:latin typeface="DejaVu Sans"/>
                <a:ea typeface="DejaVu Sans"/>
                <a:cs typeface="DejaVu Sans"/>
              </a:defRPr>
            </a:defPPr>
          </a:lstStyle>
          <a:p xmlns:a="http://schemas.openxmlformats.org/drawingml/2006/main">
            <a:pPr>
              <a:defRPr sz="2025" b="1">
                <a:solidFill>
                  <a:srgbClr val="1D6F8A"/>
                </a:solidFill>
                <a:latin typeface="DejaVu Sans"/>
                <a:ea typeface="DejaVu Sans"/>
                <a:cs typeface="DejaVu Sans"/>
              </a:defRPr>
            </a:pPr>
            <a:r>
              <a:rPr sz="2025" b="1">
                <a:solidFill>
                  <a:srgbClr val="1D6F8A"/>
                </a:solidFill>
                <a:latin typeface="DejaVu Sans"/>
                <a:ea typeface="DejaVu Sans"/>
                <a:cs typeface="DejaVu Sans"/>
              </a:rPr>
              <a:t>Domain-specific interpretation</a:t>
            </a:r>
          </a:p>
        </p:txBody>
      </p:sp>
      <p:sp>
        <p:nvSpPr>
          <p:cNvPr id="10" name="text-9">
            <a:extLst xmlns:a="http://schemas.openxmlformats.org/drawingml/2006/main">
              <a:ext uri="{FF2B5EF4-FFF2-40B4-BE49-F238E27FC236}">
                <a16:creationId xmlns:a16="http://schemas.microsoft.com/office/drawing/2014/main" id="{2C37A6EB-19BC-438E-A9A6-8B45A616CBB6}"/>
              </a:ext>
            </a:extLst>
          </p:cNvPr>
          <p:cNvSpPr>
            <a:spLocks xmlns:a="http://schemas.openxmlformats.org/drawingml/2006/main" noGrp="1"/>
          </p:cNvSpPr>
          <p:nvPr/>
        </p:nvSpPr>
        <p:spPr>
          <a:xfrm xmlns:a="http://schemas.openxmlformats.org/drawingml/2006/main">
            <a:off x="609600" y="53054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F2933"/>
                </a:solidFill>
                <a:latin typeface="DejaVu Sans"/>
                <a:ea typeface="DejaVu Sans"/>
                <a:cs typeface="DejaVu Sans"/>
              </a:defRPr>
            </a:defPPr>
          </a:lstStyle>
          <a:p xmlns:a="http://schemas.openxmlformats.org/drawingml/2006/main">
            <a:pPr>
              <a:defRPr sz="1800" b="0">
                <a:solidFill>
                  <a:srgbClr val="1F2933"/>
                </a:solidFill>
                <a:latin typeface="DejaVu Sans"/>
                <a:ea typeface="DejaVu Sans"/>
                <a:cs typeface="DejaVu Sans"/>
              </a:defRPr>
            </a:pPr>
            <a:r>
              <a:rPr sz="1800" b="0">
                <a:solidFill>
                  <a:srgbClr val="1F2933"/>
                </a:solidFill>
                <a:latin typeface="DejaVu Sans"/>
                <a:ea typeface="DejaVu Sans"/>
                <a:cs typeface="DejaVu Sans"/>
              </a:rPr>
              <a:t>Separate general-speech gains from real-call robustness</a:t>
            </a:r>
          </a:p>
        </p:txBody>
      </p:sp>
    </p:spTree>
    <p:extLst>
      <p:ext uri="{BB962C8B-B14F-4D97-AF65-F5344CB8AC3E}">
        <p14:creationId xmlns:p14="http://schemas.microsoft.com/office/powerpoint/2010/main" val="1004952904"/>
      </p:ext>
    </p:extLst>
  </p:cSld>
</p:sld>
</file>

<file path=ppt/slides/slide1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A75FA94B-EED3-41D6-91B4-B08B365085B3}"/>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Limits and the next experiments</a:t>
            </a:r>
          </a:p>
        </p:txBody>
      </p:sp>
      <p:sp>
        <p:nvSpPr>
          <p:cNvPr id="2" name="text-1">
            <a:extLst xmlns:a="http://schemas.openxmlformats.org/drawingml/2006/main">
              <a:ext uri="{FF2B5EF4-FFF2-40B4-BE49-F238E27FC236}">
                <a16:creationId xmlns:a16="http://schemas.microsoft.com/office/drawing/2014/main" id="{60187D5B-2520-4B90-9F54-F71526CA0C2E}"/>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19</a:t>
            </a:r>
          </a:p>
        </p:txBody>
      </p:sp>
      <p:graphicFrame>
        <p:nvGraphicFramePr>
          <p:cNvPr id="3" name="">
            <a:extLst xmlns:a="http://schemas.openxmlformats.org/drawingml/2006/main">
              <a:ext uri="{FF2B5EF4-FFF2-40B4-BE49-F238E27FC236}">
                <a16:creationId xmlns:a16="http://schemas.microsoft.com/office/drawing/2014/main" id="{32828FC6-9BC6-45C6-B57A-D01CBAE09F0C}"/>
              </a:ext>
            </a:extLst>
          </p:cNvPr>
          <p:cNvGraphicFramePr/>
          <p:nvPr/>
        </p:nvGraphicFramePr>
        <p:xfrm>
          <a:off xmlns:a="http://schemas.openxmlformats.org/drawingml/2006/main" x="609600" y="1752600"/>
          <a:ext xmlns:a="http://schemas.openxmlformats.org/drawingml/2006/main" cx="10972800" cy="3476625"/>
        </p:xfrm>
        <a:graphic xmlns:a="http://schemas.openxmlformats.org/drawingml/2006/main">
          <a:graphicData uri="http://schemas.openxmlformats.org/drawingml/2006/table">
            <a:tbl>
              <a:tblPr/>
              <a:tblGrid>
                <a:gridCol w="4524375"/>
                <a:gridCol w="6448425"/>
              </a:tblGrid>
              <a:tr h="695325">
                <a:tc>
                  <a:txBody>
                    <a:bodyPr/>
                    <a:lstStyle/>
                    <a:p>
                      <a:pPr algn="l"/>
                      <a:r>
                        <a:rPr sz="1800" b="1">
                          <a:solidFill>
                            <a:srgbClr val="FFFFFF"/>
                          </a:solidFill>
                          <a:latin typeface="DejaVu Sans"/>
                          <a:ea typeface="DejaVu Sans"/>
                          <a:cs typeface="DejaVu Sans"/>
                        </a:rPr>
                        <a:t>Current limitation</a:t>
                      </a:r>
                    </a:p>
                  </a:txBody>
                  <a:tcPr marL="133350" marR="114300" marT="76200" marB="76200" anchor="ctr">
                    <a:solidFill>
                      <a:srgbClr val="1F2933"/>
                    </a:solidFill>
                  </a:tcPr>
                </a:tc>
                <a:tc>
                  <a:txBody>
                    <a:bodyPr/>
                    <a:lstStyle/>
                    <a:p>
                      <a:pPr algn="ctr"/>
                      <a:r>
                        <a:rPr sz="1800" b="1">
                          <a:solidFill>
                            <a:srgbClr val="FFFFFF"/>
                          </a:solidFill>
                          <a:latin typeface="DejaVu Sans"/>
                          <a:ea typeface="DejaVu Sans"/>
                          <a:cs typeface="DejaVu Sans"/>
                        </a:rPr>
                        <a:t>Next experiment</a:t>
                      </a:r>
                    </a:p>
                  </a:txBody>
                  <a:tcPr marL="133350" marR="114300" marT="76200" marB="76200" anchor="ctr">
                    <a:solidFill>
                      <a:srgbClr val="1F2933"/>
                    </a:solidFill>
                  </a:tcPr>
                </a:tc>
              </a:tr>
              <a:tr h="695325">
                <a:tc>
                  <a:txBody>
                    <a:bodyPr/>
                    <a:lstStyle/>
                    <a:p>
                      <a:pPr algn="l"/>
                      <a:r>
                        <a:rPr sz="1800" b="0">
                          <a:solidFill>
                            <a:srgbClr val="1F2933"/>
                          </a:solidFill>
                          <a:latin typeface="DejaVu Sans"/>
                          <a:ea typeface="DejaVu Sans"/>
                          <a:cs typeface="DejaVu Sans"/>
                        </a:rPr>
                        <a:t>Small margins, single runs</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Repeated seeds and paired confidence intervals</a:t>
                      </a:r>
                    </a:p>
                  </a:txBody>
                  <a:tcPr marL="133350" marR="114300" marT="76200" marB="76200" anchor="ctr">
                    <a:solidFill>
                      <a:srgbClr val="F7F6F2"/>
                    </a:solidFill>
                  </a:tcPr>
                </a:tc>
              </a:tr>
              <a:tr h="695325">
                <a:tc>
                  <a:txBody>
                    <a:bodyPr/>
                    <a:lstStyle/>
                    <a:p>
                      <a:pPr algn="l"/>
                      <a:r>
                        <a:rPr sz="1800" b="0">
                          <a:solidFill>
                            <a:srgbClr val="1F2933"/>
                          </a:solidFill>
                          <a:latin typeface="DejaVu Sans"/>
                          <a:ea typeface="DejaVu Sans"/>
                          <a:cs typeface="DejaVu Sans"/>
                        </a:rPr>
                        <a:t>Fusion training differs</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Match training budget and ablate modules in Whisper-small</a:t>
                      </a:r>
                    </a:p>
                  </a:txBody>
                  <a:tcPr marL="133350" marR="114300" marT="76200" marB="76200" anchor="ctr">
                    <a:solidFill>
                      <a:srgbClr val="F7F6F2"/>
                    </a:solidFill>
                  </a:tcPr>
                </a:tc>
              </a:tr>
              <a:tr h="695325">
                <a:tc>
                  <a:txBody>
                    <a:bodyPr/>
                    <a:lstStyle/>
                    <a:p>
                      <a:pPr algn="l"/>
                      <a:r>
                        <a:rPr sz="1800" b="0">
                          <a:solidFill>
                            <a:srgbClr val="1F2933"/>
                          </a:solidFill>
                          <a:latin typeface="DejaVu Sans"/>
                          <a:ea typeface="DejaVu Sans"/>
                          <a:cs typeface="DejaVu Sans"/>
                        </a:rPr>
                        <a:t>Pseudo-labels lack human audit</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Audit teacher, Qwen edits and accepted text separately</a:t>
                      </a:r>
                    </a:p>
                  </a:txBody>
                  <a:tcPr marL="133350" marR="114300" marT="76200" marB="76200" anchor="ctr">
                    <a:solidFill>
                      <a:srgbClr val="F7F6F2"/>
                    </a:solidFill>
                  </a:tcPr>
                </a:tc>
              </a:tr>
              <a:tr h="695325">
                <a:tc>
                  <a:txBody>
                    <a:bodyPr/>
                    <a:lstStyle/>
                    <a:p>
                      <a:pPr algn="l"/>
                      <a:r>
                        <a:rPr sz="1800" b="0">
                          <a:solidFill>
                            <a:srgbClr val="1F2933"/>
                          </a:solidFill>
                          <a:latin typeface="DejaVu Sans"/>
                          <a:ea typeface="DejaVu Sans"/>
                          <a:cs typeface="DejaVu Sans"/>
                        </a:rPr>
                        <a:t>Domain and deployment uncertainty</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Sweep data mixture, report codec/SNR errors and runtime cost</a:t>
                      </a:r>
                    </a:p>
                  </a:txBody>
                  <a:tcPr marL="133350" marR="114300" marT="76200" marB="76200" anchor="ctr">
                    <a:solidFill>
                      <a:srgbClr val="F7F6F2"/>
                    </a:solidFill>
                  </a:tcPr>
                </a:tc>
              </a:tr>
            </a:tbl>
          </a:graphicData>
        </a:graphic>
      </p:graphicFrame>
      <p:sp>
        <p:nvSpPr>
          <p:cNvPr id="4" name="text-2">
            <a:extLst xmlns:a="http://schemas.openxmlformats.org/drawingml/2006/main">
              <a:ext uri="{FF2B5EF4-FFF2-40B4-BE49-F238E27FC236}">
                <a16:creationId xmlns:a16="http://schemas.microsoft.com/office/drawing/2014/main" id="{AA2686BB-445D-4226-AF42-30D0341CE32A}"/>
              </a:ext>
            </a:extLst>
          </p:cNvPr>
          <p:cNvSpPr>
            <a:spLocks xmlns:a="http://schemas.openxmlformats.org/drawingml/2006/main" noGrp="1"/>
          </p:cNvSpPr>
          <p:nvPr/>
        </p:nvSpPr>
        <p:spPr>
          <a:xfrm xmlns:a="http://schemas.openxmlformats.org/drawingml/2006/main">
            <a:off x="609600" y="5762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06D"/>
                </a:solidFill>
                <a:latin typeface="DejaVu Sans"/>
                <a:ea typeface="DejaVu Sans"/>
                <a:cs typeface="DejaVu Sans"/>
              </a:defRPr>
            </a:defPPr>
          </a:lstStyle>
          <a:p xmlns:a="http://schemas.openxmlformats.org/drawingml/2006/main">
            <a:pPr>
              <a:defRPr sz="1650" b="0">
                <a:solidFill>
                  <a:srgbClr val="52606D"/>
                </a:solidFill>
                <a:latin typeface="DejaVu Sans"/>
                <a:ea typeface="DejaVu Sans"/>
                <a:cs typeface="DejaVu Sans"/>
              </a:defRPr>
            </a:pPr>
            <a:r>
              <a:rPr sz="1650" b="0">
                <a:solidFill>
                  <a:srgbClr val="52606D"/>
                </a:solidFill>
                <a:latin typeface="DejaVu Sans"/>
                <a:ea typeface="DejaVu Sans"/>
                <a:cs typeface="DejaVu Sans"/>
              </a:rPr>
              <a:t>AGFarsdat is private. PersianSpeech has 24 examples. Simulator coverage is incomplete.</a:t>
            </a:r>
          </a:p>
        </p:txBody>
      </p:sp>
    </p:spTree>
    <p:extLst>
      <p:ext uri="{BB962C8B-B14F-4D97-AF65-F5344CB8AC3E}">
        <p14:creationId xmlns:p14="http://schemas.microsoft.com/office/powerpoint/2010/main" val="720550114"/>
      </p:ext>
    </p:extLst>
  </p:cSld>
</p:sld>
</file>

<file path=ppt/slides/slide20.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EC7A0123-4419-4F9C-BA43-7D06958E83EF}"/>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Telecom-matched training gives the largest gain</a:t>
            </a:r>
          </a:p>
        </p:txBody>
      </p:sp>
      <p:sp>
        <p:nvSpPr>
          <p:cNvPr id="2" name="text-1">
            <a:extLst xmlns:a="http://schemas.openxmlformats.org/drawingml/2006/main">
              <a:ext uri="{FF2B5EF4-FFF2-40B4-BE49-F238E27FC236}">
                <a16:creationId xmlns:a16="http://schemas.microsoft.com/office/drawing/2014/main" id="{2F8C9825-E674-43DD-BA6A-B9725A1F1A2C}"/>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20</a:t>
            </a:r>
          </a:p>
        </p:txBody>
      </p:sp>
      <p:sp>
        <p:nvSpPr>
          <p:cNvPr id="3" name="text-2">
            <a:extLst xmlns:a="http://schemas.openxmlformats.org/drawingml/2006/main">
              <a:ext uri="{FF2B5EF4-FFF2-40B4-BE49-F238E27FC236}">
                <a16:creationId xmlns:a16="http://schemas.microsoft.com/office/drawing/2014/main" id="{9A7993D5-5FCB-40D0-BB62-AB8D7D48F2B4}"/>
              </a:ext>
            </a:extLst>
          </p:cNvPr>
          <p:cNvSpPr>
            <a:spLocks xmlns:a="http://schemas.openxmlformats.org/drawingml/2006/main" noGrp="1"/>
          </p:cNvSpPr>
          <p:nvPr/>
        </p:nvSpPr>
        <p:spPr>
          <a:xfrm xmlns:a="http://schemas.openxmlformats.org/drawingml/2006/main">
            <a:off x="609600" y="18097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6F8A"/>
                </a:solidFill>
                <a:latin typeface="DejaVu Sans"/>
                <a:ea typeface="DejaVu Sans"/>
                <a:cs typeface="DejaVu Sans"/>
              </a:defRPr>
            </a:defPPr>
          </a:lstStyle>
          <a:p xmlns:a="http://schemas.openxmlformats.org/drawingml/2006/main">
            <a:pPr>
              <a:defRPr sz="2175" b="1">
                <a:solidFill>
                  <a:srgbClr val="1D6F8A"/>
                </a:solidFill>
                <a:latin typeface="DejaVu Sans"/>
                <a:ea typeface="DejaVu Sans"/>
                <a:cs typeface="DejaVu Sans"/>
              </a:defRPr>
            </a:pPr>
            <a:r>
              <a:rPr sz="2175" b="1">
                <a:solidFill>
                  <a:srgbClr val="1D6F8A"/>
                </a:solidFill>
                <a:latin typeface="DejaVu Sans"/>
                <a:ea typeface="DejaVu Sans"/>
                <a:cs typeface="DejaVu Sans"/>
              </a:rPr>
              <a:t>Real-call robustness</a:t>
            </a:r>
          </a:p>
        </p:txBody>
      </p:sp>
      <p:sp>
        <p:nvSpPr>
          <p:cNvPr id="4" name="text-3">
            <a:extLst xmlns:a="http://schemas.openxmlformats.org/drawingml/2006/main">
              <a:ext uri="{FF2B5EF4-FFF2-40B4-BE49-F238E27FC236}">
                <a16:creationId xmlns:a16="http://schemas.microsoft.com/office/drawing/2014/main" id="{19E3537D-9154-45A6-B1FC-E0D33597E5F9}"/>
              </a:ext>
            </a:extLst>
          </p:cNvPr>
          <p:cNvSpPr>
            <a:spLocks xmlns:a="http://schemas.openxmlformats.org/drawingml/2006/main" noGrp="1"/>
          </p:cNvSpPr>
          <p:nvPr/>
        </p:nvSpPr>
        <p:spPr>
          <a:xfrm xmlns:a="http://schemas.openxmlformats.org/drawingml/2006/main">
            <a:off x="609600" y="22288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F2933"/>
                </a:solidFill>
                <a:latin typeface="DejaVu Sans"/>
                <a:ea typeface="DejaVu Sans"/>
                <a:cs typeface="DejaVu Sans"/>
              </a:defRPr>
            </a:defPPr>
          </a:lstStyle>
          <a:p xmlns:a="http://schemas.openxmlformats.org/drawingml/2006/main">
            <a:pPr>
              <a:defRPr sz="1950" b="0">
                <a:solidFill>
                  <a:srgbClr val="1F2933"/>
                </a:solidFill>
                <a:latin typeface="DejaVu Sans"/>
                <a:ea typeface="DejaVu Sans"/>
                <a:cs typeface="DejaVu Sans"/>
              </a:defRPr>
            </a:pPr>
            <a:r>
              <a:rPr sz="1950" b="0">
                <a:solidFill>
                  <a:srgbClr val="1F2933"/>
                </a:solidFill>
                <a:latin typeface="DejaVu Sans"/>
                <a:ea typeface="DejaVu Sans"/>
                <a:cs typeface="DejaVu Sans"/>
              </a:rPr>
              <a:t>35.63% to 25.80% WER with multi-condition training</a:t>
            </a:r>
          </a:p>
        </p:txBody>
      </p:sp>
      <p:sp>
        <p:nvSpPr>
          <p:cNvPr id="5" name="text-4">
            <a:extLst xmlns:a="http://schemas.openxmlformats.org/drawingml/2006/main">
              <a:ext uri="{FF2B5EF4-FFF2-40B4-BE49-F238E27FC236}">
                <a16:creationId xmlns:a16="http://schemas.microsoft.com/office/drawing/2014/main" id="{F34B0B93-F873-423B-A3A7-0B5748923490}"/>
              </a:ext>
            </a:extLst>
          </p:cNvPr>
          <p:cNvSpPr>
            <a:spLocks xmlns:a="http://schemas.openxmlformats.org/drawingml/2006/main" noGrp="1"/>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6F8A"/>
                </a:solidFill>
                <a:latin typeface="DejaVu Sans"/>
                <a:ea typeface="DejaVu Sans"/>
                <a:cs typeface="DejaVu Sans"/>
              </a:defRPr>
            </a:defPPr>
          </a:lstStyle>
          <a:p xmlns:a="http://schemas.openxmlformats.org/drawingml/2006/main">
            <a:pPr>
              <a:defRPr sz="2175" b="1">
                <a:solidFill>
                  <a:srgbClr val="1D6F8A"/>
                </a:solidFill>
                <a:latin typeface="DejaVu Sans"/>
                <a:ea typeface="DejaVu Sans"/>
                <a:cs typeface="DejaVu Sans"/>
              </a:defRPr>
            </a:pPr>
            <a:r>
              <a:rPr sz="2175" b="1">
                <a:solidFill>
                  <a:srgbClr val="1D6F8A"/>
                </a:solidFill>
                <a:latin typeface="DejaVu Sans"/>
                <a:ea typeface="DejaVu Sans"/>
                <a:cs typeface="DejaVu Sans"/>
              </a:rPr>
              <a:t>Added architecture</a:t>
            </a:r>
          </a:p>
        </p:txBody>
      </p:sp>
      <p:sp>
        <p:nvSpPr>
          <p:cNvPr id="6" name="text-5">
            <a:extLst xmlns:a="http://schemas.openxmlformats.org/drawingml/2006/main">
              <a:ext uri="{FF2B5EF4-FFF2-40B4-BE49-F238E27FC236}">
                <a16:creationId xmlns:a16="http://schemas.microsoft.com/office/drawing/2014/main" id="{B825294F-767A-4AEF-AC0D-2A9DD9075238}"/>
              </a:ext>
            </a:extLst>
          </p:cNvPr>
          <p:cNvSpPr>
            <a:spLocks xmlns:a="http://schemas.openxmlformats.org/drawingml/2006/main" noGrp="1"/>
          </p:cNvSpPr>
          <p:nvPr/>
        </p:nvSpPr>
        <p:spPr>
          <a:xfrm xmlns:a="http://schemas.openxmlformats.org/drawingml/2006/main">
            <a:off x="609600" y="33909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F2933"/>
                </a:solidFill>
                <a:latin typeface="DejaVu Sans"/>
                <a:ea typeface="DejaVu Sans"/>
                <a:cs typeface="DejaVu Sans"/>
              </a:defRPr>
            </a:defPPr>
          </a:lstStyle>
          <a:p xmlns:a="http://schemas.openxmlformats.org/drawingml/2006/main">
            <a:pPr>
              <a:defRPr sz="1950" b="0">
                <a:solidFill>
                  <a:srgbClr val="1F2933"/>
                </a:solidFill>
                <a:latin typeface="DejaVu Sans"/>
                <a:ea typeface="DejaVu Sans"/>
                <a:cs typeface="DejaVu Sans"/>
              </a:defRPr>
            </a:pPr>
            <a:r>
              <a:rPr sz="1950" b="0">
                <a:solidFill>
                  <a:srgbClr val="1F2933"/>
                </a:solidFill>
                <a:latin typeface="DejaVu Sans"/>
                <a:ea typeface="DejaVu Sans"/>
                <a:cs typeface="DejaVu Sans"/>
              </a:rPr>
              <a:t>Fusion reaches 25.37% real-call WER, a small numerical gain</a:t>
            </a:r>
          </a:p>
        </p:txBody>
      </p:sp>
      <p:sp>
        <p:nvSpPr>
          <p:cNvPr id="7" name="text-6">
            <a:extLst xmlns:a="http://schemas.openxmlformats.org/drawingml/2006/main">
              <a:ext uri="{FF2B5EF4-FFF2-40B4-BE49-F238E27FC236}">
                <a16:creationId xmlns:a16="http://schemas.microsoft.com/office/drawing/2014/main" id="{56B58B94-6A9D-4941-BE64-C7E6F069C804}"/>
              </a:ext>
            </a:extLst>
          </p:cNvPr>
          <p:cNvSpPr>
            <a:spLocks xmlns:a="http://schemas.openxmlformats.org/drawingml/2006/main" noGrp="1"/>
          </p:cNvSpPr>
          <p:nvPr/>
        </p:nvSpPr>
        <p:spPr>
          <a:xfrm xmlns:a="http://schemas.openxmlformats.org/drawingml/2006/main">
            <a:off x="609600" y="41338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D6F8A"/>
                </a:solidFill>
                <a:latin typeface="DejaVu Sans"/>
                <a:ea typeface="DejaVu Sans"/>
                <a:cs typeface="DejaVu Sans"/>
              </a:defRPr>
            </a:defPPr>
          </a:lstStyle>
          <a:p xmlns:a="http://schemas.openxmlformats.org/drawingml/2006/main">
            <a:pPr>
              <a:defRPr sz="2175" b="1">
                <a:solidFill>
                  <a:srgbClr val="1D6F8A"/>
                </a:solidFill>
                <a:latin typeface="DejaVu Sans"/>
                <a:ea typeface="DejaVu Sans"/>
                <a:cs typeface="DejaVu Sans"/>
              </a:defRPr>
            </a:pPr>
            <a:r>
              <a:rPr sz="2175" b="1">
                <a:solidFill>
                  <a:srgbClr val="1D6F8A"/>
                </a:solidFill>
                <a:latin typeface="DejaVu Sans"/>
                <a:ea typeface="DejaVu Sans"/>
                <a:cs typeface="DejaVu Sans"/>
              </a:rPr>
              <a:t>Added audiobook speech</a:t>
            </a:r>
          </a:p>
        </p:txBody>
      </p:sp>
      <p:sp>
        <p:nvSpPr>
          <p:cNvPr id="8" name="text-7">
            <a:extLst xmlns:a="http://schemas.openxmlformats.org/drawingml/2006/main">
              <a:ext uri="{FF2B5EF4-FFF2-40B4-BE49-F238E27FC236}">
                <a16:creationId xmlns:a16="http://schemas.microsoft.com/office/drawing/2014/main" id="{674FA4CB-6CA8-43DA-8251-F5DDD2E4DD2B}"/>
              </a:ext>
            </a:extLst>
          </p:cNvPr>
          <p:cNvSpPr>
            <a:spLocks xmlns:a="http://schemas.openxmlformats.org/drawingml/2006/main" noGrp="1"/>
          </p:cNvSpPr>
          <p:nvPr/>
        </p:nvSpPr>
        <p:spPr>
          <a:xfrm xmlns:a="http://schemas.openxmlformats.org/drawingml/2006/main">
            <a:off x="609600" y="455295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F2933"/>
                </a:solidFill>
                <a:latin typeface="DejaVu Sans"/>
                <a:ea typeface="DejaVu Sans"/>
                <a:cs typeface="DejaVu Sans"/>
              </a:defRPr>
            </a:defPPr>
          </a:lstStyle>
          <a:p xmlns:a="http://schemas.openxmlformats.org/drawingml/2006/main">
            <a:pPr>
              <a:defRPr sz="1950" b="0">
                <a:solidFill>
                  <a:srgbClr val="1F2933"/>
                </a:solidFill>
                <a:latin typeface="DejaVu Sans"/>
                <a:ea typeface="DejaVu Sans"/>
                <a:cs typeface="DejaVu Sans"/>
              </a:defRPr>
            </a:pPr>
            <a:r>
              <a:rPr sz="1950" b="0">
                <a:solidFill>
                  <a:srgbClr val="1F2933"/>
                </a:solidFill>
                <a:latin typeface="DejaVu Sans"/>
                <a:ea typeface="DejaVu Sans"/>
                <a:cs typeface="DejaVu Sans"/>
              </a:rPr>
              <a:t>17.22% aggregate WER, with a 0.86-point real-call regression</a:t>
            </a:r>
          </a:p>
        </p:txBody>
      </p:sp>
      <p:sp>
        <p:nvSpPr>
          <p:cNvPr id="9" name="text-8">
            <a:extLst xmlns:a="http://schemas.openxmlformats.org/drawingml/2006/main">
              <a:ext uri="{FF2B5EF4-FFF2-40B4-BE49-F238E27FC236}">
                <a16:creationId xmlns:a16="http://schemas.microsoft.com/office/drawing/2014/main" id="{D920D49F-BC52-4E20-AD50-504F482B2A52}"/>
              </a:ext>
            </a:extLst>
          </p:cNvPr>
          <p:cNvSpPr>
            <a:spLocks xmlns:a="http://schemas.openxmlformats.org/drawingml/2006/main" noGrp="1"/>
          </p:cNvSpPr>
          <p:nvPr/>
        </p:nvSpPr>
        <p:spPr>
          <a:xfrm xmlns:a="http://schemas.openxmlformats.org/drawingml/2006/main">
            <a:off x="609600" y="60388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06D"/>
                </a:solidFill>
                <a:latin typeface="DejaVu Sans"/>
                <a:ea typeface="DejaVu Sans"/>
                <a:cs typeface="DejaVu Sans"/>
              </a:defRPr>
            </a:defPPr>
          </a:lstStyle>
          <a:p xmlns:a="http://schemas.openxmlformats.org/drawingml/2006/main">
            <a:pPr>
              <a:defRPr sz="1875" b="0">
                <a:solidFill>
                  <a:srgbClr val="52606D"/>
                </a:solidFill>
                <a:latin typeface="DejaVu Sans"/>
                <a:ea typeface="DejaVu Sans"/>
                <a:cs typeface="DejaVu Sans"/>
              </a:defRPr>
            </a:pPr>
            <a:r>
              <a:rPr sz="1875" b="0">
                <a:solidFill>
                  <a:srgbClr val="52606D"/>
                </a:solidFill>
                <a:latin typeface="DejaVu Sans"/>
                <a:ea typeface="DejaVu Sans"/>
                <a:cs typeface="DejaVu Sans"/>
              </a:rPr>
              <a:t>Questions</a:t>
            </a:r>
          </a:p>
        </p:txBody>
      </p:sp>
    </p:spTree>
    <p:extLst>
      <p:ext uri="{BB962C8B-B14F-4D97-AF65-F5344CB8AC3E}">
        <p14:creationId xmlns:p14="http://schemas.microsoft.com/office/powerpoint/2010/main" val="331340293"/>
      </p:ext>
    </p:extLst>
  </p:cSld>
</p:sld>
</file>

<file path=ppt/slides/slide21.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D1EBEBDB-BE7C-4C7C-A837-06B9FF7FC04C}"/>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Complete aggregate results</a:t>
            </a:r>
          </a:p>
        </p:txBody>
      </p:sp>
      <p:sp>
        <p:nvSpPr>
          <p:cNvPr id="2" name="text-1">
            <a:extLst xmlns:a="http://schemas.openxmlformats.org/drawingml/2006/main">
              <a:ext uri="{FF2B5EF4-FFF2-40B4-BE49-F238E27FC236}">
                <a16:creationId xmlns:a16="http://schemas.microsoft.com/office/drawing/2014/main" id="{25DABAA3-6E9F-475F-834A-3FF0C177FC9F}"/>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B01</a:t>
            </a:r>
          </a:p>
        </p:txBody>
      </p:sp>
      <p:graphicFrame>
        <p:nvGraphicFramePr>
          <p:cNvPr id="3" name="">
            <a:extLst xmlns:a="http://schemas.openxmlformats.org/drawingml/2006/main">
              <a:ext uri="{FF2B5EF4-FFF2-40B4-BE49-F238E27FC236}">
                <a16:creationId xmlns:a16="http://schemas.microsoft.com/office/drawing/2014/main" id="{49F1EA67-6A19-4941-9C8D-11C639248F85}"/>
              </a:ext>
            </a:extLst>
          </p:cNvPr>
          <p:cNvGraphicFramePr/>
          <p:nvPr/>
        </p:nvGraphicFramePr>
        <p:xfrm>
          <a:off xmlns:a="http://schemas.openxmlformats.org/drawingml/2006/main" x="609600" y="1657350"/>
          <a:ext xmlns:a="http://schemas.openxmlformats.org/drawingml/2006/main" cx="10972800" cy="4133850"/>
        </p:xfrm>
        <a:graphic xmlns:a="http://schemas.openxmlformats.org/drawingml/2006/main">
          <a:graphicData uri="http://schemas.openxmlformats.org/drawingml/2006/table">
            <a:tbl>
              <a:tblPr/>
              <a:tblGrid>
                <a:gridCol w="6210300"/>
                <a:gridCol w="2381250"/>
                <a:gridCol w="2381250"/>
              </a:tblGrid>
              <a:tr h="459317">
                <a:tc>
                  <a:txBody>
                    <a:bodyPr/>
                    <a:lstStyle/>
                    <a:p>
                      <a:pPr algn="l"/>
                      <a:r>
                        <a:rPr sz="1800" b="1">
                          <a:solidFill>
                            <a:srgbClr val="FFFFFF"/>
                          </a:solidFill>
                          <a:latin typeface="DejaVu Sans"/>
                          <a:ea typeface="DejaVu Sans"/>
                          <a:cs typeface="DejaVu Sans"/>
                        </a:rPr>
                        <a:t>System</a:t>
                      </a:r>
                    </a:p>
                  </a:txBody>
                  <a:tcPr marL="133350" marR="114300" marT="76200" marB="76200" anchor="ctr">
                    <a:solidFill>
                      <a:srgbClr val="1F2933"/>
                    </a:solidFill>
                  </a:tcPr>
                </a:tc>
                <a:tc>
                  <a:txBody>
                    <a:bodyPr/>
                    <a:lstStyle/>
                    <a:p>
                      <a:pPr algn="ctr"/>
                      <a:r>
                        <a:rPr sz="1800" b="1">
                          <a:solidFill>
                            <a:srgbClr val="FFFFFF"/>
                          </a:solidFill>
                          <a:latin typeface="DejaVu Sans"/>
                          <a:ea typeface="DejaVu Sans"/>
                          <a:cs typeface="DejaVu Sans"/>
                        </a:rPr>
                        <a:t>WER</a:t>
                      </a:r>
                    </a:p>
                  </a:txBody>
                  <a:tcPr marL="133350" marR="114300" marT="76200" marB="76200" anchor="ctr">
                    <a:solidFill>
                      <a:srgbClr val="1F2933"/>
                    </a:solidFill>
                  </a:tcPr>
                </a:tc>
                <a:tc>
                  <a:txBody>
                    <a:bodyPr/>
                    <a:lstStyle/>
                    <a:p>
                      <a:pPr algn="ctr"/>
                      <a:r>
                        <a:rPr sz="1800" b="1">
                          <a:solidFill>
                            <a:srgbClr val="FFFFFF"/>
                          </a:solidFill>
                          <a:latin typeface="DejaVu Sans"/>
                          <a:ea typeface="DejaVu Sans"/>
                          <a:cs typeface="DejaVu Sans"/>
                        </a:rPr>
                        <a:t>CER</a:t>
                      </a:r>
                    </a:p>
                  </a:txBody>
                  <a:tcPr marL="133350" marR="114300" marT="76200" marB="76200" anchor="ctr">
                    <a:solidFill>
                      <a:srgbClr val="1F2933"/>
                    </a:solidFill>
                  </a:tcPr>
                </a:tc>
              </a:tr>
              <a:tr h="459317">
                <a:tc>
                  <a:txBody>
                    <a:bodyPr/>
                    <a:lstStyle/>
                    <a:p>
                      <a:pPr algn="l"/>
                      <a:r>
                        <a:rPr sz="1800" b="0">
                          <a:solidFill>
                            <a:srgbClr val="1F2933"/>
                          </a:solidFill>
                          <a:latin typeface="DejaVu Sans"/>
                          <a:ea typeface="DejaVu Sans"/>
                          <a:cs typeface="DejaVu Sans"/>
                        </a:rPr>
                        <a:t>Ordinary</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23.27%</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10.84%</a:t>
                      </a:r>
                    </a:p>
                  </a:txBody>
                  <a:tcPr marL="133350" marR="114300" marT="76200" marB="76200" anchor="ctr">
                    <a:solidFill>
                      <a:srgbClr val="F7F6F2"/>
                    </a:solidFill>
                  </a:tcPr>
                </a:tc>
              </a:tr>
              <a:tr h="459317">
                <a:tc>
                  <a:txBody>
                    <a:bodyPr/>
                    <a:lstStyle/>
                    <a:p>
                      <a:pPr algn="l"/>
                      <a:r>
                        <a:rPr sz="1800" b="0">
                          <a:solidFill>
                            <a:srgbClr val="1F2933"/>
                          </a:solidFill>
                          <a:latin typeface="DejaVu Sans"/>
                          <a:ea typeface="DejaVu Sans"/>
                          <a:cs typeface="DejaVu Sans"/>
                        </a:rPr>
                        <a:t>Noise only</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20.38%</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9.59%</a:t>
                      </a:r>
                    </a:p>
                  </a:txBody>
                  <a:tcPr marL="133350" marR="114300" marT="76200" marB="76200" anchor="ctr">
                    <a:solidFill>
                      <a:srgbClr val="F7F6F2"/>
                    </a:solidFill>
                  </a:tcPr>
                </a:tc>
              </a:tr>
              <a:tr h="459317">
                <a:tc>
                  <a:txBody>
                    <a:bodyPr/>
                    <a:lstStyle/>
                    <a:p>
                      <a:pPr algn="l"/>
                      <a:r>
                        <a:rPr sz="1800" b="0">
                          <a:solidFill>
                            <a:srgbClr val="1F2933"/>
                          </a:solidFill>
                          <a:latin typeface="DejaVu Sans"/>
                          <a:ea typeface="DejaVu Sans"/>
                          <a:cs typeface="DejaVu Sans"/>
                        </a:rPr>
                        <a:t>pMCT</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19.21%</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8.91%</a:t>
                      </a:r>
                    </a:p>
                  </a:txBody>
                  <a:tcPr marL="133350" marR="114300" marT="76200" marB="76200" anchor="ctr">
                    <a:solidFill>
                      <a:srgbClr val="F7F6F2"/>
                    </a:solidFill>
                  </a:tcPr>
                </a:tc>
              </a:tr>
              <a:tr h="459317">
                <a:tc>
                  <a:txBody>
                    <a:bodyPr/>
                    <a:lstStyle/>
                    <a:p>
                      <a:pPr algn="l"/>
                      <a:r>
                        <a:rPr sz="1800" b="0">
                          <a:solidFill>
                            <a:srgbClr val="1F2933"/>
                          </a:solidFill>
                          <a:latin typeface="DejaVu Sans"/>
                          <a:ea typeface="DejaVu Sans"/>
                          <a:cs typeface="DejaVu Sans"/>
                        </a:rPr>
                        <a:t>Multi-condition</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17.83%</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7.93%</a:t>
                      </a:r>
                    </a:p>
                  </a:txBody>
                  <a:tcPr marL="133350" marR="114300" marT="76200" marB="76200" anchor="ctr">
                    <a:solidFill>
                      <a:srgbClr val="F7F6F2"/>
                    </a:solidFill>
                  </a:tcPr>
                </a:tc>
              </a:tr>
              <a:tr h="459317">
                <a:tc>
                  <a:txBody>
                    <a:bodyPr/>
                    <a:lstStyle/>
                    <a:p>
                      <a:pPr algn="l"/>
                      <a:r>
                        <a:rPr sz="1800" b="0">
                          <a:solidFill>
                            <a:srgbClr val="1F2933"/>
                          </a:solidFill>
                          <a:latin typeface="DejaVu Sans"/>
                          <a:ea typeface="DejaVu Sans"/>
                          <a:cs typeface="DejaVu Sans"/>
                        </a:rPr>
                        <a:t>Dual-stream fusion</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17.64%</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7.85%</a:t>
                      </a:r>
                    </a:p>
                  </a:txBody>
                  <a:tcPr marL="133350" marR="114300" marT="76200" marB="76200" anchor="ctr">
                    <a:solidFill>
                      <a:srgbClr val="F7F6F2"/>
                    </a:solidFill>
                  </a:tcPr>
                </a:tc>
              </a:tr>
              <a:tr h="459317">
                <a:tc>
                  <a:txBody>
                    <a:bodyPr/>
                    <a:lstStyle/>
                    <a:p>
                      <a:pPr algn="l"/>
                      <a:r>
                        <a:rPr sz="1800" b="0">
                          <a:solidFill>
                            <a:srgbClr val="1F2933"/>
                          </a:solidFill>
                          <a:latin typeface="DejaVu Sans"/>
                          <a:ea typeface="DejaVu Sans"/>
                          <a:cs typeface="DejaVu Sans"/>
                        </a:rPr>
                        <a:t>Adaptive bridge</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17.74%</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8.00%</a:t>
                      </a:r>
                    </a:p>
                  </a:txBody>
                  <a:tcPr marL="133350" marR="114300" marT="76200" marB="76200" anchor="ctr">
                    <a:solidFill>
                      <a:srgbClr val="F7F6F2"/>
                    </a:solidFill>
                  </a:tcPr>
                </a:tc>
              </a:tr>
              <a:tr h="459317">
                <a:tc>
                  <a:txBody>
                    <a:bodyPr/>
                    <a:lstStyle/>
                    <a:p>
                      <a:pPr algn="l"/>
                      <a:r>
                        <a:rPr sz="1800" b="0">
                          <a:solidFill>
                            <a:srgbClr val="1F2933"/>
                          </a:solidFill>
                          <a:latin typeface="DejaVu Sans"/>
                          <a:ea typeface="DejaVu Sans"/>
                          <a:cs typeface="DejaVu Sans"/>
                        </a:rPr>
                        <a:t>Whisper Medium</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14.36%</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6.68%</a:t>
                      </a:r>
                    </a:p>
                  </a:txBody>
                  <a:tcPr marL="133350" marR="114300" marT="76200" marB="76200" anchor="ctr">
                    <a:solidFill>
                      <a:srgbClr val="F7F6F2"/>
                    </a:solidFill>
                  </a:tcPr>
                </a:tc>
              </a:tr>
              <a:tr h="459317">
                <a:tc>
                  <a:txBody>
                    <a:bodyPr/>
                    <a:lstStyle/>
                    <a:p>
                      <a:pPr algn="l"/>
                      <a:r>
                        <a:rPr sz="1800" b="0">
                          <a:solidFill>
                            <a:srgbClr val="1F2933"/>
                          </a:solidFill>
                          <a:latin typeface="DejaVu Sans"/>
                          <a:ea typeface="DejaVu Sans"/>
                          <a:cs typeface="DejaVu Sans"/>
                        </a:rPr>
                        <a:t>Multi-condition + IranSeda</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17.22%</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7.70%</a:t>
                      </a:r>
                    </a:p>
                  </a:txBody>
                  <a:tcPr marL="133350" marR="114300" marT="76200" marB="76200" anchor="ctr">
                    <a:solidFill>
                      <a:srgbClr val="F7F6F2"/>
                    </a:solidFill>
                  </a:tcPr>
                </a:tc>
              </a:tr>
            </a:tbl>
          </a:graphicData>
        </a:graphic>
      </p:graphicFrame>
      <p:sp>
        <p:nvSpPr>
          <p:cNvPr id="4" name="text-2">
            <a:extLst xmlns:a="http://schemas.openxmlformats.org/drawingml/2006/main">
              <a:ext uri="{FF2B5EF4-FFF2-40B4-BE49-F238E27FC236}">
                <a16:creationId xmlns:a16="http://schemas.microsoft.com/office/drawing/2014/main" id="{81CF2082-F99F-4179-9C74-53320270325E}"/>
              </a:ext>
            </a:extLst>
          </p:cNvPr>
          <p:cNvSpPr>
            <a:spLocks xmlns:a="http://schemas.openxmlformats.org/drawingml/2006/main" noGrp="1"/>
          </p:cNvSpPr>
          <p:nvPr/>
        </p:nvSpPr>
        <p:spPr>
          <a:xfrm xmlns:a="http://schemas.openxmlformats.org/drawingml/2006/main">
            <a:off x="609600" y="60007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06D"/>
                </a:solidFill>
                <a:latin typeface="DejaVu Sans"/>
                <a:ea typeface="DejaVu Sans"/>
                <a:cs typeface="DejaVu Sans"/>
              </a:defRPr>
            </a:defPPr>
          </a:lstStyle>
          <a:p xmlns:a="http://schemas.openxmlformats.org/drawingml/2006/main">
            <a:pPr>
              <a:defRPr sz="1575" b="0">
                <a:solidFill>
                  <a:srgbClr val="52606D"/>
                </a:solidFill>
                <a:latin typeface="DejaVu Sans"/>
                <a:ea typeface="DejaVu Sans"/>
                <a:cs typeface="DejaVu Sans"/>
              </a:defRPr>
            </a:pPr>
            <a:r>
              <a:rPr sz="1575" b="0">
                <a:solidFill>
                  <a:srgbClr val="52606D"/>
                </a:solidFill>
                <a:latin typeface="DejaVu Sans"/>
                <a:ea typeface="DejaVu Sans"/>
                <a:cs typeface="DejaVu Sans"/>
              </a:rPr>
              <a:t>Lower is better. Confidence intervals and repeated-seed estimates are unavailable.</a:t>
            </a:r>
          </a:p>
        </p:txBody>
      </p:sp>
    </p:spTree>
    <p:extLst>
      <p:ext uri="{BB962C8B-B14F-4D97-AF65-F5344CB8AC3E}">
        <p14:creationId xmlns:p14="http://schemas.microsoft.com/office/powerpoint/2010/main" val="1623054515"/>
      </p:ext>
    </p:extLst>
  </p:cSld>
</p:sld>
</file>

<file path=ppt/slides/slide22.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B36E6A95-4465-45FE-BE82-F143AC726ECB}"/>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WER by test domain</a:t>
            </a:r>
          </a:p>
        </p:txBody>
      </p:sp>
      <p:sp>
        <p:nvSpPr>
          <p:cNvPr id="2" name="text-1">
            <a:extLst xmlns:a="http://schemas.openxmlformats.org/drawingml/2006/main">
              <a:ext uri="{FF2B5EF4-FFF2-40B4-BE49-F238E27FC236}">
                <a16:creationId xmlns:a16="http://schemas.microsoft.com/office/drawing/2014/main" id="{51794701-B2E4-4456-A87D-6CEF914AA0F3}"/>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B02</a:t>
            </a:r>
          </a:p>
        </p:txBody>
      </p:sp>
      <p:graphicFrame>
        <p:nvGraphicFramePr>
          <p:cNvPr id="3" name="">
            <a:extLst xmlns:a="http://schemas.openxmlformats.org/drawingml/2006/main">
              <a:ext uri="{FF2B5EF4-FFF2-40B4-BE49-F238E27FC236}">
                <a16:creationId xmlns:a16="http://schemas.microsoft.com/office/drawing/2014/main" id="{2258F106-1E64-4794-8408-6AAA5F8DB1EE}"/>
              </a:ext>
            </a:extLst>
          </p:cNvPr>
          <p:cNvGraphicFramePr/>
          <p:nvPr/>
        </p:nvGraphicFramePr>
        <p:xfrm>
          <a:off xmlns:a="http://schemas.openxmlformats.org/drawingml/2006/main" x="609600" y="1714500"/>
          <a:ext xmlns:a="http://schemas.openxmlformats.org/drawingml/2006/main" cx="10972800" cy="4095750"/>
        </p:xfrm>
        <a:graphic xmlns:a="http://schemas.openxmlformats.org/drawingml/2006/main">
          <a:graphicData uri="http://schemas.openxmlformats.org/drawingml/2006/table">
            <a:tbl>
              <a:tblPr/>
              <a:tblGrid>
                <a:gridCol w="4210050"/>
                <a:gridCol w="1447800"/>
                <a:gridCol w="1333500"/>
                <a:gridCol w="1333500"/>
                <a:gridCol w="1323975"/>
                <a:gridCol w="1323975"/>
              </a:tblGrid>
              <a:tr h="455083">
                <a:tc>
                  <a:txBody>
                    <a:bodyPr/>
                    <a:lstStyle/>
                    <a:p>
                      <a:pPr algn="l"/>
                      <a:r>
                        <a:rPr sz="1650" b="1">
                          <a:solidFill>
                            <a:srgbClr val="FFFFFF"/>
                          </a:solidFill>
                          <a:latin typeface="DejaVu Sans"/>
                          <a:ea typeface="DejaVu Sans"/>
                          <a:cs typeface="DejaVu Sans"/>
                        </a:rPr>
                        <a:t>System</a:t>
                      </a:r>
                    </a:p>
                  </a:txBody>
                  <a:tcPr marL="133350" marR="114300" marT="76200" marB="76200" anchor="ctr">
                    <a:solidFill>
                      <a:srgbClr val="1F2933"/>
                    </a:solidFill>
                  </a:tcPr>
                </a:tc>
                <a:tc>
                  <a:txBody>
                    <a:bodyPr/>
                    <a:lstStyle/>
                    <a:p>
                      <a:pPr algn="ctr"/>
                      <a:r>
                        <a:rPr sz="1650" b="1">
                          <a:solidFill>
                            <a:srgbClr val="FFFFFF"/>
                          </a:solidFill>
                          <a:latin typeface="DejaVu Sans"/>
                          <a:ea typeface="DejaVu Sans"/>
                          <a:cs typeface="DejaVu Sans"/>
                        </a:rPr>
                        <a:t>AG</a:t>
                      </a:r>
                    </a:p>
                  </a:txBody>
                  <a:tcPr marL="133350" marR="114300" marT="76200" marB="76200" anchor="ctr">
                    <a:solidFill>
                      <a:srgbClr val="1F2933"/>
                    </a:solidFill>
                  </a:tcPr>
                </a:tc>
                <a:tc>
                  <a:txBody>
                    <a:bodyPr/>
                    <a:lstStyle/>
                    <a:p>
                      <a:pPr algn="ctr"/>
                      <a:r>
                        <a:rPr sz="1650" b="1">
                          <a:solidFill>
                            <a:srgbClr val="FFFFFF"/>
                          </a:solidFill>
                          <a:latin typeface="DejaVu Sans"/>
                          <a:ea typeface="DejaVu Sans"/>
                          <a:cs typeface="DejaVu Sans"/>
                        </a:rPr>
                        <a:t>CV25</a:t>
                      </a:r>
                    </a:p>
                  </a:txBody>
                  <a:tcPr marL="133350" marR="114300" marT="76200" marB="76200" anchor="ctr">
                    <a:solidFill>
                      <a:srgbClr val="1F2933"/>
                    </a:solidFill>
                  </a:tcPr>
                </a:tc>
                <a:tc>
                  <a:txBody>
                    <a:bodyPr/>
                    <a:lstStyle/>
                    <a:p>
                      <a:pPr algn="ctr"/>
                      <a:r>
                        <a:rPr sz="1650" b="1">
                          <a:solidFill>
                            <a:srgbClr val="FFFFFF"/>
                          </a:solidFill>
                          <a:latin typeface="DejaVu Sans"/>
                          <a:ea typeface="DejaVu Sans"/>
                          <a:cs typeface="DejaVu Sans"/>
                        </a:rPr>
                        <a:t>FLEURS</a:t>
                      </a:r>
                    </a:p>
                  </a:txBody>
                  <a:tcPr marL="133350" marR="114300" marT="76200" marB="76200" anchor="ctr">
                    <a:solidFill>
                      <a:srgbClr val="1F2933"/>
                    </a:solidFill>
                  </a:tcPr>
                </a:tc>
                <a:tc>
                  <a:txBody>
                    <a:bodyPr/>
                    <a:lstStyle/>
                    <a:p>
                      <a:pPr algn="ctr"/>
                      <a:r>
                        <a:rPr sz="1650" b="1">
                          <a:solidFill>
                            <a:srgbClr val="FFFFFF"/>
                          </a:solidFill>
                          <a:latin typeface="DejaVu Sans"/>
                          <a:ea typeface="DejaVu Sans"/>
                          <a:cs typeface="DejaVu Sans"/>
                        </a:rPr>
                        <a:t>PS¹</a:t>
                      </a:r>
                    </a:p>
                  </a:txBody>
                  <a:tcPr marL="133350" marR="114300" marT="76200" marB="76200" anchor="ctr">
                    <a:solidFill>
                      <a:srgbClr val="1F2933"/>
                    </a:solidFill>
                  </a:tcPr>
                </a:tc>
                <a:tc>
                  <a:txBody>
                    <a:bodyPr/>
                    <a:lstStyle/>
                    <a:p>
                      <a:pPr algn="ctr"/>
                      <a:r>
                        <a:rPr sz="1650" b="1">
                          <a:solidFill>
                            <a:srgbClr val="FFFFFF"/>
                          </a:solidFill>
                          <a:latin typeface="DejaVu Sans"/>
                          <a:ea typeface="DejaVu Sans"/>
                          <a:cs typeface="DejaVu Sans"/>
                        </a:rPr>
                        <a:t>PSC</a:t>
                      </a:r>
                    </a:p>
                  </a:txBody>
                  <a:tcPr marL="133350" marR="114300" marT="76200" marB="76200" anchor="ctr">
                    <a:solidFill>
                      <a:srgbClr val="1F2933"/>
                    </a:solidFill>
                  </a:tcPr>
                </a:tc>
              </a:tr>
              <a:tr h="455083">
                <a:tc>
                  <a:txBody>
                    <a:bodyPr/>
                    <a:lstStyle/>
                    <a:p>
                      <a:pPr algn="l"/>
                      <a:r>
                        <a:rPr sz="1650" b="0">
                          <a:solidFill>
                            <a:srgbClr val="1F2933"/>
                          </a:solidFill>
                          <a:latin typeface="DejaVu Sans"/>
                          <a:ea typeface="DejaVu Sans"/>
                          <a:cs typeface="DejaVu Sans"/>
                        </a:rPr>
                        <a:t>Ordinary</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35.63</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11.52</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21.05</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34.53</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30.17</a:t>
                      </a:r>
                    </a:p>
                  </a:txBody>
                  <a:tcPr marL="133350" marR="114300" marT="76200" marB="76200" anchor="ctr">
                    <a:solidFill>
                      <a:srgbClr val="F7F6F2"/>
                    </a:solidFill>
                  </a:tcPr>
                </a:tc>
              </a:tr>
              <a:tr h="455083">
                <a:tc>
                  <a:txBody>
                    <a:bodyPr/>
                    <a:lstStyle/>
                    <a:p>
                      <a:pPr algn="l"/>
                      <a:r>
                        <a:rPr sz="1650" b="0">
                          <a:solidFill>
                            <a:srgbClr val="1F2933"/>
                          </a:solidFill>
                          <a:latin typeface="DejaVu Sans"/>
                          <a:ea typeface="DejaVu Sans"/>
                          <a:cs typeface="DejaVu Sans"/>
                        </a:rPr>
                        <a:t>Noise only</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32.67</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7.86</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19.26</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33.57</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30.47</a:t>
                      </a:r>
                    </a:p>
                  </a:txBody>
                  <a:tcPr marL="133350" marR="114300" marT="76200" marB="76200" anchor="ctr">
                    <a:solidFill>
                      <a:srgbClr val="F7F6F2"/>
                    </a:solidFill>
                  </a:tcPr>
                </a:tc>
              </a:tr>
              <a:tr h="455083">
                <a:tc>
                  <a:txBody>
                    <a:bodyPr/>
                    <a:lstStyle/>
                    <a:p>
                      <a:pPr algn="l"/>
                      <a:r>
                        <a:rPr sz="1650" b="0">
                          <a:solidFill>
                            <a:srgbClr val="1F2933"/>
                          </a:solidFill>
                          <a:latin typeface="DejaVu Sans"/>
                          <a:ea typeface="DejaVu Sans"/>
                          <a:cs typeface="DejaVu Sans"/>
                        </a:rPr>
                        <a:t>pMCT</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30.01</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7.25</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20.23</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31.65</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30.50</a:t>
                      </a:r>
                    </a:p>
                  </a:txBody>
                  <a:tcPr marL="133350" marR="114300" marT="76200" marB="76200" anchor="ctr">
                    <a:solidFill>
                      <a:srgbClr val="F7F6F2"/>
                    </a:solidFill>
                  </a:tcPr>
                </a:tc>
              </a:tr>
              <a:tr h="455083">
                <a:tc>
                  <a:txBody>
                    <a:bodyPr/>
                    <a:lstStyle/>
                    <a:p>
                      <a:pPr algn="l"/>
                      <a:r>
                        <a:rPr sz="1650" b="0">
                          <a:solidFill>
                            <a:srgbClr val="1F2933"/>
                          </a:solidFill>
                          <a:latin typeface="DejaVu Sans"/>
                          <a:ea typeface="DejaVu Sans"/>
                          <a:cs typeface="DejaVu Sans"/>
                        </a:rPr>
                        <a:t>Multi-condition</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25.80</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7.84</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19.82</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35.25</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30.90</a:t>
                      </a:r>
                    </a:p>
                  </a:txBody>
                  <a:tcPr marL="133350" marR="114300" marT="76200" marB="76200" anchor="ctr">
                    <a:solidFill>
                      <a:srgbClr val="F7F6F2"/>
                    </a:solidFill>
                  </a:tcPr>
                </a:tc>
              </a:tr>
              <a:tr h="455083">
                <a:tc>
                  <a:txBody>
                    <a:bodyPr/>
                    <a:lstStyle/>
                    <a:p>
                      <a:pPr algn="l"/>
                      <a:r>
                        <a:rPr sz="1650" b="0">
                          <a:solidFill>
                            <a:srgbClr val="1F2933"/>
                          </a:solidFill>
                          <a:latin typeface="DejaVu Sans"/>
                          <a:ea typeface="DejaVu Sans"/>
                          <a:cs typeface="DejaVu Sans"/>
                        </a:rPr>
                        <a:t>Dual-stream fusion</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25.37</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7.53</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19.67</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31.81</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33.82</a:t>
                      </a:r>
                    </a:p>
                  </a:txBody>
                  <a:tcPr marL="133350" marR="114300" marT="76200" marB="76200" anchor="ctr">
                    <a:solidFill>
                      <a:srgbClr val="F7F6F2"/>
                    </a:solidFill>
                  </a:tcPr>
                </a:tc>
              </a:tr>
              <a:tr h="455083">
                <a:tc>
                  <a:txBody>
                    <a:bodyPr/>
                    <a:lstStyle/>
                    <a:p>
                      <a:pPr algn="l"/>
                      <a:r>
                        <a:rPr sz="1650" b="0">
                          <a:solidFill>
                            <a:srgbClr val="1F2933"/>
                          </a:solidFill>
                          <a:latin typeface="DejaVu Sans"/>
                          <a:ea typeface="DejaVu Sans"/>
                          <a:cs typeface="DejaVu Sans"/>
                        </a:rPr>
                        <a:t>Adaptive bridge</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25.84</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7.63</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19.73</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35.09</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32.32</a:t>
                      </a:r>
                    </a:p>
                  </a:txBody>
                  <a:tcPr marL="133350" marR="114300" marT="76200" marB="76200" anchor="ctr">
                    <a:solidFill>
                      <a:srgbClr val="F7F6F2"/>
                    </a:solidFill>
                  </a:tcPr>
                </a:tc>
              </a:tr>
              <a:tr h="455083">
                <a:tc>
                  <a:txBody>
                    <a:bodyPr/>
                    <a:lstStyle/>
                    <a:p>
                      <a:pPr algn="l"/>
                      <a:r>
                        <a:rPr sz="1650" b="0">
                          <a:solidFill>
                            <a:srgbClr val="1F2933"/>
                          </a:solidFill>
                          <a:latin typeface="DejaVu Sans"/>
                          <a:ea typeface="DejaVu Sans"/>
                          <a:cs typeface="DejaVu Sans"/>
                        </a:rPr>
                        <a:t>Whisper Medium</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21.99</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3.84</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17.14</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31.65</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31.17</a:t>
                      </a:r>
                    </a:p>
                  </a:txBody>
                  <a:tcPr marL="133350" marR="114300" marT="76200" marB="76200" anchor="ctr">
                    <a:solidFill>
                      <a:srgbClr val="F7F6F2"/>
                    </a:solidFill>
                  </a:tcPr>
                </a:tc>
              </a:tr>
              <a:tr h="455083">
                <a:tc>
                  <a:txBody>
                    <a:bodyPr/>
                    <a:lstStyle/>
                    <a:p>
                      <a:pPr algn="l"/>
                      <a:r>
                        <a:rPr sz="1650" b="0">
                          <a:solidFill>
                            <a:srgbClr val="1F2933"/>
                          </a:solidFill>
                          <a:latin typeface="DejaVu Sans"/>
                          <a:ea typeface="DejaVu Sans"/>
                          <a:cs typeface="DejaVu Sans"/>
                        </a:rPr>
                        <a:t>Multi-condition + IranSeda</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26.66</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8.19</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13.78</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26.86</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25.87</a:t>
                      </a:r>
                    </a:p>
                  </a:txBody>
                  <a:tcPr marL="133350" marR="114300" marT="76200" marB="76200" anchor="ctr">
                    <a:solidFill>
                      <a:srgbClr val="F7F6F2"/>
                    </a:solidFill>
                  </a:tcPr>
                </a:tc>
              </a:tr>
            </a:tbl>
          </a:graphicData>
        </a:graphic>
      </p:graphicFrame>
      <p:sp>
        <p:nvSpPr>
          <p:cNvPr id="4" name="text-2">
            <a:extLst xmlns:a="http://schemas.openxmlformats.org/drawingml/2006/main">
              <a:ext uri="{FF2B5EF4-FFF2-40B4-BE49-F238E27FC236}">
                <a16:creationId xmlns:a16="http://schemas.microsoft.com/office/drawing/2014/main" id="{8186EE00-CF49-4B24-8D44-214E95D5D8C5}"/>
              </a:ext>
            </a:extLst>
          </p:cNvPr>
          <p:cNvSpPr>
            <a:spLocks xmlns:a="http://schemas.openxmlformats.org/drawingml/2006/main" noGrp="1"/>
          </p:cNvSpPr>
          <p:nvPr/>
        </p:nvSpPr>
        <p:spPr>
          <a:xfrm xmlns:a="http://schemas.openxmlformats.org/drawingml/2006/main">
            <a:off x="609600" y="601027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06D"/>
                </a:solidFill>
                <a:latin typeface="DejaVu Sans"/>
                <a:ea typeface="DejaVu Sans"/>
                <a:cs typeface="DejaVu Sans"/>
              </a:defRPr>
            </a:defPPr>
          </a:lstStyle>
          <a:p xmlns:a="http://schemas.openxmlformats.org/drawingml/2006/main">
            <a:pPr>
              <a:defRPr sz="1575" b="0">
                <a:solidFill>
                  <a:srgbClr val="52606D"/>
                </a:solidFill>
                <a:latin typeface="DejaVu Sans"/>
                <a:ea typeface="DejaVu Sans"/>
                <a:cs typeface="DejaVu Sans"/>
              </a:defRPr>
            </a:pPr>
            <a:r>
              <a:rPr sz="1575" b="0">
                <a:solidFill>
                  <a:srgbClr val="52606D"/>
                </a:solidFill>
                <a:latin typeface="DejaVu Sans"/>
                <a:ea typeface="DejaVu Sans"/>
                <a:cs typeface="DejaVu Sans"/>
              </a:rPr>
              <a:t>All values are %. AG: AGFarsdat. PS: PersianSpeech (24 examples). PSC: Persian Speech Corpus.</a:t>
            </a:r>
          </a:p>
        </p:txBody>
      </p:sp>
    </p:spTree>
    <p:extLst>
      <p:ext uri="{BB962C8B-B14F-4D97-AF65-F5344CB8AC3E}">
        <p14:creationId xmlns:p14="http://schemas.microsoft.com/office/powerpoint/2010/main" val="1939184128"/>
      </p:ext>
    </p:extLst>
  </p:cSld>
</p:sld>
</file>

<file path=ppt/slides/slide23.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E56A92F2-39AC-4FAF-BF8B-83A091BD613E}"/>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CER by test domain</a:t>
            </a:r>
          </a:p>
        </p:txBody>
      </p:sp>
      <p:sp>
        <p:nvSpPr>
          <p:cNvPr id="2" name="text-1">
            <a:extLst xmlns:a="http://schemas.openxmlformats.org/drawingml/2006/main">
              <a:ext uri="{FF2B5EF4-FFF2-40B4-BE49-F238E27FC236}">
                <a16:creationId xmlns:a16="http://schemas.microsoft.com/office/drawing/2014/main" id="{6C11952D-8C45-4673-A694-6503715F4983}"/>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B03</a:t>
            </a:r>
          </a:p>
        </p:txBody>
      </p:sp>
      <p:graphicFrame>
        <p:nvGraphicFramePr>
          <p:cNvPr id="3" name="">
            <a:extLst xmlns:a="http://schemas.openxmlformats.org/drawingml/2006/main">
              <a:ext uri="{FF2B5EF4-FFF2-40B4-BE49-F238E27FC236}">
                <a16:creationId xmlns:a16="http://schemas.microsoft.com/office/drawing/2014/main" id="{2CFFCC44-680B-419A-9E50-D1567EEF0D3E}"/>
              </a:ext>
            </a:extLst>
          </p:cNvPr>
          <p:cNvGraphicFramePr/>
          <p:nvPr/>
        </p:nvGraphicFramePr>
        <p:xfrm>
          <a:off xmlns:a="http://schemas.openxmlformats.org/drawingml/2006/main" x="609600" y="1714500"/>
          <a:ext xmlns:a="http://schemas.openxmlformats.org/drawingml/2006/main" cx="10972800" cy="4095750"/>
        </p:xfrm>
        <a:graphic xmlns:a="http://schemas.openxmlformats.org/drawingml/2006/main">
          <a:graphicData uri="http://schemas.openxmlformats.org/drawingml/2006/table">
            <a:tbl>
              <a:tblPr/>
              <a:tblGrid>
                <a:gridCol w="4210050"/>
                <a:gridCol w="1447800"/>
                <a:gridCol w="1333500"/>
                <a:gridCol w="1333500"/>
                <a:gridCol w="1323975"/>
                <a:gridCol w="1323975"/>
              </a:tblGrid>
              <a:tr h="455083">
                <a:tc>
                  <a:txBody>
                    <a:bodyPr/>
                    <a:lstStyle/>
                    <a:p>
                      <a:pPr algn="l"/>
                      <a:r>
                        <a:rPr sz="1650" b="1">
                          <a:solidFill>
                            <a:srgbClr val="FFFFFF"/>
                          </a:solidFill>
                          <a:latin typeface="DejaVu Sans"/>
                          <a:ea typeface="DejaVu Sans"/>
                          <a:cs typeface="DejaVu Sans"/>
                        </a:rPr>
                        <a:t>System</a:t>
                      </a:r>
                    </a:p>
                  </a:txBody>
                  <a:tcPr marL="133350" marR="114300" marT="76200" marB="76200" anchor="ctr">
                    <a:solidFill>
                      <a:srgbClr val="1F2933"/>
                    </a:solidFill>
                  </a:tcPr>
                </a:tc>
                <a:tc>
                  <a:txBody>
                    <a:bodyPr/>
                    <a:lstStyle/>
                    <a:p>
                      <a:pPr algn="ctr"/>
                      <a:r>
                        <a:rPr sz="1650" b="1">
                          <a:solidFill>
                            <a:srgbClr val="FFFFFF"/>
                          </a:solidFill>
                          <a:latin typeface="DejaVu Sans"/>
                          <a:ea typeface="DejaVu Sans"/>
                          <a:cs typeface="DejaVu Sans"/>
                        </a:rPr>
                        <a:t>AG</a:t>
                      </a:r>
                    </a:p>
                  </a:txBody>
                  <a:tcPr marL="133350" marR="114300" marT="76200" marB="76200" anchor="ctr">
                    <a:solidFill>
                      <a:srgbClr val="1F2933"/>
                    </a:solidFill>
                  </a:tcPr>
                </a:tc>
                <a:tc>
                  <a:txBody>
                    <a:bodyPr/>
                    <a:lstStyle/>
                    <a:p>
                      <a:pPr algn="ctr"/>
                      <a:r>
                        <a:rPr sz="1650" b="1">
                          <a:solidFill>
                            <a:srgbClr val="FFFFFF"/>
                          </a:solidFill>
                          <a:latin typeface="DejaVu Sans"/>
                          <a:ea typeface="DejaVu Sans"/>
                          <a:cs typeface="DejaVu Sans"/>
                        </a:rPr>
                        <a:t>CV25</a:t>
                      </a:r>
                    </a:p>
                  </a:txBody>
                  <a:tcPr marL="133350" marR="114300" marT="76200" marB="76200" anchor="ctr">
                    <a:solidFill>
                      <a:srgbClr val="1F2933"/>
                    </a:solidFill>
                  </a:tcPr>
                </a:tc>
                <a:tc>
                  <a:txBody>
                    <a:bodyPr/>
                    <a:lstStyle/>
                    <a:p>
                      <a:pPr algn="ctr"/>
                      <a:r>
                        <a:rPr sz="1650" b="1">
                          <a:solidFill>
                            <a:srgbClr val="FFFFFF"/>
                          </a:solidFill>
                          <a:latin typeface="DejaVu Sans"/>
                          <a:ea typeface="DejaVu Sans"/>
                          <a:cs typeface="DejaVu Sans"/>
                        </a:rPr>
                        <a:t>FLEURS</a:t>
                      </a:r>
                    </a:p>
                  </a:txBody>
                  <a:tcPr marL="133350" marR="114300" marT="76200" marB="76200" anchor="ctr">
                    <a:solidFill>
                      <a:srgbClr val="1F2933"/>
                    </a:solidFill>
                  </a:tcPr>
                </a:tc>
                <a:tc>
                  <a:txBody>
                    <a:bodyPr/>
                    <a:lstStyle/>
                    <a:p>
                      <a:pPr algn="ctr"/>
                      <a:r>
                        <a:rPr sz="1650" b="1">
                          <a:solidFill>
                            <a:srgbClr val="FFFFFF"/>
                          </a:solidFill>
                          <a:latin typeface="DejaVu Sans"/>
                          <a:ea typeface="DejaVu Sans"/>
                          <a:cs typeface="DejaVu Sans"/>
                        </a:rPr>
                        <a:t>PS¹</a:t>
                      </a:r>
                    </a:p>
                  </a:txBody>
                  <a:tcPr marL="133350" marR="114300" marT="76200" marB="76200" anchor="ctr">
                    <a:solidFill>
                      <a:srgbClr val="1F2933"/>
                    </a:solidFill>
                  </a:tcPr>
                </a:tc>
                <a:tc>
                  <a:txBody>
                    <a:bodyPr/>
                    <a:lstStyle/>
                    <a:p>
                      <a:pPr algn="ctr"/>
                      <a:r>
                        <a:rPr sz="1650" b="1">
                          <a:solidFill>
                            <a:srgbClr val="FFFFFF"/>
                          </a:solidFill>
                          <a:latin typeface="DejaVu Sans"/>
                          <a:ea typeface="DejaVu Sans"/>
                          <a:cs typeface="DejaVu Sans"/>
                        </a:rPr>
                        <a:t>PSC</a:t>
                      </a:r>
                    </a:p>
                  </a:txBody>
                  <a:tcPr marL="133350" marR="114300" marT="76200" marB="76200" anchor="ctr">
                    <a:solidFill>
                      <a:srgbClr val="1F2933"/>
                    </a:solidFill>
                  </a:tcPr>
                </a:tc>
              </a:tr>
              <a:tr h="455083">
                <a:tc>
                  <a:txBody>
                    <a:bodyPr/>
                    <a:lstStyle/>
                    <a:p>
                      <a:pPr algn="l"/>
                      <a:r>
                        <a:rPr sz="1650" b="0">
                          <a:solidFill>
                            <a:srgbClr val="1F2933"/>
                          </a:solidFill>
                          <a:latin typeface="DejaVu Sans"/>
                          <a:ea typeface="DejaVu Sans"/>
                          <a:cs typeface="DejaVu Sans"/>
                        </a:rPr>
                        <a:t>Ordinary</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19.73</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4.06</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6.13</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16.21</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15.48</a:t>
                      </a:r>
                    </a:p>
                  </a:txBody>
                  <a:tcPr marL="133350" marR="114300" marT="76200" marB="76200" anchor="ctr">
                    <a:solidFill>
                      <a:srgbClr val="F7F6F2"/>
                    </a:solidFill>
                  </a:tcPr>
                </a:tc>
              </a:tr>
              <a:tr h="455083">
                <a:tc>
                  <a:txBody>
                    <a:bodyPr/>
                    <a:lstStyle/>
                    <a:p>
                      <a:pPr algn="l"/>
                      <a:r>
                        <a:rPr sz="1650" b="0">
                          <a:solidFill>
                            <a:srgbClr val="1F2933"/>
                          </a:solidFill>
                          <a:latin typeface="DejaVu Sans"/>
                          <a:ea typeface="DejaVu Sans"/>
                          <a:cs typeface="DejaVu Sans"/>
                        </a:rPr>
                        <a:t>Noise only</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17.49</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3.17</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5.72</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14.64</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15.40</a:t>
                      </a:r>
                    </a:p>
                  </a:txBody>
                  <a:tcPr marL="133350" marR="114300" marT="76200" marB="76200" anchor="ctr">
                    <a:solidFill>
                      <a:srgbClr val="F7F6F2"/>
                    </a:solidFill>
                  </a:tcPr>
                </a:tc>
              </a:tr>
              <a:tr h="455083">
                <a:tc>
                  <a:txBody>
                    <a:bodyPr/>
                    <a:lstStyle/>
                    <a:p>
                      <a:pPr algn="l"/>
                      <a:r>
                        <a:rPr sz="1650" b="0">
                          <a:solidFill>
                            <a:srgbClr val="1F2933"/>
                          </a:solidFill>
                          <a:latin typeface="DejaVu Sans"/>
                          <a:ea typeface="DejaVu Sans"/>
                          <a:cs typeface="DejaVu Sans"/>
                        </a:rPr>
                        <a:t>pMCT</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15.98</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2.79</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6.15</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10.57</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15.13</a:t>
                      </a:r>
                    </a:p>
                  </a:txBody>
                  <a:tcPr marL="133350" marR="114300" marT="76200" marB="76200" anchor="ctr">
                    <a:solidFill>
                      <a:srgbClr val="F7F6F2"/>
                    </a:solidFill>
                  </a:tcPr>
                </a:tc>
              </a:tr>
              <a:tr h="455083">
                <a:tc>
                  <a:txBody>
                    <a:bodyPr/>
                    <a:lstStyle/>
                    <a:p>
                      <a:pPr algn="l"/>
                      <a:r>
                        <a:rPr sz="1650" b="0">
                          <a:solidFill>
                            <a:srgbClr val="1F2933"/>
                          </a:solidFill>
                          <a:latin typeface="DejaVu Sans"/>
                          <a:ea typeface="DejaVu Sans"/>
                          <a:cs typeface="DejaVu Sans"/>
                        </a:rPr>
                        <a:t>Multi-condition</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12.62</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3.22</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6.36</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15.62</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15.22</a:t>
                      </a:r>
                    </a:p>
                  </a:txBody>
                  <a:tcPr marL="133350" marR="114300" marT="76200" marB="76200" anchor="ctr">
                    <a:solidFill>
                      <a:srgbClr val="F7F6F2"/>
                    </a:solidFill>
                  </a:tcPr>
                </a:tc>
              </a:tr>
              <a:tr h="455083">
                <a:tc>
                  <a:txBody>
                    <a:bodyPr/>
                    <a:lstStyle/>
                    <a:p>
                      <a:pPr algn="l"/>
                      <a:r>
                        <a:rPr sz="1650" b="0">
                          <a:solidFill>
                            <a:srgbClr val="1F2933"/>
                          </a:solidFill>
                          <a:latin typeface="DejaVu Sans"/>
                          <a:ea typeface="DejaVu Sans"/>
                          <a:cs typeface="DejaVu Sans"/>
                        </a:rPr>
                        <a:t>Dual-stream fusion</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12.39</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3.13</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6.29</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12.95</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19.95</a:t>
                      </a:r>
                    </a:p>
                  </a:txBody>
                  <a:tcPr marL="133350" marR="114300" marT="76200" marB="76200" anchor="ctr">
                    <a:solidFill>
                      <a:srgbClr val="F7F6F2"/>
                    </a:solidFill>
                  </a:tcPr>
                </a:tc>
              </a:tr>
              <a:tr h="455083">
                <a:tc>
                  <a:txBody>
                    <a:bodyPr/>
                    <a:lstStyle/>
                    <a:p>
                      <a:pPr algn="l"/>
                      <a:r>
                        <a:rPr sz="1650" b="0">
                          <a:solidFill>
                            <a:srgbClr val="1F2933"/>
                          </a:solidFill>
                          <a:latin typeface="DejaVu Sans"/>
                          <a:ea typeface="DejaVu Sans"/>
                          <a:cs typeface="DejaVu Sans"/>
                        </a:rPr>
                        <a:t>Adaptive bridge</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12.59</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3.26</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6.39</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15.53</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17.02</a:t>
                      </a:r>
                    </a:p>
                  </a:txBody>
                  <a:tcPr marL="133350" marR="114300" marT="76200" marB="76200" anchor="ctr">
                    <a:solidFill>
                      <a:srgbClr val="F7F6F2"/>
                    </a:solidFill>
                  </a:tcPr>
                </a:tc>
              </a:tr>
              <a:tr h="455083">
                <a:tc>
                  <a:txBody>
                    <a:bodyPr/>
                    <a:lstStyle/>
                    <a:p>
                      <a:pPr algn="l"/>
                      <a:r>
                        <a:rPr sz="1650" b="0">
                          <a:solidFill>
                            <a:srgbClr val="1F2933"/>
                          </a:solidFill>
                          <a:latin typeface="DejaVu Sans"/>
                          <a:ea typeface="DejaVu Sans"/>
                          <a:cs typeface="DejaVu Sans"/>
                        </a:rPr>
                        <a:t>Whisper Medium</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10.92</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1.65</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5.42</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13.99</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17.29</a:t>
                      </a:r>
                    </a:p>
                  </a:txBody>
                  <a:tcPr marL="133350" marR="114300" marT="76200" marB="76200" anchor="ctr">
                    <a:solidFill>
                      <a:srgbClr val="F7F6F2"/>
                    </a:solidFill>
                  </a:tcPr>
                </a:tc>
              </a:tr>
              <a:tr h="455083">
                <a:tc>
                  <a:txBody>
                    <a:bodyPr/>
                    <a:lstStyle/>
                    <a:p>
                      <a:pPr algn="l"/>
                      <a:r>
                        <a:rPr sz="1650" b="0">
                          <a:solidFill>
                            <a:srgbClr val="1F2933"/>
                          </a:solidFill>
                          <a:latin typeface="DejaVu Sans"/>
                          <a:ea typeface="DejaVu Sans"/>
                          <a:cs typeface="DejaVu Sans"/>
                        </a:rPr>
                        <a:t>Multi-condition + IranSeda</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12.96</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3.29</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4.09</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9.82</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14.16</a:t>
                      </a:r>
                    </a:p>
                  </a:txBody>
                  <a:tcPr marL="133350" marR="114300" marT="76200" marB="76200" anchor="ctr">
                    <a:solidFill>
                      <a:srgbClr val="F7F6F2"/>
                    </a:solidFill>
                  </a:tcPr>
                </a:tc>
              </a:tr>
            </a:tbl>
          </a:graphicData>
        </a:graphic>
      </p:graphicFrame>
      <p:sp>
        <p:nvSpPr>
          <p:cNvPr id="4" name="text-2">
            <a:extLst xmlns:a="http://schemas.openxmlformats.org/drawingml/2006/main">
              <a:ext uri="{FF2B5EF4-FFF2-40B4-BE49-F238E27FC236}">
                <a16:creationId xmlns:a16="http://schemas.microsoft.com/office/drawing/2014/main" id="{ACA6DA32-AEAB-45F1-9B48-62CFA3C8A27E}"/>
              </a:ext>
            </a:extLst>
          </p:cNvPr>
          <p:cNvSpPr>
            <a:spLocks xmlns:a="http://schemas.openxmlformats.org/drawingml/2006/main" noGrp="1"/>
          </p:cNvSpPr>
          <p:nvPr/>
        </p:nvSpPr>
        <p:spPr>
          <a:xfrm xmlns:a="http://schemas.openxmlformats.org/drawingml/2006/main">
            <a:off x="609600" y="601027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06D"/>
                </a:solidFill>
                <a:latin typeface="DejaVu Sans"/>
                <a:ea typeface="DejaVu Sans"/>
                <a:cs typeface="DejaVu Sans"/>
              </a:defRPr>
            </a:defPPr>
          </a:lstStyle>
          <a:p xmlns:a="http://schemas.openxmlformats.org/drawingml/2006/main">
            <a:pPr>
              <a:defRPr sz="1575" b="0">
                <a:solidFill>
                  <a:srgbClr val="52606D"/>
                </a:solidFill>
                <a:latin typeface="DejaVu Sans"/>
                <a:ea typeface="DejaVu Sans"/>
                <a:cs typeface="DejaVu Sans"/>
              </a:defRPr>
            </a:pPr>
            <a:r>
              <a:rPr sz="1575" b="0">
                <a:solidFill>
                  <a:srgbClr val="52606D"/>
                </a:solidFill>
                <a:latin typeface="DejaVu Sans"/>
                <a:ea typeface="DejaVu Sans"/>
                <a:cs typeface="DejaVu Sans"/>
              </a:rPr>
              <a:t>All values are %. AG: AGFarsdat. PS: PersianSpeech (24 examples). PSC: Persian Speech Corpus.</a:t>
            </a:r>
          </a:p>
        </p:txBody>
      </p:sp>
    </p:spTree>
    <p:extLst>
      <p:ext uri="{BB962C8B-B14F-4D97-AF65-F5344CB8AC3E}">
        <p14:creationId xmlns:p14="http://schemas.microsoft.com/office/powerpoint/2010/main" val="62247201"/>
      </p:ext>
    </p:extLst>
  </p:cSld>
</p:sld>
</file>

<file path=ppt/slides/slide24.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9818EB05-76C3-4CE8-BFFB-B94BD056739D}"/>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Complete Whisper Tiny ablations</a:t>
            </a:r>
          </a:p>
        </p:txBody>
      </p:sp>
      <p:sp>
        <p:nvSpPr>
          <p:cNvPr id="2" name="text-1">
            <a:extLst xmlns:a="http://schemas.openxmlformats.org/drawingml/2006/main">
              <a:ext uri="{FF2B5EF4-FFF2-40B4-BE49-F238E27FC236}">
                <a16:creationId xmlns:a16="http://schemas.microsoft.com/office/drawing/2014/main" id="{88A27524-6124-4D26-9B27-20CBE9296913}"/>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B04</a:t>
            </a:r>
          </a:p>
        </p:txBody>
      </p:sp>
      <p:graphicFrame>
        <p:nvGraphicFramePr>
          <p:cNvPr id="3" name="">
            <a:extLst xmlns:a="http://schemas.openxmlformats.org/drawingml/2006/main">
              <a:ext uri="{FF2B5EF4-FFF2-40B4-BE49-F238E27FC236}">
                <a16:creationId xmlns:a16="http://schemas.microsoft.com/office/drawing/2014/main" id="{1A32F756-486F-4441-BAA9-EE21D4B6A7CA}"/>
              </a:ext>
            </a:extLst>
          </p:cNvPr>
          <p:cNvGraphicFramePr/>
          <p:nvPr/>
        </p:nvGraphicFramePr>
        <p:xfrm>
          <a:off xmlns:a="http://schemas.openxmlformats.org/drawingml/2006/main" x="609600" y="1714500"/>
          <a:ext xmlns:a="http://schemas.openxmlformats.org/drawingml/2006/main" cx="10972800" cy="4133850"/>
        </p:xfrm>
        <a:graphic xmlns:a="http://schemas.openxmlformats.org/drawingml/2006/main">
          <a:graphicData uri="http://schemas.openxmlformats.org/drawingml/2006/table">
            <a:tbl>
              <a:tblPr/>
              <a:tblGrid>
                <a:gridCol w="4762500"/>
                <a:gridCol w="1552575"/>
                <a:gridCol w="1552575"/>
                <a:gridCol w="1552575"/>
                <a:gridCol w="1552575"/>
              </a:tblGrid>
              <a:tr h="413385">
                <a:tc>
                  <a:txBody>
                    <a:bodyPr/>
                    <a:lstStyle/>
                    <a:p>
                      <a:pPr algn="l"/>
                      <a:r>
                        <a:rPr sz="1650" b="1">
                          <a:solidFill>
                            <a:srgbClr val="FFFFFF"/>
                          </a:solidFill>
                          <a:latin typeface="DejaVu Sans"/>
                          <a:ea typeface="DejaVu Sans"/>
                          <a:cs typeface="DejaVu Sans"/>
                        </a:rPr>
                        <a:t>Tiny system</a:t>
                      </a:r>
                    </a:p>
                  </a:txBody>
                  <a:tcPr marL="133350" marR="114300" marT="76200" marB="76200" anchor="ctr">
                    <a:solidFill>
                      <a:srgbClr val="1F2933"/>
                    </a:solidFill>
                  </a:tcPr>
                </a:tc>
                <a:tc>
                  <a:txBody>
                    <a:bodyPr/>
                    <a:lstStyle/>
                    <a:p>
                      <a:pPr algn="ctr"/>
                      <a:r>
                        <a:rPr sz="1650" b="1">
                          <a:solidFill>
                            <a:srgbClr val="FFFFFF"/>
                          </a:solidFill>
                          <a:latin typeface="DejaVu Sans"/>
                          <a:ea typeface="DejaVu Sans"/>
                          <a:cs typeface="DejaVu Sans"/>
                        </a:rPr>
                        <a:t>CV WER</a:t>
                      </a:r>
                    </a:p>
                  </a:txBody>
                  <a:tcPr marL="133350" marR="114300" marT="76200" marB="76200" anchor="ctr">
                    <a:solidFill>
                      <a:srgbClr val="1F2933"/>
                    </a:solidFill>
                  </a:tcPr>
                </a:tc>
                <a:tc>
                  <a:txBody>
                    <a:bodyPr/>
                    <a:lstStyle/>
                    <a:p>
                      <a:pPr algn="ctr"/>
                      <a:r>
                        <a:rPr sz="1650" b="1">
                          <a:solidFill>
                            <a:srgbClr val="FFFFFF"/>
                          </a:solidFill>
                          <a:latin typeface="DejaVu Sans"/>
                          <a:ea typeface="DejaVu Sans"/>
                          <a:cs typeface="DejaVu Sans"/>
                        </a:rPr>
                        <a:t>CV CER</a:t>
                      </a:r>
                    </a:p>
                  </a:txBody>
                  <a:tcPr marL="133350" marR="114300" marT="76200" marB="76200" anchor="ctr">
                    <a:solidFill>
                      <a:srgbClr val="1F2933"/>
                    </a:solidFill>
                  </a:tcPr>
                </a:tc>
                <a:tc>
                  <a:txBody>
                    <a:bodyPr/>
                    <a:lstStyle/>
                    <a:p>
                      <a:pPr algn="ctr"/>
                      <a:r>
                        <a:rPr sz="1650" b="1">
                          <a:solidFill>
                            <a:srgbClr val="FFFFFF"/>
                          </a:solidFill>
                          <a:latin typeface="DejaVu Sans"/>
                          <a:ea typeface="DejaVu Sans"/>
                          <a:cs typeface="DejaVu Sans"/>
                        </a:rPr>
                        <a:t>AG WER</a:t>
                      </a:r>
                    </a:p>
                  </a:txBody>
                  <a:tcPr marL="133350" marR="114300" marT="76200" marB="76200" anchor="ctr">
                    <a:solidFill>
                      <a:srgbClr val="1F2933"/>
                    </a:solidFill>
                  </a:tcPr>
                </a:tc>
                <a:tc>
                  <a:txBody>
                    <a:bodyPr/>
                    <a:lstStyle/>
                    <a:p>
                      <a:pPr algn="ctr"/>
                      <a:r>
                        <a:rPr sz="1650" b="1">
                          <a:solidFill>
                            <a:srgbClr val="FFFFFF"/>
                          </a:solidFill>
                          <a:latin typeface="DejaVu Sans"/>
                          <a:ea typeface="DejaVu Sans"/>
                          <a:cs typeface="DejaVu Sans"/>
                        </a:rPr>
                        <a:t>AG CER</a:t>
                      </a:r>
                    </a:p>
                  </a:txBody>
                  <a:tcPr marL="133350" marR="114300" marT="76200" marB="76200" anchor="ctr">
                    <a:solidFill>
                      <a:srgbClr val="1F2933"/>
                    </a:solidFill>
                  </a:tcPr>
                </a:tc>
              </a:tr>
              <a:tr h="413385">
                <a:tc>
                  <a:txBody>
                    <a:bodyPr/>
                    <a:lstStyle/>
                    <a:p>
                      <a:pPr algn="l"/>
                      <a:r>
                        <a:rPr sz="1650" b="0">
                          <a:solidFill>
                            <a:srgbClr val="1F2933"/>
                          </a:solidFill>
                          <a:latin typeface="DejaVu Sans"/>
                          <a:ea typeface="DejaVu Sans"/>
                          <a:cs typeface="DejaVu Sans"/>
                        </a:rPr>
                        <a:t>Multi-condition</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74.92</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38.03</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76.85</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35.04</a:t>
                      </a:r>
                    </a:p>
                  </a:txBody>
                  <a:tcPr marL="133350" marR="114300" marT="76200" marB="76200" anchor="ctr">
                    <a:solidFill>
                      <a:srgbClr val="F7F6F2"/>
                    </a:solidFill>
                  </a:tcPr>
                </a:tc>
              </a:tr>
              <a:tr h="413385">
                <a:tc>
                  <a:txBody>
                    <a:bodyPr/>
                    <a:lstStyle/>
                    <a:p>
                      <a:pPr algn="l"/>
                      <a:r>
                        <a:rPr sz="1650" b="1">
                          <a:solidFill>
                            <a:srgbClr val="1D6F8A"/>
                          </a:solidFill>
                          <a:latin typeface="DejaVu Sans"/>
                          <a:ea typeface="DejaVu Sans"/>
                          <a:cs typeface="DejaVu Sans"/>
                        </a:rPr>
                        <a:t>Bidirectional fusion</a:t>
                      </a:r>
                    </a:p>
                  </a:txBody>
                  <a:tcPr marL="133350" marR="114300" marT="76200" marB="76200" anchor="ctr">
                    <a:solidFill>
                      <a:srgbClr val="E8F3F6"/>
                    </a:solidFill>
                  </a:tcPr>
                </a:tc>
                <a:tc>
                  <a:txBody>
                    <a:bodyPr/>
                    <a:lstStyle/>
                    <a:p>
                      <a:pPr algn="ctr"/>
                      <a:r>
                        <a:rPr sz="1650" b="1">
                          <a:solidFill>
                            <a:srgbClr val="1D6F8A"/>
                          </a:solidFill>
                          <a:latin typeface="DejaVu Sans"/>
                          <a:ea typeface="DejaVu Sans"/>
                          <a:cs typeface="DejaVu Sans"/>
                        </a:rPr>
                        <a:t>57.82</a:t>
                      </a:r>
                    </a:p>
                  </a:txBody>
                  <a:tcPr marL="133350" marR="114300" marT="76200" marB="76200" anchor="ctr">
                    <a:solidFill>
                      <a:srgbClr val="E8F3F6"/>
                    </a:solidFill>
                  </a:tcPr>
                </a:tc>
                <a:tc>
                  <a:txBody>
                    <a:bodyPr/>
                    <a:lstStyle/>
                    <a:p>
                      <a:pPr algn="ctr"/>
                      <a:r>
                        <a:rPr sz="1650" b="1">
                          <a:solidFill>
                            <a:srgbClr val="1D6F8A"/>
                          </a:solidFill>
                          <a:latin typeface="DejaVu Sans"/>
                          <a:ea typeface="DejaVu Sans"/>
                          <a:cs typeface="DejaVu Sans"/>
                        </a:rPr>
                        <a:t>30.57</a:t>
                      </a:r>
                    </a:p>
                  </a:txBody>
                  <a:tcPr marL="133350" marR="114300" marT="76200" marB="76200" anchor="ctr">
                    <a:solidFill>
                      <a:srgbClr val="E8F3F6"/>
                    </a:solidFill>
                  </a:tcPr>
                </a:tc>
                <a:tc>
                  <a:txBody>
                    <a:bodyPr/>
                    <a:lstStyle/>
                    <a:p>
                      <a:pPr algn="ctr"/>
                      <a:r>
                        <a:rPr sz="1650" b="1">
                          <a:solidFill>
                            <a:srgbClr val="1D6F8A"/>
                          </a:solidFill>
                          <a:latin typeface="DejaVu Sans"/>
                          <a:ea typeface="DejaVu Sans"/>
                          <a:cs typeface="DejaVu Sans"/>
                        </a:rPr>
                        <a:t>63.50</a:t>
                      </a:r>
                    </a:p>
                  </a:txBody>
                  <a:tcPr marL="133350" marR="114300" marT="76200" marB="76200" anchor="ctr">
                    <a:solidFill>
                      <a:srgbClr val="E8F3F6"/>
                    </a:solidFill>
                  </a:tcPr>
                </a:tc>
                <a:tc>
                  <a:txBody>
                    <a:bodyPr/>
                    <a:lstStyle/>
                    <a:p>
                      <a:pPr algn="ctr"/>
                      <a:r>
                        <a:rPr sz="1650" b="1">
                          <a:solidFill>
                            <a:srgbClr val="1D6F8A"/>
                          </a:solidFill>
                          <a:latin typeface="DejaVu Sans"/>
                          <a:ea typeface="DejaVu Sans"/>
                          <a:cs typeface="DejaVu Sans"/>
                        </a:rPr>
                        <a:t>27.02</a:t>
                      </a:r>
                    </a:p>
                  </a:txBody>
                  <a:tcPr marL="133350" marR="114300" marT="76200" marB="76200" anchor="ctr">
                    <a:solidFill>
                      <a:srgbClr val="E8F3F6"/>
                    </a:solidFill>
                  </a:tcPr>
                </a:tc>
              </a:tr>
              <a:tr h="413385">
                <a:tc>
                  <a:txBody>
                    <a:bodyPr/>
                    <a:lstStyle/>
                    <a:p>
                      <a:pPr algn="l"/>
                      <a:r>
                        <a:rPr sz="1650" b="0">
                          <a:solidFill>
                            <a:srgbClr val="1F2933"/>
                          </a:solidFill>
                          <a:latin typeface="DejaVu Sans"/>
                          <a:ea typeface="DejaVu Sans"/>
                          <a:cs typeface="DejaVu Sans"/>
                        </a:rPr>
                        <a:t>Gate only</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62.35</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32.87</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65.88</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28.42</a:t>
                      </a:r>
                    </a:p>
                  </a:txBody>
                  <a:tcPr marL="133350" marR="114300" marT="76200" marB="76200" anchor="ctr">
                    <a:solidFill>
                      <a:srgbClr val="F7F6F2"/>
                    </a:solidFill>
                  </a:tcPr>
                </a:tc>
              </a:tr>
              <a:tr h="413385">
                <a:tc>
                  <a:txBody>
                    <a:bodyPr/>
                    <a:lstStyle/>
                    <a:p>
                      <a:pPr algn="l"/>
                      <a:r>
                        <a:rPr sz="1650" b="0">
                          <a:solidFill>
                            <a:srgbClr val="1F2933"/>
                          </a:solidFill>
                          <a:latin typeface="DejaVu Sans"/>
                          <a:ea typeface="DejaVu Sans"/>
                          <a:cs typeface="DejaVu Sans"/>
                        </a:rPr>
                        <a:t>Residual cross-attention</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60.26</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31.90</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65.48</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28.35</a:t>
                      </a:r>
                    </a:p>
                  </a:txBody>
                  <a:tcPr marL="133350" marR="114300" marT="76200" marB="76200" anchor="ctr">
                    <a:solidFill>
                      <a:srgbClr val="F7F6F2"/>
                    </a:solidFill>
                  </a:tcPr>
                </a:tc>
              </a:tr>
              <a:tr h="413385">
                <a:tc>
                  <a:txBody>
                    <a:bodyPr/>
                    <a:lstStyle/>
                    <a:p>
                      <a:pPr algn="l"/>
                      <a:r>
                        <a:rPr sz="1650" b="0">
                          <a:solidFill>
                            <a:srgbClr val="1F2933"/>
                          </a:solidFill>
                          <a:latin typeface="DejaVu Sans"/>
                          <a:ea typeface="DejaVu Sans"/>
                          <a:cs typeface="DejaVu Sans"/>
                        </a:rPr>
                        <a:t>Original only, inference</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64.10</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33.21</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69.23</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30.39</a:t>
                      </a:r>
                    </a:p>
                  </a:txBody>
                  <a:tcPr marL="133350" marR="114300" marT="76200" marB="76200" anchor="ctr">
                    <a:solidFill>
                      <a:srgbClr val="F7F6F2"/>
                    </a:solidFill>
                  </a:tcPr>
                </a:tc>
              </a:tr>
              <a:tr h="413385">
                <a:tc>
                  <a:txBody>
                    <a:bodyPr/>
                    <a:lstStyle/>
                    <a:p>
                      <a:pPr algn="l"/>
                      <a:r>
                        <a:rPr sz="1650" b="0">
                          <a:solidFill>
                            <a:srgbClr val="1F2933"/>
                          </a:solidFill>
                          <a:latin typeface="DejaVu Sans"/>
                          <a:ea typeface="DejaVu Sans"/>
                          <a:cs typeface="DejaVu Sans"/>
                        </a:rPr>
                        <a:t>Enhanced only, inference</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63.81</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33.05</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69.69</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30.73</a:t>
                      </a:r>
                    </a:p>
                  </a:txBody>
                  <a:tcPr marL="133350" marR="114300" marT="76200" marB="76200" anchor="ctr">
                    <a:solidFill>
                      <a:srgbClr val="F7F6F2"/>
                    </a:solidFill>
                  </a:tcPr>
                </a:tc>
              </a:tr>
              <a:tr h="413385">
                <a:tc>
                  <a:txBody>
                    <a:bodyPr/>
                    <a:lstStyle/>
                    <a:p>
                      <a:pPr algn="l"/>
                      <a:r>
                        <a:rPr sz="1650" b="0">
                          <a:solidFill>
                            <a:srgbClr val="1F2933"/>
                          </a:solidFill>
                          <a:latin typeface="DejaVu Sans"/>
                          <a:ea typeface="DejaVu Sans"/>
                          <a:cs typeface="DejaVu Sans"/>
                        </a:rPr>
                        <a:t>Bridge, PQ + RI</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74.40</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37.81</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76.81</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34.94</a:t>
                      </a:r>
                    </a:p>
                  </a:txBody>
                  <a:tcPr marL="133350" marR="114300" marT="76200" marB="76200" anchor="ctr">
                    <a:solidFill>
                      <a:srgbClr val="F7F6F2"/>
                    </a:solidFill>
                  </a:tcPr>
                </a:tc>
              </a:tr>
              <a:tr h="413385">
                <a:tc>
                  <a:txBody>
                    <a:bodyPr/>
                    <a:lstStyle/>
                    <a:p>
                      <a:pPr algn="l"/>
                      <a:r>
                        <a:rPr sz="1650" b="0">
                          <a:solidFill>
                            <a:srgbClr val="1F2933"/>
                          </a:solidFill>
                          <a:latin typeface="DejaVu Sans"/>
                          <a:ea typeface="DejaVu Sans"/>
                          <a:cs typeface="DejaVu Sans"/>
                        </a:rPr>
                        <a:t>Bridge, PQ only</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74.48</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37.81</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76.63</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34.83</a:t>
                      </a:r>
                    </a:p>
                  </a:txBody>
                  <a:tcPr marL="133350" marR="114300" marT="76200" marB="76200" anchor="ctr">
                    <a:solidFill>
                      <a:srgbClr val="F7F6F2"/>
                    </a:solidFill>
                  </a:tcPr>
                </a:tc>
              </a:tr>
              <a:tr h="413385">
                <a:tc>
                  <a:txBody>
                    <a:bodyPr/>
                    <a:lstStyle/>
                    <a:p>
                      <a:pPr algn="l"/>
                      <a:r>
                        <a:rPr sz="1650" b="0">
                          <a:solidFill>
                            <a:srgbClr val="1F2933"/>
                          </a:solidFill>
                          <a:latin typeface="DejaVu Sans"/>
                          <a:ea typeface="DejaVu Sans"/>
                          <a:cs typeface="DejaVu Sans"/>
                        </a:rPr>
                        <a:t>FRCRN enhanced only</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75.90</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38.79</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77.67</a:t>
                      </a:r>
                    </a:p>
                  </a:txBody>
                  <a:tcPr marL="133350" marR="114300" marT="76200" marB="76200" anchor="ctr">
                    <a:solidFill>
                      <a:srgbClr val="F7F6F2"/>
                    </a:solidFill>
                  </a:tcPr>
                </a:tc>
                <a:tc>
                  <a:txBody>
                    <a:bodyPr/>
                    <a:lstStyle/>
                    <a:p>
                      <a:pPr algn="ctr"/>
                      <a:r>
                        <a:rPr sz="1650" b="0">
                          <a:solidFill>
                            <a:srgbClr val="1F2933"/>
                          </a:solidFill>
                          <a:latin typeface="DejaVu Sans"/>
                          <a:ea typeface="DejaVu Sans"/>
                          <a:cs typeface="DejaVu Sans"/>
                        </a:rPr>
                        <a:t>35.53</a:t>
                      </a:r>
                    </a:p>
                  </a:txBody>
                  <a:tcPr marL="133350" marR="114300" marT="76200" marB="76200" anchor="ctr">
                    <a:solidFill>
                      <a:srgbClr val="F7F6F2"/>
                    </a:solidFill>
                  </a:tcPr>
                </a:tc>
              </a:tr>
            </a:tbl>
          </a:graphicData>
        </a:graphic>
      </p:graphicFrame>
      <p:sp>
        <p:nvSpPr>
          <p:cNvPr id="4" name="text-2">
            <a:extLst xmlns:a="http://schemas.openxmlformats.org/drawingml/2006/main">
              <a:ext uri="{FF2B5EF4-FFF2-40B4-BE49-F238E27FC236}">
                <a16:creationId xmlns:a16="http://schemas.microsoft.com/office/drawing/2014/main" id="{1CE44169-47C1-4608-B1BA-23F087EBCED8}"/>
              </a:ext>
            </a:extLst>
          </p:cNvPr>
          <p:cNvSpPr>
            <a:spLocks xmlns:a="http://schemas.openxmlformats.org/drawingml/2006/main" noGrp="1"/>
          </p:cNvSpPr>
          <p:nvPr/>
        </p:nvSpPr>
        <p:spPr>
          <a:xfrm xmlns:a="http://schemas.openxmlformats.org/drawingml/2006/main">
            <a:off x="609600" y="60198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06D"/>
                </a:solidFill>
                <a:latin typeface="DejaVu Sans"/>
                <a:ea typeface="DejaVu Sans"/>
                <a:cs typeface="DejaVu Sans"/>
              </a:defRPr>
            </a:defPPr>
          </a:lstStyle>
          <a:p xmlns:a="http://schemas.openxmlformats.org/drawingml/2006/main">
            <a:pPr>
              <a:defRPr sz="1575" b="0">
                <a:solidFill>
                  <a:srgbClr val="52606D"/>
                </a:solidFill>
                <a:latin typeface="DejaVu Sans"/>
                <a:ea typeface="DejaVu Sans"/>
                <a:cs typeface="DejaVu Sans"/>
              </a:defRPr>
            </a:pPr>
            <a:r>
              <a:rPr sz="1575" b="0">
                <a:solidFill>
                  <a:srgbClr val="52606D"/>
                </a:solidFill>
                <a:latin typeface="DejaVu Sans"/>
                <a:ea typeface="DejaVu Sans"/>
                <a:cs typeface="DejaVu Sans"/>
              </a:rPr>
              <a:t>All values are %. Lower is better. This study has a different scale and training mix.</a:t>
            </a:r>
          </a:p>
        </p:txBody>
      </p:sp>
    </p:spTree>
    <p:extLst>
      <p:ext uri="{BB962C8B-B14F-4D97-AF65-F5344CB8AC3E}">
        <p14:creationId xmlns:p14="http://schemas.microsoft.com/office/powerpoint/2010/main" val="2022669840"/>
      </p:ext>
    </p:extLst>
  </p:cSld>
</p:sld>
</file>

<file path=ppt/slides/slide25.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9AF47A5C-9FEE-4CB3-8F47-F514237F8CDB}"/>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Fast Conformer corroborates a smaller gain</a:t>
            </a:r>
          </a:p>
        </p:txBody>
      </p:sp>
      <p:sp>
        <p:nvSpPr>
          <p:cNvPr id="2" name="text-1">
            <a:extLst xmlns:a="http://schemas.openxmlformats.org/drawingml/2006/main">
              <a:ext uri="{FF2B5EF4-FFF2-40B4-BE49-F238E27FC236}">
                <a16:creationId xmlns:a16="http://schemas.microsoft.com/office/drawing/2014/main" id="{E6C96CF4-19E0-442D-B409-9BB731AB506B}"/>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B05</a:t>
            </a:r>
          </a:p>
        </p:txBody>
      </p:sp>
      <p:graphicFrame>
        <p:nvGraphicFramePr>
          <p:cNvPr id="3" name="">
            <a:extLst xmlns:a="http://schemas.openxmlformats.org/drawingml/2006/main">
              <a:ext uri="{FF2B5EF4-FFF2-40B4-BE49-F238E27FC236}">
                <a16:creationId xmlns:a16="http://schemas.microsoft.com/office/drawing/2014/main" id="{92626CF6-682D-4F10-A592-1F69FC56BFD5}"/>
              </a:ext>
            </a:extLst>
          </p:cNvPr>
          <p:cNvGraphicFramePr/>
          <p:nvPr/>
        </p:nvGraphicFramePr>
        <p:xfrm>
          <a:off xmlns:a="http://schemas.openxmlformats.org/drawingml/2006/main" x="609600" y="1809750"/>
          <a:ext xmlns:a="http://schemas.openxmlformats.org/drawingml/2006/main" cx="10972800" cy="3619500"/>
        </p:xfrm>
        <a:graphic xmlns:a="http://schemas.openxmlformats.org/drawingml/2006/main">
          <a:graphicData uri="http://schemas.openxmlformats.org/drawingml/2006/table">
            <a:tbl>
              <a:tblPr/>
              <a:tblGrid>
                <a:gridCol w="4381500"/>
                <a:gridCol w="1647825"/>
                <a:gridCol w="1647825"/>
                <a:gridCol w="1647825"/>
                <a:gridCol w="1647825"/>
              </a:tblGrid>
              <a:tr h="517071">
                <a:tc>
                  <a:txBody>
                    <a:bodyPr/>
                    <a:lstStyle/>
                    <a:p>
                      <a:pPr algn="l"/>
                      <a:r>
                        <a:rPr sz="1800" b="1">
                          <a:solidFill>
                            <a:srgbClr val="FFFFFF"/>
                          </a:solidFill>
                          <a:latin typeface="DejaVu Sans"/>
                          <a:ea typeface="DejaVu Sans"/>
                          <a:cs typeface="DejaVu Sans"/>
                        </a:rPr>
                        <a:t>Test set</a:t>
                      </a:r>
                    </a:p>
                  </a:txBody>
                  <a:tcPr marL="133350" marR="114300" marT="76200" marB="76200" anchor="ctr">
                    <a:solidFill>
                      <a:srgbClr val="1F2933"/>
                    </a:solidFill>
                  </a:tcPr>
                </a:tc>
                <a:tc>
                  <a:txBody>
                    <a:bodyPr/>
                    <a:lstStyle/>
                    <a:p>
                      <a:pPr algn="ctr"/>
                      <a:r>
                        <a:rPr sz="1800" b="1">
                          <a:solidFill>
                            <a:srgbClr val="FFFFFF"/>
                          </a:solidFill>
                          <a:latin typeface="DejaVu Sans"/>
                          <a:ea typeface="DejaVu Sans"/>
                          <a:cs typeface="DejaVu Sans"/>
                        </a:rPr>
                        <a:t>Ord. WER</a:t>
                      </a:r>
                    </a:p>
                  </a:txBody>
                  <a:tcPr marL="133350" marR="114300" marT="76200" marB="76200" anchor="ctr">
                    <a:solidFill>
                      <a:srgbClr val="1F2933"/>
                    </a:solidFill>
                  </a:tcPr>
                </a:tc>
                <a:tc>
                  <a:txBody>
                    <a:bodyPr/>
                    <a:lstStyle/>
                    <a:p>
                      <a:pPr algn="ctr"/>
                      <a:r>
                        <a:rPr sz="1800" b="1">
                          <a:solidFill>
                            <a:srgbClr val="FFFFFF"/>
                          </a:solidFill>
                          <a:latin typeface="DejaVu Sans"/>
                          <a:ea typeface="DejaVu Sans"/>
                          <a:cs typeface="DejaVu Sans"/>
                        </a:rPr>
                        <a:t>MCT WER</a:t>
                      </a:r>
                    </a:p>
                  </a:txBody>
                  <a:tcPr marL="133350" marR="114300" marT="76200" marB="76200" anchor="ctr">
                    <a:solidFill>
                      <a:srgbClr val="1F2933"/>
                    </a:solidFill>
                  </a:tcPr>
                </a:tc>
                <a:tc>
                  <a:txBody>
                    <a:bodyPr/>
                    <a:lstStyle/>
                    <a:p>
                      <a:pPr algn="ctr"/>
                      <a:r>
                        <a:rPr sz="1800" b="1">
                          <a:solidFill>
                            <a:srgbClr val="FFFFFF"/>
                          </a:solidFill>
                          <a:latin typeface="DejaVu Sans"/>
                          <a:ea typeface="DejaVu Sans"/>
                          <a:cs typeface="DejaVu Sans"/>
                        </a:rPr>
                        <a:t>Ord. CER</a:t>
                      </a:r>
                    </a:p>
                  </a:txBody>
                  <a:tcPr marL="133350" marR="114300" marT="76200" marB="76200" anchor="ctr">
                    <a:solidFill>
                      <a:srgbClr val="1F2933"/>
                    </a:solidFill>
                  </a:tcPr>
                </a:tc>
                <a:tc>
                  <a:txBody>
                    <a:bodyPr/>
                    <a:lstStyle/>
                    <a:p>
                      <a:pPr algn="ctr"/>
                      <a:r>
                        <a:rPr sz="1800" b="1">
                          <a:solidFill>
                            <a:srgbClr val="FFFFFF"/>
                          </a:solidFill>
                          <a:latin typeface="DejaVu Sans"/>
                          <a:ea typeface="DejaVu Sans"/>
                          <a:cs typeface="DejaVu Sans"/>
                        </a:rPr>
                        <a:t>MCT CER</a:t>
                      </a:r>
                    </a:p>
                  </a:txBody>
                  <a:tcPr marL="133350" marR="114300" marT="76200" marB="76200" anchor="ctr">
                    <a:solidFill>
                      <a:srgbClr val="1F2933"/>
                    </a:solidFill>
                  </a:tcPr>
                </a:tc>
              </a:tr>
              <a:tr h="517071">
                <a:tc>
                  <a:txBody>
                    <a:bodyPr/>
                    <a:lstStyle/>
                    <a:p>
                      <a:pPr algn="l"/>
                      <a:r>
                        <a:rPr sz="1800" b="0">
                          <a:solidFill>
                            <a:srgbClr val="1F2933"/>
                          </a:solidFill>
                          <a:latin typeface="DejaVu Sans"/>
                          <a:ea typeface="DejaVu Sans"/>
                          <a:cs typeface="DejaVu Sans"/>
                        </a:rPr>
                        <a:t>Aggregate</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22.73</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21.81</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14.79</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14.45</a:t>
                      </a:r>
                    </a:p>
                  </a:txBody>
                  <a:tcPr marL="133350" marR="114300" marT="76200" marB="76200" anchor="ctr">
                    <a:solidFill>
                      <a:srgbClr val="F7F6F2"/>
                    </a:solidFill>
                  </a:tcPr>
                </a:tc>
              </a:tr>
              <a:tr h="517071">
                <a:tc>
                  <a:txBody>
                    <a:bodyPr/>
                    <a:lstStyle/>
                    <a:p>
                      <a:pPr algn="l"/>
                      <a:r>
                        <a:rPr sz="1800" b="0">
                          <a:solidFill>
                            <a:srgbClr val="1F2933"/>
                          </a:solidFill>
                          <a:latin typeface="DejaVu Sans"/>
                          <a:ea typeface="DejaVu Sans"/>
                          <a:cs typeface="DejaVu Sans"/>
                        </a:rPr>
                        <a:t>AGFarsdat</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31.07</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30.48</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14.81</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14.09</a:t>
                      </a:r>
                    </a:p>
                  </a:txBody>
                  <a:tcPr marL="133350" marR="114300" marT="76200" marB="76200" anchor="ctr">
                    <a:solidFill>
                      <a:srgbClr val="F7F6F2"/>
                    </a:solidFill>
                  </a:tcPr>
                </a:tc>
              </a:tr>
              <a:tr h="517071">
                <a:tc>
                  <a:txBody>
                    <a:bodyPr/>
                    <a:lstStyle/>
                    <a:p>
                      <a:pPr algn="l"/>
                      <a:r>
                        <a:rPr sz="1800" b="0">
                          <a:solidFill>
                            <a:srgbClr val="1F2933"/>
                          </a:solidFill>
                          <a:latin typeface="DejaVu Sans"/>
                          <a:ea typeface="DejaVu Sans"/>
                          <a:cs typeface="DejaVu Sans"/>
                        </a:rPr>
                        <a:t>Common Voice</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11.68</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10.01</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16.46</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16.10</a:t>
                      </a:r>
                    </a:p>
                  </a:txBody>
                  <a:tcPr marL="133350" marR="114300" marT="76200" marB="76200" anchor="ctr">
                    <a:solidFill>
                      <a:srgbClr val="F7F6F2"/>
                    </a:solidFill>
                  </a:tcPr>
                </a:tc>
              </a:tr>
              <a:tr h="517071">
                <a:tc>
                  <a:txBody>
                    <a:bodyPr/>
                    <a:lstStyle/>
                    <a:p>
                      <a:pPr algn="l"/>
                      <a:r>
                        <a:rPr sz="1800" b="0">
                          <a:solidFill>
                            <a:srgbClr val="1F2933"/>
                          </a:solidFill>
                          <a:latin typeface="DejaVu Sans"/>
                          <a:ea typeface="DejaVu Sans"/>
                          <a:cs typeface="DejaVu Sans"/>
                        </a:rPr>
                        <a:t>FLEURS</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29.22</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29.40</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9.94</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10.22</a:t>
                      </a:r>
                    </a:p>
                  </a:txBody>
                  <a:tcPr marL="133350" marR="114300" marT="76200" marB="76200" anchor="ctr">
                    <a:solidFill>
                      <a:srgbClr val="F7F6F2"/>
                    </a:solidFill>
                  </a:tcPr>
                </a:tc>
              </a:tr>
              <a:tr h="517071">
                <a:tc>
                  <a:txBody>
                    <a:bodyPr/>
                    <a:lstStyle/>
                    <a:p>
                      <a:pPr algn="l"/>
                      <a:r>
                        <a:rPr sz="1800" b="0">
                          <a:solidFill>
                            <a:srgbClr val="1F2933"/>
                          </a:solidFill>
                          <a:latin typeface="DejaVu Sans"/>
                          <a:ea typeface="DejaVu Sans"/>
                          <a:cs typeface="DejaVu Sans"/>
                        </a:rPr>
                        <a:t>PersianSpeech</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30.70</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31.41</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13.50</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13.56</a:t>
                      </a:r>
                    </a:p>
                  </a:txBody>
                  <a:tcPr marL="133350" marR="114300" marT="76200" marB="76200" anchor="ctr">
                    <a:solidFill>
                      <a:srgbClr val="F7F6F2"/>
                    </a:solidFill>
                  </a:tcPr>
                </a:tc>
              </a:tr>
              <a:tr h="517071">
                <a:tc>
                  <a:txBody>
                    <a:bodyPr/>
                    <a:lstStyle/>
                    <a:p>
                      <a:pPr algn="l"/>
                      <a:r>
                        <a:rPr sz="1800" b="0">
                          <a:solidFill>
                            <a:srgbClr val="1F2933"/>
                          </a:solidFill>
                          <a:latin typeface="DejaVu Sans"/>
                          <a:ea typeface="DejaVu Sans"/>
                          <a:cs typeface="DejaVu Sans"/>
                        </a:rPr>
                        <a:t>Persian Speech Corpus</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33.69</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33.59</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12.22</a:t>
                      </a:r>
                    </a:p>
                  </a:txBody>
                  <a:tcPr marL="133350" marR="114300" marT="76200" marB="76200" anchor="ctr">
                    <a:solidFill>
                      <a:srgbClr val="F7F6F2"/>
                    </a:solidFill>
                  </a:tcPr>
                </a:tc>
                <a:tc>
                  <a:txBody>
                    <a:bodyPr/>
                    <a:lstStyle/>
                    <a:p>
                      <a:pPr algn="ctr"/>
                      <a:r>
                        <a:rPr sz="1800" b="0">
                          <a:solidFill>
                            <a:srgbClr val="1F2933"/>
                          </a:solidFill>
                          <a:latin typeface="DejaVu Sans"/>
                          <a:ea typeface="DejaVu Sans"/>
                          <a:cs typeface="DejaVu Sans"/>
                        </a:rPr>
                        <a:t>12.68</a:t>
                      </a:r>
                    </a:p>
                  </a:txBody>
                  <a:tcPr marL="133350" marR="114300" marT="76200" marB="76200" anchor="ctr">
                    <a:solidFill>
                      <a:srgbClr val="F7F6F2"/>
                    </a:solidFill>
                  </a:tcPr>
                </a:tc>
              </a:tr>
            </a:tbl>
          </a:graphicData>
        </a:graphic>
      </p:graphicFrame>
      <p:sp>
        <p:nvSpPr>
          <p:cNvPr id="4" name="text-2">
            <a:extLst xmlns:a="http://schemas.openxmlformats.org/drawingml/2006/main">
              <a:ext uri="{FF2B5EF4-FFF2-40B4-BE49-F238E27FC236}">
                <a16:creationId xmlns:a16="http://schemas.microsoft.com/office/drawing/2014/main" id="{FE443886-E6D8-4CB6-9263-5A60375E5BD2}"/>
              </a:ext>
            </a:extLst>
          </p:cNvPr>
          <p:cNvSpPr>
            <a:spLocks xmlns:a="http://schemas.openxmlformats.org/drawingml/2006/main" noGrp="1"/>
          </p:cNvSpPr>
          <p:nvPr/>
        </p:nvSpPr>
        <p:spPr>
          <a:xfrm xmlns:a="http://schemas.openxmlformats.org/drawingml/2006/main">
            <a:off x="609600" y="59055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06D"/>
                </a:solidFill>
                <a:latin typeface="DejaVu Sans"/>
                <a:ea typeface="DejaVu Sans"/>
                <a:cs typeface="DejaVu Sans"/>
              </a:defRPr>
            </a:defPPr>
          </a:lstStyle>
          <a:p xmlns:a="http://schemas.openxmlformats.org/drawingml/2006/main">
            <a:pPr>
              <a:defRPr sz="1650" b="0">
                <a:solidFill>
                  <a:srgbClr val="52606D"/>
                </a:solidFill>
                <a:latin typeface="DejaVu Sans"/>
                <a:ea typeface="DejaVu Sans"/>
                <a:cs typeface="DejaVu Sans"/>
              </a:defRPr>
            </a:pPr>
            <a:r>
              <a:rPr sz="1650" b="0">
                <a:solidFill>
                  <a:srgbClr val="52606D"/>
                </a:solidFill>
                <a:latin typeface="DejaVu Sans"/>
                <a:ea typeface="DejaVu Sans"/>
                <a:cs typeface="DejaVu Sans"/>
              </a:rPr>
              <a:t>All values are %. Lower is better. Aggregate WER improves by 0.92 points.</a:t>
            </a:r>
          </a:p>
        </p:txBody>
      </p:sp>
    </p:spTree>
    <p:extLst>
      <p:ext uri="{BB962C8B-B14F-4D97-AF65-F5344CB8AC3E}">
        <p14:creationId xmlns:p14="http://schemas.microsoft.com/office/powerpoint/2010/main" val="1057490567"/>
      </p:ext>
    </p:extLst>
  </p:cSld>
</p:sld>
</file>

<file path=ppt/slides/slide26.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E6A02D6F-26E3-4990-86BC-9A4F2014979F}"/>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External-model comparison on 100 samples</a:t>
            </a:r>
          </a:p>
        </p:txBody>
      </p:sp>
      <p:sp>
        <p:nvSpPr>
          <p:cNvPr id="2" name="text-1">
            <a:extLst xmlns:a="http://schemas.openxmlformats.org/drawingml/2006/main">
              <a:ext uri="{FF2B5EF4-FFF2-40B4-BE49-F238E27FC236}">
                <a16:creationId xmlns:a16="http://schemas.microsoft.com/office/drawing/2014/main" id="{209500F6-41AD-4D8F-BFEE-3AB2FB23BBC0}"/>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B06</a:t>
            </a:r>
          </a:p>
        </p:txBody>
      </p:sp>
      <p:graphicFrame>
        <p:nvGraphicFramePr>
          <p:cNvPr id="3" name="">
            <a:extLst xmlns:a="http://schemas.openxmlformats.org/drawingml/2006/main">
              <a:ext uri="{FF2B5EF4-FFF2-40B4-BE49-F238E27FC236}">
                <a16:creationId xmlns:a16="http://schemas.microsoft.com/office/drawing/2014/main" id="{91E48EBB-29B9-46A4-AE5D-AA467E4D88A4}"/>
              </a:ext>
            </a:extLst>
          </p:cNvPr>
          <p:cNvGraphicFramePr/>
          <p:nvPr/>
        </p:nvGraphicFramePr>
        <p:xfrm>
          <a:off xmlns:a="http://schemas.openxmlformats.org/drawingml/2006/main" x="609600" y="1657350"/>
          <a:ext xmlns:a="http://schemas.openxmlformats.org/drawingml/2006/main" cx="10972800" cy="4133850"/>
        </p:xfrm>
        <a:graphic xmlns:a="http://schemas.openxmlformats.org/drawingml/2006/main">
          <a:graphicData uri="http://schemas.openxmlformats.org/drawingml/2006/table">
            <a:tbl>
              <a:tblPr/>
              <a:tblGrid>
                <a:gridCol w="4953000"/>
                <a:gridCol w="2095500"/>
                <a:gridCol w="2095500"/>
                <a:gridCol w="1828800"/>
              </a:tblGrid>
              <a:tr h="459317">
                <a:tc>
                  <a:txBody>
                    <a:bodyPr/>
                    <a:lstStyle/>
                    <a:p>
                      <a:pPr algn="l"/>
                      <a:r>
                        <a:rPr sz="1725" b="1">
                          <a:solidFill>
                            <a:srgbClr val="FFFFFF"/>
                          </a:solidFill>
                          <a:latin typeface="DejaVu Sans"/>
                          <a:ea typeface="DejaVu Sans"/>
                          <a:cs typeface="DejaVu Sans"/>
                        </a:rPr>
                        <a:t>Model</a:t>
                      </a:r>
                    </a:p>
                  </a:txBody>
                  <a:tcPr marL="133350" marR="114300" marT="76200" marB="76200" anchor="ctr">
                    <a:solidFill>
                      <a:srgbClr val="1F2933"/>
                    </a:solidFill>
                  </a:tcPr>
                </a:tc>
                <a:tc>
                  <a:txBody>
                    <a:bodyPr/>
                    <a:lstStyle/>
                    <a:p>
                      <a:pPr algn="ctr"/>
                      <a:r>
                        <a:rPr sz="1725" b="1">
                          <a:solidFill>
                            <a:srgbClr val="FFFFFF"/>
                          </a:solidFill>
                          <a:latin typeface="DejaVu Sans"/>
                          <a:ea typeface="DejaVu Sans"/>
                          <a:cs typeface="DejaVu Sans"/>
                        </a:rPr>
                        <a:t>Aggregate WER</a:t>
                      </a:r>
                    </a:p>
                  </a:txBody>
                  <a:tcPr marL="133350" marR="114300" marT="76200" marB="76200" anchor="ctr">
                    <a:solidFill>
                      <a:srgbClr val="1F2933"/>
                    </a:solidFill>
                  </a:tcPr>
                </a:tc>
                <a:tc>
                  <a:txBody>
                    <a:bodyPr/>
                    <a:lstStyle/>
                    <a:p>
                      <a:pPr algn="ctr"/>
                      <a:r>
                        <a:rPr sz="1725" b="1">
                          <a:solidFill>
                            <a:srgbClr val="FFFFFF"/>
                          </a:solidFill>
                          <a:latin typeface="DejaVu Sans"/>
                          <a:ea typeface="DejaVu Sans"/>
                          <a:cs typeface="DejaVu Sans"/>
                        </a:rPr>
                        <a:t>Aggregate CER</a:t>
                      </a:r>
                    </a:p>
                  </a:txBody>
                  <a:tcPr marL="133350" marR="114300" marT="76200" marB="76200" anchor="ctr">
                    <a:solidFill>
                      <a:srgbClr val="1F2933"/>
                    </a:solidFill>
                  </a:tcPr>
                </a:tc>
                <a:tc>
                  <a:txBody>
                    <a:bodyPr/>
                    <a:lstStyle/>
                    <a:p>
                      <a:pPr algn="ctr"/>
                      <a:r>
                        <a:rPr sz="1725" b="1">
                          <a:solidFill>
                            <a:srgbClr val="FFFFFF"/>
                          </a:solidFill>
                          <a:latin typeface="DejaVu Sans"/>
                          <a:ea typeface="DejaVu Sans"/>
                          <a:cs typeface="DejaVu Sans"/>
                        </a:rPr>
                        <a:t>AG WER</a:t>
                      </a:r>
                    </a:p>
                  </a:txBody>
                  <a:tcPr marL="133350" marR="114300" marT="76200" marB="76200" anchor="ctr">
                    <a:solidFill>
                      <a:srgbClr val="1F2933"/>
                    </a:solidFill>
                  </a:tcPr>
                </a:tc>
              </a:tr>
              <a:tr h="459317">
                <a:tc>
                  <a:txBody>
                    <a:bodyPr/>
                    <a:lstStyle/>
                    <a:p>
                      <a:pPr algn="l"/>
                      <a:r>
                        <a:rPr sz="1725" b="0">
                          <a:solidFill>
                            <a:srgbClr val="1F2933"/>
                          </a:solidFill>
                          <a:latin typeface="DejaVu Sans"/>
                          <a:ea typeface="DejaVu Sans"/>
                          <a:cs typeface="DejaVu Sans"/>
                        </a:rPr>
                        <a:t>Chirp 3</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16.44</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5.14</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22.94</a:t>
                      </a:r>
                    </a:p>
                  </a:txBody>
                  <a:tcPr marL="133350" marR="114300" marT="76200" marB="76200" anchor="ctr">
                    <a:solidFill>
                      <a:srgbClr val="F7F6F2"/>
                    </a:solidFill>
                  </a:tcPr>
                </a:tc>
              </a:tr>
              <a:tr h="459317">
                <a:tc>
                  <a:txBody>
                    <a:bodyPr/>
                    <a:lstStyle/>
                    <a:p>
                      <a:pPr algn="l"/>
                      <a:r>
                        <a:rPr sz="1725" b="0">
                          <a:solidFill>
                            <a:srgbClr val="1F2933"/>
                          </a:solidFill>
                          <a:latin typeface="DejaVu Sans"/>
                          <a:ea typeface="DejaVu Sans"/>
                          <a:cs typeface="DejaVu Sans"/>
                        </a:rPr>
                        <a:t>GPT-4o Transcribe</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18.55</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6.94</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48.62</a:t>
                      </a:r>
                    </a:p>
                  </a:txBody>
                  <a:tcPr marL="133350" marR="114300" marT="76200" marB="76200" anchor="ctr">
                    <a:solidFill>
                      <a:srgbClr val="F7F6F2"/>
                    </a:solidFill>
                  </a:tcPr>
                </a:tc>
              </a:tr>
              <a:tr h="459317">
                <a:tc>
                  <a:txBody>
                    <a:bodyPr/>
                    <a:lstStyle/>
                    <a:p>
                      <a:pPr algn="l"/>
                      <a:r>
                        <a:rPr sz="1725" b="0">
                          <a:solidFill>
                            <a:srgbClr val="1F2933"/>
                          </a:solidFill>
                          <a:latin typeface="DejaVu Sans"/>
                          <a:ea typeface="DejaVu Sans"/>
                          <a:cs typeface="DejaVu Sans"/>
                        </a:rPr>
                        <a:t>Small, + IranSeda</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20.72</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10.72</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26.61</a:t>
                      </a:r>
                    </a:p>
                  </a:txBody>
                  <a:tcPr marL="133350" marR="114300" marT="76200" marB="76200" anchor="ctr">
                    <a:solidFill>
                      <a:srgbClr val="F7F6F2"/>
                    </a:solidFill>
                  </a:tcPr>
                </a:tc>
              </a:tr>
              <a:tr h="459317">
                <a:tc>
                  <a:txBody>
                    <a:bodyPr/>
                    <a:lstStyle/>
                    <a:p>
                      <a:pPr algn="l"/>
                      <a:r>
                        <a:rPr sz="1725" b="0">
                          <a:solidFill>
                            <a:srgbClr val="1F2933"/>
                          </a:solidFill>
                          <a:latin typeface="DejaVu Sans"/>
                          <a:ea typeface="DejaVu Sans"/>
                          <a:cs typeface="DejaVu Sans"/>
                        </a:rPr>
                        <a:t>Whisper Medium</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23.13</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11.24</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24.77</a:t>
                      </a:r>
                    </a:p>
                  </a:txBody>
                  <a:tcPr marL="133350" marR="114300" marT="76200" marB="76200" anchor="ctr">
                    <a:solidFill>
                      <a:srgbClr val="F7F6F2"/>
                    </a:solidFill>
                  </a:tcPr>
                </a:tc>
              </a:tr>
              <a:tr h="459317">
                <a:tc>
                  <a:txBody>
                    <a:bodyPr/>
                    <a:lstStyle/>
                    <a:p>
                      <a:pPr algn="l"/>
                      <a:r>
                        <a:rPr sz="1725" b="0">
                          <a:solidFill>
                            <a:srgbClr val="1F2933"/>
                          </a:solidFill>
                          <a:latin typeface="DejaVu Sans"/>
                          <a:ea typeface="DejaVu Sans"/>
                          <a:cs typeface="DejaVu Sans"/>
                        </a:rPr>
                        <a:t>Voxtral Small 24B</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26.92</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10.75</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45.87</a:t>
                      </a:r>
                    </a:p>
                  </a:txBody>
                  <a:tcPr marL="133350" marR="114300" marT="76200" marB="76200" anchor="ctr">
                    <a:solidFill>
                      <a:srgbClr val="F7F6F2"/>
                    </a:solidFill>
                  </a:tcPr>
                </a:tc>
              </a:tr>
              <a:tr h="459317">
                <a:tc>
                  <a:txBody>
                    <a:bodyPr/>
                    <a:lstStyle/>
                    <a:p>
                      <a:pPr algn="l"/>
                      <a:r>
                        <a:rPr sz="1725" b="0">
                          <a:solidFill>
                            <a:srgbClr val="1F2933"/>
                          </a:solidFill>
                          <a:latin typeface="DejaVu Sans"/>
                          <a:ea typeface="DejaVu Sans"/>
                          <a:cs typeface="DejaVu Sans"/>
                        </a:rPr>
                        <a:t>Qwen3-ASR 1.7B</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36.66</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15.68</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63.30</a:t>
                      </a:r>
                    </a:p>
                  </a:txBody>
                  <a:tcPr marL="133350" marR="114300" marT="76200" marB="76200" anchor="ctr">
                    <a:solidFill>
                      <a:srgbClr val="F7F6F2"/>
                    </a:solidFill>
                  </a:tcPr>
                </a:tc>
              </a:tr>
              <a:tr h="459317">
                <a:tc>
                  <a:txBody>
                    <a:bodyPr/>
                    <a:lstStyle/>
                    <a:p>
                      <a:pPr algn="l"/>
                      <a:r>
                        <a:rPr sz="1725" b="0">
                          <a:solidFill>
                            <a:srgbClr val="1F2933"/>
                          </a:solidFill>
                          <a:latin typeface="DejaVu Sans"/>
                          <a:ea typeface="DejaVu Sans"/>
                          <a:cs typeface="DejaVu Sans"/>
                        </a:rPr>
                        <a:t>Grok STT 1.0</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40.88</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23.68</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67.89</a:t>
                      </a:r>
                    </a:p>
                  </a:txBody>
                  <a:tcPr marL="133350" marR="114300" marT="76200" marB="76200" anchor="ctr">
                    <a:solidFill>
                      <a:srgbClr val="F7F6F2"/>
                    </a:solidFill>
                  </a:tcPr>
                </a:tc>
              </a:tr>
              <a:tr h="459317">
                <a:tc>
                  <a:txBody>
                    <a:bodyPr/>
                    <a:lstStyle/>
                    <a:p>
                      <a:pPr algn="l"/>
                      <a:r>
                        <a:rPr sz="1725" b="0">
                          <a:solidFill>
                            <a:srgbClr val="1F2933"/>
                          </a:solidFill>
                          <a:latin typeface="DejaVu Sans"/>
                          <a:ea typeface="DejaVu Sans"/>
                          <a:cs typeface="DejaVu Sans"/>
                        </a:rPr>
                        <a:t>Nemotron 3.5 ASR 0.6B</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98.70</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80.86</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104.59</a:t>
                      </a:r>
                    </a:p>
                  </a:txBody>
                  <a:tcPr marL="133350" marR="114300" marT="76200" marB="76200" anchor="ctr">
                    <a:solidFill>
                      <a:srgbClr val="F7F6F2"/>
                    </a:solidFill>
                  </a:tcPr>
                </a:tc>
              </a:tr>
            </a:tbl>
          </a:graphicData>
        </a:graphic>
      </p:graphicFrame>
      <p:sp>
        <p:nvSpPr>
          <p:cNvPr id="4" name="text-2">
            <a:extLst xmlns:a="http://schemas.openxmlformats.org/drawingml/2006/main">
              <a:ext uri="{FF2B5EF4-FFF2-40B4-BE49-F238E27FC236}">
                <a16:creationId xmlns:a16="http://schemas.microsoft.com/office/drawing/2014/main" id="{DCDE9953-9C5C-4596-A943-AC57D2C8AF5A}"/>
              </a:ext>
            </a:extLst>
          </p:cNvPr>
          <p:cNvSpPr>
            <a:spLocks xmlns:a="http://schemas.openxmlformats.org/drawingml/2006/main" noGrp="1"/>
          </p:cNvSpPr>
          <p:nvPr/>
        </p:nvSpPr>
        <p:spPr>
          <a:xfrm xmlns:a="http://schemas.openxmlformats.org/drawingml/2006/main">
            <a:off x="609600" y="60198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2606D"/>
                </a:solidFill>
                <a:latin typeface="DejaVu Sans"/>
                <a:ea typeface="DejaVu Sans"/>
                <a:cs typeface="DejaVu Sans"/>
              </a:defRPr>
            </a:defPPr>
          </a:lstStyle>
          <a:p xmlns:a="http://schemas.openxmlformats.org/drawingml/2006/main">
            <a:pPr>
              <a:defRPr sz="1575" b="0">
                <a:solidFill>
                  <a:srgbClr val="52606D"/>
                </a:solidFill>
                <a:latin typeface="DejaVu Sans"/>
                <a:ea typeface="DejaVu Sans"/>
                <a:cs typeface="DejaVu Sans"/>
              </a:defRPr>
            </a:pPr>
            <a:r>
              <a:rPr sz="1575" b="0">
                <a:solidFill>
                  <a:srgbClr val="52606D"/>
                </a:solidFill>
                <a:latin typeface="DejaVu Sans"/>
                <a:ea typeface="DejaVu Sans"/>
                <a:cs typeface="DejaVu Sans"/>
              </a:rPr>
              <a:t>All values are %. Lower is better. Twenty examples per domain. Separate benchmark.</a:t>
            </a:r>
          </a:p>
        </p:txBody>
      </p:sp>
    </p:spTree>
    <p:extLst>
      <p:ext uri="{BB962C8B-B14F-4D97-AF65-F5344CB8AC3E}">
        <p14:creationId xmlns:p14="http://schemas.microsoft.com/office/powerpoint/2010/main" val="574781387"/>
      </p:ext>
    </p:extLst>
  </p:cSld>
</p:sld>
</file>

<file path=ppt/slides/slide27.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6F3560B6-44C3-4C17-9EE6-1A442ADAE3AB}"/>
              </a:ext>
            </a:extLst>
          </p:cNvPr>
          <p:cNvSpPr>
            <a:spLocks xmlns:a="http://schemas.openxmlformats.org/drawingml/2006/main" noGrp="1"/>
          </p:cNvSpPr>
          <p:nvPr/>
        </p:nvSpPr>
        <p:spPr>
          <a:xfrm xmlns:a="http://schemas.openxmlformats.org/drawingml/2006/main">
            <a:off x="609600" y="419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3150" b="1">
                <a:solidFill>
                  <a:srgbClr val="1F2933"/>
                </a:solidFill>
                <a:latin typeface="DejaVu Sans"/>
                <a:ea typeface="DejaVu Sans"/>
                <a:cs typeface="DejaVu Sans"/>
              </a:rPr>
              <a:t>Controls and attribution boundaries</a:t>
            </a:r>
          </a:p>
        </p:txBody>
      </p:sp>
      <p:sp>
        <p:nvSpPr>
          <p:cNvPr id="2" name="text-1">
            <a:extLst xmlns:a="http://schemas.openxmlformats.org/drawingml/2006/main">
              <a:ext uri="{FF2B5EF4-FFF2-40B4-BE49-F238E27FC236}">
                <a16:creationId xmlns:a16="http://schemas.microsoft.com/office/drawing/2014/main" id="{0B92B4C7-AC30-47FF-BB37-1D757A6916D3}"/>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B07</a:t>
            </a:r>
          </a:p>
        </p:txBody>
      </p:sp>
      <p:graphicFrame>
        <p:nvGraphicFramePr>
          <p:cNvPr id="3" name="">
            <a:extLst xmlns:a="http://schemas.openxmlformats.org/drawingml/2006/main">
              <a:ext uri="{FF2B5EF4-FFF2-40B4-BE49-F238E27FC236}">
                <a16:creationId xmlns:a16="http://schemas.microsoft.com/office/drawing/2014/main" id="{5546300B-9CCC-4DF3-94B6-C877C43FFC4B}"/>
              </a:ext>
            </a:extLst>
          </p:cNvPr>
          <p:cNvGraphicFramePr/>
          <p:nvPr/>
        </p:nvGraphicFramePr>
        <p:xfrm>
          <a:off xmlns:a="http://schemas.openxmlformats.org/drawingml/2006/main" x="609600" y="1752600"/>
          <a:ext xmlns:a="http://schemas.openxmlformats.org/drawingml/2006/main" cx="10972800" cy="3524250"/>
        </p:xfrm>
        <a:graphic xmlns:a="http://schemas.openxmlformats.org/drawingml/2006/main">
          <a:graphicData uri="http://schemas.openxmlformats.org/drawingml/2006/table">
            <a:tbl>
              <a:tblPr/>
              <a:tblGrid>
                <a:gridCol w="2781300"/>
                <a:gridCol w="4048125"/>
                <a:gridCol w="4143375"/>
              </a:tblGrid>
              <a:tr h="587375">
                <a:tc>
                  <a:txBody>
                    <a:bodyPr/>
                    <a:lstStyle/>
                    <a:p>
                      <a:pPr algn="l"/>
                      <a:r>
                        <a:rPr sz="1725" b="1">
                          <a:solidFill>
                            <a:srgbClr val="FFFFFF"/>
                          </a:solidFill>
                          <a:latin typeface="DejaVu Sans"/>
                          <a:ea typeface="DejaVu Sans"/>
                          <a:cs typeface="DejaVu Sans"/>
                        </a:rPr>
                        <a:t>Comparison</a:t>
                      </a:r>
                    </a:p>
                  </a:txBody>
                  <a:tcPr marL="133350" marR="114300" marT="76200" marB="76200" anchor="ctr">
                    <a:solidFill>
                      <a:srgbClr val="1F2933"/>
                    </a:solidFill>
                  </a:tcPr>
                </a:tc>
                <a:tc>
                  <a:txBody>
                    <a:bodyPr/>
                    <a:lstStyle/>
                    <a:p>
                      <a:pPr algn="ctr"/>
                      <a:r>
                        <a:rPr sz="1725" b="1">
                          <a:solidFill>
                            <a:srgbClr val="FFFFFF"/>
                          </a:solidFill>
                          <a:latin typeface="DejaVu Sans"/>
                          <a:ea typeface="DejaVu Sans"/>
                          <a:cs typeface="DejaVu Sans"/>
                        </a:rPr>
                        <a:t>Main controls</a:t>
                      </a:r>
                    </a:p>
                  </a:txBody>
                  <a:tcPr marL="133350" marR="114300" marT="76200" marB="76200" anchor="ctr">
                    <a:solidFill>
                      <a:srgbClr val="1F2933"/>
                    </a:solidFill>
                  </a:tcPr>
                </a:tc>
                <a:tc>
                  <a:txBody>
                    <a:bodyPr/>
                    <a:lstStyle/>
                    <a:p>
                      <a:pPr algn="ctr"/>
                      <a:r>
                        <a:rPr sz="1725" b="1">
                          <a:solidFill>
                            <a:srgbClr val="FFFFFF"/>
                          </a:solidFill>
                          <a:latin typeface="DejaVu Sans"/>
                          <a:ea typeface="DejaVu Sans"/>
                          <a:cs typeface="DejaVu Sans"/>
                        </a:rPr>
                        <a:t>Remaining boundary</a:t>
                      </a:r>
                    </a:p>
                  </a:txBody>
                  <a:tcPr marL="133350" marR="114300" marT="76200" marB="76200" anchor="ctr">
                    <a:solidFill>
                      <a:srgbClr val="1F2933"/>
                    </a:solidFill>
                  </a:tcPr>
                </a:tc>
              </a:tr>
              <a:tr h="587375">
                <a:tc>
                  <a:txBody>
                    <a:bodyPr/>
                    <a:lstStyle/>
                    <a:p>
                      <a:pPr algn="l"/>
                      <a:r>
                        <a:rPr sz="1725" b="0">
                          <a:solidFill>
                            <a:srgbClr val="1F2933"/>
                          </a:solidFill>
                          <a:latin typeface="DejaVu Sans"/>
                          <a:ea typeface="DejaVu Sans"/>
                          <a:cs typeface="DejaVu Sans"/>
                        </a:rPr>
                        <a:t>Ordinary vs MCT</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Small model, LR, step budget, tests</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Composite telecom treatment</a:t>
                      </a:r>
                    </a:p>
                  </a:txBody>
                  <a:tcPr marL="133350" marR="114300" marT="76200" marB="76200" anchor="ctr">
                    <a:solidFill>
                      <a:srgbClr val="F7F6F2"/>
                    </a:solidFill>
                  </a:tcPr>
                </a:tc>
              </a:tr>
              <a:tr h="587375">
                <a:tc>
                  <a:txBody>
                    <a:bodyPr/>
                    <a:lstStyle/>
                    <a:p>
                      <a:pPr algn="l"/>
                      <a:r>
                        <a:rPr sz="1725" b="0">
                          <a:solidFill>
                            <a:srgbClr val="1F2933"/>
                          </a:solidFill>
                          <a:latin typeface="DejaVu Sans"/>
                          <a:ea typeface="DejaVu Sans"/>
                          <a:cs typeface="DejaVu Sans"/>
                        </a:rPr>
                        <a:t>MCT vs + IranSeda</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Small model, full base mix, steps, tests</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Data domain and labels both change</a:t>
                      </a:r>
                    </a:p>
                  </a:txBody>
                  <a:tcPr marL="133350" marR="114300" marT="76200" marB="76200" anchor="ctr">
                    <a:solidFill>
                      <a:srgbClr val="F7F6F2"/>
                    </a:solidFill>
                  </a:tcPr>
                </a:tc>
              </a:tr>
              <a:tr h="587375">
                <a:tc>
                  <a:txBody>
                    <a:bodyPr/>
                    <a:lstStyle/>
                    <a:p>
                      <a:pPr algn="l"/>
                      <a:r>
                        <a:rPr sz="1725" b="0">
                          <a:solidFill>
                            <a:srgbClr val="1F2933"/>
                          </a:solidFill>
                          <a:latin typeface="DejaVu Sans"/>
                          <a:ea typeface="DejaVu Sans"/>
                          <a:cs typeface="DejaVu Sans"/>
                        </a:rPr>
                        <a:t>MCT vs fusion</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Starting checkpoint and test domains</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Extra modules and ASR training</a:t>
                      </a:r>
                    </a:p>
                  </a:txBody>
                  <a:tcPr marL="133350" marR="114300" marT="76200" marB="76200" anchor="ctr">
                    <a:solidFill>
                      <a:srgbClr val="F7F6F2"/>
                    </a:solidFill>
                  </a:tcPr>
                </a:tc>
              </a:tr>
              <a:tr h="587375">
                <a:tc>
                  <a:txBody>
                    <a:bodyPr/>
                    <a:lstStyle/>
                    <a:p>
                      <a:pPr algn="l"/>
                      <a:r>
                        <a:rPr sz="1725" b="0">
                          <a:solidFill>
                            <a:srgbClr val="1F2933"/>
                          </a:solidFill>
                          <a:latin typeface="DejaVu Sans"/>
                          <a:ea typeface="DejaVu Sans"/>
                          <a:cs typeface="DejaVu Sans"/>
                        </a:rPr>
                        <a:t>Fusion vs bridge</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Test domains, training data family</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Enhancer and freezing differ</a:t>
                      </a:r>
                    </a:p>
                  </a:txBody>
                  <a:tcPr marL="133350" marR="114300" marT="76200" marB="76200" anchor="ctr">
                    <a:solidFill>
                      <a:srgbClr val="F7F6F2"/>
                    </a:solidFill>
                  </a:tcPr>
                </a:tc>
              </a:tr>
              <a:tr h="587375">
                <a:tc>
                  <a:txBody>
                    <a:bodyPr/>
                    <a:lstStyle/>
                    <a:p>
                      <a:pPr algn="l"/>
                      <a:r>
                        <a:rPr sz="1725" b="0">
                          <a:solidFill>
                            <a:srgbClr val="1F2933"/>
                          </a:solidFill>
                          <a:latin typeface="DejaVu Sans"/>
                          <a:ea typeface="DejaVu Sans"/>
                          <a:cs typeface="DejaVu Sans"/>
                        </a:rPr>
                        <a:t>Small vs Medium</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Common single-stream eligible tests</a:t>
                      </a:r>
                    </a:p>
                  </a:txBody>
                  <a:tcPr marL="133350" marR="114300" marT="76200" marB="76200" anchor="ctr">
                    <a:solidFill>
                      <a:srgbClr val="F7F6F2"/>
                    </a:solidFill>
                  </a:tcPr>
                </a:tc>
                <a:tc>
                  <a:txBody>
                    <a:bodyPr/>
                    <a:lstStyle/>
                    <a:p>
                      <a:pPr algn="ctr"/>
                      <a:r>
                        <a:rPr sz="1725" b="0">
                          <a:solidFill>
                            <a:srgbClr val="1F2933"/>
                          </a:solidFill>
                          <a:latin typeface="DejaVu Sans"/>
                          <a:ea typeface="DejaVu Sans"/>
                          <a:cs typeface="DejaVu Sans"/>
                        </a:rPr>
                        <a:t>Capacity and training differ</a:t>
                      </a:r>
                    </a:p>
                  </a:txBody>
                  <a:tcPr marL="133350" marR="114300" marT="76200" marB="76200" anchor="ctr">
                    <a:solidFill>
                      <a:srgbClr val="F7F6F2"/>
                    </a:solidFill>
                  </a:tcPr>
                </a:tc>
              </a:tr>
            </a:tbl>
          </a:graphicData>
        </a:graphic>
      </p:graphicFrame>
      <p:sp>
        <p:nvSpPr>
          <p:cNvPr id="4" name="text-2">
            <a:extLst xmlns:a="http://schemas.openxmlformats.org/drawingml/2006/main">
              <a:ext uri="{FF2B5EF4-FFF2-40B4-BE49-F238E27FC236}">
                <a16:creationId xmlns:a16="http://schemas.microsoft.com/office/drawing/2014/main" id="{5DD66F3E-E4B4-41F3-BA18-C609C719390E}"/>
              </a:ext>
            </a:extLst>
          </p:cNvPr>
          <p:cNvSpPr>
            <a:spLocks xmlns:a="http://schemas.openxmlformats.org/drawingml/2006/main" noGrp="1"/>
          </p:cNvSpPr>
          <p:nvPr/>
        </p:nvSpPr>
        <p:spPr>
          <a:xfrm xmlns:a="http://schemas.openxmlformats.org/drawingml/2006/main">
            <a:off x="609600" y="58769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2606D"/>
                </a:solidFill>
                <a:latin typeface="DejaVu Sans"/>
                <a:ea typeface="DejaVu Sans"/>
                <a:cs typeface="DejaVu Sans"/>
              </a:defRPr>
            </a:defPPr>
          </a:lstStyle>
          <a:p xmlns:a="http://schemas.openxmlformats.org/drawingml/2006/main">
            <a:pPr>
              <a:defRPr sz="1650" b="0">
                <a:solidFill>
                  <a:srgbClr val="52606D"/>
                </a:solidFill>
                <a:latin typeface="DejaVu Sans"/>
                <a:ea typeface="DejaVu Sans"/>
                <a:cs typeface="DejaVu Sans"/>
              </a:defRPr>
            </a:pPr>
            <a:r>
              <a:rPr sz="1650" b="0">
                <a:solidFill>
                  <a:srgbClr val="52606D"/>
                </a:solidFill>
                <a:latin typeface="DejaVu Sans"/>
                <a:ea typeface="DejaVu Sans"/>
                <a:cs typeface="DejaVu Sans"/>
              </a:rPr>
              <a:t>Small runs: learning rate 10⁻⁵, batch 4, gradient accumulation 8.</a:t>
            </a:r>
          </a:p>
        </p:txBody>
      </p:sp>
    </p:spTree>
    <p:extLst>
      <p:ext uri="{BB962C8B-B14F-4D97-AF65-F5344CB8AC3E}">
        <p14:creationId xmlns:p14="http://schemas.microsoft.com/office/powerpoint/2010/main" val="202084898"/>
      </p:ext>
    </p:extLst>
  </p:cSld>
</p:sld>
</file>

<file path=ppt/slides/slide28.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045488F9-7498-4C1B-B3EC-81C126552C8D}"/>
              </a:ext>
            </a:extLst>
          </p:cNvPr>
          <p:cNvSpPr>
            <a:spLocks xmlns:a="http://schemas.openxmlformats.org/drawingml/2006/main" noGrp="1"/>
          </p:cNvSpPr>
          <p:nvPr/>
        </p:nvSpPr>
        <p:spPr>
          <a:xfrm xmlns:a="http://schemas.openxmlformats.org/drawingml/2006/main">
            <a:off x="609600" y="152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2700" b="1">
                <a:solidFill>
                  <a:srgbClr val="1F2933"/>
                </a:solidFill>
                <a:latin typeface="DejaVu Sans"/>
                <a:ea typeface="DejaVu Sans"/>
                <a:cs typeface="DejaVu Sans"/>
              </a:rPr>
              <a:t>Telecom simulator architecture</a:t>
            </a:r>
          </a:p>
        </p:txBody>
      </p:sp>
      <p:sp>
        <p:nvSpPr>
          <p:cNvPr id="2" name="text-1">
            <a:extLst xmlns:a="http://schemas.openxmlformats.org/drawingml/2006/main">
              <a:ext uri="{FF2B5EF4-FFF2-40B4-BE49-F238E27FC236}">
                <a16:creationId xmlns:a16="http://schemas.microsoft.com/office/drawing/2014/main" id="{7542FF1F-5E53-486A-B4EC-04C803F39DF7}"/>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B08</a:t>
            </a:r>
          </a:p>
        </p:txBody>
      </p:sp>
      <p:pic>
        <p:nvPicPr>
          <p:cNvPr id="3" name="">
            <a:extLst xmlns:a="http://schemas.openxmlformats.org/drawingml/2006/main">
              <a:ext uri="{FF2B5EF4-FFF2-40B4-BE49-F238E27FC236}">
                <a16:creationId xmlns:a16="http://schemas.microsoft.com/office/drawing/2014/main" id="{02852E91-C292-4A97-96FF-CB3E45985C3F}"/>
              </a:ext>
            </a:extLst>
          </p:cNvPr>
          <p:cNvPicPr>
            <a:picLocks xmlns:a="http://schemas.openxmlformats.org/drawingml/2006/main" noChangeAspect="1"/>
          </p:cNvPicPr>
          <p:nvPr/>
        </p:nvPicPr>
        <p:blipFill>
          <a:blip xmlns:r="http://schemas.openxmlformats.org/officeDocument/2006/relationships" xmlns:a="http://schemas.openxmlformats.org/drawingml/2006/main" r:embed="R0b70cc91282c480b"/>
          <a:stretch xmlns:a="http://schemas.openxmlformats.org/drawingml/2006/main"/>
        </p:blipFill>
        <p:spPr>
          <a:xfrm xmlns:a="http://schemas.openxmlformats.org/drawingml/2006/main">
            <a:off x="2189788" y="800100"/>
            <a:ext cx="7812424" cy="5524500"/>
          </a:xfrm>
          <a:prstGeom xmlns:a="http://schemas.openxmlformats.org/drawingml/2006/main" prst="rect">
            <a:avLst/>
          </a:prstGeom>
        </p:spPr>
      </p:pic>
    </p:spTree>
    <p:extLst>
      <p:ext uri="{BB962C8B-B14F-4D97-AF65-F5344CB8AC3E}">
        <p14:creationId xmlns:p14="http://schemas.microsoft.com/office/powerpoint/2010/main" val="475427428"/>
      </p:ext>
    </p:extLst>
  </p:cSld>
</p:sld>
</file>

<file path=ppt/slides/slide29.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4105D7B2-8105-4630-B645-3482A08983E9}"/>
              </a:ext>
            </a:extLst>
          </p:cNvPr>
          <p:cNvSpPr>
            <a:spLocks xmlns:a="http://schemas.openxmlformats.org/drawingml/2006/main" noGrp="1"/>
          </p:cNvSpPr>
          <p:nvPr/>
        </p:nvSpPr>
        <p:spPr>
          <a:xfrm xmlns:a="http://schemas.openxmlformats.org/drawingml/2006/main">
            <a:off x="609600" y="152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2700" b="1">
                <a:solidFill>
                  <a:srgbClr val="1F2933"/>
                </a:solidFill>
                <a:latin typeface="DejaVu Sans"/>
                <a:ea typeface="DejaVu Sans"/>
                <a:cs typeface="DejaVu Sans"/>
              </a:rPr>
              <a:t>Fusion architecture and training</a:t>
            </a:r>
          </a:p>
        </p:txBody>
      </p:sp>
      <p:sp>
        <p:nvSpPr>
          <p:cNvPr id="2" name="text-1">
            <a:extLst xmlns:a="http://schemas.openxmlformats.org/drawingml/2006/main">
              <a:ext uri="{FF2B5EF4-FFF2-40B4-BE49-F238E27FC236}">
                <a16:creationId xmlns:a16="http://schemas.microsoft.com/office/drawing/2014/main" id="{07C26402-1EE8-4F7D-B833-1C9F18D48A19}"/>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B09</a:t>
            </a:r>
          </a:p>
        </p:txBody>
      </p:sp>
      <p:pic>
        <p:nvPicPr>
          <p:cNvPr id="3" name="">
            <a:extLst xmlns:a="http://schemas.openxmlformats.org/drawingml/2006/main">
              <a:ext uri="{FF2B5EF4-FFF2-40B4-BE49-F238E27FC236}">
                <a16:creationId xmlns:a16="http://schemas.microsoft.com/office/drawing/2014/main" id="{7904926B-6A4B-424F-9129-FDB39E434F31}"/>
              </a:ext>
            </a:extLst>
          </p:cNvPr>
          <p:cNvPicPr>
            <a:picLocks xmlns:a="http://schemas.openxmlformats.org/drawingml/2006/main" noChangeAspect="1"/>
          </p:cNvPicPr>
          <p:nvPr/>
        </p:nvPicPr>
        <p:blipFill>
          <a:blip xmlns:r="http://schemas.openxmlformats.org/officeDocument/2006/relationships" xmlns:a="http://schemas.openxmlformats.org/drawingml/2006/main" r:embed="R1873453e64f44f26"/>
          <a:stretch xmlns:a="http://schemas.openxmlformats.org/drawingml/2006/main"/>
        </p:blipFill>
        <p:spPr>
          <a:xfrm xmlns:a="http://schemas.openxmlformats.org/drawingml/2006/main">
            <a:off x="1865527" y="800100"/>
            <a:ext cx="8460946" cy="5524500"/>
          </a:xfrm>
          <a:prstGeom xmlns:a="http://schemas.openxmlformats.org/drawingml/2006/main" prst="rect">
            <a:avLst/>
          </a:prstGeom>
        </p:spPr>
      </p:pic>
    </p:spTree>
    <p:extLst>
      <p:ext uri="{BB962C8B-B14F-4D97-AF65-F5344CB8AC3E}">
        <p14:creationId xmlns:p14="http://schemas.microsoft.com/office/powerpoint/2010/main" val="1494872209"/>
      </p:ext>
    </p:extLst>
  </p:cSld>
</p:sld>
</file>

<file path=ppt/slides/slide30.xml><?xml version="1.0" encoding="utf-8"?>
<p:sld xmlns:p="http://schemas.openxmlformats.org/presentationml/2006/main" show="0">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D3AAE7DA-D194-4CB4-886E-5E7A5AA34091}"/>
              </a:ext>
            </a:extLst>
          </p:cNvPr>
          <p:cNvSpPr>
            <a:spLocks xmlns:a="http://schemas.openxmlformats.org/drawingml/2006/main" noGrp="1"/>
          </p:cNvSpPr>
          <p:nvPr/>
        </p:nvSpPr>
        <p:spPr>
          <a:xfrm xmlns:a="http://schemas.openxmlformats.org/drawingml/2006/main">
            <a:off x="609600" y="152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F2933"/>
                </a:solidFill>
                <a:latin typeface="DejaVu Sans"/>
                <a:ea typeface="DejaVu Sans"/>
                <a:cs typeface="DejaVu Sans"/>
              </a:defRPr>
            </a:defPPr>
          </a:lstStyle>
          <a:p xmlns:a="http://schemas.openxmlformats.org/drawingml/2006/main">
            <a:pPr>
              <a:defRPr sz="3150" b="1">
                <a:solidFill>
                  <a:srgbClr val="1F2933"/>
                </a:solidFill>
                <a:latin typeface="DejaVu Sans"/>
                <a:ea typeface="DejaVu Sans"/>
                <a:cs typeface="DejaVu Sans"/>
              </a:defRPr>
            </a:pPr>
            <a:r>
              <a:rPr sz="2700" b="1">
                <a:solidFill>
                  <a:srgbClr val="1F2933"/>
                </a:solidFill>
                <a:latin typeface="DejaVu Sans"/>
                <a:ea typeface="DejaVu Sans"/>
                <a:cs typeface="DejaVu Sans"/>
              </a:rPr>
              <a:t>Long-audio construction pipeline</a:t>
            </a:r>
          </a:p>
        </p:txBody>
      </p:sp>
      <p:sp>
        <p:nvSpPr>
          <p:cNvPr id="2" name="text-1">
            <a:extLst xmlns:a="http://schemas.openxmlformats.org/drawingml/2006/main">
              <a:ext uri="{FF2B5EF4-FFF2-40B4-BE49-F238E27FC236}">
                <a16:creationId xmlns:a16="http://schemas.microsoft.com/office/drawing/2014/main" id="{4AC71A00-AC83-4EA0-8CBA-506BFE9216E8}"/>
              </a:ext>
            </a:extLst>
          </p:cNvPr>
          <p:cNvSpPr>
            <a:spLocks xmlns:a="http://schemas.openxmlformats.org/drawingml/2006/main" noGrp="1"/>
          </p:cNvSpPr>
          <p:nvPr/>
        </p:nvSpPr>
        <p:spPr>
          <a:xfrm xmlns:a="http://schemas.openxmlformats.org/drawingml/2006/main">
            <a:off x="10953750" y="645795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7B8794"/>
                </a:solidFill>
                <a:latin typeface="DejaVu Sans"/>
                <a:ea typeface="DejaVu Sans"/>
                <a:cs typeface="DejaVu Sans"/>
              </a:defRPr>
            </a:defPPr>
          </a:lstStyle>
          <a:p xmlns:a="http://schemas.openxmlformats.org/drawingml/2006/main">
            <a:pPr>
              <a:defRPr sz="1200" b="0">
                <a:solidFill>
                  <a:srgbClr val="7B8794"/>
                </a:solidFill>
                <a:latin typeface="DejaVu Sans"/>
                <a:ea typeface="DejaVu Sans"/>
                <a:cs typeface="DejaVu Sans"/>
              </a:defRPr>
            </a:pPr>
            <a:r>
              <a:rPr sz="1200" b="0">
                <a:solidFill>
                  <a:srgbClr val="7B8794"/>
                </a:solidFill>
                <a:latin typeface="DejaVu Sans"/>
                <a:ea typeface="DejaVu Sans"/>
                <a:cs typeface="DejaVu Sans"/>
              </a:rPr>
              <a:t>B10</a:t>
            </a:r>
          </a:p>
        </p:txBody>
      </p:sp>
      <p:pic>
        <p:nvPicPr>
          <p:cNvPr id="3" name="">
            <a:extLst xmlns:a="http://schemas.openxmlformats.org/drawingml/2006/main">
              <a:ext uri="{FF2B5EF4-FFF2-40B4-BE49-F238E27FC236}">
                <a16:creationId xmlns:a16="http://schemas.microsoft.com/office/drawing/2014/main" id="{490CAC6A-229A-40B6-ADC8-FD11A4DFD60E}"/>
              </a:ext>
            </a:extLst>
          </p:cNvPr>
          <p:cNvPicPr>
            <a:picLocks xmlns:a="http://schemas.openxmlformats.org/drawingml/2006/main" noChangeAspect="1"/>
          </p:cNvPicPr>
          <p:nvPr/>
        </p:nvPicPr>
        <p:blipFill>
          <a:blip xmlns:r="http://schemas.openxmlformats.org/officeDocument/2006/relationships" xmlns:a="http://schemas.openxmlformats.org/drawingml/2006/main" r:embed="Rb11713ac409d41bb"/>
          <a:stretch xmlns:a="http://schemas.openxmlformats.org/drawingml/2006/main"/>
        </p:blipFill>
        <p:spPr>
          <a:xfrm xmlns:a="http://schemas.openxmlformats.org/drawingml/2006/main">
            <a:off x="2189788" y="800100"/>
            <a:ext cx="7812424" cy="5524500"/>
          </a:xfrm>
          <a:prstGeom xmlns:a="http://schemas.openxmlformats.org/drawingml/2006/main" prst="rect">
            <a:avLst/>
          </a:prstGeom>
        </p:spPr>
      </p:pic>
    </p:spTree>
    <p:extLst>
      <p:ext uri="{BB962C8B-B14F-4D97-AF65-F5344CB8AC3E}">
        <p14:creationId xmlns:p14="http://schemas.microsoft.com/office/powerpoint/2010/main" val="5425294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2026-10-10T11:28:46.4230000Z</dcterms:created>
  <dcterms:modified xsi:type="dcterms:W3CDTF">2026-10-10T11:28:46.4230000Z</dcterms:modified>
</coreProperties>
</file>