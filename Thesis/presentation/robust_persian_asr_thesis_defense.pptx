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thesis studies robust Persian automatic speech recognition under telephone and Voice over IP conditions. The central question is whether carefully simulated, traceable telecom degradations can reduce the mismatch between ordinary Persian speech data and real calls—and whether a more complex enhancement-and-fusion model improves further over a strong multi-condition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ASR accuracy depends not only on language and content, but also on how closely training conditions match deployment. This mismatch is especially important for Persian because public resources are more limited, while collecting and transcribing real calls is expensive and raises privacy and legal concerns. Controlled simulation is therefore attractive, but it must transfer to real—not only synthetic—channels.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evaluation was deliberately designed to permit a negative answer for the proposed fusion architecture. The relevant comparison is not merely against ordinary Whisper, but against a simpler model exposed to the same degradation knowledge through multi-condition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operates at three levels: consistent data preparation, reproducible telecom simulation, and model training. The main experimental logic is to first isolate the effect of degraded training data in a controlled single-stream comparison, then test whether a dual-stream enhancement pathway provides additional useful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datasets follow the same TSV contract and audio/text preprocessing. Longer variants were also produced by concatenating two to four clips into 5–20 second examples. AGFarsdat is the most important application-domain test because it contains real telephone and VoIP speech and was not used to generate synthetic training samples. Test counts can vary slightly when references exceed Whisper’s token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Randomness is controlled per sample, so changing processing order does not change a clip’s degradation. Codec delay is estimated and compensated, and pair lengths are aligned. For narrowband paths, the clean enhancement target is also band-limited; the enhancer is therefore not penalized for failing to reconstruct frequencies fundamentally removed by the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is intentional: noise and gain occur before channel and codec processing, while network impairment occurs after encoding. Supported codecs include G.711 A-law and μ-law, GSM, AMR-NB, AMR-WB, and narrowband or wideband Opus. Opus packets can be removed before decoding so the decoder’s own packet-loss concealment is exercised. For non-Opus codecs, decoded-waveform frame dropout is explicitly recorded as an approximation rather than exact network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Whisper-small was chosen to balance model capacity against the cost of multiple training runs. The ordinary and multi-condition systems are the cleanest causal comparison in the thesis. The fusion model changes both architecture and training schedule, so its comparison is informative but not as tightly controlled.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Enhancement can remove noise but may also remove low-energy phonetic cues or introduce artifacts. The architecture therefore keeps the original representation rather than replacing it. Both views pass through a shared encoder, exchange information using bidirectional cross-attention, and are combined by a learned gate that can, in principle, select the more useful view at each time–feature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fusion model was not simply a longer copy of the first run: several factors changed simultaneously. Consequently, the improvement between fusion versions cannot be attributed to one component. This distinction matters later when interpreting the development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single-stream runs are fully paired. The fusion aggregate is not perfectly paired because it includes one additional Common Voice and five additional Persian Speech Corpus examples. This is a very small fraction, but it reinforces why small differences involving fusion must not be presented as conclusive. No confidence intervals or significance tests were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result of the thesis. Adding degraded speech lowers aggregate WER from 23.27% to 17.83%—5.44 percentage points, or 23.4% relative. Because the single-stream runs use the same evaluation and optimization settings, this provides controlled evidence for multi-condition training. Fusion remains better than ordinary Whisper but is 0.62 percentage points worse than the multi-condition baseline and has substantially worse 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AGFarsdat was not produced by the simulator, so this reduction is evidence that synthetic telecom diversity transferred to a real channel. Fusion achieves the lowest observed WER, but its advantage over multi-condition Whisper is only 0.42 percentage points and was not tested for significance. The defensible conclusion is that fusion preserves the multi-condition model’s target-domain performance with a small numerical improvement—not that it conclusively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Multi-condition training improves strongly on Common Voice and modestly on FLEURS, but not on PersianSpeech or the Persian Speech Corpus. PersianSpeech contains only 24 scored examples, so each sample has a large effect. On the Persian Speech Corpus, ordinary Whisper is best and fusion is worst. These results show that channel robustness and cross-domain generalization are related but not identical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Fusion performs competitively on AGFarsdat and PersianSpeech CER, but the aggregate CER is worse than both single-stream systems. The Common Voice divergence is particularly striking. Aggregate files alone cannot determine whether this comes from very long outputs, repeated characters, normalization issues, or another insertion/deletion pattern. Sample-level error decomposition is needed before claiming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run improves WER by 5.90 percentage points over the first fusion run, but several changes were made simultaneously, so no single change receives causal credit. The gate’s mean and median are both near the same extreme, suggesting this is not driven by a few outliers. Still, gate weight alone does not prove that the enhancer contributes nothing, because cross-attention can exchange information before gating. Ablation studies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contribution is not only a model. It is a reproducible data workflow, controlled empirical evidence that telecom-oriented augmentation helps Persian ASR, and an evaluation framework that tests a proposed architecture against the stronger baseline it must actually beat. The negative fusion findings narrow the next research questions rather than being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priority is diagnostic evaluation, not immediate architectural expansion. A paired re-evaluation and confidence intervals would establish which differences are reliable. Ablations can then determine whether the enhanced stream, cross-attention, or gate contributes. Deployment decisions also require computational measurements because fusion runs the Whisper encoder for two views and adds enhancer and attention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conclusion is deliberately simple: for robust Persian ASR under telephone and VoIP degradation, reproducible telecom-oriented augmentation and direct multi-condition training currently offer the strongest overall result. The fusion work remains useful because it produced a competitive model and exposed a concrete gate-collapse problem, but added complexity should be accepted only when it provides repeatable benefit over the strong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Shape 1"/>
          <p:cNvSpPr/>
          <p:nvPr/>
        </p:nvSpPr>
        <p:spPr>
          <a:xfrm>
            <a:off x="411480" y="4453128"/>
            <a:ext cx="0" cy="201168"/>
          </a:xfrm>
          <a:prstGeom prst="line">
            <a:avLst/>
          </a:prstGeom>
          <a:solidFill>
            <a:srgbClr val="FFFFFF">
              <a:alpha val="0"/>
            </a:srgbClr>
          </a:solidFill>
          <a:ln w="13970">
            <a:solidFill>
              <a:srgbClr val="0078B8">
                <a:alpha val="38000"/>
              </a:srgbClr>
            </a:solidFill>
            <a:prstDash val="solid"/>
          </a:ln>
        </p:spPr>
      </p:sp>
      <p:sp>
        <p:nvSpPr>
          <p:cNvPr id="4" name="Shape 2"/>
          <p:cNvSpPr/>
          <p:nvPr/>
        </p:nvSpPr>
        <p:spPr>
          <a:xfrm>
            <a:off x="576072" y="4432768"/>
            <a:ext cx="0" cy="241889"/>
          </a:xfrm>
          <a:prstGeom prst="line">
            <a:avLst/>
          </a:prstGeom>
          <a:solidFill>
            <a:srgbClr val="FFFFFF">
              <a:alpha val="0"/>
            </a:srgbClr>
          </a:solidFill>
          <a:ln w="13970">
            <a:solidFill>
              <a:srgbClr val="0078B8">
                <a:alpha val="38000"/>
              </a:srgbClr>
            </a:solidFill>
            <a:prstDash val="solid"/>
          </a:ln>
        </p:spPr>
      </p:sp>
      <p:sp>
        <p:nvSpPr>
          <p:cNvPr id="5" name="Shape 3"/>
          <p:cNvSpPr/>
          <p:nvPr/>
        </p:nvSpPr>
        <p:spPr>
          <a:xfrm>
            <a:off x="740664" y="4413673"/>
            <a:ext cx="0" cy="280078"/>
          </a:xfrm>
          <a:prstGeom prst="line">
            <a:avLst/>
          </a:prstGeom>
          <a:solidFill>
            <a:srgbClr val="FFFFFF">
              <a:alpha val="0"/>
            </a:srgbClr>
          </a:solidFill>
          <a:ln w="13970">
            <a:solidFill>
              <a:srgbClr val="0078B8">
                <a:alpha val="38000"/>
              </a:srgbClr>
            </a:solidFill>
            <a:prstDash val="solid"/>
          </a:ln>
        </p:spPr>
      </p:sp>
      <p:sp>
        <p:nvSpPr>
          <p:cNvPr id="6" name="Shape 4"/>
          <p:cNvSpPr/>
          <p:nvPr/>
        </p:nvSpPr>
        <p:spPr>
          <a:xfrm>
            <a:off x="905256" y="4397032"/>
            <a:ext cx="0" cy="313360"/>
          </a:xfrm>
          <a:prstGeom prst="line">
            <a:avLst/>
          </a:prstGeom>
          <a:solidFill>
            <a:srgbClr val="FFFFFF">
              <a:alpha val="0"/>
            </a:srgbClr>
          </a:solidFill>
          <a:ln w="13970">
            <a:solidFill>
              <a:srgbClr val="0078B8">
                <a:alpha val="38000"/>
              </a:srgbClr>
            </a:solidFill>
            <a:prstDash val="solid"/>
          </a:ln>
        </p:spPr>
      </p:sp>
      <p:sp>
        <p:nvSpPr>
          <p:cNvPr id="7" name="Shape 5"/>
          <p:cNvSpPr/>
          <p:nvPr/>
        </p:nvSpPr>
        <p:spPr>
          <a:xfrm>
            <a:off x="1069848" y="4383878"/>
            <a:ext cx="0" cy="339667"/>
          </a:xfrm>
          <a:prstGeom prst="line">
            <a:avLst/>
          </a:prstGeom>
          <a:solidFill>
            <a:srgbClr val="FFFFFF">
              <a:alpha val="0"/>
            </a:srgbClr>
          </a:solidFill>
          <a:ln w="13970">
            <a:solidFill>
              <a:srgbClr val="0078B8">
                <a:alpha val="38000"/>
              </a:srgbClr>
            </a:solidFill>
            <a:prstDash val="solid"/>
          </a:ln>
        </p:spPr>
      </p:sp>
      <p:sp>
        <p:nvSpPr>
          <p:cNvPr id="8" name="Shape 6"/>
          <p:cNvSpPr/>
          <p:nvPr/>
        </p:nvSpPr>
        <p:spPr>
          <a:xfrm>
            <a:off x="1234440" y="4375030"/>
            <a:ext cx="0" cy="357363"/>
          </a:xfrm>
          <a:prstGeom prst="line">
            <a:avLst/>
          </a:prstGeom>
          <a:solidFill>
            <a:srgbClr val="FFFFFF">
              <a:alpha val="0"/>
            </a:srgbClr>
          </a:solidFill>
          <a:ln w="13970">
            <a:solidFill>
              <a:srgbClr val="0078B8">
                <a:alpha val="38000"/>
              </a:srgbClr>
            </a:solidFill>
            <a:prstDash val="solid"/>
          </a:ln>
        </p:spPr>
      </p:sp>
      <p:sp>
        <p:nvSpPr>
          <p:cNvPr id="9" name="Shape 7"/>
          <p:cNvSpPr/>
          <p:nvPr/>
        </p:nvSpPr>
        <p:spPr>
          <a:xfrm>
            <a:off x="1399032" y="4371038"/>
            <a:ext cx="0" cy="365348"/>
          </a:xfrm>
          <a:prstGeom prst="line">
            <a:avLst/>
          </a:prstGeom>
          <a:solidFill>
            <a:srgbClr val="FFFFFF">
              <a:alpha val="0"/>
            </a:srgbClr>
          </a:solidFill>
          <a:ln w="13970">
            <a:solidFill>
              <a:srgbClr val="0078B8">
                <a:alpha val="38000"/>
              </a:srgbClr>
            </a:solidFill>
            <a:prstDash val="solid"/>
          </a:ln>
        </p:spPr>
      </p:sp>
      <p:sp>
        <p:nvSpPr>
          <p:cNvPr id="10" name="Shape 8"/>
          <p:cNvSpPr/>
          <p:nvPr/>
        </p:nvSpPr>
        <p:spPr>
          <a:xfrm>
            <a:off x="1563624" y="4372150"/>
            <a:ext cx="0" cy="363124"/>
          </a:xfrm>
          <a:prstGeom prst="line">
            <a:avLst/>
          </a:prstGeom>
          <a:solidFill>
            <a:srgbClr val="FFFFFF">
              <a:alpha val="0"/>
            </a:srgbClr>
          </a:solidFill>
          <a:ln w="13970">
            <a:solidFill>
              <a:srgbClr val="0078B8">
                <a:alpha val="38000"/>
              </a:srgbClr>
            </a:solidFill>
            <a:prstDash val="solid"/>
          </a:ln>
        </p:spPr>
      </p:sp>
      <p:sp>
        <p:nvSpPr>
          <p:cNvPr id="11" name="Shape 9"/>
          <p:cNvSpPr/>
          <p:nvPr/>
        </p:nvSpPr>
        <p:spPr>
          <a:xfrm>
            <a:off x="1728216" y="4378296"/>
            <a:ext cx="0" cy="350831"/>
          </a:xfrm>
          <a:prstGeom prst="line">
            <a:avLst/>
          </a:prstGeom>
          <a:solidFill>
            <a:srgbClr val="FFFFFF">
              <a:alpha val="0"/>
            </a:srgbClr>
          </a:solidFill>
          <a:ln w="13970">
            <a:solidFill>
              <a:srgbClr val="0078B8">
                <a:alpha val="38000"/>
              </a:srgbClr>
            </a:solidFill>
            <a:prstDash val="solid"/>
          </a:ln>
        </p:spPr>
      </p:sp>
      <p:sp>
        <p:nvSpPr>
          <p:cNvPr id="12" name="Shape 10"/>
          <p:cNvSpPr/>
          <p:nvPr/>
        </p:nvSpPr>
        <p:spPr>
          <a:xfrm>
            <a:off x="1892808" y="4389096"/>
            <a:ext cx="0" cy="329233"/>
          </a:xfrm>
          <a:prstGeom prst="line">
            <a:avLst/>
          </a:prstGeom>
          <a:solidFill>
            <a:srgbClr val="FFFFFF">
              <a:alpha val="0"/>
            </a:srgbClr>
          </a:solidFill>
          <a:ln w="13970">
            <a:solidFill>
              <a:srgbClr val="0078B8">
                <a:alpha val="38000"/>
              </a:srgbClr>
            </a:solidFill>
            <a:prstDash val="solid"/>
          </a:ln>
        </p:spPr>
      </p:sp>
      <p:sp>
        <p:nvSpPr>
          <p:cNvPr id="13" name="Shape 11"/>
          <p:cNvSpPr/>
          <p:nvPr/>
        </p:nvSpPr>
        <p:spPr>
          <a:xfrm>
            <a:off x="2057400" y="4403876"/>
            <a:ext cx="0" cy="299672"/>
          </a:xfrm>
          <a:prstGeom prst="line">
            <a:avLst/>
          </a:prstGeom>
          <a:solidFill>
            <a:srgbClr val="FFFFFF">
              <a:alpha val="0"/>
            </a:srgbClr>
          </a:solidFill>
          <a:ln w="13970">
            <a:solidFill>
              <a:srgbClr val="0078B8">
                <a:alpha val="38000"/>
              </a:srgbClr>
            </a:solidFill>
            <a:prstDash val="solid"/>
          </a:ln>
        </p:spPr>
      </p:sp>
      <p:sp>
        <p:nvSpPr>
          <p:cNvPr id="14" name="Shape 12"/>
          <p:cNvSpPr/>
          <p:nvPr/>
        </p:nvSpPr>
        <p:spPr>
          <a:xfrm>
            <a:off x="2221992" y="4421719"/>
            <a:ext cx="0" cy="263986"/>
          </a:xfrm>
          <a:prstGeom prst="line">
            <a:avLst/>
          </a:prstGeom>
          <a:solidFill>
            <a:srgbClr val="FFFFFF">
              <a:alpha val="0"/>
            </a:srgbClr>
          </a:solidFill>
          <a:ln w="13970">
            <a:solidFill>
              <a:srgbClr val="0078B8">
                <a:alpha val="38000"/>
              </a:srgbClr>
            </a:solidFill>
            <a:prstDash val="solid"/>
          </a:ln>
        </p:spPr>
      </p:sp>
      <p:sp>
        <p:nvSpPr>
          <p:cNvPr id="15" name="Shape 13"/>
          <p:cNvSpPr/>
          <p:nvPr/>
        </p:nvSpPr>
        <p:spPr>
          <a:xfrm>
            <a:off x="2386584" y="4441514"/>
            <a:ext cx="0" cy="224395"/>
          </a:xfrm>
          <a:prstGeom prst="line">
            <a:avLst/>
          </a:prstGeom>
          <a:solidFill>
            <a:srgbClr val="FFFFFF">
              <a:alpha val="0"/>
            </a:srgbClr>
          </a:solidFill>
          <a:ln w="13970">
            <a:solidFill>
              <a:srgbClr val="0078B8">
                <a:alpha val="38000"/>
              </a:srgbClr>
            </a:solidFill>
            <a:prstDash val="solid"/>
          </a:ln>
        </p:spPr>
      </p:sp>
      <p:sp>
        <p:nvSpPr>
          <p:cNvPr id="16" name="Shape 14"/>
          <p:cNvSpPr/>
          <p:nvPr/>
        </p:nvSpPr>
        <p:spPr>
          <a:xfrm>
            <a:off x="2551176" y="4462032"/>
            <a:ext cx="0" cy="183360"/>
          </a:xfrm>
          <a:prstGeom prst="line">
            <a:avLst/>
          </a:prstGeom>
          <a:solidFill>
            <a:srgbClr val="FFFFFF">
              <a:alpha val="0"/>
            </a:srgbClr>
          </a:solidFill>
          <a:ln w="13970">
            <a:solidFill>
              <a:srgbClr val="0078B8">
                <a:alpha val="38000"/>
              </a:srgbClr>
            </a:solidFill>
            <a:prstDash val="solid"/>
          </a:ln>
        </p:spPr>
      </p:sp>
      <p:sp>
        <p:nvSpPr>
          <p:cNvPr id="17" name="Shape 15"/>
          <p:cNvSpPr/>
          <p:nvPr/>
        </p:nvSpPr>
        <p:spPr>
          <a:xfrm>
            <a:off x="2715768" y="4481996"/>
            <a:ext cx="0" cy="143432"/>
          </a:xfrm>
          <a:prstGeom prst="line">
            <a:avLst/>
          </a:prstGeom>
          <a:solidFill>
            <a:srgbClr val="FFFFFF">
              <a:alpha val="0"/>
            </a:srgbClr>
          </a:solidFill>
          <a:ln w="13970">
            <a:solidFill>
              <a:srgbClr val="0078B8">
                <a:alpha val="38000"/>
              </a:srgbClr>
            </a:solidFill>
            <a:prstDash val="solid"/>
          </a:ln>
        </p:spPr>
      </p:sp>
      <p:sp>
        <p:nvSpPr>
          <p:cNvPr id="18" name="Shape 16"/>
          <p:cNvSpPr/>
          <p:nvPr/>
        </p:nvSpPr>
        <p:spPr>
          <a:xfrm>
            <a:off x="2880360" y="4500165"/>
            <a:ext cx="0" cy="107094"/>
          </a:xfrm>
          <a:prstGeom prst="line">
            <a:avLst/>
          </a:prstGeom>
          <a:solidFill>
            <a:srgbClr val="FFFFFF">
              <a:alpha val="0"/>
            </a:srgbClr>
          </a:solidFill>
          <a:ln w="13970">
            <a:solidFill>
              <a:srgbClr val="0078B8">
                <a:alpha val="38000"/>
              </a:srgbClr>
            </a:solidFill>
            <a:prstDash val="solid"/>
          </a:ln>
        </p:spPr>
      </p:sp>
      <p:sp>
        <p:nvSpPr>
          <p:cNvPr id="19" name="Shape 17"/>
          <p:cNvSpPr/>
          <p:nvPr/>
        </p:nvSpPr>
        <p:spPr>
          <a:xfrm>
            <a:off x="3044952" y="4515410"/>
            <a:ext cx="0" cy="76604"/>
          </a:xfrm>
          <a:prstGeom prst="line">
            <a:avLst/>
          </a:prstGeom>
          <a:solidFill>
            <a:srgbClr val="FFFFFF">
              <a:alpha val="0"/>
            </a:srgbClr>
          </a:solidFill>
          <a:ln w="13970">
            <a:solidFill>
              <a:srgbClr val="0078B8">
                <a:alpha val="38000"/>
              </a:srgbClr>
            </a:solidFill>
            <a:prstDash val="solid"/>
          </a:ln>
        </p:spPr>
      </p:sp>
      <p:sp>
        <p:nvSpPr>
          <p:cNvPr id="20" name="Shape 18"/>
          <p:cNvSpPr/>
          <p:nvPr/>
        </p:nvSpPr>
        <p:spPr>
          <a:xfrm>
            <a:off x="3209544" y="4526782"/>
            <a:ext cx="0" cy="53860"/>
          </a:xfrm>
          <a:prstGeom prst="line">
            <a:avLst/>
          </a:prstGeom>
          <a:solidFill>
            <a:srgbClr val="FFFFFF">
              <a:alpha val="0"/>
            </a:srgbClr>
          </a:solidFill>
          <a:ln w="13970">
            <a:solidFill>
              <a:srgbClr val="0078B8">
                <a:alpha val="38000"/>
              </a:srgbClr>
            </a:solidFill>
            <a:prstDash val="solid"/>
          </a:ln>
        </p:spPr>
      </p:sp>
      <p:sp>
        <p:nvSpPr>
          <p:cNvPr id="21" name="Shape 19"/>
          <p:cNvSpPr/>
          <p:nvPr/>
        </p:nvSpPr>
        <p:spPr>
          <a:xfrm>
            <a:off x="3374136" y="4533575"/>
            <a:ext cx="0" cy="40274"/>
          </a:xfrm>
          <a:prstGeom prst="line">
            <a:avLst/>
          </a:prstGeom>
          <a:solidFill>
            <a:srgbClr val="FFFFFF">
              <a:alpha val="0"/>
            </a:srgbClr>
          </a:solidFill>
          <a:ln w="13970">
            <a:solidFill>
              <a:srgbClr val="0078B8">
                <a:alpha val="38000"/>
              </a:srgbClr>
            </a:solidFill>
            <a:prstDash val="solid"/>
          </a:ln>
        </p:spPr>
      </p:sp>
      <p:sp>
        <p:nvSpPr>
          <p:cNvPr id="22" name="Shape 20"/>
          <p:cNvSpPr/>
          <p:nvPr/>
        </p:nvSpPr>
        <p:spPr>
          <a:xfrm>
            <a:off x="3538728" y="4535366"/>
            <a:ext cx="0" cy="36692"/>
          </a:xfrm>
          <a:prstGeom prst="line">
            <a:avLst/>
          </a:prstGeom>
          <a:solidFill>
            <a:srgbClr val="FFFFFF">
              <a:alpha val="0"/>
            </a:srgbClr>
          </a:solidFill>
          <a:ln w="13970">
            <a:solidFill>
              <a:srgbClr val="0078B8">
                <a:alpha val="38000"/>
              </a:srgbClr>
            </a:solidFill>
            <a:prstDash val="solid"/>
          </a:ln>
        </p:spPr>
      </p:sp>
      <p:sp>
        <p:nvSpPr>
          <p:cNvPr id="23" name="Shape 21"/>
          <p:cNvSpPr/>
          <p:nvPr/>
        </p:nvSpPr>
        <p:spPr>
          <a:xfrm>
            <a:off x="3703320" y="4532044"/>
            <a:ext cx="0" cy="43337"/>
          </a:xfrm>
          <a:prstGeom prst="line">
            <a:avLst/>
          </a:prstGeom>
          <a:solidFill>
            <a:srgbClr val="FFFFFF">
              <a:alpha val="0"/>
            </a:srgbClr>
          </a:solidFill>
          <a:ln w="13970">
            <a:solidFill>
              <a:srgbClr val="0078B8">
                <a:alpha val="38000"/>
              </a:srgbClr>
            </a:solidFill>
            <a:prstDash val="solid"/>
          </a:ln>
        </p:spPr>
      </p:sp>
      <p:sp>
        <p:nvSpPr>
          <p:cNvPr id="24" name="Shape 22"/>
          <p:cNvSpPr/>
          <p:nvPr/>
        </p:nvSpPr>
        <p:spPr>
          <a:xfrm>
            <a:off x="3867912" y="4523815"/>
            <a:ext cx="0" cy="59794"/>
          </a:xfrm>
          <a:prstGeom prst="line">
            <a:avLst/>
          </a:prstGeom>
          <a:solidFill>
            <a:srgbClr val="FFFFFF">
              <a:alpha val="0"/>
            </a:srgbClr>
          </a:solidFill>
          <a:ln w="13970">
            <a:solidFill>
              <a:srgbClr val="0078B8">
                <a:alpha val="38000"/>
              </a:srgbClr>
            </a:solidFill>
            <a:prstDash val="solid"/>
          </a:ln>
        </p:spPr>
      </p:sp>
      <p:sp>
        <p:nvSpPr>
          <p:cNvPr id="25" name="Shape 23"/>
          <p:cNvSpPr/>
          <p:nvPr/>
        </p:nvSpPr>
        <p:spPr>
          <a:xfrm>
            <a:off x="4032504" y="4511191"/>
            <a:ext cx="0" cy="85042"/>
          </a:xfrm>
          <a:prstGeom prst="line">
            <a:avLst/>
          </a:prstGeom>
          <a:solidFill>
            <a:srgbClr val="FFFFFF">
              <a:alpha val="0"/>
            </a:srgbClr>
          </a:solidFill>
          <a:ln w="13970">
            <a:solidFill>
              <a:srgbClr val="0078B8">
                <a:alpha val="38000"/>
              </a:srgbClr>
            </a:solidFill>
            <a:prstDash val="solid"/>
          </a:ln>
        </p:spPr>
      </p:sp>
      <p:sp>
        <p:nvSpPr>
          <p:cNvPr id="26" name="Shape 24"/>
          <p:cNvSpPr/>
          <p:nvPr/>
        </p:nvSpPr>
        <p:spPr>
          <a:xfrm>
            <a:off x="4197096" y="4494957"/>
            <a:ext cx="0" cy="117509"/>
          </a:xfrm>
          <a:prstGeom prst="line">
            <a:avLst/>
          </a:prstGeom>
          <a:solidFill>
            <a:srgbClr val="FFFFFF">
              <a:alpha val="0"/>
            </a:srgbClr>
          </a:solidFill>
          <a:ln w="13970">
            <a:solidFill>
              <a:srgbClr val="0078B8">
                <a:alpha val="38000"/>
              </a:srgbClr>
            </a:solidFill>
            <a:prstDash val="solid"/>
          </a:ln>
        </p:spPr>
      </p:sp>
      <p:sp>
        <p:nvSpPr>
          <p:cNvPr id="27" name="Shape 25"/>
          <p:cNvSpPr/>
          <p:nvPr/>
        </p:nvSpPr>
        <p:spPr>
          <a:xfrm>
            <a:off x="4361688" y="4476123"/>
            <a:ext cx="0" cy="155178"/>
          </a:xfrm>
          <a:prstGeom prst="line">
            <a:avLst/>
          </a:prstGeom>
          <a:solidFill>
            <a:srgbClr val="FFFFFF">
              <a:alpha val="0"/>
            </a:srgbClr>
          </a:solidFill>
          <a:ln w="13970">
            <a:solidFill>
              <a:srgbClr val="0078B8">
                <a:alpha val="38000"/>
              </a:srgbClr>
            </a:solidFill>
            <a:prstDash val="solid"/>
          </a:ln>
        </p:spPr>
      </p:sp>
      <p:sp>
        <p:nvSpPr>
          <p:cNvPr id="28" name="Shape 26"/>
          <p:cNvSpPr/>
          <p:nvPr/>
        </p:nvSpPr>
        <p:spPr>
          <a:xfrm>
            <a:off x="4526280" y="4455859"/>
            <a:ext cx="0" cy="195707"/>
          </a:xfrm>
          <a:prstGeom prst="line">
            <a:avLst/>
          </a:prstGeom>
          <a:solidFill>
            <a:srgbClr val="FFFFFF">
              <a:alpha val="0"/>
            </a:srgbClr>
          </a:solidFill>
          <a:ln w="13970">
            <a:solidFill>
              <a:srgbClr val="0078B8">
                <a:alpha val="38000"/>
              </a:srgbClr>
            </a:solidFill>
            <a:prstDash val="solid"/>
          </a:ln>
        </p:spPr>
      </p:sp>
      <p:sp>
        <p:nvSpPr>
          <p:cNvPr id="29" name="Shape 27"/>
          <p:cNvSpPr/>
          <p:nvPr/>
        </p:nvSpPr>
        <p:spPr>
          <a:xfrm>
            <a:off x="4690872" y="4435424"/>
            <a:ext cx="0" cy="236575"/>
          </a:xfrm>
          <a:prstGeom prst="line">
            <a:avLst/>
          </a:prstGeom>
          <a:solidFill>
            <a:srgbClr val="FFFFFF">
              <a:alpha val="0"/>
            </a:srgbClr>
          </a:solidFill>
          <a:ln w="13970">
            <a:solidFill>
              <a:srgbClr val="0078B8">
                <a:alpha val="38000"/>
              </a:srgbClr>
            </a:solidFill>
            <a:prstDash val="solid"/>
          </a:ln>
        </p:spPr>
      </p:sp>
      <p:sp>
        <p:nvSpPr>
          <p:cNvPr id="30" name="Shape 28"/>
          <p:cNvSpPr/>
          <p:nvPr/>
        </p:nvSpPr>
        <p:spPr>
          <a:xfrm>
            <a:off x="4855464" y="4416091"/>
            <a:ext cx="0" cy="275242"/>
          </a:xfrm>
          <a:prstGeom prst="line">
            <a:avLst/>
          </a:prstGeom>
          <a:solidFill>
            <a:srgbClr val="FFFFFF">
              <a:alpha val="0"/>
            </a:srgbClr>
          </a:solidFill>
          <a:ln w="13970">
            <a:solidFill>
              <a:srgbClr val="0078B8">
                <a:alpha val="38000"/>
              </a:srgbClr>
            </a:solidFill>
            <a:prstDash val="solid"/>
          </a:ln>
        </p:spPr>
      </p:sp>
      <p:sp>
        <p:nvSpPr>
          <p:cNvPr id="31" name="Shape 29"/>
          <p:cNvSpPr/>
          <p:nvPr/>
        </p:nvSpPr>
        <p:spPr>
          <a:xfrm>
            <a:off x="5020056" y="4399061"/>
            <a:ext cx="0" cy="309303"/>
          </a:xfrm>
          <a:prstGeom prst="line">
            <a:avLst/>
          </a:prstGeom>
          <a:solidFill>
            <a:srgbClr val="FFFFFF">
              <a:alpha val="0"/>
            </a:srgbClr>
          </a:solidFill>
          <a:ln w="13970">
            <a:solidFill>
              <a:srgbClr val="0078B8">
                <a:alpha val="38000"/>
              </a:srgbClr>
            </a:solidFill>
            <a:prstDash val="solid"/>
          </a:ln>
        </p:spPr>
      </p:sp>
      <p:sp>
        <p:nvSpPr>
          <p:cNvPr id="32" name="Shape 30"/>
          <p:cNvSpPr/>
          <p:nvPr/>
        </p:nvSpPr>
        <p:spPr>
          <a:xfrm>
            <a:off x="5184648" y="4385392"/>
            <a:ext cx="0" cy="336641"/>
          </a:xfrm>
          <a:prstGeom prst="line">
            <a:avLst/>
          </a:prstGeom>
          <a:solidFill>
            <a:srgbClr val="FFFFFF">
              <a:alpha val="0"/>
            </a:srgbClr>
          </a:solidFill>
          <a:ln w="13970">
            <a:solidFill>
              <a:srgbClr val="0078B8">
                <a:alpha val="38000"/>
              </a:srgbClr>
            </a:solidFill>
            <a:prstDash val="solid"/>
          </a:ln>
        </p:spPr>
      </p:sp>
      <p:sp>
        <p:nvSpPr>
          <p:cNvPr id="33" name="Shape 31"/>
          <p:cNvSpPr/>
          <p:nvPr/>
        </p:nvSpPr>
        <p:spPr>
          <a:xfrm>
            <a:off x="5349240" y="4375934"/>
            <a:ext cx="0" cy="355555"/>
          </a:xfrm>
          <a:prstGeom prst="line">
            <a:avLst/>
          </a:prstGeom>
          <a:solidFill>
            <a:srgbClr val="FFFFFF">
              <a:alpha val="0"/>
            </a:srgbClr>
          </a:solidFill>
          <a:ln w="13970">
            <a:solidFill>
              <a:srgbClr val="0078B8">
                <a:alpha val="38000"/>
              </a:srgbClr>
            </a:solidFill>
            <a:prstDash val="solid"/>
          </a:ln>
        </p:spPr>
      </p:sp>
      <p:sp>
        <p:nvSpPr>
          <p:cNvPr id="34" name="Shape 32"/>
          <p:cNvSpPr/>
          <p:nvPr/>
        </p:nvSpPr>
        <p:spPr>
          <a:xfrm>
            <a:off x="5513832" y="4371276"/>
            <a:ext cx="0" cy="364871"/>
          </a:xfrm>
          <a:prstGeom prst="line">
            <a:avLst/>
          </a:prstGeom>
          <a:solidFill>
            <a:srgbClr val="FFFFFF">
              <a:alpha val="0"/>
            </a:srgbClr>
          </a:solidFill>
          <a:ln w="13970">
            <a:solidFill>
              <a:srgbClr val="0078B8">
                <a:alpha val="38000"/>
              </a:srgbClr>
            </a:solidFill>
            <a:prstDash val="solid"/>
          </a:ln>
        </p:spPr>
      </p:sp>
      <p:sp>
        <p:nvSpPr>
          <p:cNvPr id="35" name="Shape 33"/>
          <p:cNvSpPr/>
          <p:nvPr/>
        </p:nvSpPr>
        <p:spPr>
          <a:xfrm>
            <a:off x="5678424" y="4371708"/>
            <a:ext cx="0" cy="364008"/>
          </a:xfrm>
          <a:prstGeom prst="line">
            <a:avLst/>
          </a:prstGeom>
          <a:solidFill>
            <a:srgbClr val="FFFFFF">
              <a:alpha val="0"/>
            </a:srgbClr>
          </a:solidFill>
          <a:ln w="13970">
            <a:solidFill>
              <a:srgbClr val="0078B8">
                <a:alpha val="38000"/>
              </a:srgbClr>
            </a:solidFill>
            <a:prstDash val="solid"/>
          </a:ln>
        </p:spPr>
      </p:sp>
      <p:sp>
        <p:nvSpPr>
          <p:cNvPr id="36" name="Shape 34"/>
          <p:cNvSpPr/>
          <p:nvPr/>
        </p:nvSpPr>
        <p:spPr>
          <a:xfrm>
            <a:off x="5843016" y="4377201"/>
            <a:ext cx="0" cy="353021"/>
          </a:xfrm>
          <a:prstGeom prst="line">
            <a:avLst/>
          </a:prstGeom>
          <a:solidFill>
            <a:srgbClr val="FFFFFF">
              <a:alpha val="0"/>
            </a:srgbClr>
          </a:solidFill>
          <a:ln w="13970">
            <a:solidFill>
              <a:srgbClr val="0078B8">
                <a:alpha val="38000"/>
              </a:srgbClr>
            </a:solidFill>
            <a:prstDash val="solid"/>
          </a:ln>
        </p:spPr>
      </p:sp>
      <p:sp>
        <p:nvSpPr>
          <p:cNvPr id="37" name="Shape 35"/>
          <p:cNvSpPr/>
          <p:nvPr/>
        </p:nvSpPr>
        <p:spPr>
          <a:xfrm>
            <a:off x="6007608" y="4387416"/>
            <a:ext cx="0" cy="332593"/>
          </a:xfrm>
          <a:prstGeom prst="line">
            <a:avLst/>
          </a:prstGeom>
          <a:solidFill>
            <a:srgbClr val="FFFFFF">
              <a:alpha val="0"/>
            </a:srgbClr>
          </a:solidFill>
          <a:ln w="13970">
            <a:solidFill>
              <a:srgbClr val="0078B8">
                <a:alpha val="38000"/>
              </a:srgbClr>
            </a:solidFill>
            <a:prstDash val="solid"/>
          </a:ln>
        </p:spPr>
      </p:sp>
      <p:sp>
        <p:nvSpPr>
          <p:cNvPr id="38" name="Shape 36"/>
          <p:cNvSpPr/>
          <p:nvPr/>
        </p:nvSpPr>
        <p:spPr>
          <a:xfrm>
            <a:off x="6172200" y="4401716"/>
            <a:ext cx="0" cy="303993"/>
          </a:xfrm>
          <a:prstGeom prst="line">
            <a:avLst/>
          </a:prstGeom>
          <a:solidFill>
            <a:srgbClr val="FFFFFF">
              <a:alpha val="0"/>
            </a:srgbClr>
          </a:solidFill>
          <a:ln w="13970">
            <a:solidFill>
              <a:srgbClr val="D65F00">
                <a:alpha val="38000"/>
              </a:srgbClr>
            </a:solidFill>
            <a:prstDash val="solid"/>
          </a:ln>
        </p:spPr>
      </p:sp>
      <p:sp>
        <p:nvSpPr>
          <p:cNvPr id="39" name="Shape 37"/>
          <p:cNvSpPr/>
          <p:nvPr/>
        </p:nvSpPr>
        <p:spPr>
          <a:xfrm>
            <a:off x="6336792" y="4419212"/>
            <a:ext cx="0" cy="268999"/>
          </a:xfrm>
          <a:prstGeom prst="line">
            <a:avLst/>
          </a:prstGeom>
          <a:solidFill>
            <a:srgbClr val="FFFFFF">
              <a:alpha val="0"/>
            </a:srgbClr>
          </a:solidFill>
          <a:ln w="13970">
            <a:solidFill>
              <a:srgbClr val="D65F00">
                <a:alpha val="38000"/>
              </a:srgbClr>
            </a:solidFill>
            <a:prstDash val="solid"/>
          </a:ln>
        </p:spPr>
      </p:sp>
      <p:sp>
        <p:nvSpPr>
          <p:cNvPr id="40" name="Shape 38"/>
          <p:cNvSpPr/>
          <p:nvPr/>
        </p:nvSpPr>
        <p:spPr>
          <a:xfrm>
            <a:off x="6501384" y="4438818"/>
            <a:ext cx="0" cy="229789"/>
          </a:xfrm>
          <a:prstGeom prst="line">
            <a:avLst/>
          </a:prstGeom>
          <a:solidFill>
            <a:srgbClr val="FFFFFF">
              <a:alpha val="0"/>
            </a:srgbClr>
          </a:solidFill>
          <a:ln w="13970">
            <a:solidFill>
              <a:srgbClr val="D65F00">
                <a:alpha val="38000"/>
              </a:srgbClr>
            </a:solidFill>
            <a:prstDash val="solid"/>
          </a:ln>
        </p:spPr>
      </p:sp>
      <p:sp>
        <p:nvSpPr>
          <p:cNvPr id="41" name="Shape 39"/>
          <p:cNvSpPr/>
          <p:nvPr/>
        </p:nvSpPr>
        <p:spPr>
          <a:xfrm>
            <a:off x="6665976" y="4459313"/>
            <a:ext cx="0" cy="188799"/>
          </a:xfrm>
          <a:prstGeom prst="line">
            <a:avLst/>
          </a:prstGeom>
          <a:solidFill>
            <a:srgbClr val="FFFFFF">
              <a:alpha val="0"/>
            </a:srgbClr>
          </a:solidFill>
          <a:ln w="13970">
            <a:solidFill>
              <a:srgbClr val="D65F00">
                <a:alpha val="38000"/>
              </a:srgbClr>
            </a:solidFill>
            <a:prstDash val="solid"/>
          </a:ln>
        </p:spPr>
      </p:sp>
      <p:sp>
        <p:nvSpPr>
          <p:cNvPr id="42" name="Shape 40"/>
          <p:cNvSpPr/>
          <p:nvPr/>
        </p:nvSpPr>
        <p:spPr>
          <a:xfrm>
            <a:off x="6830568" y="4479423"/>
            <a:ext cx="0" cy="148578"/>
          </a:xfrm>
          <a:prstGeom prst="line">
            <a:avLst/>
          </a:prstGeom>
          <a:solidFill>
            <a:srgbClr val="FFFFFF">
              <a:alpha val="0"/>
            </a:srgbClr>
          </a:solidFill>
          <a:ln w="13970">
            <a:solidFill>
              <a:srgbClr val="D65F00">
                <a:alpha val="38000"/>
              </a:srgbClr>
            </a:solidFill>
            <a:prstDash val="solid"/>
          </a:ln>
        </p:spPr>
      </p:sp>
      <p:sp>
        <p:nvSpPr>
          <p:cNvPr id="43" name="Shape 41"/>
          <p:cNvSpPr/>
          <p:nvPr/>
        </p:nvSpPr>
        <p:spPr>
          <a:xfrm>
            <a:off x="6995160" y="4497899"/>
            <a:ext cx="0" cy="111626"/>
          </a:xfrm>
          <a:prstGeom prst="line">
            <a:avLst/>
          </a:prstGeom>
          <a:solidFill>
            <a:srgbClr val="FFFFFF">
              <a:alpha val="0"/>
            </a:srgbClr>
          </a:solidFill>
          <a:ln w="13970">
            <a:solidFill>
              <a:srgbClr val="D65F00">
                <a:alpha val="38000"/>
              </a:srgbClr>
            </a:solidFill>
            <a:prstDash val="solid"/>
          </a:ln>
        </p:spPr>
      </p:sp>
      <p:sp>
        <p:nvSpPr>
          <p:cNvPr id="44" name="Shape 42"/>
          <p:cNvSpPr/>
          <p:nvPr/>
        </p:nvSpPr>
        <p:spPr>
          <a:xfrm>
            <a:off x="7159752" y="4513591"/>
            <a:ext cx="0" cy="80243"/>
          </a:xfrm>
          <a:prstGeom prst="line">
            <a:avLst/>
          </a:prstGeom>
          <a:solidFill>
            <a:srgbClr val="FFFFFF">
              <a:alpha val="0"/>
            </a:srgbClr>
          </a:solidFill>
          <a:ln w="13970">
            <a:solidFill>
              <a:srgbClr val="D65F00">
                <a:alpha val="38000"/>
              </a:srgbClr>
            </a:solidFill>
            <a:prstDash val="solid"/>
          </a:ln>
        </p:spPr>
      </p:sp>
      <p:sp>
        <p:nvSpPr>
          <p:cNvPr id="45" name="Shape 43"/>
          <p:cNvSpPr/>
          <p:nvPr/>
        </p:nvSpPr>
        <p:spPr>
          <a:xfrm>
            <a:off x="7324344" y="4525523"/>
            <a:ext cx="0" cy="56377"/>
          </a:xfrm>
          <a:prstGeom prst="line">
            <a:avLst/>
          </a:prstGeom>
          <a:solidFill>
            <a:srgbClr val="FFFFFF">
              <a:alpha val="0"/>
            </a:srgbClr>
          </a:solidFill>
          <a:ln w="13970">
            <a:solidFill>
              <a:srgbClr val="D65F00">
                <a:alpha val="38000"/>
              </a:srgbClr>
            </a:solidFill>
            <a:prstDash val="solid"/>
          </a:ln>
        </p:spPr>
      </p:sp>
      <p:sp>
        <p:nvSpPr>
          <p:cNvPr id="46" name="Shape 44"/>
          <p:cNvSpPr/>
          <p:nvPr/>
        </p:nvSpPr>
        <p:spPr>
          <a:xfrm>
            <a:off x="7488936" y="4532955"/>
            <a:ext cx="0" cy="41514"/>
          </a:xfrm>
          <a:prstGeom prst="line">
            <a:avLst/>
          </a:prstGeom>
          <a:solidFill>
            <a:srgbClr val="FFFFFF">
              <a:alpha val="0"/>
            </a:srgbClr>
          </a:solidFill>
          <a:ln w="13970">
            <a:solidFill>
              <a:srgbClr val="D65F00">
                <a:alpha val="38000"/>
              </a:srgbClr>
            </a:solidFill>
            <a:prstDash val="solid"/>
          </a:ln>
        </p:spPr>
      </p:sp>
      <p:sp>
        <p:nvSpPr>
          <p:cNvPr id="47" name="Shape 45"/>
          <p:cNvSpPr/>
          <p:nvPr/>
        </p:nvSpPr>
        <p:spPr>
          <a:xfrm>
            <a:off x="7653528" y="4535423"/>
            <a:ext cx="0" cy="36578"/>
          </a:xfrm>
          <a:prstGeom prst="line">
            <a:avLst/>
          </a:prstGeom>
          <a:solidFill>
            <a:srgbClr val="FFFFFF">
              <a:alpha val="0"/>
            </a:srgbClr>
          </a:solidFill>
          <a:ln w="13970">
            <a:solidFill>
              <a:srgbClr val="D65F00">
                <a:alpha val="38000"/>
              </a:srgbClr>
            </a:solidFill>
            <a:prstDash val="solid"/>
          </a:ln>
        </p:spPr>
      </p:sp>
      <p:sp>
        <p:nvSpPr>
          <p:cNvPr id="48" name="Shape 46"/>
          <p:cNvSpPr/>
          <p:nvPr/>
        </p:nvSpPr>
        <p:spPr>
          <a:xfrm>
            <a:off x="7818120" y="4532775"/>
            <a:ext cx="0" cy="41875"/>
          </a:xfrm>
          <a:prstGeom prst="line">
            <a:avLst/>
          </a:prstGeom>
          <a:solidFill>
            <a:srgbClr val="FFFFFF">
              <a:alpha val="0"/>
            </a:srgbClr>
          </a:solidFill>
          <a:ln w="13970">
            <a:solidFill>
              <a:srgbClr val="D65F00">
                <a:alpha val="38000"/>
              </a:srgbClr>
            </a:solidFill>
            <a:prstDash val="solid"/>
          </a:ln>
        </p:spPr>
      </p:sp>
      <p:sp>
        <p:nvSpPr>
          <p:cNvPr id="49" name="Shape 47"/>
          <p:cNvSpPr/>
          <p:nvPr/>
        </p:nvSpPr>
        <p:spPr>
          <a:xfrm>
            <a:off x="7982712" y="4525174"/>
            <a:ext cx="0" cy="57076"/>
          </a:xfrm>
          <a:prstGeom prst="line">
            <a:avLst/>
          </a:prstGeom>
          <a:solidFill>
            <a:srgbClr val="FFFFFF">
              <a:alpha val="0"/>
            </a:srgbClr>
          </a:solidFill>
          <a:ln w="13970">
            <a:solidFill>
              <a:srgbClr val="D65F00">
                <a:alpha val="38000"/>
              </a:srgbClr>
            </a:solidFill>
            <a:prstDash val="solid"/>
          </a:ln>
        </p:spPr>
      </p:sp>
      <p:sp>
        <p:nvSpPr>
          <p:cNvPr id="50" name="Shape 48"/>
          <p:cNvSpPr/>
          <p:nvPr/>
        </p:nvSpPr>
        <p:spPr>
          <a:xfrm>
            <a:off x="8147304" y="4513094"/>
            <a:ext cx="0" cy="81236"/>
          </a:xfrm>
          <a:prstGeom prst="line">
            <a:avLst/>
          </a:prstGeom>
          <a:solidFill>
            <a:srgbClr val="FFFFFF">
              <a:alpha val="0"/>
            </a:srgbClr>
          </a:solidFill>
          <a:ln w="13970">
            <a:solidFill>
              <a:srgbClr val="D65F00">
                <a:alpha val="38000"/>
              </a:srgbClr>
            </a:solidFill>
            <a:prstDash val="solid"/>
          </a:ln>
        </p:spPr>
      </p:sp>
      <p:sp>
        <p:nvSpPr>
          <p:cNvPr id="51" name="Shape 49"/>
          <p:cNvSpPr/>
          <p:nvPr/>
        </p:nvSpPr>
        <p:spPr>
          <a:xfrm>
            <a:off x="8311896" y="4497286"/>
            <a:ext cx="0" cy="112852"/>
          </a:xfrm>
          <a:prstGeom prst="line">
            <a:avLst/>
          </a:prstGeom>
          <a:solidFill>
            <a:srgbClr val="FFFFFF">
              <a:alpha val="0"/>
            </a:srgbClr>
          </a:solidFill>
          <a:ln w="13970">
            <a:solidFill>
              <a:srgbClr val="D65F00">
                <a:alpha val="38000"/>
              </a:srgbClr>
            </a:solidFill>
            <a:prstDash val="solid"/>
          </a:ln>
        </p:spPr>
      </p:sp>
      <p:sp>
        <p:nvSpPr>
          <p:cNvPr id="52" name="Shape 50"/>
          <p:cNvSpPr/>
          <p:nvPr/>
        </p:nvSpPr>
        <p:spPr>
          <a:xfrm>
            <a:off x="8476488" y="4478732"/>
            <a:ext cx="0" cy="149960"/>
          </a:xfrm>
          <a:prstGeom prst="line">
            <a:avLst/>
          </a:prstGeom>
          <a:solidFill>
            <a:srgbClr val="FFFFFF">
              <a:alpha val="0"/>
            </a:srgbClr>
          </a:solidFill>
          <a:ln w="13970">
            <a:solidFill>
              <a:srgbClr val="D65F00">
                <a:alpha val="38000"/>
              </a:srgbClr>
            </a:solidFill>
            <a:prstDash val="solid"/>
          </a:ln>
        </p:spPr>
      </p:sp>
      <p:sp>
        <p:nvSpPr>
          <p:cNvPr id="53" name="Shape 51"/>
          <p:cNvSpPr/>
          <p:nvPr/>
        </p:nvSpPr>
        <p:spPr>
          <a:xfrm>
            <a:off x="8641080" y="4458586"/>
            <a:ext cx="0" cy="190252"/>
          </a:xfrm>
          <a:prstGeom prst="line">
            <a:avLst/>
          </a:prstGeom>
          <a:solidFill>
            <a:srgbClr val="FFFFFF">
              <a:alpha val="0"/>
            </a:srgbClr>
          </a:solidFill>
          <a:ln w="13970">
            <a:solidFill>
              <a:srgbClr val="D65F00">
                <a:alpha val="38000"/>
              </a:srgbClr>
            </a:solidFill>
            <a:prstDash val="solid"/>
          </a:ln>
        </p:spPr>
      </p:sp>
      <p:sp>
        <p:nvSpPr>
          <p:cNvPr id="54" name="Shape 52"/>
          <p:cNvSpPr/>
          <p:nvPr/>
        </p:nvSpPr>
        <p:spPr>
          <a:xfrm>
            <a:off x="8805672" y="4438101"/>
            <a:ext cx="0" cy="231222"/>
          </a:xfrm>
          <a:prstGeom prst="line">
            <a:avLst/>
          </a:prstGeom>
          <a:solidFill>
            <a:srgbClr val="FFFFFF">
              <a:alpha val="0"/>
            </a:srgbClr>
          </a:solidFill>
          <a:ln w="13970">
            <a:solidFill>
              <a:srgbClr val="D65F00">
                <a:alpha val="38000"/>
              </a:srgbClr>
            </a:solidFill>
            <a:prstDash val="solid"/>
          </a:ln>
        </p:spPr>
      </p:sp>
      <p:sp>
        <p:nvSpPr>
          <p:cNvPr id="55" name="Shape 53"/>
          <p:cNvSpPr/>
          <p:nvPr/>
        </p:nvSpPr>
        <p:spPr>
          <a:xfrm>
            <a:off x="8970264" y="4418550"/>
            <a:ext cx="0" cy="270324"/>
          </a:xfrm>
          <a:prstGeom prst="line">
            <a:avLst/>
          </a:prstGeom>
          <a:solidFill>
            <a:srgbClr val="FFFFFF">
              <a:alpha val="0"/>
            </a:srgbClr>
          </a:solidFill>
          <a:ln w="13970">
            <a:solidFill>
              <a:srgbClr val="D65F00">
                <a:alpha val="38000"/>
              </a:srgbClr>
            </a:solidFill>
            <a:prstDash val="solid"/>
          </a:ln>
        </p:spPr>
      </p:sp>
      <p:sp>
        <p:nvSpPr>
          <p:cNvPr id="56" name="Shape 54"/>
          <p:cNvSpPr/>
          <p:nvPr/>
        </p:nvSpPr>
        <p:spPr>
          <a:xfrm>
            <a:off x="9134856" y="4401149"/>
            <a:ext cx="0" cy="305126"/>
          </a:xfrm>
          <a:prstGeom prst="line">
            <a:avLst/>
          </a:prstGeom>
          <a:solidFill>
            <a:srgbClr val="FFFFFF">
              <a:alpha val="0"/>
            </a:srgbClr>
          </a:solidFill>
          <a:ln w="13970">
            <a:solidFill>
              <a:srgbClr val="D65F00">
                <a:alpha val="38000"/>
              </a:srgbClr>
            </a:solidFill>
            <a:prstDash val="solid"/>
          </a:ln>
        </p:spPr>
      </p:sp>
      <p:sp>
        <p:nvSpPr>
          <p:cNvPr id="57" name="Shape 55"/>
          <p:cNvSpPr/>
          <p:nvPr/>
        </p:nvSpPr>
        <p:spPr>
          <a:xfrm>
            <a:off x="9299448" y="4386980"/>
            <a:ext cx="0" cy="333464"/>
          </a:xfrm>
          <a:prstGeom prst="line">
            <a:avLst/>
          </a:prstGeom>
          <a:solidFill>
            <a:srgbClr val="FFFFFF">
              <a:alpha val="0"/>
            </a:srgbClr>
          </a:solidFill>
          <a:ln w="13970">
            <a:solidFill>
              <a:srgbClr val="D65F00">
                <a:alpha val="38000"/>
              </a:srgbClr>
            </a:solidFill>
            <a:prstDash val="solid"/>
          </a:ln>
        </p:spPr>
      </p:sp>
      <p:sp>
        <p:nvSpPr>
          <p:cNvPr id="58" name="Shape 56"/>
          <p:cNvSpPr/>
          <p:nvPr/>
        </p:nvSpPr>
        <p:spPr>
          <a:xfrm>
            <a:off x="9464040" y="4376923"/>
            <a:ext cx="0" cy="353577"/>
          </a:xfrm>
          <a:prstGeom prst="line">
            <a:avLst/>
          </a:prstGeom>
          <a:solidFill>
            <a:srgbClr val="FFFFFF">
              <a:alpha val="0"/>
            </a:srgbClr>
          </a:solidFill>
          <a:ln w="13970">
            <a:solidFill>
              <a:srgbClr val="D65F00">
                <a:alpha val="38000"/>
              </a:srgbClr>
            </a:solidFill>
            <a:prstDash val="solid"/>
          </a:ln>
        </p:spPr>
      </p:sp>
      <p:sp>
        <p:nvSpPr>
          <p:cNvPr id="59" name="Shape 57"/>
          <p:cNvSpPr/>
          <p:nvPr/>
        </p:nvSpPr>
        <p:spPr>
          <a:xfrm>
            <a:off x="9628632" y="4371605"/>
            <a:ext cx="0" cy="364214"/>
          </a:xfrm>
          <a:prstGeom prst="line">
            <a:avLst/>
          </a:prstGeom>
          <a:solidFill>
            <a:srgbClr val="FFFFFF">
              <a:alpha val="0"/>
            </a:srgbClr>
          </a:solidFill>
          <a:ln w="13970">
            <a:solidFill>
              <a:srgbClr val="D65F00">
                <a:alpha val="38000"/>
              </a:srgbClr>
            </a:solidFill>
            <a:prstDash val="solid"/>
          </a:ln>
        </p:spPr>
      </p:sp>
      <p:sp>
        <p:nvSpPr>
          <p:cNvPr id="60" name="Shape 58"/>
          <p:cNvSpPr/>
          <p:nvPr/>
        </p:nvSpPr>
        <p:spPr>
          <a:xfrm>
            <a:off x="9793224" y="4371355"/>
            <a:ext cx="0" cy="364713"/>
          </a:xfrm>
          <a:prstGeom prst="line">
            <a:avLst/>
          </a:prstGeom>
          <a:solidFill>
            <a:srgbClr val="FFFFFF">
              <a:alpha val="0"/>
            </a:srgbClr>
          </a:solidFill>
          <a:ln w="13970">
            <a:solidFill>
              <a:srgbClr val="D65F00">
                <a:alpha val="38000"/>
              </a:srgbClr>
            </a:solidFill>
            <a:prstDash val="solid"/>
          </a:ln>
        </p:spPr>
      </p:sp>
      <p:sp>
        <p:nvSpPr>
          <p:cNvPr id="61" name="Shape 59"/>
          <p:cNvSpPr/>
          <p:nvPr/>
        </p:nvSpPr>
        <p:spPr>
          <a:xfrm>
            <a:off x="9957816" y="4376190"/>
            <a:ext cx="0" cy="355044"/>
          </a:xfrm>
          <a:prstGeom prst="line">
            <a:avLst/>
          </a:prstGeom>
          <a:solidFill>
            <a:srgbClr val="FFFFFF">
              <a:alpha val="0"/>
            </a:srgbClr>
          </a:solidFill>
          <a:ln w="13970">
            <a:solidFill>
              <a:srgbClr val="D65F00">
                <a:alpha val="38000"/>
              </a:srgbClr>
            </a:solidFill>
            <a:prstDash val="solid"/>
          </a:ln>
        </p:spPr>
      </p:sp>
      <p:sp>
        <p:nvSpPr>
          <p:cNvPr id="62" name="Shape 60"/>
          <p:cNvSpPr/>
          <p:nvPr/>
        </p:nvSpPr>
        <p:spPr>
          <a:xfrm>
            <a:off x="10122408" y="4385808"/>
            <a:ext cx="0" cy="335808"/>
          </a:xfrm>
          <a:prstGeom prst="line">
            <a:avLst/>
          </a:prstGeom>
          <a:solidFill>
            <a:srgbClr val="FFFFFF">
              <a:alpha val="0"/>
            </a:srgbClr>
          </a:solidFill>
          <a:ln w="13970">
            <a:solidFill>
              <a:srgbClr val="D65F00">
                <a:alpha val="38000"/>
              </a:srgbClr>
            </a:solidFill>
            <a:prstDash val="solid"/>
          </a:ln>
        </p:spPr>
      </p:sp>
      <p:sp>
        <p:nvSpPr>
          <p:cNvPr id="63" name="Shape 61"/>
          <p:cNvSpPr/>
          <p:nvPr/>
        </p:nvSpPr>
        <p:spPr>
          <a:xfrm>
            <a:off x="10287000" y="4399612"/>
            <a:ext cx="0" cy="308200"/>
          </a:xfrm>
          <a:prstGeom prst="line">
            <a:avLst/>
          </a:prstGeom>
          <a:solidFill>
            <a:srgbClr val="FFFFFF">
              <a:alpha val="0"/>
            </a:srgbClr>
          </a:solidFill>
          <a:ln w="13970">
            <a:solidFill>
              <a:srgbClr val="D65F00">
                <a:alpha val="38000"/>
              </a:srgbClr>
            </a:solidFill>
            <a:prstDash val="solid"/>
          </a:ln>
        </p:spPr>
      </p:sp>
      <p:sp>
        <p:nvSpPr>
          <p:cNvPr id="64" name="Shape 62"/>
          <p:cNvSpPr/>
          <p:nvPr/>
        </p:nvSpPr>
        <p:spPr>
          <a:xfrm>
            <a:off x="10451592" y="4416743"/>
            <a:ext cx="0" cy="273938"/>
          </a:xfrm>
          <a:prstGeom prst="line">
            <a:avLst/>
          </a:prstGeom>
          <a:solidFill>
            <a:srgbClr val="FFFFFF">
              <a:alpha val="0"/>
            </a:srgbClr>
          </a:solidFill>
          <a:ln w="13970">
            <a:solidFill>
              <a:srgbClr val="D65F00">
                <a:alpha val="38000"/>
              </a:srgbClr>
            </a:solidFill>
            <a:prstDash val="solid"/>
          </a:ln>
        </p:spPr>
      </p:sp>
      <p:sp>
        <p:nvSpPr>
          <p:cNvPr id="65" name="Shape 63"/>
          <p:cNvSpPr/>
          <p:nvPr/>
        </p:nvSpPr>
        <p:spPr>
          <a:xfrm>
            <a:off x="10616184" y="4436137"/>
            <a:ext cx="0" cy="235151"/>
          </a:xfrm>
          <a:prstGeom prst="line">
            <a:avLst/>
          </a:prstGeom>
          <a:solidFill>
            <a:srgbClr val="FFFFFF">
              <a:alpha val="0"/>
            </a:srgbClr>
          </a:solidFill>
          <a:ln w="13970">
            <a:solidFill>
              <a:srgbClr val="D65F00">
                <a:alpha val="38000"/>
              </a:srgbClr>
            </a:solidFill>
            <a:prstDash val="solid"/>
          </a:ln>
        </p:spPr>
      </p:sp>
      <p:sp>
        <p:nvSpPr>
          <p:cNvPr id="66" name="Shape 64"/>
          <p:cNvSpPr/>
          <p:nvPr/>
        </p:nvSpPr>
        <p:spPr>
          <a:xfrm>
            <a:off x="10780776" y="4456586"/>
            <a:ext cx="0" cy="194251"/>
          </a:xfrm>
          <a:prstGeom prst="line">
            <a:avLst/>
          </a:prstGeom>
          <a:solidFill>
            <a:srgbClr val="FFFFFF">
              <a:alpha val="0"/>
            </a:srgbClr>
          </a:solidFill>
          <a:ln w="13970">
            <a:solidFill>
              <a:srgbClr val="D65F00">
                <a:alpha val="38000"/>
              </a:srgbClr>
            </a:solidFill>
            <a:prstDash val="solid"/>
          </a:ln>
        </p:spPr>
      </p:sp>
      <p:sp>
        <p:nvSpPr>
          <p:cNvPr id="67" name="Shape 65"/>
          <p:cNvSpPr/>
          <p:nvPr/>
        </p:nvSpPr>
        <p:spPr>
          <a:xfrm>
            <a:off x="10945368" y="4476821"/>
            <a:ext cx="0" cy="153781"/>
          </a:xfrm>
          <a:prstGeom prst="line">
            <a:avLst/>
          </a:prstGeom>
          <a:solidFill>
            <a:srgbClr val="FFFFFF">
              <a:alpha val="0"/>
            </a:srgbClr>
          </a:solidFill>
          <a:ln w="13970">
            <a:solidFill>
              <a:srgbClr val="D65F00">
                <a:alpha val="38000"/>
              </a:srgbClr>
            </a:solidFill>
            <a:prstDash val="solid"/>
          </a:ln>
        </p:spPr>
      </p:sp>
      <p:sp>
        <p:nvSpPr>
          <p:cNvPr id="68" name="Shape 66"/>
          <p:cNvSpPr/>
          <p:nvPr/>
        </p:nvSpPr>
        <p:spPr>
          <a:xfrm>
            <a:off x="11109960" y="4495583"/>
            <a:ext cx="0" cy="116258"/>
          </a:xfrm>
          <a:prstGeom prst="line">
            <a:avLst/>
          </a:prstGeom>
          <a:solidFill>
            <a:srgbClr val="FFFFFF">
              <a:alpha val="0"/>
            </a:srgbClr>
          </a:solidFill>
          <a:ln w="13970">
            <a:solidFill>
              <a:srgbClr val="D65F00">
                <a:alpha val="38000"/>
              </a:srgbClr>
            </a:solidFill>
            <a:prstDash val="solid"/>
          </a:ln>
        </p:spPr>
      </p:sp>
      <p:sp>
        <p:nvSpPr>
          <p:cNvPr id="69" name="Shape 67"/>
          <p:cNvSpPr/>
          <p:nvPr/>
        </p:nvSpPr>
        <p:spPr>
          <a:xfrm>
            <a:off x="11274552" y="4511705"/>
            <a:ext cx="0" cy="84014"/>
          </a:xfrm>
          <a:prstGeom prst="line">
            <a:avLst/>
          </a:prstGeom>
          <a:solidFill>
            <a:srgbClr val="FFFFFF">
              <a:alpha val="0"/>
            </a:srgbClr>
          </a:solidFill>
          <a:ln w="13970">
            <a:solidFill>
              <a:srgbClr val="D65F00">
                <a:alpha val="38000"/>
              </a:srgbClr>
            </a:solidFill>
            <a:prstDash val="solid"/>
          </a:ln>
        </p:spPr>
      </p:sp>
      <p:sp>
        <p:nvSpPr>
          <p:cNvPr id="70" name="Shape 68"/>
          <p:cNvSpPr/>
          <p:nvPr/>
        </p:nvSpPr>
        <p:spPr>
          <a:xfrm>
            <a:off x="11439144" y="4524185"/>
            <a:ext cx="0" cy="59054"/>
          </a:xfrm>
          <a:prstGeom prst="line">
            <a:avLst/>
          </a:prstGeom>
          <a:solidFill>
            <a:srgbClr val="FFFFFF">
              <a:alpha val="0"/>
            </a:srgbClr>
          </a:solidFill>
          <a:ln w="13970">
            <a:solidFill>
              <a:srgbClr val="D65F00">
                <a:alpha val="38000"/>
              </a:srgbClr>
            </a:solidFill>
            <a:prstDash val="solid"/>
          </a:ln>
        </p:spPr>
      </p:sp>
      <p:sp>
        <p:nvSpPr>
          <p:cNvPr id="71" name="Shape 69"/>
          <p:cNvSpPr/>
          <p:nvPr/>
        </p:nvSpPr>
        <p:spPr>
          <a:xfrm>
            <a:off x="11603736" y="4532247"/>
            <a:ext cx="0" cy="42930"/>
          </a:xfrm>
          <a:prstGeom prst="line">
            <a:avLst/>
          </a:prstGeom>
          <a:solidFill>
            <a:srgbClr val="FFFFFF">
              <a:alpha val="0"/>
            </a:srgbClr>
          </a:solidFill>
          <a:ln w="13970">
            <a:solidFill>
              <a:srgbClr val="D65F00">
                <a:alpha val="38000"/>
              </a:srgbClr>
            </a:solidFill>
            <a:prstDash val="solid"/>
          </a:ln>
        </p:spPr>
      </p:sp>
      <p:sp>
        <p:nvSpPr>
          <p:cNvPr id="72" name="Shape 70"/>
          <p:cNvSpPr/>
          <p:nvPr/>
        </p:nvSpPr>
        <p:spPr>
          <a:xfrm>
            <a:off x="11768328" y="4535390"/>
            <a:ext cx="0" cy="36644"/>
          </a:xfrm>
          <a:prstGeom prst="line">
            <a:avLst/>
          </a:prstGeom>
          <a:solidFill>
            <a:srgbClr val="FFFFFF">
              <a:alpha val="0"/>
            </a:srgbClr>
          </a:solidFill>
          <a:ln w="13970">
            <a:solidFill>
              <a:srgbClr val="D65F00">
                <a:alpha val="38000"/>
              </a:srgbClr>
            </a:solidFill>
            <a:prstDash val="solid"/>
          </a:ln>
        </p:spPr>
      </p:sp>
      <p:sp>
        <p:nvSpPr>
          <p:cNvPr id="73" name="Text 71"/>
          <p:cNvSpPr/>
          <p:nvPr/>
        </p:nvSpPr>
        <p:spPr>
          <a:xfrm>
            <a:off x="960120" y="1417320"/>
            <a:ext cx="10332720" cy="640080"/>
          </a:xfrm>
          <a:prstGeom prst="rect">
            <a:avLst/>
          </a:prstGeom>
          <a:noFill/>
          <a:ln/>
        </p:spPr>
        <p:txBody>
          <a:bodyPr wrap="square" lIns="635" tIns="635" rIns="635" bIns="635" rtlCol="0" anchor="ctr">
            <a:normAutofit/>
          </a:bodyPr>
          <a:lstStyle/>
          <a:p>
            <a:pPr algn="ctr" indent="0" marL="0">
              <a:buNone/>
            </a:pPr>
            <a:r>
              <a:rPr lang="en-US" sz="3200" b="1" dirty="0">
                <a:solidFill>
                  <a:srgbClr val="1F2937"/>
                </a:solidFill>
                <a:latin typeface="Aptos" pitchFamily="34" charset="0"/>
                <a:ea typeface="Aptos" pitchFamily="34" charset="-122"/>
                <a:cs typeface="Aptos" pitchFamily="34" charset="-120"/>
              </a:rPr>
              <a:t>Robust Speech Recognition in Persian Language</a:t>
            </a:r>
            <a:endParaRPr lang="en-US" sz="3200" dirty="0"/>
          </a:p>
        </p:txBody>
      </p:sp>
      <p:sp>
        <p:nvSpPr>
          <p:cNvPr id="74" name="Text 72"/>
          <p:cNvSpPr/>
          <p:nvPr/>
        </p:nvSpPr>
        <p:spPr>
          <a:xfrm>
            <a:off x="1645920" y="2148840"/>
            <a:ext cx="8961120" cy="329184"/>
          </a:xfrm>
          <a:prstGeom prst="rect">
            <a:avLst/>
          </a:prstGeom>
          <a:noFill/>
          <a:ln/>
        </p:spPr>
        <p:txBody>
          <a:bodyPr wrap="square" lIns="635" tIns="635" rIns="635" bIns="635" rtlCol="0" anchor="ctr">
            <a:normAutofit/>
          </a:bodyPr>
          <a:lstStyle/>
          <a:p>
            <a:pPr algn="ctr" indent="0" marL="0">
              <a:buNone/>
            </a:pPr>
            <a:r>
              <a:rPr lang="en-US" sz="1800" dirty="0">
                <a:solidFill>
                  <a:srgbClr val="637083"/>
                </a:solidFill>
                <a:latin typeface="Aptos" pitchFamily="34" charset="0"/>
                <a:ea typeface="Aptos" pitchFamily="34" charset="-122"/>
                <a:cs typeface="Aptos" pitchFamily="34" charset="-120"/>
              </a:rPr>
              <a:t>Adapting Whisper-small to Telephone and VoIP Degradations</a:t>
            </a:r>
            <a:endParaRPr lang="en-US" sz="1800" dirty="0"/>
          </a:p>
        </p:txBody>
      </p:sp>
      <p:sp>
        <p:nvSpPr>
          <p:cNvPr id="75" name="Shape 73"/>
          <p:cNvSpPr/>
          <p:nvPr/>
        </p:nvSpPr>
        <p:spPr>
          <a:xfrm>
            <a:off x="3108960" y="2798064"/>
            <a:ext cx="5943600" cy="0"/>
          </a:xfrm>
          <a:prstGeom prst="line">
            <a:avLst/>
          </a:prstGeom>
          <a:solidFill>
            <a:srgbClr val="FFFFFF">
              <a:alpha val="0"/>
            </a:srgbClr>
          </a:solidFill>
          <a:ln w="25400">
            <a:solidFill>
              <a:srgbClr val="0078B8"/>
            </a:solidFill>
            <a:prstDash val="solid"/>
          </a:ln>
        </p:spPr>
      </p:sp>
      <p:sp>
        <p:nvSpPr>
          <p:cNvPr id="76" name="Text 74"/>
          <p:cNvSpPr/>
          <p:nvPr/>
        </p:nvSpPr>
        <p:spPr>
          <a:xfrm>
            <a:off x="3840480" y="5102352"/>
            <a:ext cx="4572000" cy="256032"/>
          </a:xfrm>
          <a:prstGeom prst="rect">
            <a:avLst/>
          </a:prstGeom>
          <a:noFill/>
          <a:ln/>
        </p:spPr>
        <p:txBody>
          <a:bodyPr wrap="square" lIns="635" tIns="635" rIns="635" bIns="635" rtlCol="0" anchor="ctr">
            <a:normAutofit/>
          </a:bodyPr>
          <a:lstStyle/>
          <a:p>
            <a:pPr algn="ctr" indent="0" marL="0">
              <a:buNone/>
            </a:pPr>
            <a:r>
              <a:rPr lang="en-US" sz="1450" b="1" dirty="0">
                <a:solidFill>
                  <a:srgbClr val="1F2937"/>
                </a:solidFill>
                <a:latin typeface="Aptos" pitchFamily="34" charset="0"/>
                <a:ea typeface="Aptos" pitchFamily="34" charset="-122"/>
                <a:cs typeface="Aptos" pitchFamily="34" charset="-120"/>
              </a:rPr>
              <a:t>Pouya Fallah Sichani</a:t>
            </a:r>
            <a:endParaRPr lang="en-US" sz="1450" dirty="0"/>
          </a:p>
        </p:txBody>
      </p:sp>
      <p:sp>
        <p:nvSpPr>
          <p:cNvPr id="77" name="Text 75"/>
          <p:cNvSpPr/>
          <p:nvPr/>
        </p:nvSpPr>
        <p:spPr>
          <a:xfrm>
            <a:off x="2651760" y="5431536"/>
            <a:ext cx="7040880" cy="201168"/>
          </a:xfrm>
          <a:prstGeom prst="rect">
            <a:avLst/>
          </a:prstGeom>
          <a:noFill/>
          <a:ln/>
        </p:spPr>
        <p:txBody>
          <a:bodyPr wrap="square" lIns="635" tIns="635" rIns="635" bIns="635" rtlCol="0" anchor="ctr">
            <a:normAutofit/>
          </a:bodyPr>
          <a:lstStyle/>
          <a:p>
            <a:pPr algn="ctr" indent="0" marL="0">
              <a:buNone/>
            </a:pPr>
            <a:r>
              <a:rPr lang="en-US" sz="1120" dirty="0">
                <a:solidFill>
                  <a:srgbClr val="637083"/>
                </a:solidFill>
                <a:latin typeface="Aptos" pitchFamily="34" charset="0"/>
                <a:ea typeface="Aptos" pitchFamily="34" charset="-122"/>
                <a:cs typeface="Aptos" pitchFamily="34" charset="-120"/>
              </a:rPr>
              <a:t>M.Sc. Thesis in Computer Engineering · Supervisor: Dr. Hosein Sameti</a:t>
            </a:r>
            <a:endParaRPr lang="en-US" sz="1120" dirty="0"/>
          </a:p>
        </p:txBody>
      </p:sp>
      <p:sp>
        <p:nvSpPr>
          <p:cNvPr id="78" name="Text 76"/>
          <p:cNvSpPr/>
          <p:nvPr/>
        </p:nvSpPr>
        <p:spPr>
          <a:xfrm>
            <a:off x="3566160" y="5715000"/>
            <a:ext cx="5029200" cy="201168"/>
          </a:xfrm>
          <a:prstGeom prst="rect">
            <a:avLst/>
          </a:prstGeom>
          <a:noFill/>
          <a:ln/>
        </p:spPr>
        <p:txBody>
          <a:bodyPr wrap="square" lIns="635" tIns="635" rIns="635" bIns="635" rtlCol="0" anchor="ctr">
            <a:normAutofit/>
          </a:bodyPr>
          <a:lstStyle/>
          <a:p>
            <a:pPr algn="ctr" indent="0" marL="0">
              <a:buNone/>
            </a:pPr>
            <a:r>
              <a:rPr lang="en-US" sz="1120" dirty="0">
                <a:solidFill>
                  <a:srgbClr val="637083"/>
                </a:solidFill>
                <a:latin typeface="Aptos" pitchFamily="34" charset="0"/>
                <a:ea typeface="Aptos" pitchFamily="34" charset="-122"/>
                <a:cs typeface="Aptos" pitchFamily="34" charset="-120"/>
              </a:rPr>
              <a:t>Sharif University of Technology · February 2026</a:t>
            </a:r>
            <a:endParaRPr lang="en-US" sz="11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The Deployment Mismatch</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2/19</a:t>
            </a:r>
            <a:endParaRPr lang="en-US" sz="750" dirty="0"/>
          </a:p>
        </p:txBody>
      </p:sp>
      <p:sp>
        <p:nvSpPr>
          <p:cNvPr id="6" name="Shape 4"/>
          <p:cNvSpPr/>
          <p:nvPr/>
        </p:nvSpPr>
        <p:spPr>
          <a:xfrm>
            <a:off x="685800" y="1261872"/>
            <a:ext cx="3840480" cy="3337560"/>
          </a:xfrm>
          <a:prstGeom prst="roundRect">
            <a:avLst>
              <a:gd name="adj" fmla="val 2192"/>
            </a:avLst>
          </a:prstGeom>
          <a:solidFill>
            <a:srgbClr val="FFFFFF"/>
          </a:solidFill>
          <a:ln w="12700">
            <a:solidFill>
              <a:srgbClr val="CBD5E1"/>
            </a:solidFill>
            <a:prstDash val="solid"/>
          </a:ln>
        </p:spPr>
      </p:sp>
      <p:sp>
        <p:nvSpPr>
          <p:cNvPr id="7" name="Text 5"/>
          <p:cNvSpPr/>
          <p:nvPr/>
        </p:nvSpPr>
        <p:spPr>
          <a:xfrm>
            <a:off x="850392" y="1380744"/>
            <a:ext cx="3511296" cy="237744"/>
          </a:xfrm>
          <a:prstGeom prst="rect">
            <a:avLst/>
          </a:prstGeom>
          <a:noFill/>
          <a:ln/>
        </p:spPr>
        <p:txBody>
          <a:bodyPr wrap="square" lIns="635" tIns="635" rIns="635" bIns="635" rtlCol="0" anchor="ctr">
            <a:normAutofit/>
          </a:bodyPr>
          <a:lstStyle/>
          <a:p>
            <a:pPr algn="l" indent="0" marL="0">
              <a:buNone/>
            </a:pPr>
            <a:r>
              <a:rPr lang="en-US" sz="1800" b="1" dirty="0">
                <a:solidFill>
                  <a:srgbClr val="0078B8"/>
                </a:solidFill>
                <a:latin typeface="Aptos" pitchFamily="34" charset="0"/>
                <a:ea typeface="Aptos" pitchFamily="34" charset="-122"/>
                <a:cs typeface="Aptos" pitchFamily="34" charset="-120"/>
              </a:rPr>
              <a:t>Models usually see</a:t>
            </a:r>
            <a:endParaRPr lang="en-US" sz="1800" dirty="0"/>
          </a:p>
        </p:txBody>
      </p:sp>
      <p:sp>
        <p:nvSpPr>
          <p:cNvPr id="8" name="Text 6"/>
          <p:cNvSpPr/>
          <p:nvPr/>
        </p:nvSpPr>
        <p:spPr>
          <a:xfrm>
            <a:off x="978408" y="1737360"/>
            <a:ext cx="3383280" cy="256032"/>
          </a:xfrm>
          <a:prstGeom prst="rect">
            <a:avLst/>
          </a:prstGeom>
          <a:noFill/>
          <a:ln/>
        </p:spPr>
        <p:txBody>
          <a:bodyPr wrap="square" lIns="635" tIns="635" rIns="635" bIns="635" rtlCol="0" anchor="ctr">
            <a:normAutofit/>
          </a:bodyPr>
          <a:lstStyle/>
          <a:p>
            <a:pPr algn="l"/>
            <a:r>
              <a:rPr lang="en-US" sz="1400" dirty="0">
                <a:solidFill>
                  <a:srgbClr val="637083"/>
                </a:solidFill>
                <a:latin typeface="Aptos" pitchFamily="34" charset="0"/>
                <a:ea typeface="Aptos" pitchFamily="34" charset="-122"/>
                <a:cs typeface="Aptos" pitchFamily="34" charset="-120"/>
              </a:rPr>
              <a:t>Relatively clean, wideband speech</a:t>
            </a:r>
            <a:endParaRPr lang="en-US" sz="1400" dirty="0"/>
          </a:p>
        </p:txBody>
      </p:sp>
      <p:sp>
        <p:nvSpPr>
          <p:cNvPr id="9" name="Text 7"/>
          <p:cNvSpPr/>
          <p:nvPr/>
        </p:nvSpPr>
        <p:spPr>
          <a:xfrm>
            <a:off x="978408" y="2048256"/>
            <a:ext cx="3383280" cy="256032"/>
          </a:xfrm>
          <a:prstGeom prst="rect">
            <a:avLst/>
          </a:prstGeom>
          <a:noFill/>
          <a:ln/>
        </p:spPr>
        <p:txBody>
          <a:bodyPr wrap="square" lIns="635" tIns="635" rIns="635" bIns="635" rtlCol="0" anchor="ctr">
            <a:normAutofit/>
          </a:bodyPr>
          <a:lstStyle/>
          <a:p>
            <a:pPr algn="l"/>
            <a:r>
              <a:rPr lang="en-US" sz="1400" dirty="0">
                <a:solidFill>
                  <a:srgbClr val="637083"/>
                </a:solidFill>
                <a:latin typeface="Aptos" pitchFamily="34" charset="0"/>
                <a:ea typeface="Aptos" pitchFamily="34" charset="-122"/>
                <a:cs typeface="Aptos" pitchFamily="34" charset="-120"/>
              </a:rPr>
              <a:t>Short, read utterances</a:t>
            </a:r>
            <a:endParaRPr lang="en-US" sz="1400" dirty="0"/>
          </a:p>
        </p:txBody>
      </p:sp>
      <p:sp>
        <p:nvSpPr>
          <p:cNvPr id="10" name="Text 8"/>
          <p:cNvSpPr/>
          <p:nvPr/>
        </p:nvSpPr>
        <p:spPr>
          <a:xfrm>
            <a:off x="978408" y="2359152"/>
            <a:ext cx="3383280" cy="256032"/>
          </a:xfrm>
          <a:prstGeom prst="rect">
            <a:avLst/>
          </a:prstGeom>
          <a:noFill/>
          <a:ln/>
        </p:spPr>
        <p:txBody>
          <a:bodyPr wrap="square" lIns="635" tIns="635" rIns="635" bIns="635" rtlCol="0" anchor="ctr">
            <a:normAutofit/>
          </a:bodyPr>
          <a:lstStyle/>
          <a:p>
            <a:pPr algn="l"/>
            <a:r>
              <a:rPr lang="en-US" sz="1400" dirty="0">
                <a:solidFill>
                  <a:srgbClr val="637083"/>
                </a:solidFill>
                <a:latin typeface="Aptos" pitchFamily="34" charset="0"/>
                <a:ea typeface="Aptos" pitchFamily="34" charset="-122"/>
                <a:cs typeface="Aptos" pitchFamily="34" charset="-120"/>
              </a:rPr>
              <a:t>Public speech corpora</a:t>
            </a:r>
            <a:endParaRPr lang="en-US" sz="1400" dirty="0"/>
          </a:p>
        </p:txBody>
      </p:sp>
      <p:sp>
        <p:nvSpPr>
          <p:cNvPr id="11" name="Shape 9"/>
          <p:cNvSpPr/>
          <p:nvPr/>
        </p:nvSpPr>
        <p:spPr>
          <a:xfrm>
            <a:off x="7662672" y="1261872"/>
            <a:ext cx="3840480" cy="3337560"/>
          </a:xfrm>
          <a:prstGeom prst="roundRect">
            <a:avLst>
              <a:gd name="adj" fmla="val 2192"/>
            </a:avLst>
          </a:prstGeom>
          <a:solidFill>
            <a:srgbClr val="FFFFFF"/>
          </a:solidFill>
          <a:ln w="12700">
            <a:solidFill>
              <a:srgbClr val="CBD5E1"/>
            </a:solidFill>
            <a:prstDash val="solid"/>
          </a:ln>
        </p:spPr>
      </p:sp>
      <p:sp>
        <p:nvSpPr>
          <p:cNvPr id="12" name="Text 10"/>
          <p:cNvSpPr/>
          <p:nvPr/>
        </p:nvSpPr>
        <p:spPr>
          <a:xfrm>
            <a:off x="7827264" y="1380744"/>
            <a:ext cx="3511296" cy="237744"/>
          </a:xfrm>
          <a:prstGeom prst="rect">
            <a:avLst/>
          </a:prstGeom>
          <a:noFill/>
          <a:ln/>
        </p:spPr>
        <p:txBody>
          <a:bodyPr wrap="square" lIns="635" tIns="635" rIns="635" bIns="635" rtlCol="0" anchor="ctr">
            <a:normAutofit/>
          </a:bodyPr>
          <a:lstStyle/>
          <a:p>
            <a:pPr algn="l" indent="0" marL="0">
              <a:buNone/>
            </a:pPr>
            <a:r>
              <a:rPr lang="en-US" sz="1800" b="1" dirty="0">
                <a:solidFill>
                  <a:srgbClr val="D65F00"/>
                </a:solidFill>
                <a:latin typeface="Aptos" pitchFamily="34" charset="0"/>
                <a:ea typeface="Aptos" pitchFamily="34" charset="-122"/>
                <a:cs typeface="Aptos" pitchFamily="34" charset="-120"/>
              </a:rPr>
              <a:t>Real calls may contain</a:t>
            </a:r>
            <a:endParaRPr lang="en-US" sz="1800" dirty="0"/>
          </a:p>
        </p:txBody>
      </p:sp>
      <p:sp>
        <p:nvSpPr>
          <p:cNvPr id="13" name="Text 11"/>
          <p:cNvSpPr/>
          <p:nvPr/>
        </p:nvSpPr>
        <p:spPr>
          <a:xfrm>
            <a:off x="7955280" y="1737360"/>
            <a:ext cx="3383280" cy="256032"/>
          </a:xfrm>
          <a:prstGeom prst="rect">
            <a:avLst/>
          </a:prstGeom>
          <a:noFill/>
          <a:ln/>
        </p:spPr>
        <p:txBody>
          <a:bodyPr wrap="square" lIns="635" tIns="635" rIns="635" bIns="635" rtlCol="0" anchor="ctr">
            <a:normAutofit/>
          </a:bodyPr>
          <a:lstStyle/>
          <a:p>
            <a:pPr algn="l"/>
            <a:r>
              <a:rPr lang="en-US" sz="1400" dirty="0">
                <a:solidFill>
                  <a:srgbClr val="637083"/>
                </a:solidFill>
                <a:latin typeface="Aptos" pitchFamily="34" charset="0"/>
                <a:ea typeface="Aptos" pitchFamily="34" charset="-122"/>
                <a:cs typeface="Aptos" pitchFamily="34" charset="-120"/>
              </a:rPr>
              <a:t>Environmental noise and gain variation</a:t>
            </a:r>
            <a:endParaRPr lang="en-US" sz="1400" dirty="0"/>
          </a:p>
        </p:txBody>
      </p:sp>
      <p:sp>
        <p:nvSpPr>
          <p:cNvPr id="14" name="Text 12"/>
          <p:cNvSpPr/>
          <p:nvPr/>
        </p:nvSpPr>
        <p:spPr>
          <a:xfrm>
            <a:off x="7955280" y="2048256"/>
            <a:ext cx="3383280" cy="256032"/>
          </a:xfrm>
          <a:prstGeom prst="rect">
            <a:avLst/>
          </a:prstGeom>
          <a:noFill/>
          <a:ln/>
        </p:spPr>
        <p:txBody>
          <a:bodyPr wrap="square" lIns="635" tIns="635" rIns="635" bIns="635" rtlCol="0" anchor="ctr">
            <a:normAutofit/>
          </a:bodyPr>
          <a:lstStyle/>
          <a:p>
            <a:pPr algn="l"/>
            <a:r>
              <a:rPr lang="en-US" sz="1400" dirty="0">
                <a:solidFill>
                  <a:srgbClr val="637083"/>
                </a:solidFill>
                <a:latin typeface="Aptos" pitchFamily="34" charset="0"/>
                <a:ea typeface="Aptos" pitchFamily="34" charset="-122"/>
                <a:cs typeface="Aptos" pitchFamily="34" charset="-120"/>
              </a:rPr>
              <a:t>Telephone bandwidth restriction</a:t>
            </a:r>
            <a:endParaRPr lang="en-US" sz="1400" dirty="0"/>
          </a:p>
        </p:txBody>
      </p:sp>
      <p:sp>
        <p:nvSpPr>
          <p:cNvPr id="15" name="Text 13"/>
          <p:cNvSpPr/>
          <p:nvPr/>
        </p:nvSpPr>
        <p:spPr>
          <a:xfrm>
            <a:off x="7955280" y="2359152"/>
            <a:ext cx="3383280" cy="256032"/>
          </a:xfrm>
          <a:prstGeom prst="rect">
            <a:avLst/>
          </a:prstGeom>
          <a:noFill/>
          <a:ln/>
        </p:spPr>
        <p:txBody>
          <a:bodyPr wrap="square" lIns="635" tIns="635" rIns="635" bIns="635" rtlCol="0" anchor="ctr">
            <a:normAutofit/>
          </a:bodyPr>
          <a:lstStyle/>
          <a:p>
            <a:pPr algn="l"/>
            <a:r>
              <a:rPr lang="en-US" sz="1400" dirty="0">
                <a:solidFill>
                  <a:srgbClr val="637083"/>
                </a:solidFill>
                <a:latin typeface="Aptos" pitchFamily="34" charset="0"/>
                <a:ea typeface="Aptos" pitchFamily="34" charset="-122"/>
                <a:cs typeface="Aptos" pitchFamily="34" charset="-120"/>
              </a:rPr>
              <a:t>Codec artifacts and packet loss</a:t>
            </a:r>
            <a:endParaRPr lang="en-US" sz="1400" dirty="0"/>
          </a:p>
        </p:txBody>
      </p:sp>
      <p:sp>
        <p:nvSpPr>
          <p:cNvPr id="16" name="Text 14"/>
          <p:cNvSpPr/>
          <p:nvPr/>
        </p:nvSpPr>
        <p:spPr>
          <a:xfrm>
            <a:off x="7955280" y="2670048"/>
            <a:ext cx="3383280" cy="256032"/>
          </a:xfrm>
          <a:prstGeom prst="rect">
            <a:avLst/>
          </a:prstGeom>
          <a:noFill/>
          <a:ln/>
        </p:spPr>
        <p:txBody>
          <a:bodyPr wrap="square" lIns="635" tIns="635" rIns="635" bIns="635" rtlCol="0" anchor="ctr">
            <a:normAutofit/>
          </a:bodyPr>
          <a:lstStyle/>
          <a:p>
            <a:pPr algn="l"/>
            <a:r>
              <a:rPr lang="en-US" sz="1400" dirty="0">
                <a:solidFill>
                  <a:srgbClr val="637083"/>
                </a:solidFill>
                <a:latin typeface="Aptos" pitchFamily="34" charset="0"/>
                <a:ea typeface="Aptos" pitchFamily="34" charset="-122"/>
                <a:cs typeface="Aptos" pitchFamily="34" charset="-120"/>
              </a:rPr>
              <a:t>Spontaneous, continuous speech</a:t>
            </a:r>
            <a:endParaRPr lang="en-US" sz="1400" dirty="0"/>
          </a:p>
        </p:txBody>
      </p:sp>
      <p:sp>
        <p:nvSpPr>
          <p:cNvPr id="17" name="Shape 15"/>
          <p:cNvSpPr/>
          <p:nvPr/>
        </p:nvSpPr>
        <p:spPr>
          <a:xfrm>
            <a:off x="4800600" y="2788920"/>
            <a:ext cx="2468880" cy="0"/>
          </a:xfrm>
          <a:prstGeom prst="line">
            <a:avLst/>
          </a:prstGeom>
          <a:solidFill>
            <a:srgbClr val="FFFFFF">
              <a:alpha val="0"/>
            </a:srgbClr>
          </a:solidFill>
          <a:ln w="27940">
            <a:solidFill>
              <a:srgbClr val="637083"/>
            </a:solidFill>
            <a:prstDash val="solid"/>
            <a:headEnd type="none"/>
            <a:tailEnd type="triangle"/>
          </a:ln>
        </p:spPr>
      </p:sp>
      <p:sp>
        <p:nvSpPr>
          <p:cNvPr id="18" name="Text 16"/>
          <p:cNvSpPr/>
          <p:nvPr/>
        </p:nvSpPr>
        <p:spPr>
          <a:xfrm>
            <a:off x="5074920" y="2487168"/>
            <a:ext cx="2011680" cy="228600"/>
          </a:xfrm>
          <a:prstGeom prst="rect">
            <a:avLst/>
          </a:prstGeom>
          <a:noFill/>
          <a:ln/>
        </p:spPr>
        <p:txBody>
          <a:bodyPr wrap="square" lIns="635" tIns="635" rIns="635" bIns="635" rtlCol="0" anchor="ctr">
            <a:normAutofit/>
          </a:bodyPr>
          <a:lstStyle/>
          <a:p>
            <a:pPr algn="ctr" indent="0" marL="0">
              <a:buNone/>
            </a:pPr>
            <a:r>
              <a:rPr lang="en-US" sz="1300" b="1" dirty="0">
                <a:solidFill>
                  <a:srgbClr val="637083"/>
                </a:solidFill>
                <a:latin typeface="Aptos" pitchFamily="34" charset="0"/>
                <a:ea typeface="Aptos" pitchFamily="34" charset="-122"/>
                <a:cs typeface="Aptos" pitchFamily="34" charset="-120"/>
              </a:rPr>
              <a:t>domain shift</a:t>
            </a:r>
            <a:endParaRPr lang="en-US" sz="1300" dirty="0"/>
          </a:p>
        </p:txBody>
      </p:sp>
      <p:sp>
        <p:nvSpPr>
          <p:cNvPr id="19" name="Shape 17"/>
          <p:cNvSpPr/>
          <p:nvPr/>
        </p:nvSpPr>
        <p:spPr>
          <a:xfrm>
            <a:off x="1508760" y="5184648"/>
            <a:ext cx="9144000" cy="658368"/>
          </a:xfrm>
          <a:prstGeom prst="roundRect">
            <a:avLst>
              <a:gd name="adj" fmla="val 11111"/>
            </a:avLst>
          </a:prstGeom>
          <a:solidFill>
            <a:srgbClr val="F0F7FF"/>
          </a:solidFill>
          <a:ln w="12700">
            <a:solidFill>
              <a:srgbClr val="A8CAE8"/>
            </a:solidFill>
            <a:prstDash val="solid"/>
          </a:ln>
        </p:spPr>
      </p:sp>
      <p:sp>
        <p:nvSpPr>
          <p:cNvPr id="20" name="Text 18"/>
          <p:cNvSpPr/>
          <p:nvPr/>
        </p:nvSpPr>
        <p:spPr>
          <a:xfrm>
            <a:off x="1737360" y="5376672"/>
            <a:ext cx="8686800" cy="201168"/>
          </a:xfrm>
          <a:prstGeom prst="rect">
            <a:avLst/>
          </a:prstGeom>
          <a:noFill/>
          <a:ln/>
        </p:spPr>
        <p:txBody>
          <a:bodyPr wrap="square" lIns="635" tIns="635" rIns="635" bIns="635" rtlCol="0" anchor="ctr">
            <a:normAutofit/>
          </a:bodyPr>
          <a:lstStyle/>
          <a:p>
            <a:pPr algn="ctr" indent="0" marL="0">
              <a:buNone/>
            </a:pPr>
            <a:r>
              <a:rPr lang="en-US" sz="1450" b="1" dirty="0">
                <a:solidFill>
                  <a:srgbClr val="1F2937"/>
                </a:solidFill>
                <a:latin typeface="Aptos" pitchFamily="34" charset="0"/>
                <a:ea typeface="Aptos" pitchFamily="34" charset="-122"/>
                <a:cs typeface="Aptos" pitchFamily="34" charset="-120"/>
              </a:rPr>
              <a:t>Takeaway: A Persian ASR model trained mainly on ordinary speech may lose substantial accuracy on real telephone and VoIP audio.</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Research Questions</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3/19</a:t>
            </a:r>
            <a:endParaRPr lang="en-US" sz="750" dirty="0"/>
          </a:p>
        </p:txBody>
      </p:sp>
      <p:sp>
        <p:nvSpPr>
          <p:cNvPr id="6" name="Text 4"/>
          <p:cNvSpPr/>
          <p:nvPr/>
        </p:nvSpPr>
        <p:spPr>
          <a:xfrm>
            <a:off x="822960" y="1051560"/>
            <a:ext cx="5120640" cy="256032"/>
          </a:xfrm>
          <a:prstGeom prst="rect">
            <a:avLst/>
          </a:prstGeom>
          <a:noFill/>
          <a:ln/>
        </p:spPr>
        <p:txBody>
          <a:bodyPr wrap="square" lIns="635" tIns="635" rIns="635" bIns="635" rtlCol="0" anchor="ctr">
            <a:normAutofit/>
          </a:bodyPr>
          <a:lstStyle/>
          <a:p>
            <a:pPr algn="l" indent="0" marL="0">
              <a:buNone/>
            </a:pPr>
            <a:r>
              <a:rPr lang="en-US" sz="1600" b="1" dirty="0">
                <a:solidFill>
                  <a:srgbClr val="0078B8"/>
                </a:solidFill>
                <a:latin typeface="Aptos" pitchFamily="34" charset="0"/>
                <a:ea typeface="Aptos" pitchFamily="34" charset="-122"/>
                <a:cs typeface="Aptos" pitchFamily="34" charset="-120"/>
              </a:rPr>
              <a:t>Data strategy</a:t>
            </a:r>
            <a:endParaRPr lang="en-US" sz="1600" dirty="0"/>
          </a:p>
        </p:txBody>
      </p:sp>
      <p:sp>
        <p:nvSpPr>
          <p:cNvPr id="7" name="Text 5"/>
          <p:cNvSpPr/>
          <p:nvPr/>
        </p:nvSpPr>
        <p:spPr>
          <a:xfrm>
            <a:off x="6355080" y="1051560"/>
            <a:ext cx="5120640" cy="256032"/>
          </a:xfrm>
          <a:prstGeom prst="rect">
            <a:avLst/>
          </a:prstGeom>
          <a:noFill/>
          <a:ln/>
        </p:spPr>
        <p:txBody>
          <a:bodyPr wrap="square" lIns="635" tIns="635" rIns="635" bIns="635" rtlCol="0" anchor="ctr">
            <a:normAutofit/>
          </a:bodyPr>
          <a:lstStyle/>
          <a:p>
            <a:pPr algn="l" indent="0" marL="0">
              <a:buNone/>
            </a:pPr>
            <a:r>
              <a:rPr lang="en-US" sz="1600" b="1" dirty="0">
                <a:solidFill>
                  <a:srgbClr val="D65F00"/>
                </a:solidFill>
                <a:latin typeface="Aptos" pitchFamily="34" charset="0"/>
                <a:ea typeface="Aptos" pitchFamily="34" charset="-122"/>
                <a:cs typeface="Aptos" pitchFamily="34" charset="-120"/>
              </a:rPr>
              <a:t>Model strategy</a:t>
            </a:r>
            <a:endParaRPr lang="en-US" sz="1600" dirty="0"/>
          </a:p>
        </p:txBody>
      </p:sp>
      <p:sp>
        <p:nvSpPr>
          <p:cNvPr id="8" name="Shape 6"/>
          <p:cNvSpPr/>
          <p:nvPr/>
        </p:nvSpPr>
        <p:spPr>
          <a:xfrm>
            <a:off x="777240" y="1444752"/>
            <a:ext cx="5074920" cy="1097280"/>
          </a:xfrm>
          <a:prstGeom prst="roundRect">
            <a:avLst>
              <a:gd name="adj" fmla="val 6667"/>
            </a:avLst>
          </a:prstGeom>
          <a:solidFill>
            <a:srgbClr val="FFFFFF"/>
          </a:solidFill>
          <a:ln w="12700">
            <a:solidFill>
              <a:srgbClr val="CBD5E1"/>
            </a:solidFill>
            <a:prstDash val="solid"/>
          </a:ln>
        </p:spPr>
      </p:sp>
      <p:sp>
        <p:nvSpPr>
          <p:cNvPr id="9" name="Text 7"/>
          <p:cNvSpPr/>
          <p:nvPr/>
        </p:nvSpPr>
        <p:spPr>
          <a:xfrm>
            <a:off x="941832" y="1563624"/>
            <a:ext cx="4745736" cy="237744"/>
          </a:xfrm>
          <a:prstGeom prst="rect">
            <a:avLst/>
          </a:prstGeom>
          <a:noFill/>
          <a:ln/>
        </p:spPr>
        <p:txBody>
          <a:bodyPr wrap="square" lIns="635" tIns="635" rIns="635" bIns="635" rtlCol="0" anchor="ctr">
            <a:normAutofit/>
          </a:bodyPr>
          <a:lstStyle/>
          <a:p>
            <a:pPr algn="l" indent="0" marL="0">
              <a:buNone/>
            </a:pPr>
            <a:r>
              <a:rPr lang="en-US" sz="1800" b="1" dirty="0">
                <a:solidFill>
                  <a:srgbClr val="0078B8"/>
                </a:solidFill>
                <a:latin typeface="Aptos" pitchFamily="34" charset="0"/>
                <a:ea typeface="Aptos" pitchFamily="34" charset="-122"/>
                <a:cs typeface="Aptos" pitchFamily="34" charset="-120"/>
              </a:rPr>
              <a:t>1</a:t>
            </a:r>
            <a:endParaRPr lang="en-US" sz="1800" dirty="0"/>
          </a:p>
        </p:txBody>
      </p:sp>
      <p:sp>
        <p:nvSpPr>
          <p:cNvPr id="10" name="Text 8"/>
          <p:cNvSpPr/>
          <p:nvPr/>
        </p:nvSpPr>
        <p:spPr>
          <a:xfrm>
            <a:off x="941832" y="1883664"/>
            <a:ext cx="4745736" cy="594360"/>
          </a:xfrm>
          <a:prstGeom prst="rect">
            <a:avLst/>
          </a:prstGeom>
          <a:noFill/>
          <a:ln/>
        </p:spPr>
        <p:txBody>
          <a:bodyPr wrap="square" lIns="635" tIns="635" rIns="635" bIns="635" rtlCol="0" anchor="t">
            <a:normAutofit/>
          </a:bodyPr>
          <a:lstStyle/>
          <a:p>
            <a:pPr algn="l" indent="0" marL="0">
              <a:buNone/>
            </a:pPr>
            <a:r>
              <a:rPr lang="en-US" sz="1400" dirty="0">
                <a:solidFill>
                  <a:srgbClr val="637083"/>
                </a:solidFill>
                <a:latin typeface="Aptos" pitchFamily="34" charset="0"/>
                <a:ea typeface="Aptos" pitchFamily="34" charset="-122"/>
                <a:cs typeface="Aptos" pitchFamily="34" charset="-120"/>
              </a:rPr>
              <a:t>Does adding synthetically degraded speech reduce Whisper-small error relative to ordinary fine-tuning?</a:t>
            </a:r>
            <a:endParaRPr lang="en-US" sz="1400" dirty="0"/>
          </a:p>
        </p:txBody>
      </p:sp>
      <p:sp>
        <p:nvSpPr>
          <p:cNvPr id="11" name="Shape 9"/>
          <p:cNvSpPr/>
          <p:nvPr/>
        </p:nvSpPr>
        <p:spPr>
          <a:xfrm>
            <a:off x="777240" y="2770632"/>
            <a:ext cx="5074920" cy="1234440"/>
          </a:xfrm>
          <a:prstGeom prst="roundRect">
            <a:avLst>
              <a:gd name="adj" fmla="val 5926"/>
            </a:avLst>
          </a:prstGeom>
          <a:solidFill>
            <a:srgbClr val="FFFFFF"/>
          </a:solidFill>
          <a:ln w="12700">
            <a:solidFill>
              <a:srgbClr val="CBD5E1"/>
            </a:solidFill>
            <a:prstDash val="solid"/>
          </a:ln>
        </p:spPr>
      </p:sp>
      <p:sp>
        <p:nvSpPr>
          <p:cNvPr id="12" name="Text 10"/>
          <p:cNvSpPr/>
          <p:nvPr/>
        </p:nvSpPr>
        <p:spPr>
          <a:xfrm>
            <a:off x="941832" y="2889504"/>
            <a:ext cx="4745736" cy="237744"/>
          </a:xfrm>
          <a:prstGeom prst="rect">
            <a:avLst/>
          </a:prstGeom>
          <a:noFill/>
          <a:ln/>
        </p:spPr>
        <p:txBody>
          <a:bodyPr wrap="square" lIns="635" tIns="635" rIns="635" bIns="635" rtlCol="0" anchor="ctr">
            <a:normAutofit/>
          </a:bodyPr>
          <a:lstStyle/>
          <a:p>
            <a:pPr algn="l" indent="0" marL="0">
              <a:buNone/>
            </a:pPr>
            <a:r>
              <a:rPr lang="en-US" sz="1800" b="1" dirty="0">
                <a:solidFill>
                  <a:srgbClr val="0078B8"/>
                </a:solidFill>
                <a:latin typeface="Aptos" pitchFamily="34" charset="0"/>
                <a:ea typeface="Aptos" pitchFamily="34" charset="-122"/>
                <a:cs typeface="Aptos" pitchFamily="34" charset="-120"/>
              </a:rPr>
              <a:t>2</a:t>
            </a:r>
            <a:endParaRPr lang="en-US" sz="1800" dirty="0"/>
          </a:p>
        </p:txBody>
      </p:sp>
      <p:sp>
        <p:nvSpPr>
          <p:cNvPr id="13" name="Text 11"/>
          <p:cNvSpPr/>
          <p:nvPr/>
        </p:nvSpPr>
        <p:spPr>
          <a:xfrm>
            <a:off x="941832" y="3209544"/>
            <a:ext cx="4745736" cy="731520"/>
          </a:xfrm>
          <a:prstGeom prst="rect">
            <a:avLst/>
          </a:prstGeom>
          <a:noFill/>
          <a:ln/>
        </p:spPr>
        <p:txBody>
          <a:bodyPr wrap="square" lIns="635" tIns="635" rIns="635" bIns="635" rtlCol="0" anchor="t">
            <a:normAutofit/>
          </a:bodyPr>
          <a:lstStyle/>
          <a:p>
            <a:pPr algn="l" indent="0" marL="0">
              <a:buNone/>
            </a:pPr>
            <a:r>
              <a:rPr lang="en-US" sz="1400" dirty="0">
                <a:solidFill>
                  <a:srgbClr val="637083"/>
                </a:solidFill>
                <a:latin typeface="Aptos" pitchFamily="34" charset="0"/>
                <a:ea typeface="Aptos" pitchFamily="34" charset="-122"/>
                <a:cs typeface="Aptos" pitchFamily="34" charset="-120"/>
              </a:rPr>
              <a:t>Does this benefit transfer to real telephone and VoIP speech without a broad loss on general Persian speech?</a:t>
            </a:r>
            <a:endParaRPr lang="en-US" sz="1400" dirty="0"/>
          </a:p>
        </p:txBody>
      </p:sp>
      <p:sp>
        <p:nvSpPr>
          <p:cNvPr id="14" name="Shape 12"/>
          <p:cNvSpPr/>
          <p:nvPr/>
        </p:nvSpPr>
        <p:spPr>
          <a:xfrm>
            <a:off x="6355080" y="1444752"/>
            <a:ext cx="5074920" cy="1097280"/>
          </a:xfrm>
          <a:prstGeom prst="roundRect">
            <a:avLst>
              <a:gd name="adj" fmla="val 6667"/>
            </a:avLst>
          </a:prstGeom>
          <a:solidFill>
            <a:srgbClr val="FFFFFF"/>
          </a:solidFill>
          <a:ln w="12700">
            <a:solidFill>
              <a:srgbClr val="CBD5E1"/>
            </a:solidFill>
            <a:prstDash val="solid"/>
          </a:ln>
        </p:spPr>
      </p:sp>
      <p:sp>
        <p:nvSpPr>
          <p:cNvPr id="15" name="Text 13"/>
          <p:cNvSpPr/>
          <p:nvPr/>
        </p:nvSpPr>
        <p:spPr>
          <a:xfrm>
            <a:off x="6519672" y="1563624"/>
            <a:ext cx="4745736" cy="237744"/>
          </a:xfrm>
          <a:prstGeom prst="rect">
            <a:avLst/>
          </a:prstGeom>
          <a:noFill/>
          <a:ln/>
        </p:spPr>
        <p:txBody>
          <a:bodyPr wrap="square" lIns="635" tIns="635" rIns="635" bIns="635" rtlCol="0" anchor="ctr">
            <a:normAutofit/>
          </a:bodyPr>
          <a:lstStyle/>
          <a:p>
            <a:pPr algn="l" indent="0" marL="0">
              <a:buNone/>
            </a:pPr>
            <a:r>
              <a:rPr lang="en-US" sz="1800" b="1" dirty="0">
                <a:solidFill>
                  <a:srgbClr val="D65F00"/>
                </a:solidFill>
                <a:latin typeface="Aptos" pitchFamily="34" charset="0"/>
                <a:ea typeface="Aptos" pitchFamily="34" charset="-122"/>
                <a:cs typeface="Aptos" pitchFamily="34" charset="-120"/>
              </a:rPr>
              <a:t>3</a:t>
            </a:r>
            <a:endParaRPr lang="en-US" sz="1800" dirty="0"/>
          </a:p>
        </p:txBody>
      </p:sp>
      <p:sp>
        <p:nvSpPr>
          <p:cNvPr id="16" name="Text 14"/>
          <p:cNvSpPr/>
          <p:nvPr/>
        </p:nvSpPr>
        <p:spPr>
          <a:xfrm>
            <a:off x="6519672" y="1883664"/>
            <a:ext cx="4745736" cy="594360"/>
          </a:xfrm>
          <a:prstGeom prst="rect">
            <a:avLst/>
          </a:prstGeom>
          <a:noFill/>
          <a:ln/>
        </p:spPr>
        <p:txBody>
          <a:bodyPr wrap="square" lIns="635" tIns="635" rIns="635" bIns="635" rtlCol="0" anchor="t">
            <a:normAutofit/>
          </a:bodyPr>
          <a:lstStyle/>
          <a:p>
            <a:pPr algn="l" indent="0" marL="0">
              <a:buNone/>
            </a:pPr>
            <a:r>
              <a:rPr lang="en-US" sz="1400" dirty="0">
                <a:solidFill>
                  <a:srgbClr val="637083"/>
                </a:solidFill>
                <a:latin typeface="Aptos" pitchFamily="34" charset="0"/>
                <a:ea typeface="Aptos" pitchFamily="34" charset="-122"/>
                <a:cs typeface="Aptos" pitchFamily="34" charset="-120"/>
              </a:rPr>
              <a:t>Does fusing original and enhanced representations beat both ordinary and multi-condition Whisper?</a:t>
            </a:r>
            <a:endParaRPr lang="en-US" sz="1400" dirty="0"/>
          </a:p>
        </p:txBody>
      </p:sp>
      <p:sp>
        <p:nvSpPr>
          <p:cNvPr id="17" name="Shape 15"/>
          <p:cNvSpPr/>
          <p:nvPr/>
        </p:nvSpPr>
        <p:spPr>
          <a:xfrm>
            <a:off x="6355080" y="2770632"/>
            <a:ext cx="5074920" cy="1234440"/>
          </a:xfrm>
          <a:prstGeom prst="roundRect">
            <a:avLst>
              <a:gd name="adj" fmla="val 5926"/>
            </a:avLst>
          </a:prstGeom>
          <a:solidFill>
            <a:srgbClr val="FFFFFF"/>
          </a:solidFill>
          <a:ln w="12700">
            <a:solidFill>
              <a:srgbClr val="CBD5E1"/>
            </a:solidFill>
            <a:prstDash val="solid"/>
          </a:ln>
        </p:spPr>
      </p:sp>
      <p:sp>
        <p:nvSpPr>
          <p:cNvPr id="18" name="Text 16"/>
          <p:cNvSpPr/>
          <p:nvPr/>
        </p:nvSpPr>
        <p:spPr>
          <a:xfrm>
            <a:off x="6519672" y="2889504"/>
            <a:ext cx="4745736" cy="237744"/>
          </a:xfrm>
          <a:prstGeom prst="rect">
            <a:avLst/>
          </a:prstGeom>
          <a:noFill/>
          <a:ln/>
        </p:spPr>
        <p:txBody>
          <a:bodyPr wrap="square" lIns="635" tIns="635" rIns="635" bIns="635" rtlCol="0" anchor="ctr">
            <a:normAutofit/>
          </a:bodyPr>
          <a:lstStyle/>
          <a:p>
            <a:pPr algn="l" indent="0" marL="0">
              <a:buNone/>
            </a:pPr>
            <a:r>
              <a:rPr lang="en-US" sz="1800" b="1" dirty="0">
                <a:solidFill>
                  <a:srgbClr val="D65F00"/>
                </a:solidFill>
                <a:latin typeface="Aptos" pitchFamily="34" charset="0"/>
                <a:ea typeface="Aptos" pitchFamily="34" charset="-122"/>
                <a:cs typeface="Aptos" pitchFamily="34" charset="-120"/>
              </a:rPr>
              <a:t>4</a:t>
            </a:r>
            <a:endParaRPr lang="en-US" sz="1800" dirty="0"/>
          </a:p>
        </p:txBody>
      </p:sp>
      <p:sp>
        <p:nvSpPr>
          <p:cNvPr id="19" name="Text 17"/>
          <p:cNvSpPr/>
          <p:nvPr/>
        </p:nvSpPr>
        <p:spPr>
          <a:xfrm>
            <a:off x="6519672" y="3209544"/>
            <a:ext cx="4745736" cy="731520"/>
          </a:xfrm>
          <a:prstGeom prst="rect">
            <a:avLst/>
          </a:prstGeom>
          <a:noFill/>
          <a:ln/>
        </p:spPr>
        <p:txBody>
          <a:bodyPr wrap="square" lIns="635" tIns="635" rIns="635" bIns="635" rtlCol="0" anchor="t">
            <a:normAutofit/>
          </a:bodyPr>
          <a:lstStyle/>
          <a:p>
            <a:pPr algn="l" indent="0" marL="0">
              <a:buNone/>
            </a:pPr>
            <a:r>
              <a:rPr lang="en-US" sz="1400" dirty="0">
                <a:solidFill>
                  <a:srgbClr val="637083"/>
                </a:solidFill>
                <a:latin typeface="Aptos" pitchFamily="34" charset="0"/>
                <a:ea typeface="Aptos" pitchFamily="34" charset="-122"/>
                <a:cs typeface="Aptos" pitchFamily="34" charset="-120"/>
              </a:rPr>
              <a:t>Does the learned gate actually use both streams?</a:t>
            </a:r>
            <a:endParaRPr lang="en-US" sz="1400" dirty="0"/>
          </a:p>
        </p:txBody>
      </p:sp>
      <p:sp>
        <p:nvSpPr>
          <p:cNvPr id="20" name="Shape 18"/>
          <p:cNvSpPr/>
          <p:nvPr/>
        </p:nvSpPr>
        <p:spPr>
          <a:xfrm>
            <a:off x="2103120" y="4892040"/>
            <a:ext cx="8001000" cy="658368"/>
          </a:xfrm>
          <a:prstGeom prst="roundRect">
            <a:avLst>
              <a:gd name="adj" fmla="val 11111"/>
            </a:avLst>
          </a:prstGeom>
          <a:solidFill>
            <a:srgbClr val="FFF7ED"/>
          </a:solidFill>
          <a:ln w="12700">
            <a:solidFill>
              <a:srgbClr val="FDBA74"/>
            </a:solidFill>
            <a:prstDash val="solid"/>
          </a:ln>
        </p:spPr>
      </p:sp>
      <p:sp>
        <p:nvSpPr>
          <p:cNvPr id="21" name="Text 19"/>
          <p:cNvSpPr/>
          <p:nvPr/>
        </p:nvSpPr>
        <p:spPr>
          <a:xfrm>
            <a:off x="2331720" y="5093208"/>
            <a:ext cx="7543800" cy="201168"/>
          </a:xfrm>
          <a:prstGeom prst="rect">
            <a:avLst/>
          </a:prstGeom>
          <a:noFill/>
          <a:ln/>
        </p:spPr>
        <p:txBody>
          <a:bodyPr wrap="square" lIns="635" tIns="635" rIns="635" bIns="635" rtlCol="0" anchor="ctr">
            <a:normAutofit/>
          </a:bodyPr>
          <a:lstStyle/>
          <a:p>
            <a:pPr algn="ctr" indent="0" marL="0">
              <a:buNone/>
            </a:pPr>
            <a:r>
              <a:rPr lang="en-US" sz="1430" b="1" dirty="0">
                <a:solidFill>
                  <a:srgbClr val="1F2937"/>
                </a:solidFill>
                <a:latin typeface="Aptos" pitchFamily="34" charset="0"/>
                <a:ea typeface="Aptos" pitchFamily="34" charset="-122"/>
                <a:cs typeface="Aptos" pitchFamily="34" charset="-120"/>
              </a:rPr>
              <a:t>The evaluation was designed to allow a negative answer for the proposed fusion architecture.</a:t>
            </a:r>
            <a:endParaRPr lang="en-US" sz="14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Proposed Approach at a Glance</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4/19</a:t>
            </a:r>
            <a:endParaRPr lang="en-US" sz="750" dirty="0"/>
          </a:p>
        </p:txBody>
      </p:sp>
      <p:sp>
        <p:nvSpPr>
          <p:cNvPr id="6" name="Shape 4"/>
          <p:cNvSpPr/>
          <p:nvPr/>
        </p:nvSpPr>
        <p:spPr>
          <a:xfrm>
            <a:off x="2880360" y="2606040"/>
            <a:ext cx="256032" cy="0"/>
          </a:xfrm>
          <a:prstGeom prst="line">
            <a:avLst/>
          </a:prstGeom>
          <a:solidFill>
            <a:srgbClr val="FFFFFF">
              <a:alpha val="0"/>
            </a:srgbClr>
          </a:solidFill>
          <a:ln w="17780">
            <a:solidFill>
              <a:srgbClr val="637083"/>
            </a:solidFill>
            <a:prstDash val="solid"/>
            <a:headEnd type="none"/>
            <a:tailEnd type="triangle"/>
          </a:ln>
        </p:spPr>
      </p:sp>
      <p:sp>
        <p:nvSpPr>
          <p:cNvPr id="7" name="Shape 5"/>
          <p:cNvSpPr/>
          <p:nvPr/>
        </p:nvSpPr>
        <p:spPr>
          <a:xfrm>
            <a:off x="5394960" y="2606040"/>
            <a:ext cx="256032" cy="0"/>
          </a:xfrm>
          <a:prstGeom prst="line">
            <a:avLst/>
          </a:prstGeom>
          <a:solidFill>
            <a:srgbClr val="FFFFFF">
              <a:alpha val="0"/>
            </a:srgbClr>
          </a:solidFill>
          <a:ln w="17780">
            <a:solidFill>
              <a:srgbClr val="637083"/>
            </a:solidFill>
            <a:prstDash val="solid"/>
            <a:headEnd type="none"/>
            <a:tailEnd type="triangle"/>
          </a:ln>
        </p:spPr>
      </p:sp>
      <p:sp>
        <p:nvSpPr>
          <p:cNvPr id="8" name="Shape 6"/>
          <p:cNvSpPr/>
          <p:nvPr/>
        </p:nvSpPr>
        <p:spPr>
          <a:xfrm>
            <a:off x="7909560" y="2606040"/>
            <a:ext cx="256032" cy="0"/>
          </a:xfrm>
          <a:prstGeom prst="line">
            <a:avLst/>
          </a:prstGeom>
          <a:solidFill>
            <a:srgbClr val="FFFFFF">
              <a:alpha val="0"/>
            </a:srgbClr>
          </a:solidFill>
          <a:ln w="17780">
            <a:solidFill>
              <a:srgbClr val="637083"/>
            </a:solidFill>
            <a:prstDash val="solid"/>
            <a:headEnd type="none"/>
            <a:tailEnd type="triangle"/>
          </a:ln>
        </p:spPr>
      </p:sp>
      <p:sp>
        <p:nvSpPr>
          <p:cNvPr id="9" name="Shape 7"/>
          <p:cNvSpPr/>
          <p:nvPr/>
        </p:nvSpPr>
        <p:spPr>
          <a:xfrm>
            <a:off x="731520" y="2011680"/>
            <a:ext cx="2148840" cy="1298448"/>
          </a:xfrm>
          <a:prstGeom prst="roundRect">
            <a:avLst>
              <a:gd name="adj" fmla="val 5634"/>
            </a:avLst>
          </a:prstGeom>
          <a:solidFill>
            <a:srgbClr val="FFFFFF"/>
          </a:solidFill>
          <a:ln w="12700">
            <a:solidFill>
              <a:srgbClr val="CBD5E1"/>
            </a:solidFill>
            <a:prstDash val="solid"/>
          </a:ln>
        </p:spPr>
      </p:sp>
      <p:sp>
        <p:nvSpPr>
          <p:cNvPr id="10" name="Text 8"/>
          <p:cNvSpPr/>
          <p:nvPr/>
        </p:nvSpPr>
        <p:spPr>
          <a:xfrm>
            <a:off x="896112" y="2130552"/>
            <a:ext cx="1819656" cy="237744"/>
          </a:xfrm>
          <a:prstGeom prst="rect">
            <a:avLst/>
          </a:prstGeom>
          <a:noFill/>
          <a:ln/>
        </p:spPr>
        <p:txBody>
          <a:bodyPr wrap="square" lIns="635" tIns="635" rIns="635" bIns="635" rtlCol="0" anchor="ctr">
            <a:normAutofit/>
          </a:bodyPr>
          <a:lstStyle/>
          <a:p>
            <a:pPr algn="l" indent="0" marL="0">
              <a:buNone/>
            </a:pPr>
            <a:r>
              <a:rPr lang="en-US" sz="1250" b="1" dirty="0">
                <a:solidFill>
                  <a:srgbClr val="1F2937"/>
                </a:solidFill>
                <a:latin typeface="Aptos" pitchFamily="34" charset="0"/>
                <a:ea typeface="Aptos" pitchFamily="34" charset="-122"/>
                <a:cs typeface="Aptos" pitchFamily="34" charset="-120"/>
              </a:rPr>
              <a:t>1. Unify Persian corpora</a:t>
            </a:r>
            <a:endParaRPr lang="en-US" sz="1250" dirty="0"/>
          </a:p>
        </p:txBody>
      </p:sp>
      <p:sp>
        <p:nvSpPr>
          <p:cNvPr id="11" name="Text 9"/>
          <p:cNvSpPr/>
          <p:nvPr/>
        </p:nvSpPr>
        <p:spPr>
          <a:xfrm>
            <a:off x="896112" y="2450592"/>
            <a:ext cx="1819656" cy="795528"/>
          </a:xfrm>
          <a:prstGeom prst="rect">
            <a:avLst/>
          </a:prstGeom>
          <a:noFill/>
          <a:ln/>
        </p:spPr>
        <p:txBody>
          <a:bodyPr wrap="square" lIns="635" tIns="635" rIns="635" bIns="635" rtlCol="0" anchor="t">
            <a:normAutofit/>
          </a:bodyPr>
          <a:lstStyle/>
          <a:p>
            <a:pPr algn="l" indent="0" marL="0">
              <a:buNone/>
            </a:pPr>
            <a:r>
              <a:rPr lang="en-US" sz="1050" dirty="0">
                <a:solidFill>
                  <a:srgbClr val="637083"/>
                </a:solidFill>
                <a:latin typeface="Aptos" pitchFamily="34" charset="0"/>
                <a:ea typeface="Aptos" pitchFamily="34" charset="-122"/>
                <a:cs typeface="Aptos" pitchFamily="34" charset="-120"/>
              </a:rPr>
              <a:t>Common TSV contract</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16 kHz mono audio</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Shared text normalization</a:t>
            </a:r>
            <a:endParaRPr lang="en-US" sz="1050" dirty="0"/>
          </a:p>
        </p:txBody>
      </p:sp>
      <p:sp>
        <p:nvSpPr>
          <p:cNvPr id="12" name="Shape 10"/>
          <p:cNvSpPr/>
          <p:nvPr/>
        </p:nvSpPr>
        <p:spPr>
          <a:xfrm>
            <a:off x="3246120" y="2011680"/>
            <a:ext cx="2148840" cy="1298448"/>
          </a:xfrm>
          <a:prstGeom prst="roundRect">
            <a:avLst>
              <a:gd name="adj" fmla="val 5634"/>
            </a:avLst>
          </a:prstGeom>
          <a:solidFill>
            <a:srgbClr val="EAF6FF"/>
          </a:solidFill>
          <a:ln w="12700">
            <a:solidFill>
              <a:srgbClr val="0078B8"/>
            </a:solidFill>
            <a:prstDash val="solid"/>
          </a:ln>
        </p:spPr>
      </p:sp>
      <p:sp>
        <p:nvSpPr>
          <p:cNvPr id="13" name="Text 11"/>
          <p:cNvSpPr/>
          <p:nvPr/>
        </p:nvSpPr>
        <p:spPr>
          <a:xfrm>
            <a:off x="3410712" y="2130552"/>
            <a:ext cx="1819656" cy="237744"/>
          </a:xfrm>
          <a:prstGeom prst="rect">
            <a:avLst/>
          </a:prstGeom>
          <a:noFill/>
          <a:ln/>
        </p:spPr>
        <p:txBody>
          <a:bodyPr wrap="square" lIns="635" tIns="635" rIns="635" bIns="635" rtlCol="0" anchor="ctr">
            <a:normAutofit/>
          </a:bodyPr>
          <a:lstStyle/>
          <a:p>
            <a:pPr algn="l" indent="0" marL="0">
              <a:buNone/>
            </a:pPr>
            <a:r>
              <a:rPr lang="en-US" sz="1250" b="1" dirty="0">
                <a:solidFill>
                  <a:srgbClr val="0078B8"/>
                </a:solidFill>
                <a:latin typeface="Aptos" pitchFamily="34" charset="0"/>
                <a:ea typeface="Aptos" pitchFamily="34" charset="-122"/>
                <a:cs typeface="Aptos" pitchFamily="34" charset="-120"/>
              </a:rPr>
              <a:t>2. Generate traceable degradations</a:t>
            </a:r>
            <a:endParaRPr lang="en-US" sz="1250" dirty="0"/>
          </a:p>
        </p:txBody>
      </p:sp>
      <p:sp>
        <p:nvSpPr>
          <p:cNvPr id="14" name="Text 12"/>
          <p:cNvSpPr/>
          <p:nvPr/>
        </p:nvSpPr>
        <p:spPr>
          <a:xfrm>
            <a:off x="3410712" y="2450592"/>
            <a:ext cx="1819656" cy="795528"/>
          </a:xfrm>
          <a:prstGeom prst="rect">
            <a:avLst/>
          </a:prstGeom>
          <a:noFill/>
          <a:ln/>
        </p:spPr>
        <p:txBody>
          <a:bodyPr wrap="square" lIns="635" tIns="635" rIns="635" bIns="635" rtlCol="0" anchor="t">
            <a:normAutofit/>
          </a:bodyPr>
          <a:lstStyle/>
          <a:p>
            <a:pPr algn="l" indent="0" marL="0">
              <a:buNone/>
            </a:pPr>
            <a:r>
              <a:rPr lang="en-US" sz="1050" dirty="0">
                <a:solidFill>
                  <a:srgbClr val="637083"/>
                </a:solidFill>
                <a:latin typeface="Aptos" pitchFamily="34" charset="0"/>
                <a:ea typeface="Aptos" pitchFamily="34" charset="-122"/>
                <a:cs typeface="Aptos" pitchFamily="34" charset="-120"/>
              </a:rPr>
              <a:t>Aligned clean–degraded pairs</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Deterministic seeds</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Metadata audit trail</a:t>
            </a:r>
            <a:endParaRPr lang="en-US" sz="1050" dirty="0"/>
          </a:p>
        </p:txBody>
      </p:sp>
      <p:sp>
        <p:nvSpPr>
          <p:cNvPr id="15" name="Shape 13"/>
          <p:cNvSpPr/>
          <p:nvPr/>
        </p:nvSpPr>
        <p:spPr>
          <a:xfrm>
            <a:off x="5760720" y="2011680"/>
            <a:ext cx="2148840" cy="1298448"/>
          </a:xfrm>
          <a:prstGeom prst="roundRect">
            <a:avLst>
              <a:gd name="adj" fmla="val 5634"/>
            </a:avLst>
          </a:prstGeom>
          <a:solidFill>
            <a:srgbClr val="FFFFFF"/>
          </a:solidFill>
          <a:ln w="12700">
            <a:solidFill>
              <a:srgbClr val="CBD5E1"/>
            </a:solidFill>
            <a:prstDash val="solid"/>
          </a:ln>
        </p:spPr>
      </p:sp>
      <p:sp>
        <p:nvSpPr>
          <p:cNvPr id="16" name="Text 14"/>
          <p:cNvSpPr/>
          <p:nvPr/>
        </p:nvSpPr>
        <p:spPr>
          <a:xfrm>
            <a:off x="5925312" y="2130552"/>
            <a:ext cx="1819656" cy="237744"/>
          </a:xfrm>
          <a:prstGeom prst="rect">
            <a:avLst/>
          </a:prstGeom>
          <a:noFill/>
          <a:ln/>
        </p:spPr>
        <p:txBody>
          <a:bodyPr wrap="square" lIns="635" tIns="635" rIns="635" bIns="635" rtlCol="0" anchor="ctr">
            <a:normAutofit/>
          </a:bodyPr>
          <a:lstStyle/>
          <a:p>
            <a:pPr algn="l" indent="0" marL="0">
              <a:buNone/>
            </a:pPr>
            <a:r>
              <a:rPr lang="en-US" sz="1250" b="1" dirty="0">
                <a:solidFill>
                  <a:srgbClr val="1F2937"/>
                </a:solidFill>
                <a:latin typeface="Aptos" pitchFamily="34" charset="0"/>
                <a:ea typeface="Aptos" pitchFamily="34" charset="-122"/>
                <a:cs typeface="Aptos" pitchFamily="34" charset="-120"/>
              </a:rPr>
              <a:t>3. Train three systems</a:t>
            </a:r>
            <a:endParaRPr lang="en-US" sz="1250" dirty="0"/>
          </a:p>
        </p:txBody>
      </p:sp>
      <p:sp>
        <p:nvSpPr>
          <p:cNvPr id="17" name="Text 15"/>
          <p:cNvSpPr/>
          <p:nvPr/>
        </p:nvSpPr>
        <p:spPr>
          <a:xfrm>
            <a:off x="5925312" y="2450592"/>
            <a:ext cx="1819656" cy="795528"/>
          </a:xfrm>
          <a:prstGeom prst="rect">
            <a:avLst/>
          </a:prstGeom>
          <a:noFill/>
          <a:ln/>
        </p:spPr>
        <p:txBody>
          <a:bodyPr wrap="square" lIns="635" tIns="635" rIns="635" bIns="635" rtlCol="0" anchor="t">
            <a:normAutofit/>
          </a:bodyPr>
          <a:lstStyle/>
          <a:p>
            <a:pPr algn="l" indent="0" marL="0">
              <a:buNone/>
            </a:pPr>
            <a:r>
              <a:rPr lang="en-US" sz="1050" dirty="0">
                <a:solidFill>
                  <a:srgbClr val="637083"/>
                </a:solidFill>
                <a:latin typeface="Aptos" pitchFamily="34" charset="0"/>
                <a:ea typeface="Aptos" pitchFamily="34" charset="-122"/>
                <a:cs typeface="Aptos" pitchFamily="34" charset="-120"/>
              </a:rPr>
              <a:t>Ordinary Whisper</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Multi-condition Whisper</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Dual-stream fusion</a:t>
            </a:r>
            <a:endParaRPr lang="en-US" sz="1050" dirty="0"/>
          </a:p>
        </p:txBody>
      </p:sp>
      <p:sp>
        <p:nvSpPr>
          <p:cNvPr id="18" name="Shape 16"/>
          <p:cNvSpPr/>
          <p:nvPr/>
        </p:nvSpPr>
        <p:spPr>
          <a:xfrm>
            <a:off x="8275320" y="2011680"/>
            <a:ext cx="2148840" cy="1298448"/>
          </a:xfrm>
          <a:prstGeom prst="roundRect">
            <a:avLst>
              <a:gd name="adj" fmla="val 5634"/>
            </a:avLst>
          </a:prstGeom>
          <a:solidFill>
            <a:srgbClr val="FFFFFF"/>
          </a:solidFill>
          <a:ln w="12700">
            <a:solidFill>
              <a:srgbClr val="CBD5E1"/>
            </a:solidFill>
            <a:prstDash val="solid"/>
          </a:ln>
        </p:spPr>
      </p:sp>
      <p:sp>
        <p:nvSpPr>
          <p:cNvPr id="19" name="Text 17"/>
          <p:cNvSpPr/>
          <p:nvPr/>
        </p:nvSpPr>
        <p:spPr>
          <a:xfrm>
            <a:off x="8439912" y="2130552"/>
            <a:ext cx="1819656" cy="237744"/>
          </a:xfrm>
          <a:prstGeom prst="rect">
            <a:avLst/>
          </a:prstGeom>
          <a:noFill/>
          <a:ln/>
        </p:spPr>
        <p:txBody>
          <a:bodyPr wrap="square" lIns="635" tIns="635" rIns="635" bIns="635" rtlCol="0" anchor="ctr">
            <a:normAutofit/>
          </a:bodyPr>
          <a:lstStyle/>
          <a:p>
            <a:pPr algn="l" indent="0" marL="0">
              <a:buNone/>
            </a:pPr>
            <a:r>
              <a:rPr lang="en-US" sz="1250" b="1" dirty="0">
                <a:solidFill>
                  <a:srgbClr val="1F2937"/>
                </a:solidFill>
                <a:latin typeface="Aptos" pitchFamily="34" charset="0"/>
                <a:ea typeface="Aptos" pitchFamily="34" charset="-122"/>
                <a:cs typeface="Aptos" pitchFamily="34" charset="-120"/>
              </a:rPr>
              <a:t>4. Evaluate synthetic-to-real transfer</a:t>
            </a:r>
            <a:endParaRPr lang="en-US" sz="1250" dirty="0"/>
          </a:p>
        </p:txBody>
      </p:sp>
      <p:sp>
        <p:nvSpPr>
          <p:cNvPr id="20" name="Text 18"/>
          <p:cNvSpPr/>
          <p:nvPr/>
        </p:nvSpPr>
        <p:spPr>
          <a:xfrm>
            <a:off x="8439912" y="2450592"/>
            <a:ext cx="1819656" cy="795528"/>
          </a:xfrm>
          <a:prstGeom prst="rect">
            <a:avLst/>
          </a:prstGeom>
          <a:noFill/>
          <a:ln/>
        </p:spPr>
        <p:txBody>
          <a:bodyPr wrap="square" lIns="635" tIns="635" rIns="635" bIns="635" rtlCol="0" anchor="t">
            <a:normAutofit/>
          </a:bodyPr>
          <a:lstStyle/>
          <a:p>
            <a:pPr algn="l" indent="0" marL="0">
              <a:buNone/>
            </a:pPr>
            <a:r>
              <a:rPr lang="en-US" sz="1050" dirty="0">
                <a:solidFill>
                  <a:srgbClr val="637083"/>
                </a:solidFill>
                <a:latin typeface="Aptos" pitchFamily="34" charset="0"/>
                <a:ea typeface="Aptos" pitchFamily="34" charset="-122"/>
                <a:cs typeface="Aptos" pitchFamily="34" charset="-120"/>
              </a:rPr>
              <a:t>Five held-out test sets</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Real AGFarsdat calls</a:t>
            </a:r>
            <a:endParaRPr lang="en-US" sz="1050" dirty="0"/>
          </a:p>
          <a:p>
            <a:pPr algn="l" indent="0" marL="0">
              <a:buNone/>
            </a:pPr>
            <a:r>
              <a:rPr lang="en-US" sz="1050" dirty="0">
                <a:solidFill>
                  <a:srgbClr val="637083"/>
                </a:solidFill>
                <a:latin typeface="Aptos" pitchFamily="34" charset="0"/>
                <a:ea typeface="Aptos" pitchFamily="34" charset="-122"/>
                <a:cs typeface="Aptos" pitchFamily="34" charset="-120"/>
              </a:rPr>
              <a:t>General-domain checks</a:t>
            </a:r>
            <a:endParaRPr lang="en-US" sz="1050" dirty="0"/>
          </a:p>
        </p:txBody>
      </p:sp>
      <p:sp>
        <p:nvSpPr>
          <p:cNvPr id="21" name="Shape 19"/>
          <p:cNvSpPr/>
          <p:nvPr/>
        </p:nvSpPr>
        <p:spPr>
          <a:xfrm>
            <a:off x="3840480" y="3566160"/>
            <a:ext cx="1371600" cy="237744"/>
          </a:xfrm>
          <a:prstGeom prst="roundRect">
            <a:avLst>
              <a:gd name="adj" fmla="val 30769"/>
            </a:avLst>
          </a:prstGeom>
          <a:solidFill>
            <a:srgbClr val="EAF6FF"/>
          </a:solidFill>
          <a:ln w="10160">
            <a:solidFill>
              <a:srgbClr val="0078B8"/>
            </a:solidFill>
            <a:prstDash val="solid"/>
          </a:ln>
        </p:spPr>
      </p:sp>
      <p:sp>
        <p:nvSpPr>
          <p:cNvPr id="22" name="Text 20"/>
          <p:cNvSpPr/>
          <p:nvPr/>
        </p:nvSpPr>
        <p:spPr>
          <a:xfrm>
            <a:off x="3895344" y="3625596"/>
            <a:ext cx="1261872" cy="109728"/>
          </a:xfrm>
          <a:prstGeom prst="rect">
            <a:avLst/>
          </a:prstGeom>
          <a:noFill/>
          <a:ln/>
        </p:spPr>
        <p:txBody>
          <a:bodyPr wrap="square" lIns="0" tIns="0" rIns="0" bIns="0" rtlCol="0" anchor="ctr"/>
          <a:lstStyle/>
          <a:p>
            <a:pPr algn="ctr" indent="0" marL="0">
              <a:buNone/>
            </a:pPr>
            <a:r>
              <a:rPr lang="en-US" sz="750" b="1" dirty="0">
                <a:solidFill>
                  <a:srgbClr val="0078B8"/>
                </a:solidFill>
              </a:rPr>
              <a:t>data contribution</a:t>
            </a:r>
            <a:endParaRPr lang="en-US" sz="750" dirty="0"/>
          </a:p>
        </p:txBody>
      </p:sp>
      <p:sp>
        <p:nvSpPr>
          <p:cNvPr id="23" name="Shape 21"/>
          <p:cNvSpPr/>
          <p:nvPr/>
        </p:nvSpPr>
        <p:spPr>
          <a:xfrm>
            <a:off x="6400800" y="3566160"/>
            <a:ext cx="1371600" cy="237744"/>
          </a:xfrm>
          <a:prstGeom prst="roundRect">
            <a:avLst>
              <a:gd name="adj" fmla="val 30769"/>
            </a:avLst>
          </a:prstGeom>
          <a:solidFill>
            <a:srgbClr val="FFF1E5"/>
          </a:solidFill>
          <a:ln w="10160">
            <a:solidFill>
              <a:srgbClr val="D65F00"/>
            </a:solidFill>
            <a:prstDash val="solid"/>
          </a:ln>
        </p:spPr>
      </p:sp>
      <p:sp>
        <p:nvSpPr>
          <p:cNvPr id="24" name="Text 22"/>
          <p:cNvSpPr/>
          <p:nvPr/>
        </p:nvSpPr>
        <p:spPr>
          <a:xfrm>
            <a:off x="6455664" y="3625596"/>
            <a:ext cx="1261872" cy="109728"/>
          </a:xfrm>
          <a:prstGeom prst="rect">
            <a:avLst/>
          </a:prstGeom>
          <a:noFill/>
          <a:ln/>
        </p:spPr>
        <p:txBody>
          <a:bodyPr wrap="square" lIns="0" tIns="0" rIns="0" bIns="0" rtlCol="0" anchor="ctr"/>
          <a:lstStyle/>
          <a:p>
            <a:pPr algn="ctr" indent="0" marL="0">
              <a:buNone/>
            </a:pPr>
            <a:r>
              <a:rPr lang="en-US" sz="750" b="1" dirty="0">
                <a:solidFill>
                  <a:srgbClr val="D65F00"/>
                </a:solidFill>
              </a:rPr>
              <a:t>model comparison</a:t>
            </a:r>
            <a:endParaRPr lang="en-US" sz="750" dirty="0"/>
          </a:p>
        </p:txBody>
      </p:sp>
      <p:sp>
        <p:nvSpPr>
          <p:cNvPr id="25" name="Shape 23"/>
          <p:cNvSpPr/>
          <p:nvPr/>
        </p:nvSpPr>
        <p:spPr>
          <a:xfrm>
            <a:off x="1143000" y="4892040"/>
            <a:ext cx="9921240" cy="713232"/>
          </a:xfrm>
          <a:prstGeom prst="roundRect">
            <a:avLst>
              <a:gd name="adj" fmla="val 10256"/>
            </a:avLst>
          </a:prstGeom>
          <a:solidFill>
            <a:srgbClr val="F8FAFC"/>
          </a:solidFill>
          <a:ln w="12700">
            <a:solidFill>
              <a:srgbClr val="CBD5E1"/>
            </a:solidFill>
            <a:prstDash val="solid"/>
          </a:ln>
        </p:spPr>
      </p:sp>
      <p:sp>
        <p:nvSpPr>
          <p:cNvPr id="26" name="Text 24"/>
          <p:cNvSpPr/>
          <p:nvPr/>
        </p:nvSpPr>
        <p:spPr>
          <a:xfrm>
            <a:off x="1463040" y="5102352"/>
            <a:ext cx="9326880" cy="201168"/>
          </a:xfrm>
          <a:prstGeom prst="rect">
            <a:avLst/>
          </a:prstGeom>
          <a:noFill/>
          <a:ln/>
        </p:spPr>
        <p:txBody>
          <a:bodyPr wrap="square" lIns="635" tIns="635" rIns="635" bIns="635" rtlCol="0" anchor="ctr">
            <a:normAutofit/>
          </a:bodyPr>
          <a:lstStyle/>
          <a:p>
            <a:pPr algn="ctr" indent="0" marL="0">
              <a:buNone/>
            </a:pPr>
            <a:r>
              <a:rPr lang="en-US" sz="1380" b="1" dirty="0">
                <a:solidFill>
                  <a:srgbClr val="1F2937"/>
                </a:solidFill>
                <a:latin typeface="Aptos" pitchFamily="34" charset="0"/>
                <a:ea typeface="Aptos" pitchFamily="34" charset="-122"/>
                <a:cs typeface="Aptos" pitchFamily="34" charset="-120"/>
              </a:rPr>
              <a:t>Narrative: domain mismatch → reproducible telecom simulation → three compared systems → results → interpretation and limitations</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Data: Training Diversity and Held-Out Evaluation</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5/19</a:t>
            </a:r>
            <a:endParaRPr lang="en-US" sz="750" dirty="0"/>
          </a:p>
        </p:txBody>
      </p:sp>
      <p:sp>
        <p:nvSpPr>
          <p:cNvPr id="6" name="Text 4"/>
          <p:cNvSpPr/>
          <p:nvPr/>
        </p:nvSpPr>
        <p:spPr>
          <a:xfrm>
            <a:off x="594360" y="987552"/>
            <a:ext cx="5303520" cy="274320"/>
          </a:xfrm>
          <a:prstGeom prst="rect">
            <a:avLst/>
          </a:prstGeom>
          <a:noFill/>
          <a:ln/>
        </p:spPr>
        <p:txBody>
          <a:bodyPr wrap="square" lIns="635" tIns="635" rIns="635" bIns="635" rtlCol="0" anchor="ctr">
            <a:normAutofit/>
          </a:bodyPr>
          <a:lstStyle/>
          <a:p>
            <a:pPr algn="l" indent="0" marL="0">
              <a:buNone/>
            </a:pPr>
            <a:r>
              <a:rPr lang="en-US" sz="1550" b="1" dirty="0">
                <a:solidFill>
                  <a:srgbClr val="1F2937"/>
                </a:solidFill>
                <a:latin typeface="Aptos" pitchFamily="34" charset="0"/>
                <a:ea typeface="Aptos" pitchFamily="34" charset="-122"/>
                <a:cs typeface="Aptos" pitchFamily="34" charset="-120"/>
              </a:rPr>
              <a:t>Training and validation</a:t>
            </a:r>
            <a:endParaRPr lang="en-US" sz="1550" dirty="0"/>
          </a:p>
        </p:txBody>
      </p:sp>
      <p:sp>
        <p:nvSpPr>
          <p:cNvPr id="7" name="Shape 5"/>
          <p:cNvSpPr/>
          <p:nvPr/>
        </p:nvSpPr>
        <p:spPr>
          <a:xfrm>
            <a:off x="594360" y="1371600"/>
            <a:ext cx="2962656" cy="285750"/>
          </a:xfrm>
          <a:prstGeom prst="rect">
            <a:avLst/>
          </a:prstGeom>
          <a:solidFill>
            <a:srgbClr val="EEF2F6"/>
          </a:solidFill>
          <a:ln w="6350">
            <a:solidFill>
              <a:srgbClr val="CBD5E1"/>
            </a:solidFill>
            <a:prstDash val="solid"/>
          </a:ln>
        </p:spPr>
      </p:sp>
      <p:sp>
        <p:nvSpPr>
          <p:cNvPr id="8" name="Text 6"/>
          <p:cNvSpPr/>
          <p:nvPr/>
        </p:nvSpPr>
        <p:spPr>
          <a:xfrm>
            <a:off x="630936" y="1389888"/>
            <a:ext cx="2889504" cy="249174"/>
          </a:xfrm>
          <a:prstGeom prst="rect">
            <a:avLst/>
          </a:prstGeom>
          <a:noFill/>
          <a:ln/>
        </p:spPr>
        <p:txBody>
          <a:bodyPr wrap="square" lIns="0" tIns="0" rIns="0" bIns="0" rtlCol="0" anchor="ctr">
            <a:normAutofit/>
          </a:bodyPr>
          <a:lstStyle/>
          <a:p>
            <a:pPr algn="l" indent="0" marL="0">
              <a:buNone/>
            </a:pPr>
            <a:r>
              <a:rPr lang="en-US" sz="850" b="1" dirty="0">
                <a:solidFill>
                  <a:srgbClr val="1F2937"/>
                </a:solidFill>
                <a:latin typeface="Aptos" pitchFamily="34" charset="0"/>
                <a:ea typeface="Aptos" pitchFamily="34" charset="-122"/>
                <a:cs typeface="Aptos" pitchFamily="34" charset="-120"/>
              </a:rPr>
              <a:t>Dataset</a:t>
            </a:r>
            <a:endParaRPr lang="en-US" sz="850" dirty="0"/>
          </a:p>
        </p:txBody>
      </p:sp>
      <p:sp>
        <p:nvSpPr>
          <p:cNvPr id="9" name="Shape 7"/>
          <p:cNvSpPr/>
          <p:nvPr/>
        </p:nvSpPr>
        <p:spPr>
          <a:xfrm>
            <a:off x="3557016" y="1371600"/>
            <a:ext cx="1426464" cy="285750"/>
          </a:xfrm>
          <a:prstGeom prst="rect">
            <a:avLst/>
          </a:prstGeom>
          <a:solidFill>
            <a:srgbClr val="EEF2F6"/>
          </a:solidFill>
          <a:ln w="6350">
            <a:solidFill>
              <a:srgbClr val="CBD5E1"/>
            </a:solidFill>
            <a:prstDash val="solid"/>
          </a:ln>
        </p:spPr>
      </p:sp>
      <p:sp>
        <p:nvSpPr>
          <p:cNvPr id="10" name="Text 8"/>
          <p:cNvSpPr/>
          <p:nvPr/>
        </p:nvSpPr>
        <p:spPr>
          <a:xfrm>
            <a:off x="3593592" y="1389888"/>
            <a:ext cx="1353312" cy="24917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Train</a:t>
            </a:r>
            <a:endParaRPr lang="en-US" sz="850" dirty="0"/>
          </a:p>
        </p:txBody>
      </p:sp>
      <p:sp>
        <p:nvSpPr>
          <p:cNvPr id="11" name="Shape 9"/>
          <p:cNvSpPr/>
          <p:nvPr/>
        </p:nvSpPr>
        <p:spPr>
          <a:xfrm>
            <a:off x="4983480" y="1371600"/>
            <a:ext cx="1426464" cy="285750"/>
          </a:xfrm>
          <a:prstGeom prst="rect">
            <a:avLst/>
          </a:prstGeom>
          <a:solidFill>
            <a:srgbClr val="EEF2F6"/>
          </a:solidFill>
          <a:ln w="6350">
            <a:solidFill>
              <a:srgbClr val="CBD5E1"/>
            </a:solidFill>
            <a:prstDash val="solid"/>
          </a:ln>
        </p:spPr>
      </p:sp>
      <p:sp>
        <p:nvSpPr>
          <p:cNvPr id="12" name="Text 10"/>
          <p:cNvSpPr/>
          <p:nvPr/>
        </p:nvSpPr>
        <p:spPr>
          <a:xfrm>
            <a:off x="5020056" y="1389888"/>
            <a:ext cx="1353312" cy="24917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Validation</a:t>
            </a:r>
            <a:endParaRPr lang="en-US" sz="850" dirty="0"/>
          </a:p>
        </p:txBody>
      </p:sp>
      <p:sp>
        <p:nvSpPr>
          <p:cNvPr id="13" name="Shape 11"/>
          <p:cNvSpPr/>
          <p:nvPr/>
        </p:nvSpPr>
        <p:spPr>
          <a:xfrm>
            <a:off x="6409944" y="1371600"/>
            <a:ext cx="5157216" cy="285750"/>
          </a:xfrm>
          <a:prstGeom prst="rect">
            <a:avLst/>
          </a:prstGeom>
          <a:solidFill>
            <a:srgbClr val="EEF2F6"/>
          </a:solidFill>
          <a:ln w="6350">
            <a:solidFill>
              <a:srgbClr val="CBD5E1"/>
            </a:solidFill>
            <a:prstDash val="solid"/>
          </a:ln>
        </p:spPr>
      </p:sp>
      <p:sp>
        <p:nvSpPr>
          <p:cNvPr id="14" name="Text 12"/>
          <p:cNvSpPr/>
          <p:nvPr/>
        </p:nvSpPr>
        <p:spPr>
          <a:xfrm>
            <a:off x="6446520" y="1389888"/>
            <a:ext cx="5084064" cy="24917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Role</a:t>
            </a:r>
            <a:endParaRPr lang="en-US" sz="850" dirty="0"/>
          </a:p>
        </p:txBody>
      </p:sp>
      <p:sp>
        <p:nvSpPr>
          <p:cNvPr id="15" name="Shape 13"/>
          <p:cNvSpPr/>
          <p:nvPr/>
        </p:nvSpPr>
        <p:spPr>
          <a:xfrm>
            <a:off x="594360" y="1657350"/>
            <a:ext cx="2962656" cy="285750"/>
          </a:xfrm>
          <a:prstGeom prst="rect">
            <a:avLst/>
          </a:prstGeom>
          <a:solidFill>
            <a:srgbClr val="FFFFFF"/>
          </a:solidFill>
          <a:ln w="6350">
            <a:solidFill>
              <a:srgbClr val="CBD5E1"/>
            </a:solidFill>
            <a:prstDash val="solid"/>
          </a:ln>
        </p:spPr>
      </p:sp>
      <p:sp>
        <p:nvSpPr>
          <p:cNvPr id="16" name="Text 14"/>
          <p:cNvSpPr/>
          <p:nvPr/>
        </p:nvSpPr>
        <p:spPr>
          <a:xfrm>
            <a:off x="630936" y="1675638"/>
            <a:ext cx="2889504" cy="249174"/>
          </a:xfrm>
          <a:prstGeom prst="rect">
            <a:avLst/>
          </a:prstGeom>
          <a:noFill/>
          <a:ln/>
        </p:spPr>
        <p:txBody>
          <a:bodyPr wrap="square" lIns="0" tIns="0" rIns="0" bIns="0" rtlCol="0" anchor="ctr">
            <a:normAutofit/>
          </a:bodyPr>
          <a:lstStyle/>
          <a:p>
            <a:pPr algn="l" indent="0" marL="0">
              <a:buNone/>
            </a:pPr>
            <a:r>
              <a:rPr lang="en-US" sz="850" dirty="0">
                <a:solidFill>
                  <a:srgbClr val="1F2937"/>
                </a:solidFill>
                <a:latin typeface="Aptos" pitchFamily="34" charset="0"/>
                <a:ea typeface="Aptos" pitchFamily="34" charset="-122"/>
                <a:cs typeface="Aptos" pitchFamily="34" charset="-120"/>
              </a:rPr>
              <a:t>Common Voice Persian 25</a:t>
            </a:r>
            <a:endParaRPr lang="en-US" sz="850" dirty="0"/>
          </a:p>
        </p:txBody>
      </p:sp>
      <p:sp>
        <p:nvSpPr>
          <p:cNvPr id="17" name="Shape 15"/>
          <p:cNvSpPr/>
          <p:nvPr/>
        </p:nvSpPr>
        <p:spPr>
          <a:xfrm>
            <a:off x="3557016" y="1657350"/>
            <a:ext cx="1426464" cy="285750"/>
          </a:xfrm>
          <a:prstGeom prst="rect">
            <a:avLst/>
          </a:prstGeom>
          <a:solidFill>
            <a:srgbClr val="FFFFFF"/>
          </a:solidFill>
          <a:ln w="6350">
            <a:solidFill>
              <a:srgbClr val="CBD5E1"/>
            </a:solidFill>
            <a:prstDash val="solid"/>
          </a:ln>
        </p:spPr>
      </p:sp>
      <p:sp>
        <p:nvSpPr>
          <p:cNvPr id="18" name="Text 16"/>
          <p:cNvSpPr/>
          <p:nvPr/>
        </p:nvSpPr>
        <p:spPr>
          <a:xfrm>
            <a:off x="3593592" y="1675638"/>
            <a:ext cx="1353312"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299,430</a:t>
            </a:r>
            <a:endParaRPr lang="en-US" sz="850" dirty="0"/>
          </a:p>
        </p:txBody>
      </p:sp>
      <p:sp>
        <p:nvSpPr>
          <p:cNvPr id="19" name="Shape 17"/>
          <p:cNvSpPr/>
          <p:nvPr/>
        </p:nvSpPr>
        <p:spPr>
          <a:xfrm>
            <a:off x="4983480" y="1657350"/>
            <a:ext cx="1426464" cy="285750"/>
          </a:xfrm>
          <a:prstGeom prst="rect">
            <a:avLst/>
          </a:prstGeom>
          <a:solidFill>
            <a:srgbClr val="FFFFFF"/>
          </a:solidFill>
          <a:ln w="6350">
            <a:solidFill>
              <a:srgbClr val="CBD5E1"/>
            </a:solidFill>
            <a:prstDash val="solid"/>
          </a:ln>
        </p:spPr>
      </p:sp>
      <p:sp>
        <p:nvSpPr>
          <p:cNvPr id="20" name="Text 18"/>
          <p:cNvSpPr/>
          <p:nvPr/>
        </p:nvSpPr>
        <p:spPr>
          <a:xfrm>
            <a:off x="5020056" y="1675638"/>
            <a:ext cx="1353312"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10,006</a:t>
            </a:r>
            <a:endParaRPr lang="en-US" sz="850" dirty="0"/>
          </a:p>
        </p:txBody>
      </p:sp>
      <p:sp>
        <p:nvSpPr>
          <p:cNvPr id="21" name="Shape 19"/>
          <p:cNvSpPr/>
          <p:nvPr/>
        </p:nvSpPr>
        <p:spPr>
          <a:xfrm>
            <a:off x="6409944" y="1657350"/>
            <a:ext cx="5157216" cy="285750"/>
          </a:xfrm>
          <a:prstGeom prst="rect">
            <a:avLst/>
          </a:prstGeom>
          <a:solidFill>
            <a:srgbClr val="FFFFFF"/>
          </a:solidFill>
          <a:ln w="6350">
            <a:solidFill>
              <a:srgbClr val="CBD5E1"/>
            </a:solidFill>
            <a:prstDash val="solid"/>
          </a:ln>
        </p:spPr>
      </p:sp>
      <p:sp>
        <p:nvSpPr>
          <p:cNvPr id="22" name="Text 20"/>
          <p:cNvSpPr/>
          <p:nvPr/>
        </p:nvSpPr>
        <p:spPr>
          <a:xfrm>
            <a:off x="6446520" y="1675638"/>
            <a:ext cx="5084064"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General speech + degradation source</a:t>
            </a:r>
            <a:endParaRPr lang="en-US" sz="850" dirty="0"/>
          </a:p>
        </p:txBody>
      </p:sp>
      <p:sp>
        <p:nvSpPr>
          <p:cNvPr id="23" name="Shape 21"/>
          <p:cNvSpPr/>
          <p:nvPr/>
        </p:nvSpPr>
        <p:spPr>
          <a:xfrm>
            <a:off x="594360" y="1943100"/>
            <a:ext cx="2962656" cy="285750"/>
          </a:xfrm>
          <a:prstGeom prst="rect">
            <a:avLst/>
          </a:prstGeom>
          <a:solidFill>
            <a:srgbClr val="FFFFFF"/>
          </a:solidFill>
          <a:ln w="6350">
            <a:solidFill>
              <a:srgbClr val="CBD5E1"/>
            </a:solidFill>
            <a:prstDash val="solid"/>
          </a:ln>
        </p:spPr>
      </p:sp>
      <p:sp>
        <p:nvSpPr>
          <p:cNvPr id="24" name="Text 22"/>
          <p:cNvSpPr/>
          <p:nvPr/>
        </p:nvSpPr>
        <p:spPr>
          <a:xfrm>
            <a:off x="630936" y="1961388"/>
            <a:ext cx="2889504" cy="249174"/>
          </a:xfrm>
          <a:prstGeom prst="rect">
            <a:avLst/>
          </a:prstGeom>
          <a:noFill/>
          <a:ln/>
        </p:spPr>
        <p:txBody>
          <a:bodyPr wrap="square" lIns="0" tIns="0" rIns="0" bIns="0" rtlCol="0" anchor="ctr">
            <a:normAutofit/>
          </a:bodyPr>
          <a:lstStyle/>
          <a:p>
            <a:pPr algn="l" indent="0" marL="0">
              <a:buNone/>
            </a:pPr>
            <a:r>
              <a:rPr lang="en-US" sz="850" dirty="0">
                <a:solidFill>
                  <a:srgbClr val="1F2937"/>
                </a:solidFill>
                <a:latin typeface="Aptos" pitchFamily="34" charset="0"/>
                <a:ea typeface="Aptos" pitchFamily="34" charset="-122"/>
                <a:cs typeface="Aptos" pitchFamily="34" charset="-120"/>
              </a:rPr>
              <a:t>FarsSpon (restricted)</a:t>
            </a:r>
            <a:endParaRPr lang="en-US" sz="850" dirty="0"/>
          </a:p>
        </p:txBody>
      </p:sp>
      <p:sp>
        <p:nvSpPr>
          <p:cNvPr id="25" name="Shape 23"/>
          <p:cNvSpPr/>
          <p:nvPr/>
        </p:nvSpPr>
        <p:spPr>
          <a:xfrm>
            <a:off x="3557016" y="1943100"/>
            <a:ext cx="1426464" cy="285750"/>
          </a:xfrm>
          <a:prstGeom prst="rect">
            <a:avLst/>
          </a:prstGeom>
          <a:solidFill>
            <a:srgbClr val="FFFFFF"/>
          </a:solidFill>
          <a:ln w="6350">
            <a:solidFill>
              <a:srgbClr val="CBD5E1"/>
            </a:solidFill>
            <a:prstDash val="solid"/>
          </a:ln>
        </p:spPr>
      </p:sp>
      <p:sp>
        <p:nvSpPr>
          <p:cNvPr id="26" name="Text 24"/>
          <p:cNvSpPr/>
          <p:nvPr/>
        </p:nvSpPr>
        <p:spPr>
          <a:xfrm>
            <a:off x="3593592" y="1961388"/>
            <a:ext cx="1353312"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600,672</a:t>
            </a:r>
            <a:endParaRPr lang="en-US" sz="850" dirty="0"/>
          </a:p>
        </p:txBody>
      </p:sp>
      <p:sp>
        <p:nvSpPr>
          <p:cNvPr id="27" name="Shape 25"/>
          <p:cNvSpPr/>
          <p:nvPr/>
        </p:nvSpPr>
        <p:spPr>
          <a:xfrm>
            <a:off x="4983480" y="1943100"/>
            <a:ext cx="1426464" cy="285750"/>
          </a:xfrm>
          <a:prstGeom prst="rect">
            <a:avLst/>
          </a:prstGeom>
          <a:solidFill>
            <a:srgbClr val="FFFFFF"/>
          </a:solidFill>
          <a:ln w="6350">
            <a:solidFill>
              <a:srgbClr val="CBD5E1"/>
            </a:solidFill>
            <a:prstDash val="solid"/>
          </a:ln>
        </p:spPr>
      </p:sp>
      <p:sp>
        <p:nvSpPr>
          <p:cNvPr id="28" name="Text 26"/>
          <p:cNvSpPr/>
          <p:nvPr/>
        </p:nvSpPr>
        <p:spPr>
          <a:xfrm>
            <a:off x="5020056" y="1961388"/>
            <a:ext cx="1353312"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6,044</a:t>
            </a:r>
            <a:endParaRPr lang="en-US" sz="850" dirty="0"/>
          </a:p>
        </p:txBody>
      </p:sp>
      <p:sp>
        <p:nvSpPr>
          <p:cNvPr id="29" name="Shape 27"/>
          <p:cNvSpPr/>
          <p:nvPr/>
        </p:nvSpPr>
        <p:spPr>
          <a:xfrm>
            <a:off x="6409944" y="1943100"/>
            <a:ext cx="5157216" cy="285750"/>
          </a:xfrm>
          <a:prstGeom prst="rect">
            <a:avLst/>
          </a:prstGeom>
          <a:solidFill>
            <a:srgbClr val="FFFFFF"/>
          </a:solidFill>
          <a:ln w="6350">
            <a:solidFill>
              <a:srgbClr val="CBD5E1"/>
            </a:solidFill>
            <a:prstDash val="solid"/>
          </a:ln>
        </p:spPr>
      </p:sp>
      <p:sp>
        <p:nvSpPr>
          <p:cNvPr id="30" name="Text 28"/>
          <p:cNvSpPr/>
          <p:nvPr/>
        </p:nvSpPr>
        <p:spPr>
          <a:xfrm>
            <a:off x="6446520" y="1961388"/>
            <a:ext cx="5084064"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Spontaneous Persian speech</a:t>
            </a:r>
            <a:endParaRPr lang="en-US" sz="850" dirty="0"/>
          </a:p>
        </p:txBody>
      </p:sp>
      <p:sp>
        <p:nvSpPr>
          <p:cNvPr id="31" name="Shape 29"/>
          <p:cNvSpPr/>
          <p:nvPr/>
        </p:nvSpPr>
        <p:spPr>
          <a:xfrm>
            <a:off x="594360" y="2228850"/>
            <a:ext cx="2962656" cy="285750"/>
          </a:xfrm>
          <a:prstGeom prst="rect">
            <a:avLst/>
          </a:prstGeom>
          <a:solidFill>
            <a:srgbClr val="FFFFFF"/>
          </a:solidFill>
          <a:ln w="6350">
            <a:solidFill>
              <a:srgbClr val="CBD5E1"/>
            </a:solidFill>
            <a:prstDash val="solid"/>
          </a:ln>
        </p:spPr>
      </p:sp>
      <p:sp>
        <p:nvSpPr>
          <p:cNvPr id="32" name="Text 30"/>
          <p:cNvSpPr/>
          <p:nvPr/>
        </p:nvSpPr>
        <p:spPr>
          <a:xfrm>
            <a:off x="630936" y="2247138"/>
            <a:ext cx="2889504" cy="249174"/>
          </a:xfrm>
          <a:prstGeom prst="rect">
            <a:avLst/>
          </a:prstGeom>
          <a:noFill/>
          <a:ln/>
        </p:spPr>
        <p:txBody>
          <a:bodyPr wrap="square" lIns="0" tIns="0" rIns="0" bIns="0" rtlCol="0" anchor="ctr">
            <a:normAutofit/>
          </a:bodyPr>
          <a:lstStyle/>
          <a:p>
            <a:pPr algn="l" indent="0" marL="0">
              <a:buNone/>
            </a:pPr>
            <a:r>
              <a:rPr lang="en-US" sz="850" dirty="0">
                <a:solidFill>
                  <a:srgbClr val="1F2937"/>
                </a:solidFill>
                <a:latin typeface="Aptos" pitchFamily="34" charset="0"/>
                <a:ea typeface="Aptos" pitchFamily="34" charset="-122"/>
                <a:cs typeface="Aptos" pitchFamily="34" charset="-120"/>
              </a:rPr>
              <a:t>FLEURS Persian</a:t>
            </a:r>
            <a:endParaRPr lang="en-US" sz="850" dirty="0"/>
          </a:p>
        </p:txBody>
      </p:sp>
      <p:sp>
        <p:nvSpPr>
          <p:cNvPr id="33" name="Shape 31"/>
          <p:cNvSpPr/>
          <p:nvPr/>
        </p:nvSpPr>
        <p:spPr>
          <a:xfrm>
            <a:off x="3557016" y="2228850"/>
            <a:ext cx="1426464" cy="285750"/>
          </a:xfrm>
          <a:prstGeom prst="rect">
            <a:avLst/>
          </a:prstGeom>
          <a:solidFill>
            <a:srgbClr val="FFFFFF"/>
          </a:solidFill>
          <a:ln w="6350">
            <a:solidFill>
              <a:srgbClr val="CBD5E1"/>
            </a:solidFill>
            <a:prstDash val="solid"/>
          </a:ln>
        </p:spPr>
      </p:sp>
      <p:sp>
        <p:nvSpPr>
          <p:cNvPr id="34" name="Text 32"/>
          <p:cNvSpPr/>
          <p:nvPr/>
        </p:nvSpPr>
        <p:spPr>
          <a:xfrm>
            <a:off x="3593592" y="2247138"/>
            <a:ext cx="1353312"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3,019</a:t>
            </a:r>
            <a:endParaRPr lang="en-US" sz="850" dirty="0"/>
          </a:p>
        </p:txBody>
      </p:sp>
      <p:sp>
        <p:nvSpPr>
          <p:cNvPr id="35" name="Shape 33"/>
          <p:cNvSpPr/>
          <p:nvPr/>
        </p:nvSpPr>
        <p:spPr>
          <a:xfrm>
            <a:off x="4983480" y="2228850"/>
            <a:ext cx="1426464" cy="285750"/>
          </a:xfrm>
          <a:prstGeom prst="rect">
            <a:avLst/>
          </a:prstGeom>
          <a:solidFill>
            <a:srgbClr val="FFFFFF"/>
          </a:solidFill>
          <a:ln w="6350">
            <a:solidFill>
              <a:srgbClr val="CBD5E1"/>
            </a:solidFill>
            <a:prstDash val="solid"/>
          </a:ln>
        </p:spPr>
      </p:sp>
      <p:sp>
        <p:nvSpPr>
          <p:cNvPr id="36" name="Text 34"/>
          <p:cNvSpPr/>
          <p:nvPr/>
        </p:nvSpPr>
        <p:spPr>
          <a:xfrm>
            <a:off x="5020056" y="2247138"/>
            <a:ext cx="1353312"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362</a:t>
            </a:r>
            <a:endParaRPr lang="en-US" sz="850" dirty="0"/>
          </a:p>
        </p:txBody>
      </p:sp>
      <p:sp>
        <p:nvSpPr>
          <p:cNvPr id="37" name="Shape 35"/>
          <p:cNvSpPr/>
          <p:nvPr/>
        </p:nvSpPr>
        <p:spPr>
          <a:xfrm>
            <a:off x="6409944" y="2228850"/>
            <a:ext cx="5157216" cy="285750"/>
          </a:xfrm>
          <a:prstGeom prst="rect">
            <a:avLst/>
          </a:prstGeom>
          <a:solidFill>
            <a:srgbClr val="FFFFFF"/>
          </a:solidFill>
          <a:ln w="6350">
            <a:solidFill>
              <a:srgbClr val="CBD5E1"/>
            </a:solidFill>
            <a:prstDash val="solid"/>
          </a:ln>
        </p:spPr>
      </p:sp>
      <p:sp>
        <p:nvSpPr>
          <p:cNvPr id="38" name="Text 36"/>
          <p:cNvSpPr/>
          <p:nvPr/>
        </p:nvSpPr>
        <p:spPr>
          <a:xfrm>
            <a:off x="6446520" y="2247138"/>
            <a:ext cx="5084064" cy="249174"/>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Read speech + domain diversity</a:t>
            </a:r>
            <a:endParaRPr lang="en-US" sz="850" dirty="0"/>
          </a:p>
        </p:txBody>
      </p:sp>
      <p:sp>
        <p:nvSpPr>
          <p:cNvPr id="39" name="Text 37"/>
          <p:cNvSpPr/>
          <p:nvPr/>
        </p:nvSpPr>
        <p:spPr>
          <a:xfrm>
            <a:off x="594360" y="2880360"/>
            <a:ext cx="5303520" cy="274320"/>
          </a:xfrm>
          <a:prstGeom prst="rect">
            <a:avLst/>
          </a:prstGeom>
          <a:noFill/>
          <a:ln/>
        </p:spPr>
        <p:txBody>
          <a:bodyPr wrap="square" lIns="635" tIns="635" rIns="635" bIns="635" rtlCol="0" anchor="ctr">
            <a:normAutofit/>
          </a:bodyPr>
          <a:lstStyle/>
          <a:p>
            <a:pPr algn="l" indent="0" marL="0">
              <a:buNone/>
            </a:pPr>
            <a:r>
              <a:rPr lang="en-US" sz="1550" b="1" dirty="0">
                <a:solidFill>
                  <a:srgbClr val="1F2937"/>
                </a:solidFill>
                <a:latin typeface="Aptos" pitchFamily="34" charset="0"/>
                <a:ea typeface="Aptos" pitchFamily="34" charset="-122"/>
                <a:cs typeface="Aptos" pitchFamily="34" charset="-120"/>
              </a:rPr>
              <a:t>Held-out test sets</a:t>
            </a:r>
            <a:endParaRPr lang="en-US" sz="1550" dirty="0"/>
          </a:p>
        </p:txBody>
      </p:sp>
      <p:sp>
        <p:nvSpPr>
          <p:cNvPr id="40" name="Shape 38"/>
          <p:cNvSpPr/>
          <p:nvPr/>
        </p:nvSpPr>
        <p:spPr>
          <a:xfrm>
            <a:off x="594360" y="3264408"/>
            <a:ext cx="4608576" cy="332232"/>
          </a:xfrm>
          <a:prstGeom prst="rect">
            <a:avLst/>
          </a:prstGeom>
          <a:solidFill>
            <a:srgbClr val="EEF2F6"/>
          </a:solidFill>
          <a:ln w="6350">
            <a:solidFill>
              <a:srgbClr val="CBD5E1"/>
            </a:solidFill>
            <a:prstDash val="solid"/>
          </a:ln>
        </p:spPr>
      </p:sp>
      <p:sp>
        <p:nvSpPr>
          <p:cNvPr id="41" name="Text 39"/>
          <p:cNvSpPr/>
          <p:nvPr/>
        </p:nvSpPr>
        <p:spPr>
          <a:xfrm>
            <a:off x="630936" y="3282696"/>
            <a:ext cx="4535424" cy="295656"/>
          </a:xfrm>
          <a:prstGeom prst="rect">
            <a:avLst/>
          </a:prstGeom>
          <a:noFill/>
          <a:ln/>
        </p:spPr>
        <p:txBody>
          <a:bodyPr wrap="square" lIns="0" tIns="0" rIns="0" bIns="0" rtlCol="0" anchor="ctr">
            <a:normAutofit/>
          </a:bodyPr>
          <a:lstStyle/>
          <a:p>
            <a:pPr algn="l" indent="0" marL="0">
              <a:buNone/>
            </a:pPr>
            <a:r>
              <a:rPr lang="en-US" sz="850" b="1" dirty="0">
                <a:solidFill>
                  <a:srgbClr val="1F2937"/>
                </a:solidFill>
                <a:latin typeface="Aptos" pitchFamily="34" charset="0"/>
                <a:ea typeface="Aptos" pitchFamily="34" charset="-122"/>
                <a:cs typeface="Aptos" pitchFamily="34" charset="-120"/>
              </a:rPr>
              <a:t>Test set</a:t>
            </a:r>
            <a:endParaRPr lang="en-US" sz="850" dirty="0"/>
          </a:p>
        </p:txBody>
      </p:sp>
      <p:sp>
        <p:nvSpPr>
          <p:cNvPr id="42" name="Shape 40"/>
          <p:cNvSpPr/>
          <p:nvPr/>
        </p:nvSpPr>
        <p:spPr>
          <a:xfrm>
            <a:off x="5202936" y="3264408"/>
            <a:ext cx="1975104" cy="332232"/>
          </a:xfrm>
          <a:prstGeom prst="rect">
            <a:avLst/>
          </a:prstGeom>
          <a:solidFill>
            <a:srgbClr val="EEF2F6"/>
          </a:solidFill>
          <a:ln w="6350">
            <a:solidFill>
              <a:srgbClr val="CBD5E1"/>
            </a:solidFill>
            <a:prstDash val="solid"/>
          </a:ln>
        </p:spPr>
      </p:sp>
      <p:sp>
        <p:nvSpPr>
          <p:cNvPr id="43" name="Text 41"/>
          <p:cNvSpPr/>
          <p:nvPr/>
        </p:nvSpPr>
        <p:spPr>
          <a:xfrm>
            <a:off x="5239512" y="3282696"/>
            <a:ext cx="1901952" cy="295656"/>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Evaluated samples</a:t>
            </a:r>
            <a:endParaRPr lang="en-US" sz="850" dirty="0"/>
          </a:p>
        </p:txBody>
      </p:sp>
      <p:sp>
        <p:nvSpPr>
          <p:cNvPr id="44" name="Shape 42"/>
          <p:cNvSpPr/>
          <p:nvPr/>
        </p:nvSpPr>
        <p:spPr>
          <a:xfrm>
            <a:off x="7178040" y="3264408"/>
            <a:ext cx="4389120" cy="332232"/>
          </a:xfrm>
          <a:prstGeom prst="rect">
            <a:avLst/>
          </a:prstGeom>
          <a:solidFill>
            <a:srgbClr val="EEF2F6"/>
          </a:solidFill>
          <a:ln w="6350">
            <a:solidFill>
              <a:srgbClr val="CBD5E1"/>
            </a:solidFill>
            <a:prstDash val="solid"/>
          </a:ln>
        </p:spPr>
      </p:sp>
      <p:sp>
        <p:nvSpPr>
          <p:cNvPr id="45" name="Text 43"/>
          <p:cNvSpPr/>
          <p:nvPr/>
        </p:nvSpPr>
        <p:spPr>
          <a:xfrm>
            <a:off x="7214616" y="3282696"/>
            <a:ext cx="4315968" cy="295656"/>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Main characteristic</a:t>
            </a:r>
            <a:endParaRPr lang="en-US" sz="850" dirty="0"/>
          </a:p>
        </p:txBody>
      </p:sp>
      <p:sp>
        <p:nvSpPr>
          <p:cNvPr id="46" name="Shape 44"/>
          <p:cNvSpPr/>
          <p:nvPr/>
        </p:nvSpPr>
        <p:spPr>
          <a:xfrm>
            <a:off x="594360" y="3596640"/>
            <a:ext cx="4608576" cy="332232"/>
          </a:xfrm>
          <a:prstGeom prst="rect">
            <a:avLst/>
          </a:prstGeom>
          <a:solidFill>
            <a:srgbClr val="FFF1E5"/>
          </a:solidFill>
          <a:ln w="6350">
            <a:solidFill>
              <a:srgbClr val="CBD5E1"/>
            </a:solidFill>
            <a:prstDash val="solid"/>
          </a:ln>
        </p:spPr>
      </p:sp>
      <p:sp>
        <p:nvSpPr>
          <p:cNvPr id="47" name="Text 45"/>
          <p:cNvSpPr/>
          <p:nvPr/>
        </p:nvSpPr>
        <p:spPr>
          <a:xfrm>
            <a:off x="630936" y="3614928"/>
            <a:ext cx="4535424" cy="295656"/>
          </a:xfrm>
          <a:prstGeom prst="rect">
            <a:avLst/>
          </a:prstGeom>
          <a:noFill/>
          <a:ln/>
        </p:spPr>
        <p:txBody>
          <a:bodyPr wrap="square" lIns="0" tIns="0" rIns="0" bIns="0" rtlCol="0" anchor="ctr">
            <a:normAutofit/>
          </a:bodyPr>
          <a:lstStyle/>
          <a:p>
            <a:pPr algn="l" indent="0" marL="0">
              <a:buNone/>
            </a:pPr>
            <a:r>
              <a:rPr lang="en-US" sz="850" b="1" dirty="0">
                <a:solidFill>
                  <a:srgbClr val="D65F00"/>
                </a:solidFill>
                <a:latin typeface="Aptos" pitchFamily="34" charset="0"/>
                <a:ea typeface="Aptos" pitchFamily="34" charset="-122"/>
                <a:cs typeface="Aptos" pitchFamily="34" charset="-120"/>
              </a:rPr>
              <a:t>AGFarsdat normalized</a:t>
            </a:r>
            <a:endParaRPr lang="en-US" sz="850" dirty="0"/>
          </a:p>
        </p:txBody>
      </p:sp>
      <p:sp>
        <p:nvSpPr>
          <p:cNvPr id="48" name="Shape 46"/>
          <p:cNvSpPr/>
          <p:nvPr/>
        </p:nvSpPr>
        <p:spPr>
          <a:xfrm>
            <a:off x="5202936" y="3596640"/>
            <a:ext cx="1975104" cy="332232"/>
          </a:xfrm>
          <a:prstGeom prst="rect">
            <a:avLst/>
          </a:prstGeom>
          <a:solidFill>
            <a:srgbClr val="FFF1E5"/>
          </a:solidFill>
          <a:ln w="6350">
            <a:solidFill>
              <a:srgbClr val="CBD5E1"/>
            </a:solidFill>
            <a:prstDash val="solid"/>
          </a:ln>
        </p:spPr>
      </p:sp>
      <p:sp>
        <p:nvSpPr>
          <p:cNvPr id="49" name="Text 47"/>
          <p:cNvSpPr/>
          <p:nvPr/>
        </p:nvSpPr>
        <p:spPr>
          <a:xfrm>
            <a:off x="5239512" y="3614928"/>
            <a:ext cx="1901952" cy="295656"/>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10,044</a:t>
            </a:r>
            <a:endParaRPr lang="en-US" sz="850" dirty="0"/>
          </a:p>
        </p:txBody>
      </p:sp>
      <p:sp>
        <p:nvSpPr>
          <p:cNvPr id="50" name="Shape 48"/>
          <p:cNvSpPr/>
          <p:nvPr/>
        </p:nvSpPr>
        <p:spPr>
          <a:xfrm>
            <a:off x="7178040" y="3596640"/>
            <a:ext cx="4389120" cy="332232"/>
          </a:xfrm>
          <a:prstGeom prst="rect">
            <a:avLst/>
          </a:prstGeom>
          <a:solidFill>
            <a:srgbClr val="FFF1E5"/>
          </a:solidFill>
          <a:ln w="6350">
            <a:solidFill>
              <a:srgbClr val="CBD5E1"/>
            </a:solidFill>
            <a:prstDash val="solid"/>
          </a:ln>
        </p:spPr>
      </p:sp>
      <p:sp>
        <p:nvSpPr>
          <p:cNvPr id="51" name="Text 49"/>
          <p:cNvSpPr/>
          <p:nvPr/>
        </p:nvSpPr>
        <p:spPr>
          <a:xfrm>
            <a:off x="7214616" y="3614928"/>
            <a:ext cx="4315968" cy="295656"/>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Real telephone and VoIP</a:t>
            </a:r>
            <a:endParaRPr lang="en-US" sz="850" dirty="0"/>
          </a:p>
        </p:txBody>
      </p:sp>
      <p:sp>
        <p:nvSpPr>
          <p:cNvPr id="52" name="Shape 50"/>
          <p:cNvSpPr/>
          <p:nvPr/>
        </p:nvSpPr>
        <p:spPr>
          <a:xfrm>
            <a:off x="594360" y="3928872"/>
            <a:ext cx="4608576" cy="332232"/>
          </a:xfrm>
          <a:prstGeom prst="rect">
            <a:avLst/>
          </a:prstGeom>
          <a:solidFill>
            <a:srgbClr val="FFFFFF"/>
          </a:solidFill>
          <a:ln w="6350">
            <a:solidFill>
              <a:srgbClr val="CBD5E1"/>
            </a:solidFill>
            <a:prstDash val="solid"/>
          </a:ln>
        </p:spPr>
      </p:sp>
      <p:sp>
        <p:nvSpPr>
          <p:cNvPr id="53" name="Text 51"/>
          <p:cNvSpPr/>
          <p:nvPr/>
        </p:nvSpPr>
        <p:spPr>
          <a:xfrm>
            <a:off x="630936" y="3947160"/>
            <a:ext cx="4535424" cy="295656"/>
          </a:xfrm>
          <a:prstGeom prst="rect">
            <a:avLst/>
          </a:prstGeom>
          <a:noFill/>
          <a:ln/>
        </p:spPr>
        <p:txBody>
          <a:bodyPr wrap="square" lIns="0" tIns="0" rIns="0" bIns="0" rtlCol="0" anchor="ctr">
            <a:normAutofit/>
          </a:bodyPr>
          <a:lstStyle/>
          <a:p>
            <a:pPr algn="l" indent="0" marL="0">
              <a:buNone/>
            </a:pPr>
            <a:r>
              <a:rPr lang="en-US" sz="850" dirty="0">
                <a:solidFill>
                  <a:srgbClr val="1F2937"/>
                </a:solidFill>
                <a:latin typeface="Aptos" pitchFamily="34" charset="0"/>
                <a:ea typeface="Aptos" pitchFamily="34" charset="-122"/>
                <a:cs typeface="Aptos" pitchFamily="34" charset="-120"/>
              </a:rPr>
              <a:t>Common Voice Persian 25</a:t>
            </a:r>
            <a:endParaRPr lang="en-US" sz="850" dirty="0"/>
          </a:p>
        </p:txBody>
      </p:sp>
      <p:sp>
        <p:nvSpPr>
          <p:cNvPr id="54" name="Shape 52"/>
          <p:cNvSpPr/>
          <p:nvPr/>
        </p:nvSpPr>
        <p:spPr>
          <a:xfrm>
            <a:off x="5202936" y="3928872"/>
            <a:ext cx="1975104" cy="332232"/>
          </a:xfrm>
          <a:prstGeom prst="rect">
            <a:avLst/>
          </a:prstGeom>
          <a:solidFill>
            <a:srgbClr val="FFFFFF"/>
          </a:solidFill>
          <a:ln w="6350">
            <a:solidFill>
              <a:srgbClr val="CBD5E1"/>
            </a:solidFill>
            <a:prstDash val="solid"/>
          </a:ln>
        </p:spPr>
      </p:sp>
      <p:sp>
        <p:nvSpPr>
          <p:cNvPr id="55" name="Text 53"/>
          <p:cNvSpPr/>
          <p:nvPr/>
        </p:nvSpPr>
        <p:spPr>
          <a:xfrm>
            <a:off x="5239512" y="3947160"/>
            <a:ext cx="1901952"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≈10,518</a:t>
            </a:r>
            <a:endParaRPr lang="en-US" sz="850" dirty="0"/>
          </a:p>
        </p:txBody>
      </p:sp>
      <p:sp>
        <p:nvSpPr>
          <p:cNvPr id="56" name="Shape 54"/>
          <p:cNvSpPr/>
          <p:nvPr/>
        </p:nvSpPr>
        <p:spPr>
          <a:xfrm>
            <a:off x="7178040" y="3928872"/>
            <a:ext cx="4389120" cy="332232"/>
          </a:xfrm>
          <a:prstGeom prst="rect">
            <a:avLst/>
          </a:prstGeom>
          <a:solidFill>
            <a:srgbClr val="FFFFFF"/>
          </a:solidFill>
          <a:ln w="6350">
            <a:solidFill>
              <a:srgbClr val="CBD5E1"/>
            </a:solidFill>
            <a:prstDash val="solid"/>
          </a:ln>
        </p:spPr>
      </p:sp>
      <p:sp>
        <p:nvSpPr>
          <p:cNvPr id="57" name="Text 55"/>
          <p:cNvSpPr/>
          <p:nvPr/>
        </p:nvSpPr>
        <p:spPr>
          <a:xfrm>
            <a:off x="7214616" y="3947160"/>
            <a:ext cx="4315968"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Crowdsourced general speech</a:t>
            </a:r>
            <a:endParaRPr lang="en-US" sz="850" dirty="0"/>
          </a:p>
        </p:txBody>
      </p:sp>
      <p:sp>
        <p:nvSpPr>
          <p:cNvPr id="58" name="Shape 56"/>
          <p:cNvSpPr/>
          <p:nvPr/>
        </p:nvSpPr>
        <p:spPr>
          <a:xfrm>
            <a:off x="594360" y="4261104"/>
            <a:ext cx="4608576" cy="332232"/>
          </a:xfrm>
          <a:prstGeom prst="rect">
            <a:avLst/>
          </a:prstGeom>
          <a:solidFill>
            <a:srgbClr val="FFFFFF"/>
          </a:solidFill>
          <a:ln w="6350">
            <a:solidFill>
              <a:srgbClr val="CBD5E1"/>
            </a:solidFill>
            <a:prstDash val="solid"/>
          </a:ln>
        </p:spPr>
      </p:sp>
      <p:sp>
        <p:nvSpPr>
          <p:cNvPr id="59" name="Text 57"/>
          <p:cNvSpPr/>
          <p:nvPr/>
        </p:nvSpPr>
        <p:spPr>
          <a:xfrm>
            <a:off x="630936" y="4279392"/>
            <a:ext cx="4535424" cy="295656"/>
          </a:xfrm>
          <a:prstGeom prst="rect">
            <a:avLst/>
          </a:prstGeom>
          <a:noFill/>
          <a:ln/>
        </p:spPr>
        <p:txBody>
          <a:bodyPr wrap="square" lIns="0" tIns="0" rIns="0" bIns="0" rtlCol="0" anchor="ctr">
            <a:normAutofit/>
          </a:bodyPr>
          <a:lstStyle/>
          <a:p>
            <a:pPr algn="l" indent="0" marL="0">
              <a:buNone/>
            </a:pPr>
            <a:r>
              <a:rPr lang="en-US" sz="850" dirty="0">
                <a:solidFill>
                  <a:srgbClr val="1F2937"/>
                </a:solidFill>
                <a:latin typeface="Aptos" pitchFamily="34" charset="0"/>
                <a:ea typeface="Aptos" pitchFamily="34" charset="-122"/>
                <a:cs typeface="Aptos" pitchFamily="34" charset="-120"/>
              </a:rPr>
              <a:t>FLEURS Persian</a:t>
            </a:r>
            <a:endParaRPr lang="en-US" sz="850" dirty="0"/>
          </a:p>
        </p:txBody>
      </p:sp>
      <p:sp>
        <p:nvSpPr>
          <p:cNvPr id="60" name="Shape 58"/>
          <p:cNvSpPr/>
          <p:nvPr/>
        </p:nvSpPr>
        <p:spPr>
          <a:xfrm>
            <a:off x="5202936" y="4261104"/>
            <a:ext cx="1975104" cy="332232"/>
          </a:xfrm>
          <a:prstGeom prst="rect">
            <a:avLst/>
          </a:prstGeom>
          <a:solidFill>
            <a:srgbClr val="FFFFFF"/>
          </a:solidFill>
          <a:ln w="6350">
            <a:solidFill>
              <a:srgbClr val="CBD5E1"/>
            </a:solidFill>
            <a:prstDash val="solid"/>
          </a:ln>
        </p:spPr>
      </p:sp>
      <p:sp>
        <p:nvSpPr>
          <p:cNvPr id="61" name="Text 59"/>
          <p:cNvSpPr/>
          <p:nvPr/>
        </p:nvSpPr>
        <p:spPr>
          <a:xfrm>
            <a:off x="5239512" y="4279392"/>
            <a:ext cx="1901952"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871</a:t>
            </a:r>
            <a:endParaRPr lang="en-US" sz="850" dirty="0"/>
          </a:p>
        </p:txBody>
      </p:sp>
      <p:sp>
        <p:nvSpPr>
          <p:cNvPr id="62" name="Shape 60"/>
          <p:cNvSpPr/>
          <p:nvPr/>
        </p:nvSpPr>
        <p:spPr>
          <a:xfrm>
            <a:off x="7178040" y="4261104"/>
            <a:ext cx="4389120" cy="332232"/>
          </a:xfrm>
          <a:prstGeom prst="rect">
            <a:avLst/>
          </a:prstGeom>
          <a:solidFill>
            <a:srgbClr val="FFFFFF"/>
          </a:solidFill>
          <a:ln w="6350">
            <a:solidFill>
              <a:srgbClr val="CBD5E1"/>
            </a:solidFill>
            <a:prstDash val="solid"/>
          </a:ln>
        </p:spPr>
      </p:sp>
      <p:sp>
        <p:nvSpPr>
          <p:cNvPr id="63" name="Text 61"/>
          <p:cNvSpPr/>
          <p:nvPr/>
        </p:nvSpPr>
        <p:spPr>
          <a:xfrm>
            <a:off x="7214616" y="4279392"/>
            <a:ext cx="4315968"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Multi-domain read speech</a:t>
            </a:r>
            <a:endParaRPr lang="en-US" sz="850" dirty="0"/>
          </a:p>
        </p:txBody>
      </p:sp>
      <p:sp>
        <p:nvSpPr>
          <p:cNvPr id="64" name="Shape 62"/>
          <p:cNvSpPr/>
          <p:nvPr/>
        </p:nvSpPr>
        <p:spPr>
          <a:xfrm>
            <a:off x="594360" y="4593336"/>
            <a:ext cx="4608576" cy="332232"/>
          </a:xfrm>
          <a:prstGeom prst="rect">
            <a:avLst/>
          </a:prstGeom>
          <a:solidFill>
            <a:srgbClr val="FFFFFF"/>
          </a:solidFill>
          <a:ln w="6350">
            <a:solidFill>
              <a:srgbClr val="CBD5E1"/>
            </a:solidFill>
            <a:prstDash val="solid"/>
          </a:ln>
        </p:spPr>
      </p:sp>
      <p:sp>
        <p:nvSpPr>
          <p:cNvPr id="65" name="Text 63"/>
          <p:cNvSpPr/>
          <p:nvPr/>
        </p:nvSpPr>
        <p:spPr>
          <a:xfrm>
            <a:off x="630936" y="4611624"/>
            <a:ext cx="4535424" cy="295656"/>
          </a:xfrm>
          <a:prstGeom prst="rect">
            <a:avLst/>
          </a:prstGeom>
          <a:noFill/>
          <a:ln/>
        </p:spPr>
        <p:txBody>
          <a:bodyPr wrap="square" lIns="0" tIns="0" rIns="0" bIns="0" rtlCol="0" anchor="ctr">
            <a:normAutofit/>
          </a:bodyPr>
          <a:lstStyle/>
          <a:p>
            <a:pPr algn="l" indent="0" marL="0">
              <a:buNone/>
            </a:pPr>
            <a:r>
              <a:rPr lang="en-US" sz="850" dirty="0">
                <a:solidFill>
                  <a:srgbClr val="1F2937"/>
                </a:solidFill>
                <a:latin typeface="Aptos" pitchFamily="34" charset="0"/>
                <a:ea typeface="Aptos" pitchFamily="34" charset="-122"/>
                <a:cs typeface="Aptos" pitchFamily="34" charset="-120"/>
              </a:rPr>
              <a:t>PersianSpeech</a:t>
            </a:r>
            <a:endParaRPr lang="en-US" sz="850" dirty="0"/>
          </a:p>
        </p:txBody>
      </p:sp>
      <p:sp>
        <p:nvSpPr>
          <p:cNvPr id="66" name="Shape 64"/>
          <p:cNvSpPr/>
          <p:nvPr/>
        </p:nvSpPr>
        <p:spPr>
          <a:xfrm>
            <a:off x="5202936" y="4593336"/>
            <a:ext cx="1975104" cy="332232"/>
          </a:xfrm>
          <a:prstGeom prst="rect">
            <a:avLst/>
          </a:prstGeom>
          <a:solidFill>
            <a:srgbClr val="FFFFFF"/>
          </a:solidFill>
          <a:ln w="6350">
            <a:solidFill>
              <a:srgbClr val="CBD5E1"/>
            </a:solidFill>
            <a:prstDash val="solid"/>
          </a:ln>
        </p:spPr>
      </p:sp>
      <p:sp>
        <p:nvSpPr>
          <p:cNvPr id="67" name="Text 65"/>
          <p:cNvSpPr/>
          <p:nvPr/>
        </p:nvSpPr>
        <p:spPr>
          <a:xfrm>
            <a:off x="5239512" y="4611624"/>
            <a:ext cx="1901952"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24</a:t>
            </a:r>
            <a:endParaRPr lang="en-US" sz="850" dirty="0"/>
          </a:p>
        </p:txBody>
      </p:sp>
      <p:sp>
        <p:nvSpPr>
          <p:cNvPr id="68" name="Shape 66"/>
          <p:cNvSpPr/>
          <p:nvPr/>
        </p:nvSpPr>
        <p:spPr>
          <a:xfrm>
            <a:off x="7178040" y="4593336"/>
            <a:ext cx="4389120" cy="332232"/>
          </a:xfrm>
          <a:prstGeom prst="rect">
            <a:avLst/>
          </a:prstGeom>
          <a:solidFill>
            <a:srgbClr val="FFFFFF"/>
          </a:solidFill>
          <a:ln w="6350">
            <a:solidFill>
              <a:srgbClr val="CBD5E1"/>
            </a:solidFill>
            <a:prstDash val="solid"/>
          </a:ln>
        </p:spPr>
      </p:sp>
      <p:sp>
        <p:nvSpPr>
          <p:cNvPr id="69" name="Text 67"/>
          <p:cNvSpPr/>
          <p:nvPr/>
        </p:nvSpPr>
        <p:spPr>
          <a:xfrm>
            <a:off x="7214616" y="4611624"/>
            <a:ext cx="4315968"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Small public Persian test set</a:t>
            </a:r>
            <a:endParaRPr lang="en-US" sz="850" dirty="0"/>
          </a:p>
        </p:txBody>
      </p:sp>
      <p:sp>
        <p:nvSpPr>
          <p:cNvPr id="70" name="Shape 68"/>
          <p:cNvSpPr/>
          <p:nvPr/>
        </p:nvSpPr>
        <p:spPr>
          <a:xfrm>
            <a:off x="594360" y="4925568"/>
            <a:ext cx="4608576" cy="332232"/>
          </a:xfrm>
          <a:prstGeom prst="rect">
            <a:avLst/>
          </a:prstGeom>
          <a:solidFill>
            <a:srgbClr val="FFFFFF"/>
          </a:solidFill>
          <a:ln w="6350">
            <a:solidFill>
              <a:srgbClr val="CBD5E1"/>
            </a:solidFill>
            <a:prstDash val="solid"/>
          </a:ln>
        </p:spPr>
      </p:sp>
      <p:sp>
        <p:nvSpPr>
          <p:cNvPr id="71" name="Text 69"/>
          <p:cNvSpPr/>
          <p:nvPr/>
        </p:nvSpPr>
        <p:spPr>
          <a:xfrm>
            <a:off x="630936" y="4943856"/>
            <a:ext cx="4535424" cy="295656"/>
          </a:xfrm>
          <a:prstGeom prst="rect">
            <a:avLst/>
          </a:prstGeom>
          <a:noFill/>
          <a:ln/>
        </p:spPr>
        <p:txBody>
          <a:bodyPr wrap="square" lIns="0" tIns="0" rIns="0" bIns="0" rtlCol="0" anchor="ctr">
            <a:normAutofit/>
          </a:bodyPr>
          <a:lstStyle/>
          <a:p>
            <a:pPr algn="l" indent="0" marL="0">
              <a:buNone/>
            </a:pPr>
            <a:r>
              <a:rPr lang="en-US" sz="850" dirty="0">
                <a:solidFill>
                  <a:srgbClr val="1F2937"/>
                </a:solidFill>
                <a:latin typeface="Aptos" pitchFamily="34" charset="0"/>
                <a:ea typeface="Aptos" pitchFamily="34" charset="-122"/>
                <a:cs typeface="Aptos" pitchFamily="34" charset="-120"/>
              </a:rPr>
              <a:t>Persian Speech Corpus</a:t>
            </a:r>
            <a:endParaRPr lang="en-US" sz="850" dirty="0"/>
          </a:p>
        </p:txBody>
      </p:sp>
      <p:sp>
        <p:nvSpPr>
          <p:cNvPr id="72" name="Shape 70"/>
          <p:cNvSpPr/>
          <p:nvPr/>
        </p:nvSpPr>
        <p:spPr>
          <a:xfrm>
            <a:off x="5202936" y="4925568"/>
            <a:ext cx="1975104" cy="332232"/>
          </a:xfrm>
          <a:prstGeom prst="rect">
            <a:avLst/>
          </a:prstGeom>
          <a:solidFill>
            <a:srgbClr val="FFFFFF"/>
          </a:solidFill>
          <a:ln w="6350">
            <a:solidFill>
              <a:srgbClr val="CBD5E1"/>
            </a:solidFill>
            <a:prstDash val="solid"/>
          </a:ln>
        </p:spPr>
      </p:sp>
      <p:sp>
        <p:nvSpPr>
          <p:cNvPr id="73" name="Text 71"/>
          <p:cNvSpPr/>
          <p:nvPr/>
        </p:nvSpPr>
        <p:spPr>
          <a:xfrm>
            <a:off x="5239512" y="4943856"/>
            <a:ext cx="1901952"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391–396</a:t>
            </a:r>
            <a:endParaRPr lang="en-US" sz="850" dirty="0"/>
          </a:p>
        </p:txBody>
      </p:sp>
      <p:sp>
        <p:nvSpPr>
          <p:cNvPr id="74" name="Shape 72"/>
          <p:cNvSpPr/>
          <p:nvPr/>
        </p:nvSpPr>
        <p:spPr>
          <a:xfrm>
            <a:off x="7178040" y="4925568"/>
            <a:ext cx="4389120" cy="332232"/>
          </a:xfrm>
          <a:prstGeom prst="rect">
            <a:avLst/>
          </a:prstGeom>
          <a:solidFill>
            <a:srgbClr val="FFFFFF"/>
          </a:solidFill>
          <a:ln w="6350">
            <a:solidFill>
              <a:srgbClr val="CBD5E1"/>
            </a:solidFill>
            <a:prstDash val="solid"/>
          </a:ln>
        </p:spPr>
      </p:sp>
      <p:sp>
        <p:nvSpPr>
          <p:cNvPr id="75" name="Text 73"/>
          <p:cNvSpPr/>
          <p:nvPr/>
        </p:nvSpPr>
        <p:spPr>
          <a:xfrm>
            <a:off x="7214616" y="4943856"/>
            <a:ext cx="4315968" cy="295656"/>
          </a:xfrm>
          <a:prstGeom prst="rect">
            <a:avLst/>
          </a:prstGeom>
          <a:noFill/>
          <a:ln/>
        </p:spPr>
        <p:txBody>
          <a:bodyPr wrap="square" lIns="0" tIns="0" rIns="0" bIns="0" rtlCol="0" anchor="ctr">
            <a:normAutofit/>
          </a:bodyPr>
          <a:lstStyle/>
          <a:p>
            <a:pPr algn="ctr" indent="0" marL="0">
              <a:buNone/>
            </a:pPr>
            <a:r>
              <a:rPr lang="en-US" sz="850" dirty="0">
                <a:solidFill>
                  <a:srgbClr val="1F2937"/>
                </a:solidFill>
                <a:latin typeface="Aptos" pitchFamily="34" charset="0"/>
                <a:ea typeface="Aptos" pitchFamily="34" charset="-122"/>
                <a:cs typeface="Aptos" pitchFamily="34" charset="-120"/>
              </a:rPr>
              <a:t>Out-of-domain Persian speech</a:t>
            </a:r>
            <a:endParaRPr lang="en-US" sz="850" dirty="0"/>
          </a:p>
        </p:txBody>
      </p:sp>
      <p:sp>
        <p:nvSpPr>
          <p:cNvPr id="76" name="Shape 74"/>
          <p:cNvSpPr/>
          <p:nvPr/>
        </p:nvSpPr>
        <p:spPr>
          <a:xfrm>
            <a:off x="7132320" y="2926080"/>
            <a:ext cx="2011680" cy="237744"/>
          </a:xfrm>
          <a:prstGeom prst="roundRect">
            <a:avLst>
              <a:gd name="adj" fmla="val 30769"/>
            </a:avLst>
          </a:prstGeom>
          <a:solidFill>
            <a:srgbClr val="FFF1E5"/>
          </a:solidFill>
          <a:ln w="10160">
            <a:solidFill>
              <a:srgbClr val="D65F00"/>
            </a:solidFill>
            <a:prstDash val="solid"/>
          </a:ln>
        </p:spPr>
      </p:sp>
      <p:sp>
        <p:nvSpPr>
          <p:cNvPr id="77" name="Text 75"/>
          <p:cNvSpPr/>
          <p:nvPr/>
        </p:nvSpPr>
        <p:spPr>
          <a:xfrm>
            <a:off x="7187184" y="2985516"/>
            <a:ext cx="1901952" cy="109728"/>
          </a:xfrm>
          <a:prstGeom prst="rect">
            <a:avLst/>
          </a:prstGeom>
          <a:noFill/>
          <a:ln/>
        </p:spPr>
        <p:txBody>
          <a:bodyPr wrap="square" lIns="0" tIns="0" rIns="0" bIns="0" rtlCol="0" anchor="ctr"/>
          <a:lstStyle/>
          <a:p>
            <a:pPr algn="ctr" indent="0" marL="0">
              <a:buNone/>
            </a:pPr>
            <a:r>
              <a:rPr lang="en-US" sz="750" b="1" dirty="0">
                <a:solidFill>
                  <a:srgbClr val="D65F00"/>
                </a:solidFill>
              </a:rPr>
              <a:t>not generated by our simulator</a:t>
            </a:r>
            <a:endParaRPr lang="en-US" sz="750" dirty="0"/>
          </a:p>
        </p:txBody>
      </p:sp>
      <p:sp>
        <p:nvSpPr>
          <p:cNvPr id="78" name="Shape 76"/>
          <p:cNvSpPr/>
          <p:nvPr/>
        </p:nvSpPr>
        <p:spPr>
          <a:xfrm>
            <a:off x="1234440" y="5687568"/>
            <a:ext cx="9692640" cy="502920"/>
          </a:xfrm>
          <a:prstGeom prst="roundRect">
            <a:avLst>
              <a:gd name="adj" fmla="val 14545"/>
            </a:avLst>
          </a:prstGeom>
          <a:solidFill>
            <a:srgbClr val="F0F7FF"/>
          </a:solidFill>
          <a:ln w="12700">
            <a:solidFill>
              <a:srgbClr val="B9D8F0"/>
            </a:solidFill>
            <a:prstDash val="solid"/>
          </a:ln>
        </p:spPr>
      </p:sp>
      <p:sp>
        <p:nvSpPr>
          <p:cNvPr id="79" name="Text 77"/>
          <p:cNvSpPr/>
          <p:nvPr/>
        </p:nvSpPr>
        <p:spPr>
          <a:xfrm>
            <a:off x="1508760" y="5833872"/>
            <a:ext cx="9144000" cy="146304"/>
          </a:xfrm>
          <a:prstGeom prst="rect">
            <a:avLst/>
          </a:prstGeom>
          <a:noFill/>
          <a:ln/>
        </p:spPr>
        <p:txBody>
          <a:bodyPr wrap="square" lIns="635" tIns="635" rIns="635" bIns="635" rtlCol="0" anchor="ctr">
            <a:normAutofit/>
          </a:bodyPr>
          <a:lstStyle/>
          <a:p>
            <a:pPr algn="ctr" indent="0" marL="0">
              <a:buNone/>
            </a:pPr>
            <a:r>
              <a:rPr lang="en-US" sz="1240" b="1" dirty="0">
                <a:solidFill>
                  <a:srgbClr val="1F2937"/>
                </a:solidFill>
                <a:latin typeface="Aptos" pitchFamily="34" charset="0"/>
                <a:ea typeface="Aptos" pitchFamily="34" charset="-122"/>
                <a:cs typeface="Aptos" pitchFamily="34" charset="-120"/>
              </a:rPr>
              <a:t>AGFarsdat is the central application-domain test: real telephone/VoIP speech, not synthetic simulator output.</a:t>
            </a:r>
            <a:endParaRPr lang="en-US" sz="12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Reproducible Paired-Data Generation</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6/19</a:t>
            </a:r>
            <a:endParaRPr lang="en-US" sz="750" dirty="0"/>
          </a:p>
        </p:txBody>
      </p:sp>
      <p:sp>
        <p:nvSpPr>
          <p:cNvPr id="6" name="Shape 4"/>
          <p:cNvSpPr/>
          <p:nvPr/>
        </p:nvSpPr>
        <p:spPr>
          <a:xfrm>
            <a:off x="1965960" y="2423160"/>
            <a:ext cx="1828800" cy="-777240"/>
          </a:xfrm>
          <a:prstGeom prst="line">
            <a:avLst/>
          </a:prstGeom>
          <a:solidFill>
            <a:srgbClr val="FFFFFF">
              <a:alpha val="0"/>
            </a:srgbClr>
          </a:solidFill>
          <a:ln w="20320">
            <a:solidFill>
              <a:srgbClr val="0078B8"/>
            </a:solidFill>
            <a:prstDash val="solid"/>
            <a:headEnd type="none"/>
            <a:tailEnd type="triangle"/>
          </a:ln>
        </p:spPr>
      </p:sp>
      <p:sp>
        <p:nvSpPr>
          <p:cNvPr id="7" name="Shape 5"/>
          <p:cNvSpPr/>
          <p:nvPr/>
        </p:nvSpPr>
        <p:spPr>
          <a:xfrm>
            <a:off x="1965960" y="2423160"/>
            <a:ext cx="1828800" cy="731520"/>
          </a:xfrm>
          <a:prstGeom prst="line">
            <a:avLst/>
          </a:prstGeom>
          <a:solidFill>
            <a:srgbClr val="FFFFFF">
              <a:alpha val="0"/>
            </a:srgbClr>
          </a:solidFill>
          <a:ln w="20320">
            <a:solidFill>
              <a:srgbClr val="0078B8"/>
            </a:solidFill>
            <a:prstDash val="solid"/>
            <a:headEnd type="none"/>
            <a:tailEnd type="triangle"/>
          </a:ln>
        </p:spPr>
      </p:sp>
      <p:sp>
        <p:nvSpPr>
          <p:cNvPr id="8" name="Shape 6"/>
          <p:cNvSpPr/>
          <p:nvPr/>
        </p:nvSpPr>
        <p:spPr>
          <a:xfrm>
            <a:off x="6172200" y="1645920"/>
            <a:ext cx="2194560" cy="365760"/>
          </a:xfrm>
          <a:prstGeom prst="line">
            <a:avLst/>
          </a:prstGeom>
          <a:solidFill>
            <a:srgbClr val="FFFFFF">
              <a:alpha val="0"/>
            </a:srgbClr>
          </a:solidFill>
          <a:ln w="17780">
            <a:solidFill>
              <a:srgbClr val="637083"/>
            </a:solidFill>
            <a:prstDash val="solid"/>
            <a:headEnd type="none"/>
            <a:tailEnd type="triangle"/>
          </a:ln>
        </p:spPr>
      </p:sp>
      <p:sp>
        <p:nvSpPr>
          <p:cNvPr id="9" name="Shape 7"/>
          <p:cNvSpPr/>
          <p:nvPr/>
        </p:nvSpPr>
        <p:spPr>
          <a:xfrm>
            <a:off x="6172200" y="3154680"/>
            <a:ext cx="2194560" cy="-320040"/>
          </a:xfrm>
          <a:prstGeom prst="line">
            <a:avLst/>
          </a:prstGeom>
          <a:solidFill>
            <a:srgbClr val="FFFFFF">
              <a:alpha val="0"/>
            </a:srgbClr>
          </a:solidFill>
          <a:ln w="17780">
            <a:solidFill>
              <a:srgbClr val="637083"/>
            </a:solidFill>
            <a:prstDash val="solid"/>
            <a:headEnd type="none"/>
            <a:tailEnd type="triangle"/>
          </a:ln>
        </p:spPr>
      </p:sp>
      <p:sp>
        <p:nvSpPr>
          <p:cNvPr id="10" name="Shape 8"/>
          <p:cNvSpPr/>
          <p:nvPr/>
        </p:nvSpPr>
        <p:spPr>
          <a:xfrm>
            <a:off x="685800" y="1901952"/>
            <a:ext cx="1691640" cy="1051560"/>
          </a:xfrm>
          <a:prstGeom prst="roundRect">
            <a:avLst>
              <a:gd name="adj" fmla="val 6957"/>
            </a:avLst>
          </a:prstGeom>
          <a:solidFill>
            <a:srgbClr val="FFFFFF"/>
          </a:solidFill>
          <a:ln w="12700">
            <a:solidFill>
              <a:srgbClr val="CBD5E1"/>
            </a:solidFill>
            <a:prstDash val="solid"/>
          </a:ln>
        </p:spPr>
      </p:sp>
      <p:sp>
        <p:nvSpPr>
          <p:cNvPr id="11" name="Text 9"/>
          <p:cNvSpPr/>
          <p:nvPr/>
        </p:nvSpPr>
        <p:spPr>
          <a:xfrm>
            <a:off x="841248" y="2176272"/>
            <a:ext cx="1371600" cy="292608"/>
          </a:xfrm>
          <a:prstGeom prst="rect">
            <a:avLst/>
          </a:prstGeom>
          <a:noFill/>
          <a:ln/>
        </p:spPr>
        <p:txBody>
          <a:bodyPr wrap="square" lIns="635" tIns="635" rIns="635" bIns="635" rtlCol="0" anchor="ctr">
            <a:normAutofit/>
          </a:bodyPr>
          <a:lstStyle/>
          <a:p>
            <a:pPr algn="ctr" indent="0" marL="0">
              <a:buNone/>
            </a:pPr>
            <a:r>
              <a:rPr lang="en-US" sz="1700" b="1" dirty="0">
                <a:solidFill>
                  <a:srgbClr val="1F2937"/>
                </a:solidFill>
                <a:latin typeface="Aptos" pitchFamily="34" charset="0"/>
                <a:ea typeface="Aptos" pitchFamily="34" charset="-122"/>
                <a:cs typeface="Aptos" pitchFamily="34" charset="-120"/>
              </a:rPr>
              <a:t>Clean</a:t>
            </a:r>
            <a:endParaRPr lang="en-US" sz="1700" dirty="0"/>
          </a:p>
          <a:p>
            <a:pPr algn="ctr" indent="0" marL="0">
              <a:buNone/>
            </a:pPr>
            <a:r>
              <a:rPr lang="en-US" sz="1700" b="1" dirty="0">
                <a:solidFill>
                  <a:srgbClr val="1F2937"/>
                </a:solidFill>
                <a:latin typeface="Aptos" pitchFamily="34" charset="0"/>
                <a:ea typeface="Aptos" pitchFamily="34" charset="-122"/>
                <a:cs typeface="Aptos" pitchFamily="34" charset="-120"/>
              </a:rPr>
              <a:t>utterance</a:t>
            </a:r>
            <a:endParaRPr lang="en-US" sz="1700" dirty="0"/>
          </a:p>
        </p:txBody>
      </p:sp>
      <p:sp>
        <p:nvSpPr>
          <p:cNvPr id="12" name="Shape 10"/>
          <p:cNvSpPr/>
          <p:nvPr/>
        </p:nvSpPr>
        <p:spPr>
          <a:xfrm>
            <a:off x="3794760" y="1078992"/>
            <a:ext cx="2377440" cy="1170432"/>
          </a:xfrm>
          <a:prstGeom prst="roundRect">
            <a:avLst>
              <a:gd name="adj" fmla="val 6250"/>
            </a:avLst>
          </a:prstGeom>
          <a:solidFill>
            <a:srgbClr val="EAF6FF"/>
          </a:solidFill>
          <a:ln w="12700">
            <a:solidFill>
              <a:srgbClr val="0078B8"/>
            </a:solidFill>
            <a:prstDash val="solid"/>
          </a:ln>
        </p:spPr>
      </p:sp>
      <p:sp>
        <p:nvSpPr>
          <p:cNvPr id="13" name="Text 11"/>
          <p:cNvSpPr/>
          <p:nvPr/>
        </p:nvSpPr>
        <p:spPr>
          <a:xfrm>
            <a:off x="3959352" y="1298448"/>
            <a:ext cx="2057400" cy="228600"/>
          </a:xfrm>
          <a:prstGeom prst="rect">
            <a:avLst/>
          </a:prstGeom>
          <a:noFill/>
          <a:ln/>
        </p:spPr>
        <p:txBody>
          <a:bodyPr wrap="square" lIns="635" tIns="635" rIns="635" bIns="635" rtlCol="0" anchor="ctr">
            <a:normAutofit/>
          </a:bodyPr>
          <a:lstStyle/>
          <a:p>
            <a:pPr algn="ctr" indent="0" marL="0">
              <a:buNone/>
            </a:pPr>
            <a:r>
              <a:rPr lang="en-US" sz="1450" b="1" dirty="0">
                <a:solidFill>
                  <a:srgbClr val="0078B8"/>
                </a:solidFill>
                <a:latin typeface="Aptos" pitchFamily="34" charset="0"/>
                <a:ea typeface="Aptos" pitchFamily="34" charset="-122"/>
                <a:cs typeface="Aptos" pitchFamily="34" charset="-120"/>
              </a:rPr>
              <a:t>Degraded variant A</a:t>
            </a:r>
            <a:endParaRPr lang="en-US" sz="1450" dirty="0"/>
          </a:p>
        </p:txBody>
      </p:sp>
      <p:sp>
        <p:nvSpPr>
          <p:cNvPr id="14" name="Text 12"/>
          <p:cNvSpPr/>
          <p:nvPr/>
        </p:nvSpPr>
        <p:spPr>
          <a:xfrm>
            <a:off x="3950208" y="1627632"/>
            <a:ext cx="2084832" cy="310896"/>
          </a:xfrm>
          <a:prstGeom prst="rect">
            <a:avLst/>
          </a:prstGeom>
          <a:noFill/>
          <a:ln/>
        </p:spPr>
        <p:txBody>
          <a:bodyPr wrap="square" lIns="635" tIns="635" rIns="635" bIns="635" rtlCol="0" anchor="ctr">
            <a:normAutofit/>
          </a:bodyPr>
          <a:lstStyle/>
          <a:p>
            <a:pPr algn="ctr" indent="0" marL="0">
              <a:buNone/>
            </a:pPr>
            <a:r>
              <a:rPr lang="en-US" sz="1050" dirty="0">
                <a:solidFill>
                  <a:srgbClr val="637083"/>
                </a:solidFill>
                <a:latin typeface="Aptos" pitchFamily="34" charset="0"/>
                <a:ea typeface="Aptos" pitchFamily="34" charset="-122"/>
                <a:cs typeface="Aptos" pitchFamily="34" charset="-120"/>
              </a:rPr>
              <a:t>seed = f(1337, split,</a:t>
            </a:r>
            <a:endParaRPr lang="en-US" sz="1050" dirty="0"/>
          </a:p>
          <a:p>
            <a:pPr algn="ctr" indent="0" marL="0">
              <a:buNone/>
            </a:pPr>
            <a:r>
              <a:rPr lang="en-US" sz="1050" dirty="0">
                <a:solidFill>
                  <a:srgbClr val="637083"/>
                </a:solidFill>
                <a:latin typeface="Aptos" pitchFamily="34" charset="0"/>
                <a:ea typeface="Aptos" pitchFamily="34" charset="-122"/>
                <a:cs typeface="Aptos" pitchFamily="34" charset="-120"/>
              </a:rPr>
              <a:t>source ID, variant ID)</a:t>
            </a:r>
            <a:endParaRPr lang="en-US" sz="1050" dirty="0"/>
          </a:p>
        </p:txBody>
      </p:sp>
      <p:sp>
        <p:nvSpPr>
          <p:cNvPr id="15" name="Shape 13"/>
          <p:cNvSpPr/>
          <p:nvPr/>
        </p:nvSpPr>
        <p:spPr>
          <a:xfrm>
            <a:off x="3794760" y="2606040"/>
            <a:ext cx="2377440" cy="1170432"/>
          </a:xfrm>
          <a:prstGeom prst="roundRect">
            <a:avLst>
              <a:gd name="adj" fmla="val 6250"/>
            </a:avLst>
          </a:prstGeom>
          <a:solidFill>
            <a:srgbClr val="EAF6FF"/>
          </a:solidFill>
          <a:ln w="12700">
            <a:solidFill>
              <a:srgbClr val="0078B8"/>
            </a:solidFill>
            <a:prstDash val="solid"/>
          </a:ln>
        </p:spPr>
      </p:sp>
      <p:sp>
        <p:nvSpPr>
          <p:cNvPr id="16" name="Text 14"/>
          <p:cNvSpPr/>
          <p:nvPr/>
        </p:nvSpPr>
        <p:spPr>
          <a:xfrm>
            <a:off x="3959352" y="2834640"/>
            <a:ext cx="2057400" cy="228600"/>
          </a:xfrm>
          <a:prstGeom prst="rect">
            <a:avLst/>
          </a:prstGeom>
          <a:noFill/>
          <a:ln/>
        </p:spPr>
        <p:txBody>
          <a:bodyPr wrap="square" lIns="635" tIns="635" rIns="635" bIns="635" rtlCol="0" anchor="ctr">
            <a:normAutofit/>
          </a:bodyPr>
          <a:lstStyle/>
          <a:p>
            <a:pPr algn="ctr" indent="0" marL="0">
              <a:buNone/>
            </a:pPr>
            <a:r>
              <a:rPr lang="en-US" sz="1450" b="1" dirty="0">
                <a:solidFill>
                  <a:srgbClr val="0078B8"/>
                </a:solidFill>
                <a:latin typeface="Aptos" pitchFamily="34" charset="0"/>
                <a:ea typeface="Aptos" pitchFamily="34" charset="-122"/>
                <a:cs typeface="Aptos" pitchFamily="34" charset="-120"/>
              </a:rPr>
              <a:t>Degraded variant B</a:t>
            </a:r>
            <a:endParaRPr lang="en-US" sz="1450" dirty="0"/>
          </a:p>
        </p:txBody>
      </p:sp>
      <p:sp>
        <p:nvSpPr>
          <p:cNvPr id="17" name="Text 15"/>
          <p:cNvSpPr/>
          <p:nvPr/>
        </p:nvSpPr>
        <p:spPr>
          <a:xfrm>
            <a:off x="3950208" y="3163824"/>
            <a:ext cx="2084832" cy="310896"/>
          </a:xfrm>
          <a:prstGeom prst="rect">
            <a:avLst/>
          </a:prstGeom>
          <a:noFill/>
          <a:ln/>
        </p:spPr>
        <p:txBody>
          <a:bodyPr wrap="square" lIns="635" tIns="635" rIns="635" bIns="635" rtlCol="0" anchor="ctr">
            <a:normAutofit/>
          </a:bodyPr>
          <a:lstStyle/>
          <a:p>
            <a:pPr algn="ctr" indent="0" marL="0">
              <a:buNone/>
            </a:pPr>
            <a:r>
              <a:rPr lang="en-US" sz="1050" dirty="0">
                <a:solidFill>
                  <a:srgbClr val="637083"/>
                </a:solidFill>
                <a:latin typeface="Aptos" pitchFamily="34" charset="0"/>
                <a:ea typeface="Aptos" pitchFamily="34" charset="-122"/>
                <a:cs typeface="Aptos" pitchFamily="34" charset="-120"/>
              </a:rPr>
              <a:t>independent degradation</a:t>
            </a:r>
            <a:endParaRPr lang="en-US" sz="1050" dirty="0"/>
          </a:p>
          <a:p>
            <a:pPr algn="ctr" indent="0" marL="0">
              <a:buNone/>
            </a:pPr>
            <a:r>
              <a:rPr lang="en-US" sz="1050" dirty="0">
                <a:solidFill>
                  <a:srgbClr val="637083"/>
                </a:solidFill>
                <a:latin typeface="Aptos" pitchFamily="34" charset="0"/>
                <a:ea typeface="Aptos" pitchFamily="34" charset="-122"/>
                <a:cs typeface="Aptos" pitchFamily="34" charset="-120"/>
              </a:rPr>
              <a:t>same deterministic rule</a:t>
            </a:r>
            <a:endParaRPr lang="en-US" sz="1050" dirty="0"/>
          </a:p>
        </p:txBody>
      </p:sp>
      <p:sp>
        <p:nvSpPr>
          <p:cNvPr id="18" name="Shape 16"/>
          <p:cNvSpPr/>
          <p:nvPr/>
        </p:nvSpPr>
        <p:spPr>
          <a:xfrm>
            <a:off x="8366760" y="1600200"/>
            <a:ext cx="3063240" cy="1737360"/>
          </a:xfrm>
          <a:prstGeom prst="roundRect">
            <a:avLst>
              <a:gd name="adj" fmla="val 4211"/>
            </a:avLst>
          </a:prstGeom>
          <a:solidFill>
            <a:srgbClr val="F8FAFC"/>
          </a:solidFill>
          <a:ln w="12700">
            <a:solidFill>
              <a:srgbClr val="CBD5E1"/>
            </a:solidFill>
            <a:prstDash val="solid"/>
          </a:ln>
        </p:spPr>
      </p:sp>
      <p:sp>
        <p:nvSpPr>
          <p:cNvPr id="19" name="Text 17"/>
          <p:cNvSpPr/>
          <p:nvPr/>
        </p:nvSpPr>
        <p:spPr>
          <a:xfrm>
            <a:off x="8622792" y="1847088"/>
            <a:ext cx="2560320" cy="228600"/>
          </a:xfrm>
          <a:prstGeom prst="rect">
            <a:avLst/>
          </a:prstGeom>
          <a:noFill/>
          <a:ln/>
        </p:spPr>
        <p:txBody>
          <a:bodyPr wrap="square" lIns="635" tIns="635" rIns="635" bIns="635" rtlCol="0" anchor="ctr">
            <a:normAutofit/>
          </a:bodyPr>
          <a:lstStyle/>
          <a:p>
            <a:pPr algn="ctr" indent="0" marL="0">
              <a:buNone/>
            </a:pPr>
            <a:r>
              <a:rPr lang="en-US" sz="1600" b="1" dirty="0">
                <a:solidFill>
                  <a:srgbClr val="1F2937"/>
                </a:solidFill>
                <a:latin typeface="Aptos" pitchFamily="34" charset="0"/>
                <a:ea typeface="Aptos" pitchFamily="34" charset="-122"/>
                <a:cs typeface="Aptos" pitchFamily="34" charset="-120"/>
              </a:rPr>
              <a:t>Saved outputs</a:t>
            </a:r>
            <a:endParaRPr lang="en-US" sz="1600" dirty="0"/>
          </a:p>
        </p:txBody>
      </p:sp>
      <p:sp>
        <p:nvSpPr>
          <p:cNvPr id="20" name="Text 18"/>
          <p:cNvSpPr/>
          <p:nvPr/>
        </p:nvSpPr>
        <p:spPr>
          <a:xfrm>
            <a:off x="8641080" y="2212848"/>
            <a:ext cx="2377440" cy="777240"/>
          </a:xfrm>
          <a:prstGeom prst="rect">
            <a:avLst/>
          </a:prstGeom>
          <a:noFill/>
          <a:ln/>
        </p:spPr>
        <p:txBody>
          <a:bodyPr wrap="square" lIns="635" tIns="635" rIns="635" bIns="635" rtlCol="0" anchor="ctr">
            <a:normAutofit/>
          </a:bodyPr>
          <a:lstStyle/>
          <a:p>
            <a:pPr algn="l" indent="0" marL="0">
              <a:buNone/>
            </a:pPr>
            <a:r>
              <a:rPr lang="en-US" sz="1030" dirty="0">
                <a:solidFill>
                  <a:srgbClr val="637083"/>
                </a:solidFill>
                <a:latin typeface="Aptos" pitchFamily="34" charset="0"/>
                <a:ea typeface="Aptos" pitchFamily="34" charset="-122"/>
                <a:cs typeface="Aptos" pitchFamily="34" charset="-120"/>
              </a:rPr>
              <a:t>• new split TSV files</a:t>
            </a:r>
            <a:endParaRPr lang="en-US" sz="1030" dirty="0"/>
          </a:p>
          <a:p>
            <a:pPr algn="l" indent="0" marL="0">
              <a:buNone/>
            </a:pPr>
            <a:r>
              <a:rPr lang="en-US" sz="1030" dirty="0">
                <a:solidFill>
                  <a:srgbClr val="637083"/>
                </a:solidFill>
                <a:latin typeface="Aptos" pitchFamily="34" charset="0"/>
                <a:ea typeface="Aptos" pitchFamily="34" charset="-122"/>
                <a:cs typeface="Aptos" pitchFamily="34" charset="-120"/>
              </a:rPr>
              <a:t>• degraded_to_clean.jsonl</a:t>
            </a:r>
            <a:endParaRPr lang="en-US" sz="1030" dirty="0"/>
          </a:p>
          <a:p>
            <a:pPr algn="l" indent="0" marL="0">
              <a:buNone/>
            </a:pPr>
            <a:r>
              <a:rPr lang="en-US" sz="1030" dirty="0">
                <a:solidFill>
                  <a:srgbClr val="637083"/>
                </a:solidFill>
                <a:latin typeface="Aptos" pitchFamily="34" charset="0"/>
                <a:ea typeface="Aptos" pitchFamily="34" charset="-122"/>
                <a:cs typeface="Aptos" pitchFamily="34" charset="-120"/>
              </a:rPr>
              <a:t>• degradation_metadata.jsonl</a:t>
            </a:r>
            <a:endParaRPr lang="en-US" sz="1030" dirty="0"/>
          </a:p>
          <a:p>
            <a:pPr algn="l" indent="0" marL="0">
              <a:buNone/>
            </a:pPr>
            <a:r>
              <a:rPr lang="en-US" sz="1030" dirty="0">
                <a:solidFill>
                  <a:srgbClr val="637083"/>
                </a:solidFill>
                <a:latin typeface="Aptos" pitchFamily="34" charset="0"/>
                <a:ea typeface="Aptos" pitchFamily="34" charset="-122"/>
                <a:cs typeface="Aptos" pitchFamily="34" charset="-120"/>
              </a:rPr>
              <a:t>• profile, codec, packet loss, delay, SNR, gain</a:t>
            </a:r>
            <a:endParaRPr lang="en-US" sz="1030" dirty="0"/>
          </a:p>
        </p:txBody>
      </p:sp>
      <p:sp>
        <p:nvSpPr>
          <p:cNvPr id="21" name="Shape 19"/>
          <p:cNvSpPr/>
          <p:nvPr/>
        </p:nvSpPr>
        <p:spPr>
          <a:xfrm>
            <a:off x="777240" y="4617720"/>
            <a:ext cx="3474720" cy="914400"/>
          </a:xfrm>
          <a:prstGeom prst="roundRect">
            <a:avLst>
              <a:gd name="adj" fmla="val 8000"/>
            </a:avLst>
          </a:prstGeom>
          <a:solidFill>
            <a:srgbClr val="FFFFFF"/>
          </a:solidFill>
          <a:ln w="12700">
            <a:solidFill>
              <a:srgbClr val="CBD5E1"/>
            </a:solidFill>
            <a:prstDash val="solid"/>
          </a:ln>
        </p:spPr>
      </p:sp>
      <p:sp>
        <p:nvSpPr>
          <p:cNvPr id="22" name="Text 20"/>
          <p:cNvSpPr/>
          <p:nvPr/>
        </p:nvSpPr>
        <p:spPr>
          <a:xfrm>
            <a:off x="941832" y="4736592"/>
            <a:ext cx="3145536" cy="237744"/>
          </a:xfrm>
          <a:prstGeom prst="rect">
            <a:avLst/>
          </a:prstGeom>
          <a:noFill/>
          <a:ln/>
        </p:spPr>
        <p:txBody>
          <a:bodyPr wrap="square" lIns="635" tIns="635" rIns="635" bIns="635" rtlCol="0" anchor="ctr">
            <a:normAutofit/>
          </a:bodyPr>
          <a:lstStyle/>
          <a:p>
            <a:pPr algn="l" indent="0" marL="0">
              <a:buNone/>
            </a:pPr>
            <a:r>
              <a:rPr lang="en-US" sz="1350" b="1" dirty="0">
                <a:solidFill>
                  <a:srgbClr val="1F2937"/>
                </a:solidFill>
                <a:latin typeface="Aptos" pitchFamily="34" charset="0"/>
                <a:ea typeface="Aptos" pitchFamily="34" charset="-122"/>
                <a:cs typeface="Aptos" pitchFamily="34" charset="-120"/>
              </a:rPr>
              <a:t>Time-aligned pairs</a:t>
            </a:r>
            <a:endParaRPr lang="en-US" sz="1350" dirty="0"/>
          </a:p>
        </p:txBody>
      </p:sp>
      <p:sp>
        <p:nvSpPr>
          <p:cNvPr id="23" name="Text 21"/>
          <p:cNvSpPr/>
          <p:nvPr/>
        </p:nvSpPr>
        <p:spPr>
          <a:xfrm>
            <a:off x="941832" y="5056632"/>
            <a:ext cx="3145536" cy="411480"/>
          </a:xfrm>
          <a:prstGeom prst="rect">
            <a:avLst/>
          </a:prstGeom>
          <a:noFill/>
          <a:ln/>
        </p:spPr>
        <p:txBody>
          <a:bodyPr wrap="square" lIns="635" tIns="635" rIns="635" bIns="635" rtlCol="0" anchor="t">
            <a:normAutofit/>
          </a:bodyPr>
          <a:lstStyle/>
          <a:p>
            <a:pPr algn="l" indent="0" marL="0">
              <a:buNone/>
            </a:pPr>
            <a:r>
              <a:rPr lang="en-US" sz="1170" dirty="0">
                <a:solidFill>
                  <a:srgbClr val="637083"/>
                </a:solidFill>
                <a:latin typeface="Aptos" pitchFamily="34" charset="0"/>
                <a:ea typeface="Aptos" pitchFamily="34" charset="-122"/>
                <a:cs typeface="Aptos" pitchFamily="34" charset="-120"/>
              </a:rPr>
              <a:t>Clean and degraded waveforms are matched in time and length.</a:t>
            </a:r>
            <a:endParaRPr lang="en-US" sz="1170" dirty="0"/>
          </a:p>
        </p:txBody>
      </p:sp>
      <p:sp>
        <p:nvSpPr>
          <p:cNvPr id="24" name="Shape 22"/>
          <p:cNvSpPr/>
          <p:nvPr/>
        </p:nvSpPr>
        <p:spPr>
          <a:xfrm>
            <a:off x="4434840" y="4617720"/>
            <a:ext cx="3474720" cy="914400"/>
          </a:xfrm>
          <a:prstGeom prst="roundRect">
            <a:avLst>
              <a:gd name="adj" fmla="val 8000"/>
            </a:avLst>
          </a:prstGeom>
          <a:solidFill>
            <a:srgbClr val="FFFFFF"/>
          </a:solidFill>
          <a:ln w="12700">
            <a:solidFill>
              <a:srgbClr val="CBD5E1"/>
            </a:solidFill>
            <a:prstDash val="solid"/>
          </a:ln>
        </p:spPr>
      </p:sp>
      <p:sp>
        <p:nvSpPr>
          <p:cNvPr id="25" name="Text 23"/>
          <p:cNvSpPr/>
          <p:nvPr/>
        </p:nvSpPr>
        <p:spPr>
          <a:xfrm>
            <a:off x="4599432" y="4736592"/>
            <a:ext cx="3145536" cy="237744"/>
          </a:xfrm>
          <a:prstGeom prst="rect">
            <a:avLst/>
          </a:prstGeom>
          <a:noFill/>
          <a:ln/>
        </p:spPr>
        <p:txBody>
          <a:bodyPr wrap="square" lIns="635" tIns="635" rIns="635" bIns="635" rtlCol="0" anchor="ctr">
            <a:normAutofit/>
          </a:bodyPr>
          <a:lstStyle/>
          <a:p>
            <a:pPr algn="l" indent="0" marL="0">
              <a:buNone/>
            </a:pPr>
            <a:r>
              <a:rPr lang="en-US" sz="1350" b="1" dirty="0">
                <a:solidFill>
                  <a:srgbClr val="1F2937"/>
                </a:solidFill>
                <a:latin typeface="Aptos" pitchFamily="34" charset="0"/>
                <a:ea typeface="Aptos" pitchFamily="34" charset="-122"/>
                <a:cs typeface="Aptos" pitchFamily="34" charset="-120"/>
              </a:rPr>
              <a:t>Same channel target</a:t>
            </a:r>
            <a:endParaRPr lang="en-US" sz="1350" dirty="0"/>
          </a:p>
        </p:txBody>
      </p:sp>
      <p:sp>
        <p:nvSpPr>
          <p:cNvPr id="26" name="Text 24"/>
          <p:cNvSpPr/>
          <p:nvPr/>
        </p:nvSpPr>
        <p:spPr>
          <a:xfrm>
            <a:off x="4599432" y="5056632"/>
            <a:ext cx="3145536" cy="411480"/>
          </a:xfrm>
          <a:prstGeom prst="rect">
            <a:avLst/>
          </a:prstGeom>
          <a:noFill/>
          <a:ln/>
        </p:spPr>
        <p:txBody>
          <a:bodyPr wrap="square" lIns="635" tIns="635" rIns="635" bIns="635" rtlCol="0" anchor="t">
            <a:normAutofit/>
          </a:bodyPr>
          <a:lstStyle/>
          <a:p>
            <a:pPr algn="l" indent="0" marL="0">
              <a:buNone/>
            </a:pPr>
            <a:r>
              <a:rPr lang="en-US" sz="1170" dirty="0">
                <a:solidFill>
                  <a:srgbClr val="637083"/>
                </a:solidFill>
                <a:latin typeface="Aptos" pitchFamily="34" charset="0"/>
                <a:ea typeface="Aptos" pitchFamily="34" charset="-122"/>
                <a:cs typeface="Aptos" pitchFamily="34" charset="-120"/>
              </a:rPr>
              <a:t>Clean target uses the same channel bandwidth for narrowband paths.</a:t>
            </a:r>
            <a:endParaRPr lang="en-US" sz="1170" dirty="0"/>
          </a:p>
        </p:txBody>
      </p:sp>
      <p:sp>
        <p:nvSpPr>
          <p:cNvPr id="27" name="Shape 25"/>
          <p:cNvSpPr/>
          <p:nvPr/>
        </p:nvSpPr>
        <p:spPr>
          <a:xfrm>
            <a:off x="8092440" y="4617720"/>
            <a:ext cx="3474720" cy="914400"/>
          </a:xfrm>
          <a:prstGeom prst="roundRect">
            <a:avLst>
              <a:gd name="adj" fmla="val 8000"/>
            </a:avLst>
          </a:prstGeom>
          <a:solidFill>
            <a:srgbClr val="FFFFFF"/>
          </a:solidFill>
          <a:ln w="12700">
            <a:solidFill>
              <a:srgbClr val="CBD5E1"/>
            </a:solidFill>
            <a:prstDash val="solid"/>
          </a:ln>
        </p:spPr>
      </p:sp>
      <p:sp>
        <p:nvSpPr>
          <p:cNvPr id="28" name="Text 26"/>
          <p:cNvSpPr/>
          <p:nvPr/>
        </p:nvSpPr>
        <p:spPr>
          <a:xfrm>
            <a:off x="8257032" y="4736592"/>
            <a:ext cx="3145536" cy="237744"/>
          </a:xfrm>
          <a:prstGeom prst="rect">
            <a:avLst/>
          </a:prstGeom>
          <a:noFill/>
          <a:ln/>
        </p:spPr>
        <p:txBody>
          <a:bodyPr wrap="square" lIns="635" tIns="635" rIns="635" bIns="635" rtlCol="0" anchor="ctr">
            <a:normAutofit/>
          </a:bodyPr>
          <a:lstStyle/>
          <a:p>
            <a:pPr algn="l" indent="0" marL="0">
              <a:buNone/>
            </a:pPr>
            <a:r>
              <a:rPr lang="en-US" sz="1350" b="1" dirty="0">
                <a:solidFill>
                  <a:srgbClr val="1F2937"/>
                </a:solidFill>
                <a:latin typeface="Aptos" pitchFamily="34" charset="0"/>
                <a:ea typeface="Aptos" pitchFamily="34" charset="-122"/>
                <a:cs typeface="Aptos" pitchFamily="34" charset="-120"/>
              </a:rPr>
              <a:t>Auditable metadata</a:t>
            </a:r>
            <a:endParaRPr lang="en-US" sz="1350" dirty="0"/>
          </a:p>
        </p:txBody>
      </p:sp>
      <p:sp>
        <p:nvSpPr>
          <p:cNvPr id="29" name="Text 27"/>
          <p:cNvSpPr/>
          <p:nvPr/>
        </p:nvSpPr>
        <p:spPr>
          <a:xfrm>
            <a:off x="8257032" y="5056632"/>
            <a:ext cx="3145536" cy="411480"/>
          </a:xfrm>
          <a:prstGeom prst="rect">
            <a:avLst/>
          </a:prstGeom>
          <a:noFill/>
          <a:ln/>
        </p:spPr>
        <p:txBody>
          <a:bodyPr wrap="square" lIns="635" tIns="635" rIns="635" bIns="635" rtlCol="0" anchor="t">
            <a:normAutofit/>
          </a:bodyPr>
          <a:lstStyle/>
          <a:p>
            <a:pPr algn="l" indent="0" marL="0">
              <a:buNone/>
            </a:pPr>
            <a:r>
              <a:rPr lang="en-US" sz="1170" dirty="0">
                <a:solidFill>
                  <a:srgbClr val="637083"/>
                </a:solidFill>
                <a:latin typeface="Aptos" pitchFamily="34" charset="0"/>
                <a:ea typeface="Aptos" pitchFamily="34" charset="-122"/>
                <a:cs typeface="Aptos" pitchFamily="34" charset="-120"/>
              </a:rPr>
              <a:t>Samples can be reproduced, grouped, and diagnosed by condition.</a:t>
            </a:r>
            <a:endParaRPr lang="en-US" sz="117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Telecom Degradation Pipeline</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7/19</a:t>
            </a:r>
            <a:endParaRPr lang="en-US" sz="750" dirty="0"/>
          </a:p>
        </p:txBody>
      </p:sp>
      <p:pic>
        <p:nvPicPr>
          <p:cNvPr id="6" name="Image 0" descr="/mnt/data/degradation-pipeline-architecture.png">    </p:cNvPr>
          <p:cNvPicPr>
            <a:picLocks noChangeAspect="1"/>
          </p:cNvPicPr>
          <p:nvPr/>
        </p:nvPicPr>
        <p:blipFill>
          <a:blip r:embed="rId1"/>
          <a:stretch>
            <a:fillRect/>
          </a:stretch>
        </p:blipFill>
        <p:spPr>
          <a:xfrm>
            <a:off x="1394189" y="758952"/>
            <a:ext cx="9418861" cy="5440680"/>
          </a:xfrm>
          <a:prstGeom prst="rect">
            <a:avLst/>
          </a:prstGeom>
        </p:spPr>
      </p:pic>
      <p:sp>
        <p:nvSpPr>
          <p:cNvPr id="7" name="Shape 4"/>
          <p:cNvSpPr/>
          <p:nvPr/>
        </p:nvSpPr>
        <p:spPr>
          <a:xfrm>
            <a:off x="713232" y="6364224"/>
            <a:ext cx="2057400" cy="237744"/>
          </a:xfrm>
          <a:prstGeom prst="roundRect">
            <a:avLst>
              <a:gd name="adj" fmla="val 30769"/>
            </a:avLst>
          </a:prstGeom>
          <a:solidFill>
            <a:srgbClr val="EAF6FF"/>
          </a:solidFill>
          <a:ln w="10160">
            <a:solidFill>
              <a:srgbClr val="0078B8"/>
            </a:solidFill>
            <a:prstDash val="solid"/>
          </a:ln>
        </p:spPr>
      </p:sp>
      <p:sp>
        <p:nvSpPr>
          <p:cNvPr id="8" name="Text 5"/>
          <p:cNvSpPr/>
          <p:nvPr/>
        </p:nvSpPr>
        <p:spPr>
          <a:xfrm>
            <a:off x="768096" y="6423660"/>
            <a:ext cx="1947672" cy="109728"/>
          </a:xfrm>
          <a:prstGeom prst="rect">
            <a:avLst/>
          </a:prstGeom>
          <a:noFill/>
          <a:ln/>
        </p:spPr>
        <p:txBody>
          <a:bodyPr wrap="square" lIns="0" tIns="0" rIns="0" bIns="0" rtlCol="0" anchor="ctr"/>
          <a:lstStyle/>
          <a:p>
            <a:pPr algn="ctr" indent="0" marL="0">
              <a:buNone/>
            </a:pPr>
            <a:r>
              <a:rPr lang="en-US" sz="750" b="1" dirty="0">
                <a:solidFill>
                  <a:srgbClr val="0078B8"/>
                </a:solidFill>
              </a:rPr>
              <a:t>real FFmpeg codec round-trips</a:t>
            </a:r>
            <a:endParaRPr lang="en-US" sz="750" dirty="0"/>
          </a:p>
        </p:txBody>
      </p:sp>
      <p:sp>
        <p:nvSpPr>
          <p:cNvPr id="9" name="Shape 6"/>
          <p:cNvSpPr/>
          <p:nvPr/>
        </p:nvSpPr>
        <p:spPr>
          <a:xfrm>
            <a:off x="3337560" y="6364224"/>
            <a:ext cx="1691640" cy="237744"/>
          </a:xfrm>
          <a:prstGeom prst="roundRect">
            <a:avLst>
              <a:gd name="adj" fmla="val 30769"/>
            </a:avLst>
          </a:prstGeom>
          <a:solidFill>
            <a:srgbClr val="FFF1E5"/>
          </a:solidFill>
          <a:ln w="10160">
            <a:solidFill>
              <a:srgbClr val="D65F00"/>
            </a:solidFill>
            <a:prstDash val="solid"/>
          </a:ln>
        </p:spPr>
      </p:sp>
      <p:sp>
        <p:nvSpPr>
          <p:cNvPr id="10" name="Text 7"/>
          <p:cNvSpPr/>
          <p:nvPr/>
        </p:nvSpPr>
        <p:spPr>
          <a:xfrm>
            <a:off x="3392424" y="6423660"/>
            <a:ext cx="1581912" cy="109728"/>
          </a:xfrm>
          <a:prstGeom prst="rect">
            <a:avLst/>
          </a:prstGeom>
          <a:noFill/>
          <a:ln/>
        </p:spPr>
        <p:txBody>
          <a:bodyPr wrap="square" lIns="0" tIns="0" rIns="0" bIns="0" rtlCol="0" anchor="ctr"/>
          <a:lstStyle/>
          <a:p>
            <a:pPr algn="ctr" indent="0" marL="0">
              <a:buNone/>
            </a:pPr>
            <a:r>
              <a:rPr lang="en-US" sz="750" b="1" dirty="0">
                <a:solidFill>
                  <a:srgbClr val="D65F00"/>
                </a:solidFill>
              </a:rPr>
              <a:t>burst loss + Opus PLC</a:t>
            </a:r>
            <a:endParaRPr lang="en-US" sz="750" dirty="0"/>
          </a:p>
        </p:txBody>
      </p:sp>
      <p:sp>
        <p:nvSpPr>
          <p:cNvPr id="11" name="Shape 8"/>
          <p:cNvSpPr/>
          <p:nvPr/>
        </p:nvSpPr>
        <p:spPr>
          <a:xfrm>
            <a:off x="5559552" y="6364224"/>
            <a:ext cx="2834640" cy="237744"/>
          </a:xfrm>
          <a:prstGeom prst="roundRect">
            <a:avLst>
              <a:gd name="adj" fmla="val 30769"/>
            </a:avLst>
          </a:prstGeom>
          <a:solidFill>
            <a:srgbClr val="E9F7F0"/>
          </a:solidFill>
          <a:ln w="10160">
            <a:solidFill>
              <a:srgbClr val="14865A"/>
            </a:solidFill>
            <a:prstDash val="solid"/>
          </a:ln>
        </p:spPr>
      </p:sp>
      <p:sp>
        <p:nvSpPr>
          <p:cNvPr id="12" name="Text 9"/>
          <p:cNvSpPr/>
          <p:nvPr/>
        </p:nvSpPr>
        <p:spPr>
          <a:xfrm>
            <a:off x="5614416" y="6423660"/>
            <a:ext cx="2724912" cy="109728"/>
          </a:xfrm>
          <a:prstGeom prst="rect">
            <a:avLst/>
          </a:prstGeom>
          <a:noFill/>
          <a:ln/>
        </p:spPr>
        <p:txBody>
          <a:bodyPr wrap="square" lIns="0" tIns="0" rIns="0" bIns="0" rtlCol="0" anchor="ctr"/>
          <a:lstStyle/>
          <a:p>
            <a:pPr algn="ctr" indent="0" marL="0">
              <a:buNone/>
            </a:pPr>
            <a:r>
              <a:rPr lang="en-US" sz="750" b="1" dirty="0">
                <a:solidFill>
                  <a:srgbClr val="14865A"/>
                </a:solidFill>
              </a:rPr>
              <a:t>delay alignment + shared pair normalization</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Three Systems, One Key Controlled Comparison</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8/19</a:t>
            </a:r>
            <a:endParaRPr lang="en-US" sz="750" dirty="0"/>
          </a:p>
        </p:txBody>
      </p:sp>
      <p:sp>
        <p:nvSpPr>
          <p:cNvPr id="6" name="Shape 4"/>
          <p:cNvSpPr/>
          <p:nvPr/>
        </p:nvSpPr>
        <p:spPr>
          <a:xfrm>
            <a:off x="640080" y="1234440"/>
            <a:ext cx="2294687" cy="514350"/>
          </a:xfrm>
          <a:prstGeom prst="rect">
            <a:avLst/>
          </a:prstGeom>
          <a:solidFill>
            <a:srgbClr val="EEF2F6"/>
          </a:solidFill>
          <a:ln w="6350">
            <a:solidFill>
              <a:srgbClr val="CBD5E1"/>
            </a:solidFill>
            <a:prstDash val="solid"/>
          </a:ln>
        </p:spPr>
      </p:sp>
      <p:sp>
        <p:nvSpPr>
          <p:cNvPr id="7" name="Text 5"/>
          <p:cNvSpPr/>
          <p:nvPr/>
        </p:nvSpPr>
        <p:spPr>
          <a:xfrm>
            <a:off x="676656" y="1252728"/>
            <a:ext cx="2221535" cy="477774"/>
          </a:xfrm>
          <a:prstGeom prst="rect">
            <a:avLst/>
          </a:prstGeom>
          <a:noFill/>
          <a:ln/>
        </p:spPr>
        <p:txBody>
          <a:bodyPr wrap="square" lIns="0" tIns="0" rIns="0" bIns="0" rtlCol="0" anchor="ctr">
            <a:normAutofit/>
          </a:bodyPr>
          <a:lstStyle/>
          <a:p>
            <a:pPr algn="l" indent="0" marL="0">
              <a:buNone/>
            </a:pPr>
            <a:r>
              <a:rPr lang="en-US" sz="870" b="1" dirty="0">
                <a:solidFill>
                  <a:srgbClr val="1F2937"/>
                </a:solidFill>
                <a:latin typeface="Aptos" pitchFamily="34" charset="0"/>
                <a:ea typeface="Aptos" pitchFamily="34" charset="-122"/>
                <a:cs typeface="Aptos" pitchFamily="34" charset="-120"/>
              </a:rPr>
              <a:t>System</a:t>
            </a:r>
            <a:endParaRPr lang="en-US" sz="870" dirty="0"/>
          </a:p>
        </p:txBody>
      </p:sp>
      <p:sp>
        <p:nvSpPr>
          <p:cNvPr id="8" name="Shape 6"/>
          <p:cNvSpPr/>
          <p:nvPr/>
        </p:nvSpPr>
        <p:spPr>
          <a:xfrm>
            <a:off x="2934767" y="1234440"/>
            <a:ext cx="3168853" cy="514350"/>
          </a:xfrm>
          <a:prstGeom prst="rect">
            <a:avLst/>
          </a:prstGeom>
          <a:solidFill>
            <a:srgbClr val="EEF2F6"/>
          </a:solidFill>
          <a:ln w="6350">
            <a:solidFill>
              <a:srgbClr val="CBD5E1"/>
            </a:solidFill>
            <a:prstDash val="solid"/>
          </a:ln>
        </p:spPr>
      </p:sp>
      <p:sp>
        <p:nvSpPr>
          <p:cNvPr id="9" name="Text 7"/>
          <p:cNvSpPr/>
          <p:nvPr/>
        </p:nvSpPr>
        <p:spPr>
          <a:xfrm>
            <a:off x="2971343" y="1252728"/>
            <a:ext cx="3095701" cy="477774"/>
          </a:xfrm>
          <a:prstGeom prst="rect">
            <a:avLst/>
          </a:prstGeom>
          <a:noFill/>
          <a:ln/>
        </p:spPr>
        <p:txBody>
          <a:bodyPr wrap="square" lIns="0" tIns="0" rIns="0" bIns="0" rtlCol="0" anchor="ctr">
            <a:normAutofit/>
          </a:bodyPr>
          <a:lstStyle/>
          <a:p>
            <a:pPr algn="ctr" indent="0" marL="0">
              <a:buNone/>
            </a:pPr>
            <a:r>
              <a:rPr lang="en-US" sz="870" b="1" dirty="0">
                <a:solidFill>
                  <a:srgbClr val="1F2937"/>
                </a:solidFill>
                <a:latin typeface="Aptos" pitchFamily="34" charset="0"/>
                <a:ea typeface="Aptos" pitchFamily="34" charset="-122"/>
                <a:cs typeface="Aptos" pitchFamily="34" charset="-120"/>
              </a:rPr>
              <a:t>Training input</a:t>
            </a:r>
            <a:endParaRPr lang="en-US" sz="870" dirty="0"/>
          </a:p>
        </p:txBody>
      </p:sp>
      <p:sp>
        <p:nvSpPr>
          <p:cNvPr id="10" name="Shape 8"/>
          <p:cNvSpPr/>
          <p:nvPr/>
        </p:nvSpPr>
        <p:spPr>
          <a:xfrm>
            <a:off x="6103620" y="1234440"/>
            <a:ext cx="2731770" cy="514350"/>
          </a:xfrm>
          <a:prstGeom prst="rect">
            <a:avLst/>
          </a:prstGeom>
          <a:solidFill>
            <a:srgbClr val="EEF2F6"/>
          </a:solidFill>
          <a:ln w="6350">
            <a:solidFill>
              <a:srgbClr val="CBD5E1"/>
            </a:solidFill>
            <a:prstDash val="solid"/>
          </a:ln>
        </p:spPr>
      </p:sp>
      <p:sp>
        <p:nvSpPr>
          <p:cNvPr id="11" name="Text 9"/>
          <p:cNvSpPr/>
          <p:nvPr/>
        </p:nvSpPr>
        <p:spPr>
          <a:xfrm>
            <a:off x="6140196" y="1252728"/>
            <a:ext cx="2658618" cy="477774"/>
          </a:xfrm>
          <a:prstGeom prst="rect">
            <a:avLst/>
          </a:prstGeom>
          <a:noFill/>
          <a:ln/>
        </p:spPr>
        <p:txBody>
          <a:bodyPr wrap="square" lIns="0" tIns="0" rIns="0" bIns="0" rtlCol="0" anchor="ctr">
            <a:normAutofit/>
          </a:bodyPr>
          <a:lstStyle/>
          <a:p>
            <a:pPr algn="ctr" indent="0" marL="0">
              <a:buNone/>
            </a:pPr>
            <a:r>
              <a:rPr lang="en-US" sz="870" b="1" dirty="0">
                <a:solidFill>
                  <a:srgbClr val="1F2937"/>
                </a:solidFill>
                <a:latin typeface="Aptos" pitchFamily="34" charset="0"/>
                <a:ea typeface="Aptos" pitchFamily="34" charset="-122"/>
                <a:cs typeface="Aptos" pitchFamily="34" charset="-120"/>
              </a:rPr>
              <a:t>Added architecture</a:t>
            </a:r>
            <a:endParaRPr lang="en-US" sz="870" dirty="0"/>
          </a:p>
        </p:txBody>
      </p:sp>
      <p:sp>
        <p:nvSpPr>
          <p:cNvPr id="12" name="Shape 10"/>
          <p:cNvSpPr/>
          <p:nvPr/>
        </p:nvSpPr>
        <p:spPr>
          <a:xfrm>
            <a:off x="8835390" y="1234440"/>
            <a:ext cx="2731770" cy="514350"/>
          </a:xfrm>
          <a:prstGeom prst="rect">
            <a:avLst/>
          </a:prstGeom>
          <a:solidFill>
            <a:srgbClr val="EEF2F6"/>
          </a:solidFill>
          <a:ln w="6350">
            <a:solidFill>
              <a:srgbClr val="CBD5E1"/>
            </a:solidFill>
            <a:prstDash val="solid"/>
          </a:ln>
        </p:spPr>
      </p:sp>
      <p:sp>
        <p:nvSpPr>
          <p:cNvPr id="13" name="Text 11"/>
          <p:cNvSpPr/>
          <p:nvPr/>
        </p:nvSpPr>
        <p:spPr>
          <a:xfrm>
            <a:off x="8871966" y="1252728"/>
            <a:ext cx="2658618" cy="477774"/>
          </a:xfrm>
          <a:prstGeom prst="rect">
            <a:avLst/>
          </a:prstGeom>
          <a:noFill/>
          <a:ln/>
        </p:spPr>
        <p:txBody>
          <a:bodyPr wrap="square" lIns="0" tIns="0" rIns="0" bIns="0" rtlCol="0" anchor="ctr">
            <a:normAutofit/>
          </a:bodyPr>
          <a:lstStyle/>
          <a:p>
            <a:pPr algn="ctr" indent="0" marL="0">
              <a:buNone/>
            </a:pPr>
            <a:r>
              <a:rPr lang="en-US" sz="870" b="1" dirty="0">
                <a:solidFill>
                  <a:srgbClr val="1F2937"/>
                </a:solidFill>
                <a:latin typeface="Aptos" pitchFamily="34" charset="0"/>
                <a:ea typeface="Aptos" pitchFamily="34" charset="-122"/>
                <a:cs typeface="Aptos" pitchFamily="34" charset="-120"/>
              </a:rPr>
              <a:t>Main question</a:t>
            </a:r>
            <a:endParaRPr lang="en-US" sz="870" dirty="0"/>
          </a:p>
        </p:txBody>
      </p:sp>
      <p:sp>
        <p:nvSpPr>
          <p:cNvPr id="14" name="Shape 12"/>
          <p:cNvSpPr/>
          <p:nvPr/>
        </p:nvSpPr>
        <p:spPr>
          <a:xfrm>
            <a:off x="640080" y="1748790"/>
            <a:ext cx="2294687" cy="514350"/>
          </a:xfrm>
          <a:prstGeom prst="rect">
            <a:avLst/>
          </a:prstGeom>
          <a:solidFill>
            <a:srgbClr val="FFFFFF"/>
          </a:solidFill>
          <a:ln w="6350">
            <a:solidFill>
              <a:srgbClr val="CBD5E1"/>
            </a:solidFill>
            <a:prstDash val="solid"/>
          </a:ln>
        </p:spPr>
      </p:sp>
      <p:sp>
        <p:nvSpPr>
          <p:cNvPr id="15" name="Text 13"/>
          <p:cNvSpPr/>
          <p:nvPr/>
        </p:nvSpPr>
        <p:spPr>
          <a:xfrm>
            <a:off x="676656" y="1767078"/>
            <a:ext cx="2221535" cy="477774"/>
          </a:xfrm>
          <a:prstGeom prst="rect">
            <a:avLst/>
          </a:prstGeom>
          <a:noFill/>
          <a:ln/>
        </p:spPr>
        <p:txBody>
          <a:bodyPr wrap="square" lIns="0" tIns="0" rIns="0" bIns="0" rtlCol="0" anchor="ctr">
            <a:normAutofit/>
          </a:bodyPr>
          <a:lstStyle/>
          <a:p>
            <a:pPr algn="l" indent="0" marL="0">
              <a:buNone/>
            </a:pPr>
            <a:r>
              <a:rPr lang="en-US" sz="870" dirty="0">
                <a:solidFill>
                  <a:srgbClr val="1F2937"/>
                </a:solidFill>
                <a:latin typeface="Aptos" pitchFamily="34" charset="0"/>
                <a:ea typeface="Aptos" pitchFamily="34" charset="-122"/>
                <a:cs typeface="Aptos" pitchFamily="34" charset="-120"/>
              </a:rPr>
              <a:t>Ordinary Whisper</a:t>
            </a:r>
            <a:endParaRPr lang="en-US" sz="870" dirty="0"/>
          </a:p>
        </p:txBody>
      </p:sp>
      <p:sp>
        <p:nvSpPr>
          <p:cNvPr id="16" name="Shape 14"/>
          <p:cNvSpPr/>
          <p:nvPr/>
        </p:nvSpPr>
        <p:spPr>
          <a:xfrm>
            <a:off x="2934767" y="1748790"/>
            <a:ext cx="3168853" cy="514350"/>
          </a:xfrm>
          <a:prstGeom prst="rect">
            <a:avLst/>
          </a:prstGeom>
          <a:solidFill>
            <a:srgbClr val="FFFFFF"/>
          </a:solidFill>
          <a:ln w="6350">
            <a:solidFill>
              <a:srgbClr val="CBD5E1"/>
            </a:solidFill>
            <a:prstDash val="solid"/>
          </a:ln>
        </p:spPr>
      </p:sp>
      <p:sp>
        <p:nvSpPr>
          <p:cNvPr id="17" name="Text 15"/>
          <p:cNvSpPr/>
          <p:nvPr/>
        </p:nvSpPr>
        <p:spPr>
          <a:xfrm>
            <a:off x="2971343" y="1767078"/>
            <a:ext cx="3095701"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Ordinary Persian + long variants</a:t>
            </a:r>
            <a:endParaRPr lang="en-US" sz="870" dirty="0"/>
          </a:p>
        </p:txBody>
      </p:sp>
      <p:sp>
        <p:nvSpPr>
          <p:cNvPr id="18" name="Shape 16"/>
          <p:cNvSpPr/>
          <p:nvPr/>
        </p:nvSpPr>
        <p:spPr>
          <a:xfrm>
            <a:off x="6103620" y="1748790"/>
            <a:ext cx="2731770" cy="514350"/>
          </a:xfrm>
          <a:prstGeom prst="rect">
            <a:avLst/>
          </a:prstGeom>
          <a:solidFill>
            <a:srgbClr val="FFFFFF"/>
          </a:solidFill>
          <a:ln w="6350">
            <a:solidFill>
              <a:srgbClr val="CBD5E1"/>
            </a:solidFill>
            <a:prstDash val="solid"/>
          </a:ln>
        </p:spPr>
      </p:sp>
      <p:sp>
        <p:nvSpPr>
          <p:cNvPr id="19" name="Text 17"/>
          <p:cNvSpPr/>
          <p:nvPr/>
        </p:nvSpPr>
        <p:spPr>
          <a:xfrm>
            <a:off x="6140196" y="1767078"/>
            <a:ext cx="2658618"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None</a:t>
            </a:r>
            <a:endParaRPr lang="en-US" sz="870" dirty="0"/>
          </a:p>
        </p:txBody>
      </p:sp>
      <p:sp>
        <p:nvSpPr>
          <p:cNvPr id="20" name="Shape 18"/>
          <p:cNvSpPr/>
          <p:nvPr/>
        </p:nvSpPr>
        <p:spPr>
          <a:xfrm>
            <a:off x="8835390" y="1748790"/>
            <a:ext cx="2731770" cy="514350"/>
          </a:xfrm>
          <a:prstGeom prst="rect">
            <a:avLst/>
          </a:prstGeom>
          <a:solidFill>
            <a:srgbClr val="FFFFFF"/>
          </a:solidFill>
          <a:ln w="6350">
            <a:solidFill>
              <a:srgbClr val="CBD5E1"/>
            </a:solidFill>
            <a:prstDash val="solid"/>
          </a:ln>
        </p:spPr>
      </p:sp>
      <p:sp>
        <p:nvSpPr>
          <p:cNvPr id="21" name="Text 19"/>
          <p:cNvSpPr/>
          <p:nvPr/>
        </p:nvSpPr>
        <p:spPr>
          <a:xfrm>
            <a:off x="8871966" y="1767078"/>
            <a:ext cx="2658618"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Language adaptation baseline</a:t>
            </a:r>
            <a:endParaRPr lang="en-US" sz="870" dirty="0"/>
          </a:p>
        </p:txBody>
      </p:sp>
      <p:sp>
        <p:nvSpPr>
          <p:cNvPr id="22" name="Shape 20"/>
          <p:cNvSpPr/>
          <p:nvPr/>
        </p:nvSpPr>
        <p:spPr>
          <a:xfrm>
            <a:off x="640080" y="2263140"/>
            <a:ext cx="2294687" cy="514350"/>
          </a:xfrm>
          <a:prstGeom prst="rect">
            <a:avLst/>
          </a:prstGeom>
          <a:solidFill>
            <a:srgbClr val="EAF6FF"/>
          </a:solidFill>
          <a:ln w="6350">
            <a:solidFill>
              <a:srgbClr val="CBD5E1"/>
            </a:solidFill>
            <a:prstDash val="solid"/>
          </a:ln>
        </p:spPr>
      </p:sp>
      <p:sp>
        <p:nvSpPr>
          <p:cNvPr id="23" name="Text 21"/>
          <p:cNvSpPr/>
          <p:nvPr/>
        </p:nvSpPr>
        <p:spPr>
          <a:xfrm>
            <a:off x="676656" y="2281428"/>
            <a:ext cx="2221535" cy="477774"/>
          </a:xfrm>
          <a:prstGeom prst="rect">
            <a:avLst/>
          </a:prstGeom>
          <a:noFill/>
          <a:ln/>
        </p:spPr>
        <p:txBody>
          <a:bodyPr wrap="square" lIns="0" tIns="0" rIns="0" bIns="0" rtlCol="0" anchor="ctr">
            <a:normAutofit/>
          </a:bodyPr>
          <a:lstStyle/>
          <a:p>
            <a:pPr algn="l" indent="0" marL="0">
              <a:buNone/>
            </a:pPr>
            <a:r>
              <a:rPr lang="en-US" sz="870" b="1" dirty="0">
                <a:solidFill>
                  <a:srgbClr val="0078B8"/>
                </a:solidFill>
                <a:latin typeface="Aptos" pitchFamily="34" charset="0"/>
                <a:ea typeface="Aptos" pitchFamily="34" charset="-122"/>
                <a:cs typeface="Aptos" pitchFamily="34" charset="-120"/>
              </a:rPr>
              <a:t>Multi-condition Whisper</a:t>
            </a:r>
            <a:endParaRPr lang="en-US" sz="870" dirty="0"/>
          </a:p>
        </p:txBody>
      </p:sp>
      <p:sp>
        <p:nvSpPr>
          <p:cNvPr id="24" name="Shape 22"/>
          <p:cNvSpPr/>
          <p:nvPr/>
        </p:nvSpPr>
        <p:spPr>
          <a:xfrm>
            <a:off x="2934767" y="2263140"/>
            <a:ext cx="3168853" cy="514350"/>
          </a:xfrm>
          <a:prstGeom prst="rect">
            <a:avLst/>
          </a:prstGeom>
          <a:solidFill>
            <a:srgbClr val="EAF6FF"/>
          </a:solidFill>
          <a:ln w="6350">
            <a:solidFill>
              <a:srgbClr val="CBD5E1"/>
            </a:solidFill>
            <a:prstDash val="solid"/>
          </a:ln>
        </p:spPr>
      </p:sp>
      <p:sp>
        <p:nvSpPr>
          <p:cNvPr id="25" name="Text 23"/>
          <p:cNvSpPr/>
          <p:nvPr/>
        </p:nvSpPr>
        <p:spPr>
          <a:xfrm>
            <a:off x="2971343" y="2281428"/>
            <a:ext cx="3095701"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Ordinary + long + degraded variants</a:t>
            </a:r>
            <a:endParaRPr lang="en-US" sz="870" dirty="0"/>
          </a:p>
        </p:txBody>
      </p:sp>
      <p:sp>
        <p:nvSpPr>
          <p:cNvPr id="26" name="Shape 24"/>
          <p:cNvSpPr/>
          <p:nvPr/>
        </p:nvSpPr>
        <p:spPr>
          <a:xfrm>
            <a:off x="6103620" y="2263140"/>
            <a:ext cx="2731770" cy="514350"/>
          </a:xfrm>
          <a:prstGeom prst="rect">
            <a:avLst/>
          </a:prstGeom>
          <a:solidFill>
            <a:srgbClr val="EAF6FF"/>
          </a:solidFill>
          <a:ln w="6350">
            <a:solidFill>
              <a:srgbClr val="CBD5E1"/>
            </a:solidFill>
            <a:prstDash val="solid"/>
          </a:ln>
        </p:spPr>
      </p:sp>
      <p:sp>
        <p:nvSpPr>
          <p:cNvPr id="27" name="Text 25"/>
          <p:cNvSpPr/>
          <p:nvPr/>
        </p:nvSpPr>
        <p:spPr>
          <a:xfrm>
            <a:off x="6140196" y="2281428"/>
            <a:ext cx="2658618"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None</a:t>
            </a:r>
            <a:endParaRPr lang="en-US" sz="870" dirty="0"/>
          </a:p>
        </p:txBody>
      </p:sp>
      <p:sp>
        <p:nvSpPr>
          <p:cNvPr id="28" name="Shape 26"/>
          <p:cNvSpPr/>
          <p:nvPr/>
        </p:nvSpPr>
        <p:spPr>
          <a:xfrm>
            <a:off x="8835390" y="2263140"/>
            <a:ext cx="2731770" cy="514350"/>
          </a:xfrm>
          <a:prstGeom prst="rect">
            <a:avLst/>
          </a:prstGeom>
          <a:solidFill>
            <a:srgbClr val="EAF6FF"/>
          </a:solidFill>
          <a:ln w="6350">
            <a:solidFill>
              <a:srgbClr val="CBD5E1"/>
            </a:solidFill>
            <a:prstDash val="solid"/>
          </a:ln>
        </p:spPr>
      </p:sp>
      <p:sp>
        <p:nvSpPr>
          <p:cNvPr id="29" name="Text 27"/>
          <p:cNvSpPr/>
          <p:nvPr/>
        </p:nvSpPr>
        <p:spPr>
          <a:xfrm>
            <a:off x="8871966" y="2281428"/>
            <a:ext cx="2658618"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Effect of degraded training data</a:t>
            </a:r>
            <a:endParaRPr lang="en-US" sz="870" dirty="0"/>
          </a:p>
        </p:txBody>
      </p:sp>
      <p:sp>
        <p:nvSpPr>
          <p:cNvPr id="30" name="Shape 28"/>
          <p:cNvSpPr/>
          <p:nvPr/>
        </p:nvSpPr>
        <p:spPr>
          <a:xfrm>
            <a:off x="640080" y="2777490"/>
            <a:ext cx="2294687" cy="514350"/>
          </a:xfrm>
          <a:prstGeom prst="rect">
            <a:avLst/>
          </a:prstGeom>
          <a:solidFill>
            <a:srgbClr val="FFF1E5"/>
          </a:solidFill>
          <a:ln w="6350">
            <a:solidFill>
              <a:srgbClr val="CBD5E1"/>
            </a:solidFill>
            <a:prstDash val="solid"/>
          </a:ln>
        </p:spPr>
      </p:sp>
      <p:sp>
        <p:nvSpPr>
          <p:cNvPr id="31" name="Text 29"/>
          <p:cNvSpPr/>
          <p:nvPr/>
        </p:nvSpPr>
        <p:spPr>
          <a:xfrm>
            <a:off x="676656" y="2795778"/>
            <a:ext cx="2221535" cy="477774"/>
          </a:xfrm>
          <a:prstGeom prst="rect">
            <a:avLst/>
          </a:prstGeom>
          <a:noFill/>
          <a:ln/>
        </p:spPr>
        <p:txBody>
          <a:bodyPr wrap="square" lIns="0" tIns="0" rIns="0" bIns="0" rtlCol="0" anchor="ctr">
            <a:normAutofit/>
          </a:bodyPr>
          <a:lstStyle/>
          <a:p>
            <a:pPr algn="l" indent="0" marL="0">
              <a:buNone/>
            </a:pPr>
            <a:r>
              <a:rPr lang="en-US" sz="870" b="1" dirty="0">
                <a:solidFill>
                  <a:srgbClr val="D65F00"/>
                </a:solidFill>
                <a:latin typeface="Aptos" pitchFamily="34" charset="0"/>
                <a:ea typeface="Aptos" pitchFamily="34" charset="-122"/>
                <a:cs typeface="Aptos" pitchFamily="34" charset="-120"/>
              </a:rPr>
              <a:t>Dual-stream fusion</a:t>
            </a:r>
            <a:endParaRPr lang="en-US" sz="870" dirty="0"/>
          </a:p>
        </p:txBody>
      </p:sp>
      <p:sp>
        <p:nvSpPr>
          <p:cNvPr id="32" name="Shape 30"/>
          <p:cNvSpPr/>
          <p:nvPr/>
        </p:nvSpPr>
        <p:spPr>
          <a:xfrm>
            <a:off x="2934767" y="2777490"/>
            <a:ext cx="3168853" cy="514350"/>
          </a:xfrm>
          <a:prstGeom prst="rect">
            <a:avLst/>
          </a:prstGeom>
          <a:solidFill>
            <a:srgbClr val="FFF1E5"/>
          </a:solidFill>
          <a:ln w="6350">
            <a:solidFill>
              <a:srgbClr val="CBD5E1"/>
            </a:solidFill>
            <a:prstDash val="solid"/>
          </a:ln>
        </p:spPr>
      </p:sp>
      <p:sp>
        <p:nvSpPr>
          <p:cNvPr id="33" name="Text 31"/>
          <p:cNvSpPr/>
          <p:nvPr/>
        </p:nvSpPr>
        <p:spPr>
          <a:xfrm>
            <a:off x="2971343" y="2795778"/>
            <a:ext cx="3095701"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Original and enhanced views</a:t>
            </a:r>
            <a:endParaRPr lang="en-US" sz="870" dirty="0"/>
          </a:p>
        </p:txBody>
      </p:sp>
      <p:sp>
        <p:nvSpPr>
          <p:cNvPr id="34" name="Shape 32"/>
          <p:cNvSpPr/>
          <p:nvPr/>
        </p:nvSpPr>
        <p:spPr>
          <a:xfrm>
            <a:off x="6103620" y="2777490"/>
            <a:ext cx="2731770" cy="514350"/>
          </a:xfrm>
          <a:prstGeom prst="rect">
            <a:avLst/>
          </a:prstGeom>
          <a:solidFill>
            <a:srgbClr val="FFF1E5"/>
          </a:solidFill>
          <a:ln w="6350">
            <a:solidFill>
              <a:srgbClr val="CBD5E1"/>
            </a:solidFill>
            <a:prstDash val="solid"/>
          </a:ln>
        </p:spPr>
      </p:sp>
      <p:sp>
        <p:nvSpPr>
          <p:cNvPr id="35" name="Text 33"/>
          <p:cNvSpPr/>
          <p:nvPr/>
        </p:nvSpPr>
        <p:spPr>
          <a:xfrm>
            <a:off x="6140196" y="2795778"/>
            <a:ext cx="2658618"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Enhancer + cross-attention + gate</a:t>
            </a:r>
            <a:endParaRPr lang="en-US" sz="870" dirty="0"/>
          </a:p>
        </p:txBody>
      </p:sp>
      <p:sp>
        <p:nvSpPr>
          <p:cNvPr id="36" name="Shape 34"/>
          <p:cNvSpPr/>
          <p:nvPr/>
        </p:nvSpPr>
        <p:spPr>
          <a:xfrm>
            <a:off x="8835390" y="2777490"/>
            <a:ext cx="2731770" cy="514350"/>
          </a:xfrm>
          <a:prstGeom prst="rect">
            <a:avLst/>
          </a:prstGeom>
          <a:solidFill>
            <a:srgbClr val="FFF1E5"/>
          </a:solidFill>
          <a:ln w="6350">
            <a:solidFill>
              <a:srgbClr val="CBD5E1"/>
            </a:solidFill>
            <a:prstDash val="solid"/>
          </a:ln>
        </p:spPr>
      </p:sp>
      <p:sp>
        <p:nvSpPr>
          <p:cNvPr id="37" name="Text 35"/>
          <p:cNvSpPr/>
          <p:nvPr/>
        </p:nvSpPr>
        <p:spPr>
          <a:xfrm>
            <a:off x="8871966" y="2795778"/>
            <a:ext cx="2658618" cy="477774"/>
          </a:xfrm>
          <a:prstGeom prst="rect">
            <a:avLst/>
          </a:prstGeom>
          <a:noFill/>
          <a:ln/>
        </p:spPr>
        <p:txBody>
          <a:bodyPr wrap="square" lIns="0" tIns="0" rIns="0" bIns="0" rtlCol="0" anchor="ctr">
            <a:normAutofit/>
          </a:bodyPr>
          <a:lstStyle/>
          <a:p>
            <a:pPr algn="ctr" indent="0" marL="0">
              <a:buNone/>
            </a:pPr>
            <a:r>
              <a:rPr lang="en-US" sz="870" dirty="0">
                <a:solidFill>
                  <a:srgbClr val="1F2937"/>
                </a:solidFill>
                <a:latin typeface="Aptos" pitchFamily="34" charset="0"/>
                <a:ea typeface="Aptos" pitchFamily="34" charset="-122"/>
                <a:cs typeface="Aptos" pitchFamily="34" charset="-120"/>
              </a:rPr>
              <a:t>Added value beyond multi-condition training</a:t>
            </a:r>
            <a:endParaRPr lang="en-US" sz="870" dirty="0"/>
          </a:p>
        </p:txBody>
      </p:sp>
      <p:sp>
        <p:nvSpPr>
          <p:cNvPr id="38" name="Shape 36"/>
          <p:cNvSpPr/>
          <p:nvPr/>
        </p:nvSpPr>
        <p:spPr>
          <a:xfrm>
            <a:off x="777240" y="3456432"/>
            <a:ext cx="1920240" cy="237744"/>
          </a:xfrm>
          <a:prstGeom prst="roundRect">
            <a:avLst>
              <a:gd name="adj" fmla="val 30769"/>
            </a:avLst>
          </a:prstGeom>
          <a:solidFill>
            <a:srgbClr val="EAF6FF"/>
          </a:solidFill>
          <a:ln w="10160">
            <a:solidFill>
              <a:srgbClr val="0078B8"/>
            </a:solidFill>
            <a:prstDash val="solid"/>
          </a:ln>
        </p:spPr>
      </p:sp>
      <p:sp>
        <p:nvSpPr>
          <p:cNvPr id="39" name="Text 37"/>
          <p:cNvSpPr/>
          <p:nvPr/>
        </p:nvSpPr>
        <p:spPr>
          <a:xfrm>
            <a:off x="832104" y="3515868"/>
            <a:ext cx="1810512" cy="109728"/>
          </a:xfrm>
          <a:prstGeom prst="rect">
            <a:avLst/>
          </a:prstGeom>
          <a:noFill/>
          <a:ln/>
        </p:spPr>
        <p:txBody>
          <a:bodyPr wrap="square" lIns="0" tIns="0" rIns="0" bIns="0" rtlCol="0" anchor="ctr"/>
          <a:lstStyle/>
          <a:p>
            <a:pPr algn="ctr" indent="0" marL="0">
              <a:buNone/>
            </a:pPr>
            <a:r>
              <a:rPr lang="en-US" sz="750" b="1" dirty="0">
                <a:solidFill>
                  <a:srgbClr val="0078B8"/>
                </a:solidFill>
              </a:rPr>
              <a:t>controlled data comparison</a:t>
            </a:r>
            <a:endParaRPr lang="en-US" sz="750" dirty="0"/>
          </a:p>
        </p:txBody>
      </p:sp>
      <p:sp>
        <p:nvSpPr>
          <p:cNvPr id="40" name="Shape 38"/>
          <p:cNvSpPr/>
          <p:nvPr/>
        </p:nvSpPr>
        <p:spPr>
          <a:xfrm>
            <a:off x="777240" y="4160520"/>
            <a:ext cx="3246120" cy="1051560"/>
          </a:xfrm>
          <a:prstGeom prst="roundRect">
            <a:avLst>
              <a:gd name="adj" fmla="val 6957"/>
            </a:avLst>
          </a:prstGeom>
          <a:solidFill>
            <a:srgbClr val="FFFFFF"/>
          </a:solidFill>
          <a:ln w="12700">
            <a:solidFill>
              <a:srgbClr val="CBD5E1"/>
            </a:solidFill>
            <a:prstDash val="solid"/>
          </a:ln>
        </p:spPr>
      </p:sp>
      <p:sp>
        <p:nvSpPr>
          <p:cNvPr id="41" name="Text 39"/>
          <p:cNvSpPr/>
          <p:nvPr/>
        </p:nvSpPr>
        <p:spPr>
          <a:xfrm>
            <a:off x="941832" y="4279392"/>
            <a:ext cx="2916936" cy="237744"/>
          </a:xfrm>
          <a:prstGeom prst="rect">
            <a:avLst/>
          </a:prstGeom>
          <a:noFill/>
          <a:ln/>
        </p:spPr>
        <p:txBody>
          <a:bodyPr wrap="square" lIns="635" tIns="635" rIns="635" bIns="635" rtlCol="0" anchor="ctr">
            <a:normAutofit/>
          </a:bodyPr>
          <a:lstStyle/>
          <a:p>
            <a:pPr algn="l" indent="0" marL="0">
              <a:buNone/>
            </a:pPr>
            <a:r>
              <a:rPr lang="en-US" sz="1350" b="1" dirty="0">
                <a:solidFill>
                  <a:srgbClr val="0078B8"/>
                </a:solidFill>
                <a:latin typeface="Aptos" pitchFamily="34" charset="0"/>
                <a:ea typeface="Aptos" pitchFamily="34" charset="-122"/>
                <a:cs typeface="Aptos" pitchFamily="34" charset="-120"/>
              </a:rPr>
              <a:t>Ordinary vs. Multi-condition</a:t>
            </a:r>
            <a:endParaRPr lang="en-US" sz="1350" dirty="0"/>
          </a:p>
        </p:txBody>
      </p:sp>
      <p:sp>
        <p:nvSpPr>
          <p:cNvPr id="42" name="Text 40"/>
          <p:cNvSpPr/>
          <p:nvPr/>
        </p:nvSpPr>
        <p:spPr>
          <a:xfrm>
            <a:off x="941832" y="4599432"/>
            <a:ext cx="2916936" cy="548640"/>
          </a:xfrm>
          <a:prstGeom prst="rect">
            <a:avLst/>
          </a:prstGeom>
          <a:noFill/>
          <a:ln/>
        </p:spPr>
        <p:txBody>
          <a:bodyPr wrap="square" lIns="635" tIns="635" rIns="635" bIns="635" rtlCol="0" anchor="t">
            <a:normAutofit/>
          </a:bodyPr>
          <a:lstStyle/>
          <a:p>
            <a:pPr algn="l" indent="0" marL="0">
              <a:buNone/>
            </a:pPr>
            <a:r>
              <a:rPr lang="en-US" sz="1220" dirty="0">
                <a:solidFill>
                  <a:srgbClr val="637083"/>
                </a:solidFill>
                <a:latin typeface="Aptos" pitchFamily="34" charset="0"/>
                <a:ea typeface="Aptos" pitchFamily="34" charset="-122"/>
                <a:cs typeface="Aptos" pitchFamily="34" charset="-120"/>
              </a:rPr>
              <a:t>Same seed, optimizer, evaluation data, and decoding setup.</a:t>
            </a:r>
            <a:endParaRPr lang="en-US" sz="1220" dirty="0"/>
          </a:p>
        </p:txBody>
      </p:sp>
      <p:sp>
        <p:nvSpPr>
          <p:cNvPr id="43" name="Shape 41"/>
          <p:cNvSpPr/>
          <p:nvPr/>
        </p:nvSpPr>
        <p:spPr>
          <a:xfrm>
            <a:off x="4480560" y="4160520"/>
            <a:ext cx="3246120" cy="1051560"/>
          </a:xfrm>
          <a:prstGeom prst="roundRect">
            <a:avLst>
              <a:gd name="adj" fmla="val 6957"/>
            </a:avLst>
          </a:prstGeom>
          <a:solidFill>
            <a:srgbClr val="FFFFFF"/>
          </a:solidFill>
          <a:ln w="12700">
            <a:solidFill>
              <a:srgbClr val="CBD5E1"/>
            </a:solidFill>
            <a:prstDash val="solid"/>
          </a:ln>
        </p:spPr>
      </p:sp>
      <p:sp>
        <p:nvSpPr>
          <p:cNvPr id="44" name="Text 42"/>
          <p:cNvSpPr/>
          <p:nvPr/>
        </p:nvSpPr>
        <p:spPr>
          <a:xfrm>
            <a:off x="4645152" y="4279392"/>
            <a:ext cx="2916936" cy="237744"/>
          </a:xfrm>
          <a:prstGeom prst="rect">
            <a:avLst/>
          </a:prstGeom>
          <a:noFill/>
          <a:ln/>
        </p:spPr>
        <p:txBody>
          <a:bodyPr wrap="square" lIns="635" tIns="635" rIns="635" bIns="635" rtlCol="0" anchor="ctr">
            <a:normAutofit/>
          </a:bodyPr>
          <a:lstStyle/>
          <a:p>
            <a:pPr algn="l" indent="0" marL="0">
              <a:buNone/>
            </a:pPr>
            <a:r>
              <a:rPr lang="en-US" sz="1350" b="1" dirty="0">
                <a:solidFill>
                  <a:srgbClr val="D65F00"/>
                </a:solidFill>
                <a:latin typeface="Aptos" pitchFamily="34" charset="0"/>
                <a:ea typeface="Aptos" pitchFamily="34" charset="-122"/>
                <a:cs typeface="Aptos" pitchFamily="34" charset="-120"/>
              </a:rPr>
              <a:t>Fusion comparison</a:t>
            </a:r>
            <a:endParaRPr lang="en-US" sz="1350" dirty="0"/>
          </a:p>
        </p:txBody>
      </p:sp>
      <p:sp>
        <p:nvSpPr>
          <p:cNvPr id="45" name="Text 43"/>
          <p:cNvSpPr/>
          <p:nvPr/>
        </p:nvSpPr>
        <p:spPr>
          <a:xfrm>
            <a:off x="4645152" y="4599432"/>
            <a:ext cx="2916936" cy="548640"/>
          </a:xfrm>
          <a:prstGeom prst="rect">
            <a:avLst/>
          </a:prstGeom>
          <a:noFill/>
          <a:ln/>
        </p:spPr>
        <p:txBody>
          <a:bodyPr wrap="square" lIns="635" tIns="635" rIns="635" bIns="635" rtlCol="0" anchor="t">
            <a:normAutofit/>
          </a:bodyPr>
          <a:lstStyle/>
          <a:p>
            <a:pPr algn="l" indent="0" marL="0">
              <a:buNone/>
            </a:pPr>
            <a:r>
              <a:rPr lang="en-US" sz="1220" dirty="0">
                <a:solidFill>
                  <a:srgbClr val="637083"/>
                </a:solidFill>
                <a:latin typeface="Aptos" pitchFamily="34" charset="0"/>
                <a:ea typeface="Aptos" pitchFamily="34" charset="-122"/>
                <a:cs typeface="Aptos" pitchFamily="34" charset="-120"/>
              </a:rPr>
              <a:t>Architecture and training schedule change, so the evidence is less tightly controlled.</a:t>
            </a:r>
            <a:endParaRPr lang="en-US" sz="1220" dirty="0"/>
          </a:p>
        </p:txBody>
      </p:sp>
      <p:sp>
        <p:nvSpPr>
          <p:cNvPr id="46" name="Shape 44"/>
          <p:cNvSpPr/>
          <p:nvPr/>
        </p:nvSpPr>
        <p:spPr>
          <a:xfrm>
            <a:off x="8183880" y="4160520"/>
            <a:ext cx="2971800" cy="1051560"/>
          </a:xfrm>
          <a:prstGeom prst="roundRect">
            <a:avLst>
              <a:gd name="adj" fmla="val 6957"/>
            </a:avLst>
          </a:prstGeom>
          <a:solidFill>
            <a:srgbClr val="FFFFFF"/>
          </a:solidFill>
          <a:ln w="12700">
            <a:solidFill>
              <a:srgbClr val="CBD5E1"/>
            </a:solidFill>
            <a:prstDash val="solid"/>
          </a:ln>
        </p:spPr>
      </p:sp>
      <p:sp>
        <p:nvSpPr>
          <p:cNvPr id="47" name="Text 45"/>
          <p:cNvSpPr/>
          <p:nvPr/>
        </p:nvSpPr>
        <p:spPr>
          <a:xfrm>
            <a:off x="8348472" y="4279392"/>
            <a:ext cx="2642616" cy="237744"/>
          </a:xfrm>
          <a:prstGeom prst="rect">
            <a:avLst/>
          </a:prstGeom>
          <a:noFill/>
          <a:ln/>
        </p:spPr>
        <p:txBody>
          <a:bodyPr wrap="square" lIns="635" tIns="635" rIns="635" bIns="635" rtlCol="0" anchor="ctr">
            <a:normAutofit/>
          </a:bodyPr>
          <a:lstStyle/>
          <a:p>
            <a:pPr algn="l" indent="0" marL="0">
              <a:buNone/>
            </a:pPr>
            <a:r>
              <a:rPr lang="en-US" sz="1350" b="1" dirty="0">
                <a:solidFill>
                  <a:srgbClr val="1F2937"/>
                </a:solidFill>
                <a:latin typeface="Aptos" pitchFamily="34" charset="0"/>
                <a:ea typeface="Aptos" pitchFamily="34" charset="-122"/>
                <a:cs typeface="Aptos" pitchFamily="34" charset="-120"/>
              </a:rPr>
              <a:t>Key baseline</a:t>
            </a:r>
            <a:endParaRPr lang="en-US" sz="1350" dirty="0"/>
          </a:p>
        </p:txBody>
      </p:sp>
      <p:sp>
        <p:nvSpPr>
          <p:cNvPr id="48" name="Text 46"/>
          <p:cNvSpPr/>
          <p:nvPr/>
        </p:nvSpPr>
        <p:spPr>
          <a:xfrm>
            <a:off x="8348472" y="4599432"/>
            <a:ext cx="2642616" cy="548640"/>
          </a:xfrm>
          <a:prstGeom prst="rect">
            <a:avLst/>
          </a:prstGeom>
          <a:noFill/>
          <a:ln/>
        </p:spPr>
        <p:txBody>
          <a:bodyPr wrap="square" lIns="635" tIns="635" rIns="635" bIns="635" rtlCol="0" anchor="t">
            <a:normAutofit/>
          </a:bodyPr>
          <a:lstStyle/>
          <a:p>
            <a:pPr algn="l" indent="0" marL="0">
              <a:buNone/>
            </a:pPr>
            <a:r>
              <a:rPr lang="en-US" sz="1220" dirty="0">
                <a:solidFill>
                  <a:srgbClr val="637083"/>
                </a:solidFill>
                <a:latin typeface="Aptos" pitchFamily="34" charset="0"/>
                <a:ea typeface="Aptos" pitchFamily="34" charset="-122"/>
                <a:cs typeface="Aptos" pitchFamily="34" charset="-120"/>
              </a:rPr>
              <a:t>The simpler multi-condition model is the benchmark the proposed model must beat.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Dual-Stream Enhancement and Fusion</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9/19</a:t>
            </a:r>
            <a:endParaRPr lang="en-US" sz="750" dirty="0"/>
          </a:p>
        </p:txBody>
      </p:sp>
      <p:pic>
        <p:nvPicPr>
          <p:cNvPr id="6" name="Image 0" descr="/mnt/data/fusion-model-architecture.png">    </p:cNvPr>
          <p:cNvPicPr>
            <a:picLocks noChangeAspect="1"/>
          </p:cNvPicPr>
          <p:nvPr/>
        </p:nvPicPr>
        <p:blipFill>
          <a:blip r:embed="rId1"/>
          <a:stretch>
            <a:fillRect/>
          </a:stretch>
        </p:blipFill>
        <p:spPr>
          <a:xfrm>
            <a:off x="1394189" y="758952"/>
            <a:ext cx="9418861" cy="5440680"/>
          </a:xfrm>
          <a:prstGeom prst="rect">
            <a:avLst/>
          </a:prstGeom>
        </p:spPr>
      </p:pic>
      <p:sp>
        <p:nvSpPr>
          <p:cNvPr id="7" name="Shape 4"/>
          <p:cNvSpPr/>
          <p:nvPr/>
        </p:nvSpPr>
        <p:spPr>
          <a:xfrm>
            <a:off x="704088" y="6364224"/>
            <a:ext cx="1691640" cy="237744"/>
          </a:xfrm>
          <a:prstGeom prst="roundRect">
            <a:avLst>
              <a:gd name="adj" fmla="val 30769"/>
            </a:avLst>
          </a:prstGeom>
          <a:solidFill>
            <a:srgbClr val="EAF6FF"/>
          </a:solidFill>
          <a:ln w="10160">
            <a:solidFill>
              <a:srgbClr val="0078B8"/>
            </a:solidFill>
            <a:prstDash val="solid"/>
          </a:ln>
        </p:spPr>
      </p:sp>
      <p:sp>
        <p:nvSpPr>
          <p:cNvPr id="8" name="Text 5"/>
          <p:cNvSpPr/>
          <p:nvPr/>
        </p:nvSpPr>
        <p:spPr>
          <a:xfrm>
            <a:off x="758952" y="6423660"/>
            <a:ext cx="1581912" cy="109728"/>
          </a:xfrm>
          <a:prstGeom prst="rect">
            <a:avLst/>
          </a:prstGeom>
          <a:noFill/>
          <a:ln/>
        </p:spPr>
        <p:txBody>
          <a:bodyPr wrap="square" lIns="0" tIns="0" rIns="0" bIns="0" rtlCol="0" anchor="ctr"/>
          <a:lstStyle/>
          <a:p>
            <a:pPr algn="ctr" indent="0" marL="0">
              <a:buNone/>
            </a:pPr>
            <a:r>
              <a:rPr lang="en-US" sz="750" b="1" dirty="0">
                <a:solidFill>
                  <a:srgbClr val="0078B8"/>
                </a:solidFill>
              </a:rPr>
              <a:t>original + enhanced views</a:t>
            </a:r>
            <a:endParaRPr lang="en-US" sz="750" dirty="0"/>
          </a:p>
        </p:txBody>
      </p:sp>
      <p:sp>
        <p:nvSpPr>
          <p:cNvPr id="9" name="Shape 6"/>
          <p:cNvSpPr/>
          <p:nvPr/>
        </p:nvSpPr>
        <p:spPr>
          <a:xfrm>
            <a:off x="2971800" y="6364224"/>
            <a:ext cx="1938528" cy="237744"/>
          </a:xfrm>
          <a:prstGeom prst="roundRect">
            <a:avLst>
              <a:gd name="adj" fmla="val 30769"/>
            </a:avLst>
          </a:prstGeom>
          <a:solidFill>
            <a:srgbClr val="FFF1E5"/>
          </a:solidFill>
          <a:ln w="10160">
            <a:solidFill>
              <a:srgbClr val="D65F00"/>
            </a:solidFill>
            <a:prstDash val="solid"/>
          </a:ln>
        </p:spPr>
      </p:sp>
      <p:sp>
        <p:nvSpPr>
          <p:cNvPr id="10" name="Text 7"/>
          <p:cNvSpPr/>
          <p:nvPr/>
        </p:nvSpPr>
        <p:spPr>
          <a:xfrm>
            <a:off x="3026664" y="6423660"/>
            <a:ext cx="1828800" cy="109728"/>
          </a:xfrm>
          <a:prstGeom prst="rect">
            <a:avLst/>
          </a:prstGeom>
          <a:noFill/>
          <a:ln/>
        </p:spPr>
        <p:txBody>
          <a:bodyPr wrap="square" lIns="0" tIns="0" rIns="0" bIns="0" rtlCol="0" anchor="ctr"/>
          <a:lstStyle/>
          <a:p>
            <a:pPr algn="ctr" indent="0" marL="0">
              <a:buNone/>
            </a:pPr>
            <a:r>
              <a:rPr lang="en-US" sz="750" b="1" dirty="0">
                <a:solidFill>
                  <a:srgbClr val="D65F00"/>
                </a:solidFill>
              </a:rPr>
              <a:t>bidirectional cross-attention</a:t>
            </a:r>
            <a:endParaRPr lang="en-US" sz="750" dirty="0"/>
          </a:p>
        </p:txBody>
      </p:sp>
      <p:sp>
        <p:nvSpPr>
          <p:cNvPr id="11" name="Shape 8"/>
          <p:cNvSpPr/>
          <p:nvPr/>
        </p:nvSpPr>
        <p:spPr>
          <a:xfrm>
            <a:off x="5440680" y="6364224"/>
            <a:ext cx="1920240" cy="237744"/>
          </a:xfrm>
          <a:prstGeom prst="roundRect">
            <a:avLst>
              <a:gd name="adj" fmla="val 30769"/>
            </a:avLst>
          </a:prstGeom>
          <a:solidFill>
            <a:srgbClr val="F3ECFA"/>
          </a:solidFill>
          <a:ln w="10160">
            <a:solidFill>
              <a:srgbClr val="7E57C2"/>
            </a:solidFill>
            <a:prstDash val="solid"/>
          </a:ln>
        </p:spPr>
      </p:sp>
      <p:sp>
        <p:nvSpPr>
          <p:cNvPr id="12" name="Text 9"/>
          <p:cNvSpPr/>
          <p:nvPr/>
        </p:nvSpPr>
        <p:spPr>
          <a:xfrm>
            <a:off x="5495544" y="6423660"/>
            <a:ext cx="1810512" cy="109728"/>
          </a:xfrm>
          <a:prstGeom prst="rect">
            <a:avLst/>
          </a:prstGeom>
          <a:noFill/>
          <a:ln/>
        </p:spPr>
        <p:txBody>
          <a:bodyPr wrap="square" lIns="0" tIns="0" rIns="0" bIns="0" rtlCol="0" anchor="ctr"/>
          <a:lstStyle/>
          <a:p>
            <a:pPr algn="ctr" indent="0" marL="0">
              <a:buNone/>
            </a:pPr>
            <a:r>
              <a:rPr lang="en-US" sz="750" b="1" dirty="0">
                <a:solidFill>
                  <a:srgbClr val="7E57C2"/>
                </a:solidFill>
              </a:rPr>
              <a:t>time–feature sigmoid gate</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Three-Stage Training Strategy</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10/19</a:t>
            </a:r>
            <a:endParaRPr lang="en-US" sz="750" dirty="0"/>
          </a:p>
        </p:txBody>
      </p:sp>
      <p:sp>
        <p:nvSpPr>
          <p:cNvPr id="6" name="Shape 4"/>
          <p:cNvSpPr/>
          <p:nvPr/>
        </p:nvSpPr>
        <p:spPr>
          <a:xfrm>
            <a:off x="3291840" y="2267712"/>
            <a:ext cx="411480" cy="0"/>
          </a:xfrm>
          <a:prstGeom prst="line">
            <a:avLst/>
          </a:prstGeom>
          <a:solidFill>
            <a:srgbClr val="FFFFFF">
              <a:alpha val="0"/>
            </a:srgbClr>
          </a:solidFill>
          <a:ln w="16510">
            <a:solidFill>
              <a:srgbClr val="637083"/>
            </a:solidFill>
            <a:prstDash val="solid"/>
            <a:headEnd type="none"/>
            <a:tailEnd type="triangle"/>
          </a:ln>
        </p:spPr>
      </p:sp>
      <p:sp>
        <p:nvSpPr>
          <p:cNvPr id="7" name="Shape 5"/>
          <p:cNvSpPr/>
          <p:nvPr/>
        </p:nvSpPr>
        <p:spPr>
          <a:xfrm>
            <a:off x="6400800" y="2267712"/>
            <a:ext cx="411480" cy="0"/>
          </a:xfrm>
          <a:prstGeom prst="line">
            <a:avLst/>
          </a:prstGeom>
          <a:solidFill>
            <a:srgbClr val="FFFFFF">
              <a:alpha val="0"/>
            </a:srgbClr>
          </a:solidFill>
          <a:ln w="16510">
            <a:solidFill>
              <a:srgbClr val="637083"/>
            </a:solidFill>
            <a:prstDash val="solid"/>
            <a:headEnd type="none"/>
            <a:tailEnd type="triangle"/>
          </a:ln>
        </p:spPr>
      </p:sp>
      <p:sp>
        <p:nvSpPr>
          <p:cNvPr id="8" name="Shape 6"/>
          <p:cNvSpPr/>
          <p:nvPr/>
        </p:nvSpPr>
        <p:spPr>
          <a:xfrm>
            <a:off x="685800" y="1691640"/>
            <a:ext cx="2606040" cy="1389888"/>
          </a:xfrm>
          <a:prstGeom prst="roundRect">
            <a:avLst>
              <a:gd name="adj" fmla="val 5263"/>
            </a:avLst>
          </a:prstGeom>
          <a:solidFill>
            <a:srgbClr val="EAF6FF"/>
          </a:solidFill>
          <a:ln w="12700">
            <a:solidFill>
              <a:srgbClr val="0078B8"/>
            </a:solidFill>
            <a:prstDash val="solid"/>
          </a:ln>
        </p:spPr>
      </p:sp>
      <p:sp>
        <p:nvSpPr>
          <p:cNvPr id="9" name="Text 7"/>
          <p:cNvSpPr/>
          <p:nvPr/>
        </p:nvSpPr>
        <p:spPr>
          <a:xfrm>
            <a:off x="850392" y="1810512"/>
            <a:ext cx="2276856" cy="237744"/>
          </a:xfrm>
          <a:prstGeom prst="rect">
            <a:avLst/>
          </a:prstGeom>
          <a:noFill/>
          <a:ln/>
        </p:spPr>
        <p:txBody>
          <a:bodyPr wrap="square" lIns="635" tIns="635" rIns="635" bIns="635" rtlCol="0" anchor="ctr">
            <a:normAutofit/>
          </a:bodyPr>
          <a:lstStyle/>
          <a:p>
            <a:pPr algn="l" indent="0" marL="0">
              <a:buNone/>
            </a:pPr>
            <a:r>
              <a:rPr lang="en-US" sz="1350" b="1" dirty="0">
                <a:solidFill>
                  <a:srgbClr val="0078B8"/>
                </a:solidFill>
                <a:latin typeface="Aptos" pitchFamily="34" charset="0"/>
                <a:ea typeface="Aptos" pitchFamily="34" charset="-122"/>
                <a:cs typeface="Aptos" pitchFamily="34" charset="-120"/>
              </a:rPr>
              <a:t>1. Enhancer warm-up</a:t>
            </a:r>
            <a:endParaRPr lang="en-US" sz="1350" dirty="0"/>
          </a:p>
        </p:txBody>
      </p:sp>
      <p:sp>
        <p:nvSpPr>
          <p:cNvPr id="10" name="Text 8"/>
          <p:cNvSpPr/>
          <p:nvPr/>
        </p:nvSpPr>
        <p:spPr>
          <a:xfrm>
            <a:off x="850392" y="2130552"/>
            <a:ext cx="2276856" cy="886968"/>
          </a:xfrm>
          <a:prstGeom prst="rect">
            <a:avLst/>
          </a:prstGeom>
          <a:noFill/>
          <a:ln/>
        </p:spPr>
        <p:txBody>
          <a:bodyPr wrap="square" lIns="635" tIns="635" rIns="635" bIns="635" rtlCol="0" anchor="t">
            <a:normAutofit/>
          </a:bodyPr>
          <a:lstStyle/>
          <a:p>
            <a:pPr algn="l" indent="0" marL="0">
              <a:buNone/>
            </a:pPr>
            <a:r>
              <a:rPr lang="en-US" sz="1160" dirty="0">
                <a:solidFill>
                  <a:srgbClr val="637083"/>
                </a:solidFill>
                <a:latin typeface="Aptos" pitchFamily="34" charset="0"/>
                <a:ea typeface="Aptos" pitchFamily="34" charset="-122"/>
                <a:cs typeface="Aptos" pitchFamily="34" charset="-120"/>
              </a:rPr>
              <a:t>Up to 20k steps</a:t>
            </a:r>
            <a:endParaRPr lang="en-US" sz="1160" dirty="0"/>
          </a:p>
          <a:p>
            <a:pPr algn="l" indent="0" marL="0">
              <a:buNone/>
            </a:pPr>
            <a:r>
              <a:rPr lang="en-US" sz="1160" dirty="0">
                <a:solidFill>
                  <a:srgbClr val="637083"/>
                </a:solidFill>
                <a:latin typeface="Aptos" pitchFamily="34" charset="0"/>
                <a:ea typeface="Aptos" pitchFamily="34" charset="-122"/>
                <a:cs typeface="Aptos" pitchFamily="34" charset="-120"/>
              </a:rPr>
              <a:t>Reconstruction + encoder-feature guidance</a:t>
            </a:r>
            <a:endParaRPr lang="en-US" sz="1160" dirty="0"/>
          </a:p>
        </p:txBody>
      </p:sp>
      <p:sp>
        <p:nvSpPr>
          <p:cNvPr id="11" name="Shape 9"/>
          <p:cNvSpPr/>
          <p:nvPr/>
        </p:nvSpPr>
        <p:spPr>
          <a:xfrm>
            <a:off x="3794760" y="1691640"/>
            <a:ext cx="2606040" cy="1389888"/>
          </a:xfrm>
          <a:prstGeom prst="roundRect">
            <a:avLst>
              <a:gd name="adj" fmla="val 5263"/>
            </a:avLst>
          </a:prstGeom>
          <a:solidFill>
            <a:srgbClr val="FFF1E5"/>
          </a:solidFill>
          <a:ln w="12700">
            <a:solidFill>
              <a:srgbClr val="D65F00"/>
            </a:solidFill>
            <a:prstDash val="solid"/>
          </a:ln>
        </p:spPr>
      </p:sp>
      <p:sp>
        <p:nvSpPr>
          <p:cNvPr id="12" name="Text 10"/>
          <p:cNvSpPr/>
          <p:nvPr/>
        </p:nvSpPr>
        <p:spPr>
          <a:xfrm>
            <a:off x="3959352" y="1810512"/>
            <a:ext cx="2276856" cy="237744"/>
          </a:xfrm>
          <a:prstGeom prst="rect">
            <a:avLst/>
          </a:prstGeom>
          <a:noFill/>
          <a:ln/>
        </p:spPr>
        <p:txBody>
          <a:bodyPr wrap="square" lIns="635" tIns="635" rIns="635" bIns="635" rtlCol="0" anchor="ctr">
            <a:normAutofit/>
          </a:bodyPr>
          <a:lstStyle/>
          <a:p>
            <a:pPr algn="l" indent="0" marL="0">
              <a:buNone/>
            </a:pPr>
            <a:r>
              <a:rPr lang="en-US" sz="1350" b="1" dirty="0">
                <a:solidFill>
                  <a:srgbClr val="D65F00"/>
                </a:solidFill>
                <a:latin typeface="Aptos" pitchFamily="34" charset="0"/>
                <a:ea typeface="Aptos" pitchFamily="34" charset="-122"/>
                <a:cs typeface="Aptos" pitchFamily="34" charset="-120"/>
              </a:rPr>
              <a:t>2. Fusion / Whisper frozen</a:t>
            </a:r>
            <a:endParaRPr lang="en-US" sz="1350" dirty="0"/>
          </a:p>
        </p:txBody>
      </p:sp>
      <p:sp>
        <p:nvSpPr>
          <p:cNvPr id="13" name="Text 11"/>
          <p:cNvSpPr/>
          <p:nvPr/>
        </p:nvSpPr>
        <p:spPr>
          <a:xfrm>
            <a:off x="3959352" y="2130552"/>
            <a:ext cx="2276856" cy="886968"/>
          </a:xfrm>
          <a:prstGeom prst="rect">
            <a:avLst/>
          </a:prstGeom>
          <a:noFill/>
          <a:ln/>
        </p:spPr>
        <p:txBody>
          <a:bodyPr wrap="square" lIns="635" tIns="635" rIns="635" bIns="635" rtlCol="0" anchor="t">
            <a:normAutofit/>
          </a:bodyPr>
          <a:lstStyle/>
          <a:p>
            <a:pPr algn="l" indent="0" marL="0">
              <a:buNone/>
            </a:pPr>
            <a:r>
              <a:rPr lang="en-US" sz="1130" dirty="0">
                <a:solidFill>
                  <a:srgbClr val="637083"/>
                </a:solidFill>
                <a:latin typeface="Aptos" pitchFamily="34" charset="0"/>
                <a:ea typeface="Aptos" pitchFamily="34" charset="-122"/>
                <a:cs typeface="Aptos" pitchFamily="34" charset="-120"/>
              </a:rPr>
              <a:t>Up to 30k steps</a:t>
            </a:r>
            <a:endParaRPr lang="en-US" sz="1130" dirty="0"/>
          </a:p>
          <a:p>
            <a:pPr algn="l" indent="0" marL="0">
              <a:buNone/>
            </a:pPr>
            <a:r>
              <a:rPr lang="en-US" sz="1130" dirty="0">
                <a:solidFill>
                  <a:srgbClr val="637083"/>
                </a:solidFill>
                <a:latin typeface="Aptos" pitchFamily="34" charset="0"/>
                <a:ea typeface="Aptos" pitchFamily="34" charset="-122"/>
                <a:cs typeface="Aptos" pitchFamily="34" charset="-120"/>
              </a:rPr>
              <a:t>Train enhancer and fusion without destabilizing recognizer</a:t>
            </a:r>
            <a:endParaRPr lang="en-US" sz="1130" dirty="0"/>
          </a:p>
        </p:txBody>
      </p:sp>
      <p:sp>
        <p:nvSpPr>
          <p:cNvPr id="14" name="Shape 12"/>
          <p:cNvSpPr/>
          <p:nvPr/>
        </p:nvSpPr>
        <p:spPr>
          <a:xfrm>
            <a:off x="6903720" y="1691640"/>
            <a:ext cx="2606040" cy="1389888"/>
          </a:xfrm>
          <a:prstGeom prst="roundRect">
            <a:avLst>
              <a:gd name="adj" fmla="val 5263"/>
            </a:avLst>
          </a:prstGeom>
          <a:solidFill>
            <a:srgbClr val="E9F7F0"/>
          </a:solidFill>
          <a:ln w="12700">
            <a:solidFill>
              <a:srgbClr val="14865A"/>
            </a:solidFill>
            <a:prstDash val="solid"/>
          </a:ln>
        </p:spPr>
      </p:sp>
      <p:sp>
        <p:nvSpPr>
          <p:cNvPr id="15" name="Text 13"/>
          <p:cNvSpPr/>
          <p:nvPr/>
        </p:nvSpPr>
        <p:spPr>
          <a:xfrm>
            <a:off x="7068312" y="1810512"/>
            <a:ext cx="2276856" cy="237744"/>
          </a:xfrm>
          <a:prstGeom prst="rect">
            <a:avLst/>
          </a:prstGeom>
          <a:noFill/>
          <a:ln/>
        </p:spPr>
        <p:txBody>
          <a:bodyPr wrap="square" lIns="635" tIns="635" rIns="635" bIns="635" rtlCol="0" anchor="ctr">
            <a:normAutofit/>
          </a:bodyPr>
          <a:lstStyle/>
          <a:p>
            <a:pPr algn="l" indent="0" marL="0">
              <a:buNone/>
            </a:pPr>
            <a:r>
              <a:rPr lang="en-US" sz="1350" b="1" dirty="0">
                <a:solidFill>
                  <a:srgbClr val="14865A"/>
                </a:solidFill>
                <a:latin typeface="Aptos" pitchFamily="34" charset="0"/>
                <a:ea typeface="Aptos" pitchFamily="34" charset="-122"/>
                <a:cs typeface="Aptos" pitchFamily="34" charset="-120"/>
              </a:rPr>
              <a:t>3. End-to-end joint training</a:t>
            </a:r>
            <a:endParaRPr lang="en-US" sz="1350" dirty="0"/>
          </a:p>
        </p:txBody>
      </p:sp>
      <p:sp>
        <p:nvSpPr>
          <p:cNvPr id="16" name="Text 14"/>
          <p:cNvSpPr/>
          <p:nvPr/>
        </p:nvSpPr>
        <p:spPr>
          <a:xfrm>
            <a:off x="7068312" y="2130552"/>
            <a:ext cx="2276856" cy="886968"/>
          </a:xfrm>
          <a:prstGeom prst="rect">
            <a:avLst/>
          </a:prstGeom>
          <a:noFill/>
          <a:ln/>
        </p:spPr>
        <p:txBody>
          <a:bodyPr wrap="square" lIns="635" tIns="635" rIns="635" bIns="635" rtlCol="0" anchor="t">
            <a:normAutofit/>
          </a:bodyPr>
          <a:lstStyle/>
          <a:p>
            <a:pPr algn="l" indent="0" marL="0">
              <a:buNone/>
            </a:pPr>
            <a:r>
              <a:rPr lang="en-US" sz="1160" dirty="0">
                <a:solidFill>
                  <a:srgbClr val="637083"/>
                </a:solidFill>
                <a:latin typeface="Aptos" pitchFamily="34" charset="0"/>
                <a:ea typeface="Aptos" pitchFamily="34" charset="-122"/>
                <a:cs typeface="Aptos" pitchFamily="34" charset="-120"/>
              </a:rPr>
              <a:t>Up to 120k steps</a:t>
            </a:r>
            <a:endParaRPr lang="en-US" sz="1160" dirty="0"/>
          </a:p>
          <a:p>
            <a:pPr algn="l" indent="0" marL="0">
              <a:buNone/>
            </a:pPr>
            <a:r>
              <a:rPr lang="en-US" sz="1160" dirty="0">
                <a:solidFill>
                  <a:srgbClr val="637083"/>
                </a:solidFill>
                <a:latin typeface="Aptos" pitchFamily="34" charset="0"/>
                <a:ea typeface="Aptos" pitchFamily="34" charset="-122"/>
                <a:cs typeface="Aptos" pitchFamily="34" charset="-120"/>
              </a:rPr>
              <a:t>Optimize complete ASR system jointly</a:t>
            </a:r>
            <a:endParaRPr lang="en-US" sz="1160" dirty="0"/>
          </a:p>
        </p:txBody>
      </p:sp>
      <p:sp>
        <p:nvSpPr>
          <p:cNvPr id="17" name="Shape 15"/>
          <p:cNvSpPr/>
          <p:nvPr/>
        </p:nvSpPr>
        <p:spPr>
          <a:xfrm>
            <a:off x="4343400" y="3328416"/>
            <a:ext cx="1143000" cy="237744"/>
          </a:xfrm>
          <a:prstGeom prst="roundRect">
            <a:avLst>
              <a:gd name="adj" fmla="val 30769"/>
            </a:avLst>
          </a:prstGeom>
          <a:solidFill>
            <a:srgbClr val="FFF1E5"/>
          </a:solidFill>
          <a:ln w="10160">
            <a:solidFill>
              <a:srgbClr val="D65F00"/>
            </a:solidFill>
            <a:prstDash val="solid"/>
          </a:ln>
        </p:spPr>
      </p:sp>
      <p:sp>
        <p:nvSpPr>
          <p:cNvPr id="18" name="Text 16"/>
          <p:cNvSpPr/>
          <p:nvPr/>
        </p:nvSpPr>
        <p:spPr>
          <a:xfrm>
            <a:off x="4398264" y="3387852"/>
            <a:ext cx="1033272" cy="109728"/>
          </a:xfrm>
          <a:prstGeom prst="rect">
            <a:avLst/>
          </a:prstGeom>
          <a:noFill/>
          <a:ln/>
        </p:spPr>
        <p:txBody>
          <a:bodyPr wrap="square" lIns="0" tIns="0" rIns="0" bIns="0" rtlCol="0" anchor="ctr"/>
          <a:lstStyle/>
          <a:p>
            <a:pPr algn="ctr" indent="0" marL="0">
              <a:buNone/>
            </a:pPr>
            <a:r>
              <a:rPr lang="en-US" sz="750" b="1" dirty="0">
                <a:solidFill>
                  <a:srgbClr val="D65F00"/>
                </a:solidFill>
              </a:rPr>
              <a:t>Whisper frozen</a:t>
            </a:r>
            <a:endParaRPr lang="en-US" sz="750" dirty="0"/>
          </a:p>
        </p:txBody>
      </p:sp>
      <p:sp>
        <p:nvSpPr>
          <p:cNvPr id="19" name="Shape 17"/>
          <p:cNvSpPr/>
          <p:nvPr/>
        </p:nvSpPr>
        <p:spPr>
          <a:xfrm>
            <a:off x="7562088" y="3328416"/>
            <a:ext cx="1298448" cy="237744"/>
          </a:xfrm>
          <a:prstGeom prst="roundRect">
            <a:avLst>
              <a:gd name="adj" fmla="val 30769"/>
            </a:avLst>
          </a:prstGeom>
          <a:solidFill>
            <a:srgbClr val="E9F7F0"/>
          </a:solidFill>
          <a:ln w="10160">
            <a:solidFill>
              <a:srgbClr val="14865A"/>
            </a:solidFill>
            <a:prstDash val="solid"/>
          </a:ln>
        </p:spPr>
      </p:sp>
      <p:sp>
        <p:nvSpPr>
          <p:cNvPr id="20" name="Text 18"/>
          <p:cNvSpPr/>
          <p:nvPr/>
        </p:nvSpPr>
        <p:spPr>
          <a:xfrm>
            <a:off x="7616952" y="3387852"/>
            <a:ext cx="1188720" cy="109728"/>
          </a:xfrm>
          <a:prstGeom prst="rect">
            <a:avLst/>
          </a:prstGeom>
          <a:noFill/>
          <a:ln/>
        </p:spPr>
        <p:txBody>
          <a:bodyPr wrap="square" lIns="0" tIns="0" rIns="0" bIns="0" rtlCol="0" anchor="ctr"/>
          <a:lstStyle/>
          <a:p>
            <a:pPr algn="ctr" indent="0" marL="0">
              <a:buNone/>
            </a:pPr>
            <a:r>
              <a:rPr lang="en-US" sz="750" b="1" dirty="0">
                <a:solidFill>
                  <a:srgbClr val="14865A"/>
                </a:solidFill>
              </a:rPr>
              <a:t>Whisper unlocked</a:t>
            </a:r>
            <a:endParaRPr lang="en-US" sz="750" dirty="0"/>
          </a:p>
        </p:txBody>
      </p:sp>
      <p:sp>
        <p:nvSpPr>
          <p:cNvPr id="21" name="Shape 19"/>
          <p:cNvSpPr/>
          <p:nvPr/>
        </p:nvSpPr>
        <p:spPr>
          <a:xfrm>
            <a:off x="777240" y="4315968"/>
            <a:ext cx="10652760" cy="1783080"/>
          </a:xfrm>
          <a:prstGeom prst="roundRect">
            <a:avLst>
              <a:gd name="adj" fmla="val 4103"/>
            </a:avLst>
          </a:prstGeom>
          <a:solidFill>
            <a:srgbClr val="FFFFFF"/>
          </a:solidFill>
          <a:ln w="12700">
            <a:solidFill>
              <a:srgbClr val="CBD5E1"/>
            </a:solidFill>
            <a:prstDash val="solid"/>
          </a:ln>
        </p:spPr>
      </p:sp>
      <p:sp>
        <p:nvSpPr>
          <p:cNvPr id="22" name="Text 20"/>
          <p:cNvSpPr/>
          <p:nvPr/>
        </p:nvSpPr>
        <p:spPr>
          <a:xfrm>
            <a:off x="941832" y="4434840"/>
            <a:ext cx="10323576" cy="237744"/>
          </a:xfrm>
          <a:prstGeom prst="rect">
            <a:avLst/>
          </a:prstGeom>
          <a:noFill/>
          <a:ln/>
        </p:spPr>
        <p:txBody>
          <a:bodyPr wrap="square" lIns="635" tIns="635" rIns="635" bIns="635" rtlCol="0" anchor="ctr">
            <a:normAutofit/>
          </a:bodyPr>
          <a:lstStyle/>
          <a:p>
            <a:pPr algn="l" indent="0" marL="0">
              <a:buNone/>
            </a:pPr>
            <a:r>
              <a:rPr lang="en-US" sz="1500" b="1" dirty="0">
                <a:solidFill>
                  <a:srgbClr val="1F2937"/>
                </a:solidFill>
                <a:latin typeface="Aptos" pitchFamily="34" charset="0"/>
                <a:ea typeface="Aptos" pitchFamily="34" charset="-122"/>
                <a:cs typeface="Aptos" pitchFamily="34" charset="-120"/>
              </a:rPr>
              <a:t>Final run improvements over the first fusion run</a:t>
            </a:r>
            <a:endParaRPr lang="en-US" sz="1500" dirty="0"/>
          </a:p>
        </p:txBody>
      </p:sp>
      <p:sp>
        <p:nvSpPr>
          <p:cNvPr id="23" name="Text 21"/>
          <p:cNvSpPr/>
          <p:nvPr/>
        </p:nvSpPr>
        <p:spPr>
          <a:xfrm>
            <a:off x="1069848" y="4791456"/>
            <a:ext cx="10195560" cy="256032"/>
          </a:xfrm>
          <a:prstGeom prst="rect">
            <a:avLst/>
          </a:prstGeom>
          <a:noFill/>
          <a:ln/>
        </p:spPr>
        <p:txBody>
          <a:bodyPr wrap="square" lIns="635" tIns="635" rIns="635" bIns="635" rtlCol="0" anchor="ctr">
            <a:normAutofit/>
          </a:bodyPr>
          <a:lstStyle/>
          <a:p>
            <a:pPr algn="l"/>
            <a:r>
              <a:rPr lang="en-US" sz="1050" dirty="0">
                <a:solidFill>
                  <a:srgbClr val="637083"/>
                </a:solidFill>
                <a:latin typeface="Aptos" pitchFamily="34" charset="0"/>
                <a:ea typeface="Aptos" pitchFamily="34" charset="-122"/>
                <a:cs typeface="Aptos" pitchFamily="34" charset="-120"/>
              </a:rPr>
              <a:t>Initialize from multi-condition Persian Whisper</a:t>
            </a:r>
            <a:endParaRPr lang="en-US" sz="1050" dirty="0"/>
          </a:p>
        </p:txBody>
      </p:sp>
      <p:sp>
        <p:nvSpPr>
          <p:cNvPr id="24" name="Text 22"/>
          <p:cNvSpPr/>
          <p:nvPr/>
        </p:nvSpPr>
        <p:spPr>
          <a:xfrm>
            <a:off x="1069848" y="5102352"/>
            <a:ext cx="10195560" cy="256032"/>
          </a:xfrm>
          <a:prstGeom prst="rect">
            <a:avLst/>
          </a:prstGeom>
          <a:noFill/>
          <a:ln/>
        </p:spPr>
        <p:txBody>
          <a:bodyPr wrap="square" lIns="635" tIns="635" rIns="635" bIns="635" rtlCol="0" anchor="ctr">
            <a:normAutofit/>
          </a:bodyPr>
          <a:lstStyle/>
          <a:p>
            <a:pPr algn="l"/>
            <a:r>
              <a:rPr lang="en-US" sz="1050" dirty="0">
                <a:solidFill>
                  <a:srgbClr val="637083"/>
                </a:solidFill>
                <a:latin typeface="Aptos" pitchFamily="34" charset="0"/>
                <a:ea typeface="Aptos" pitchFamily="34" charset="-122"/>
                <a:cs typeface="Aptos" pitchFamily="34" charset="-120"/>
              </a:rPr>
              <a:t>Add a two-layer transformer at the enhancer bottleneck</a:t>
            </a:r>
            <a:endParaRPr lang="en-US" sz="1050" dirty="0"/>
          </a:p>
        </p:txBody>
      </p:sp>
      <p:sp>
        <p:nvSpPr>
          <p:cNvPr id="25" name="Text 23"/>
          <p:cNvSpPr/>
          <p:nvPr/>
        </p:nvSpPr>
        <p:spPr>
          <a:xfrm>
            <a:off x="1069848" y="5413248"/>
            <a:ext cx="10195560" cy="256032"/>
          </a:xfrm>
          <a:prstGeom prst="rect">
            <a:avLst/>
          </a:prstGeom>
          <a:noFill/>
          <a:ln/>
        </p:spPr>
        <p:txBody>
          <a:bodyPr wrap="square" lIns="635" tIns="635" rIns="635" bIns="635" rtlCol="0" anchor="ctr">
            <a:normAutofit/>
          </a:bodyPr>
          <a:lstStyle/>
          <a:p>
            <a:pPr algn="l"/>
            <a:r>
              <a:rPr lang="en-US" sz="1050" dirty="0">
                <a:solidFill>
                  <a:srgbClr val="637083"/>
                </a:solidFill>
                <a:latin typeface="Aptos" pitchFamily="34" charset="0"/>
                <a:ea typeface="Aptos" pitchFamily="34" charset="-122"/>
                <a:cs typeface="Aptos" pitchFamily="34" charset="-120"/>
              </a:rPr>
              <a:t>Add encoder-feature matching during warm-up</a:t>
            </a:r>
            <a:endParaRPr lang="en-US" sz="1050" dirty="0"/>
          </a:p>
        </p:txBody>
      </p:sp>
      <p:sp>
        <p:nvSpPr>
          <p:cNvPr id="26" name="Text 24"/>
          <p:cNvSpPr/>
          <p:nvPr/>
        </p:nvSpPr>
        <p:spPr>
          <a:xfrm>
            <a:off x="1069848" y="5724144"/>
            <a:ext cx="10195560" cy="256032"/>
          </a:xfrm>
          <a:prstGeom prst="rect">
            <a:avLst/>
          </a:prstGeom>
          <a:noFill/>
          <a:ln/>
        </p:spPr>
        <p:txBody>
          <a:bodyPr wrap="square" lIns="635" tIns="635" rIns="635" bIns="635" rtlCol="0" anchor="ctr">
            <a:normAutofit/>
          </a:bodyPr>
          <a:lstStyle/>
          <a:p>
            <a:pPr algn="l"/>
            <a:r>
              <a:rPr lang="en-US" sz="1050" dirty="0">
                <a:solidFill>
                  <a:srgbClr val="637083"/>
                </a:solidFill>
                <a:latin typeface="Aptos" pitchFamily="34" charset="0"/>
                <a:ea typeface="Aptos" pitchFamily="34" charset="-122"/>
                <a:cs typeface="Aptos" pitchFamily="34" charset="-120"/>
              </a:rPr>
              <a:t>Increase joint-training ceiling from 50k to 120k steps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Evaluation Protocol</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11/19</a:t>
            </a:r>
            <a:endParaRPr lang="en-US" sz="750" dirty="0"/>
          </a:p>
        </p:txBody>
      </p:sp>
      <p:sp>
        <p:nvSpPr>
          <p:cNvPr id="6" name="Shape 4"/>
          <p:cNvSpPr/>
          <p:nvPr/>
        </p:nvSpPr>
        <p:spPr>
          <a:xfrm>
            <a:off x="777240" y="1170432"/>
            <a:ext cx="5074920" cy="4005072"/>
          </a:xfrm>
          <a:prstGeom prst="roundRect">
            <a:avLst>
              <a:gd name="adj" fmla="val 1826"/>
            </a:avLst>
          </a:prstGeom>
          <a:solidFill>
            <a:srgbClr val="FFFFFF"/>
          </a:solidFill>
          <a:ln w="12700">
            <a:solidFill>
              <a:srgbClr val="CBD5E1"/>
            </a:solidFill>
            <a:prstDash val="solid"/>
          </a:ln>
        </p:spPr>
      </p:sp>
      <p:sp>
        <p:nvSpPr>
          <p:cNvPr id="7" name="Text 5"/>
          <p:cNvSpPr/>
          <p:nvPr/>
        </p:nvSpPr>
        <p:spPr>
          <a:xfrm>
            <a:off x="941832" y="1289304"/>
            <a:ext cx="4745736" cy="237744"/>
          </a:xfrm>
          <a:prstGeom prst="rect">
            <a:avLst/>
          </a:prstGeom>
          <a:noFill/>
          <a:ln/>
        </p:spPr>
        <p:txBody>
          <a:bodyPr wrap="square" lIns="635" tIns="635" rIns="635" bIns="635" rtlCol="0" anchor="ctr">
            <a:normAutofit/>
          </a:bodyPr>
          <a:lstStyle/>
          <a:p>
            <a:pPr algn="l" indent="0" marL="0">
              <a:buNone/>
            </a:pPr>
            <a:r>
              <a:rPr lang="en-US" sz="1700" b="1" dirty="0">
                <a:solidFill>
                  <a:srgbClr val="0078B8"/>
                </a:solidFill>
                <a:latin typeface="Aptos" pitchFamily="34" charset="0"/>
                <a:ea typeface="Aptos" pitchFamily="34" charset="-122"/>
                <a:cs typeface="Aptos" pitchFamily="34" charset="-120"/>
              </a:rPr>
              <a:t>Error rate</a:t>
            </a:r>
            <a:endParaRPr lang="en-US" sz="1700" dirty="0"/>
          </a:p>
        </p:txBody>
      </p:sp>
      <p:sp>
        <p:nvSpPr>
          <p:cNvPr id="8" name="Text 6"/>
          <p:cNvSpPr/>
          <p:nvPr/>
        </p:nvSpPr>
        <p:spPr>
          <a:xfrm>
            <a:off x="941832" y="1609344"/>
            <a:ext cx="4745736" cy="3502152"/>
          </a:xfrm>
          <a:prstGeom prst="rect">
            <a:avLst/>
          </a:prstGeom>
          <a:noFill/>
          <a:ln/>
        </p:spPr>
        <p:txBody>
          <a:bodyPr wrap="square" lIns="635" tIns="635" rIns="635" bIns="635" rtlCol="0" anchor="t">
            <a:normAutofit/>
          </a:bodyPr>
          <a:lstStyle/>
          <a:p>
            <a:pPr algn="l" indent="0" marL="0">
              <a:buNone/>
            </a:pPr>
            <a:r>
              <a:rPr lang="en-US" sz="1500" dirty="0">
                <a:solidFill>
                  <a:srgbClr val="637083"/>
                </a:solidFill>
                <a:latin typeface="Aptos" pitchFamily="34" charset="0"/>
                <a:ea typeface="Aptos" pitchFamily="34" charset="-122"/>
                <a:cs typeface="Aptos" pitchFamily="34" charset="-120"/>
              </a:rPr>
              <a:t>ER = (S + D + I) / N</a:t>
            </a:r>
            <a:endParaRPr lang="en-US" sz="1500" dirty="0"/>
          </a:p>
          <a:p>
            <a:pPr algn="l" indent="0" marL="0">
              <a:buNone/>
            </a:pPr>
            <a:endParaRPr lang="en-US" sz="1500" dirty="0"/>
          </a:p>
          <a:p>
            <a:pPr algn="l" indent="0" marL="0">
              <a:buNone/>
            </a:pPr>
            <a:r>
              <a:rPr lang="en-US" sz="1500" dirty="0">
                <a:solidFill>
                  <a:srgbClr val="637083"/>
                </a:solidFill>
                <a:latin typeface="Aptos" pitchFamily="34" charset="0"/>
                <a:ea typeface="Aptos" pitchFamily="34" charset="-122"/>
                <a:cs typeface="Aptos" pitchFamily="34" charset="-120"/>
              </a:rPr>
              <a:t>WER: substitutions, deletions, and insertions over reference words</a:t>
            </a:r>
            <a:endParaRPr lang="en-US" sz="1500" dirty="0"/>
          </a:p>
          <a:p>
            <a:pPr algn="l" indent="0" marL="0">
              <a:buNone/>
            </a:pPr>
            <a:endParaRPr lang="en-US" sz="1500" dirty="0"/>
          </a:p>
          <a:p>
            <a:pPr algn="l" indent="0" marL="0">
              <a:buNone/>
            </a:pPr>
            <a:r>
              <a:rPr lang="en-US" sz="1500" dirty="0">
                <a:solidFill>
                  <a:srgbClr val="637083"/>
                </a:solidFill>
                <a:latin typeface="Aptos" pitchFamily="34" charset="0"/>
                <a:ea typeface="Aptos" pitchFamily="34" charset="-122"/>
                <a:cs typeface="Aptos" pitchFamily="34" charset="-120"/>
              </a:rPr>
              <a:t>CER: the same operations over reference characters</a:t>
            </a:r>
            <a:endParaRPr lang="en-US" sz="1500" dirty="0"/>
          </a:p>
          <a:p>
            <a:pPr algn="l" indent="0" marL="0">
              <a:buNone/>
            </a:pPr>
            <a:endParaRPr lang="en-US" sz="1500" dirty="0"/>
          </a:p>
          <a:p>
            <a:pPr algn="l" indent="0" marL="0">
              <a:buNone/>
            </a:pPr>
            <a:r>
              <a:rPr lang="en-US" sz="1500" dirty="0">
                <a:solidFill>
                  <a:srgbClr val="637083"/>
                </a:solidFill>
                <a:latin typeface="Aptos" pitchFamily="34" charset="0"/>
                <a:ea typeface="Aptos" pitchFamily="34" charset="-122"/>
                <a:cs typeface="Aptos" pitchFamily="34" charset="-120"/>
              </a:rPr>
              <a:t>Lower is better; the two metrics expose different error patterns</a:t>
            </a:r>
            <a:endParaRPr lang="en-US" sz="1500" dirty="0"/>
          </a:p>
        </p:txBody>
      </p:sp>
      <p:sp>
        <p:nvSpPr>
          <p:cNvPr id="9" name="Shape 7"/>
          <p:cNvSpPr/>
          <p:nvPr/>
        </p:nvSpPr>
        <p:spPr>
          <a:xfrm>
            <a:off x="6309360" y="1170432"/>
            <a:ext cx="5074920" cy="4005072"/>
          </a:xfrm>
          <a:prstGeom prst="roundRect">
            <a:avLst>
              <a:gd name="adj" fmla="val 1826"/>
            </a:avLst>
          </a:prstGeom>
          <a:solidFill>
            <a:srgbClr val="FFFFFF"/>
          </a:solidFill>
          <a:ln w="12700">
            <a:solidFill>
              <a:srgbClr val="CBD5E1"/>
            </a:solidFill>
            <a:prstDash val="solid"/>
          </a:ln>
        </p:spPr>
      </p:sp>
      <p:sp>
        <p:nvSpPr>
          <p:cNvPr id="10" name="Text 8"/>
          <p:cNvSpPr/>
          <p:nvPr/>
        </p:nvSpPr>
        <p:spPr>
          <a:xfrm>
            <a:off x="6473952" y="1289304"/>
            <a:ext cx="4745736" cy="237744"/>
          </a:xfrm>
          <a:prstGeom prst="rect">
            <a:avLst/>
          </a:prstGeom>
          <a:noFill/>
          <a:ln/>
        </p:spPr>
        <p:txBody>
          <a:bodyPr wrap="square" lIns="635" tIns="635" rIns="635" bIns="635" rtlCol="0" anchor="ctr">
            <a:normAutofit/>
          </a:bodyPr>
          <a:lstStyle/>
          <a:p>
            <a:pPr algn="l" indent="0" marL="0">
              <a:buNone/>
            </a:pPr>
            <a:r>
              <a:rPr lang="en-US" sz="1700" b="1" dirty="0">
                <a:solidFill>
                  <a:srgbClr val="1F2937"/>
                </a:solidFill>
                <a:latin typeface="Aptos" pitchFamily="34" charset="0"/>
                <a:ea typeface="Aptos" pitchFamily="34" charset="-122"/>
                <a:cs typeface="Aptos" pitchFamily="34" charset="-120"/>
              </a:rPr>
              <a:t>Shared evaluation setup</a:t>
            </a:r>
            <a:endParaRPr lang="en-US" sz="1700" dirty="0"/>
          </a:p>
        </p:txBody>
      </p:sp>
      <p:sp>
        <p:nvSpPr>
          <p:cNvPr id="11" name="Text 9"/>
          <p:cNvSpPr/>
          <p:nvPr/>
        </p:nvSpPr>
        <p:spPr>
          <a:xfrm>
            <a:off x="6601968" y="1645920"/>
            <a:ext cx="4617720" cy="256032"/>
          </a:xfrm>
          <a:prstGeom prst="rect">
            <a:avLst/>
          </a:prstGeom>
          <a:noFill/>
          <a:ln/>
        </p:spPr>
        <p:txBody>
          <a:bodyPr wrap="square" lIns="635" tIns="635" rIns="635" bIns="635" rtlCol="0" anchor="ctr">
            <a:normAutofit/>
          </a:bodyPr>
          <a:lstStyle/>
          <a:p>
            <a:pPr algn="l"/>
            <a:r>
              <a:rPr lang="en-US" sz="1320" dirty="0">
                <a:solidFill>
                  <a:srgbClr val="637083"/>
                </a:solidFill>
                <a:latin typeface="Aptos" pitchFamily="34" charset="0"/>
                <a:ea typeface="Aptos" pitchFamily="34" charset="-122"/>
                <a:cs typeface="Aptos" pitchFamily="34" charset="-120"/>
              </a:rPr>
              <a:t>Greedy decoding and identical Persian text normalization</a:t>
            </a:r>
            <a:endParaRPr lang="en-US" sz="1320" dirty="0"/>
          </a:p>
        </p:txBody>
      </p:sp>
      <p:sp>
        <p:nvSpPr>
          <p:cNvPr id="12" name="Text 10"/>
          <p:cNvSpPr/>
          <p:nvPr/>
        </p:nvSpPr>
        <p:spPr>
          <a:xfrm>
            <a:off x="6601968" y="1956816"/>
            <a:ext cx="4617720" cy="256032"/>
          </a:xfrm>
          <a:prstGeom prst="rect">
            <a:avLst/>
          </a:prstGeom>
          <a:noFill/>
          <a:ln/>
        </p:spPr>
        <p:txBody>
          <a:bodyPr wrap="square" lIns="635" tIns="635" rIns="635" bIns="635" rtlCol="0" anchor="ctr">
            <a:normAutofit/>
          </a:bodyPr>
          <a:lstStyle/>
          <a:p>
            <a:pPr algn="l"/>
            <a:r>
              <a:rPr lang="en-US" sz="1320" dirty="0">
                <a:solidFill>
                  <a:srgbClr val="637083"/>
                </a:solidFill>
                <a:latin typeface="Aptos" pitchFamily="34" charset="0"/>
                <a:ea typeface="Aptos" pitchFamily="34" charset="-122"/>
                <a:cs typeface="Aptos" pitchFamily="34" charset="-120"/>
              </a:rPr>
              <a:t>Five test sets covering general and real telecom speech</a:t>
            </a:r>
            <a:endParaRPr lang="en-US" sz="1320" dirty="0"/>
          </a:p>
        </p:txBody>
      </p:sp>
      <p:sp>
        <p:nvSpPr>
          <p:cNvPr id="13" name="Text 11"/>
          <p:cNvSpPr/>
          <p:nvPr/>
        </p:nvSpPr>
        <p:spPr>
          <a:xfrm>
            <a:off x="6601968" y="2267712"/>
            <a:ext cx="4617720" cy="256032"/>
          </a:xfrm>
          <a:prstGeom prst="rect">
            <a:avLst/>
          </a:prstGeom>
          <a:noFill/>
          <a:ln/>
        </p:spPr>
        <p:txBody>
          <a:bodyPr wrap="square" lIns="635" tIns="635" rIns="635" bIns="635" rtlCol="0" anchor="ctr">
            <a:normAutofit/>
          </a:bodyPr>
          <a:lstStyle/>
          <a:p>
            <a:pPr algn="l"/>
            <a:r>
              <a:rPr lang="en-US" sz="1320" dirty="0">
                <a:solidFill>
                  <a:srgbClr val="637083"/>
                </a:solidFill>
                <a:latin typeface="Aptos" pitchFamily="34" charset="0"/>
                <a:ea typeface="Aptos" pitchFamily="34" charset="-122"/>
                <a:cs typeface="Aptos" pitchFamily="34" charset="-120"/>
              </a:rPr>
              <a:t>Single-stream models: 21,848 identical samples</a:t>
            </a:r>
            <a:endParaRPr lang="en-US" sz="1320" dirty="0"/>
          </a:p>
        </p:txBody>
      </p:sp>
      <p:sp>
        <p:nvSpPr>
          <p:cNvPr id="14" name="Text 12"/>
          <p:cNvSpPr/>
          <p:nvPr/>
        </p:nvSpPr>
        <p:spPr>
          <a:xfrm>
            <a:off x="6601968" y="2578608"/>
            <a:ext cx="4617720" cy="256032"/>
          </a:xfrm>
          <a:prstGeom prst="rect">
            <a:avLst/>
          </a:prstGeom>
          <a:noFill/>
          <a:ln/>
        </p:spPr>
        <p:txBody>
          <a:bodyPr wrap="square" lIns="635" tIns="635" rIns="635" bIns="635" rtlCol="0" anchor="ctr">
            <a:normAutofit/>
          </a:bodyPr>
          <a:lstStyle/>
          <a:p>
            <a:pPr algn="l"/>
            <a:r>
              <a:rPr lang="en-US" sz="1320" dirty="0">
                <a:solidFill>
                  <a:srgbClr val="637083"/>
                </a:solidFill>
                <a:latin typeface="Aptos" pitchFamily="34" charset="0"/>
                <a:ea typeface="Aptos" pitchFamily="34" charset="-122"/>
                <a:cs typeface="Aptos" pitchFamily="34" charset="-120"/>
              </a:rPr>
              <a:t>Fusion model: 21,854 samples — six more, or 0.027% of the total</a:t>
            </a:r>
            <a:endParaRPr lang="en-US" sz="1320" dirty="0"/>
          </a:p>
        </p:txBody>
      </p:sp>
      <p:sp>
        <p:nvSpPr>
          <p:cNvPr id="15" name="Shape 13"/>
          <p:cNvSpPr/>
          <p:nvPr/>
        </p:nvSpPr>
        <p:spPr>
          <a:xfrm>
            <a:off x="1874520" y="5559552"/>
            <a:ext cx="8412480" cy="502920"/>
          </a:xfrm>
          <a:prstGeom prst="roundRect">
            <a:avLst>
              <a:gd name="adj" fmla="val 14545"/>
            </a:avLst>
          </a:prstGeom>
          <a:solidFill>
            <a:srgbClr val="FFF7ED"/>
          </a:solidFill>
          <a:ln w="12700">
            <a:solidFill>
              <a:srgbClr val="FDBA74"/>
            </a:solidFill>
            <a:prstDash val="solid"/>
          </a:ln>
        </p:spPr>
      </p:sp>
      <p:sp>
        <p:nvSpPr>
          <p:cNvPr id="16" name="Text 14"/>
          <p:cNvSpPr/>
          <p:nvPr/>
        </p:nvSpPr>
        <p:spPr>
          <a:xfrm>
            <a:off x="2103120" y="5715000"/>
            <a:ext cx="7955280" cy="146304"/>
          </a:xfrm>
          <a:prstGeom prst="rect">
            <a:avLst/>
          </a:prstGeom>
          <a:noFill/>
          <a:ln/>
        </p:spPr>
        <p:txBody>
          <a:bodyPr wrap="square" lIns="635" tIns="635" rIns="635" bIns="635" rtlCol="0" anchor="ctr">
            <a:normAutofit/>
          </a:bodyPr>
          <a:lstStyle/>
          <a:p>
            <a:pPr algn="ctr" indent="0" marL="0">
              <a:buNone/>
            </a:pPr>
            <a:r>
              <a:rPr lang="en-US" sz="1210" b="1" dirty="0">
                <a:solidFill>
                  <a:srgbClr val="1F2937"/>
                </a:solidFill>
                <a:latin typeface="Aptos" pitchFamily="34" charset="0"/>
                <a:ea typeface="Aptos" pitchFamily="34" charset="-122"/>
                <a:cs typeface="Aptos" pitchFamily="34" charset="-120"/>
              </a:rPr>
              <a:t>Caution: small fusion differences must not be presented as conclusive; no confidence intervals or significance tests were computed.</a:t>
            </a:r>
            <a:endParaRPr lang="en-US" sz="12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Main Result: Multi-Condition Training Wins Overall</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12/19</a:t>
            </a:r>
            <a:endParaRPr lang="en-US" sz="750" dirty="0"/>
          </a:p>
        </p:txBody>
      </p:sp>
      <p:sp>
        <p:nvSpPr>
          <p:cNvPr id="6" name="Text 4"/>
          <p:cNvSpPr/>
          <p:nvPr/>
        </p:nvSpPr>
        <p:spPr>
          <a:xfrm>
            <a:off x="685800" y="932688"/>
            <a:ext cx="5943600" cy="219456"/>
          </a:xfrm>
          <a:prstGeom prst="rect">
            <a:avLst/>
          </a:prstGeom>
          <a:noFill/>
          <a:ln/>
        </p:spPr>
        <p:txBody>
          <a:bodyPr wrap="square" lIns="635" tIns="635" rIns="635" bIns="635" rtlCol="0" anchor="ctr">
            <a:normAutofit/>
          </a:bodyPr>
          <a:lstStyle/>
          <a:p>
            <a:pPr algn="l" indent="0" marL="0">
              <a:buNone/>
            </a:pPr>
            <a:r>
              <a:rPr lang="en-US" sz="1250" b="1" dirty="0">
                <a:solidFill>
                  <a:srgbClr val="637083"/>
                </a:solidFill>
                <a:latin typeface="Aptos" pitchFamily="34" charset="0"/>
                <a:ea typeface="Aptos" pitchFamily="34" charset="-122"/>
                <a:cs typeface="Aptos" pitchFamily="34" charset="-120"/>
              </a:rPr>
              <a:t>Aggregate error across all test sets · lower is better</a:t>
            </a:r>
            <a:endParaRPr lang="en-US" sz="1250" dirty="0"/>
          </a:p>
        </p:txBody>
      </p:sp>
      <p:sp>
        <p:nvSpPr>
          <p:cNvPr id="7" name="Shape 5"/>
          <p:cNvSpPr/>
          <p:nvPr/>
        </p:nvSpPr>
        <p:spPr>
          <a:xfrm>
            <a:off x="1069848" y="4096512"/>
            <a:ext cx="5925312" cy="0"/>
          </a:xfrm>
          <a:prstGeom prst="line">
            <a:avLst/>
          </a:prstGeom>
          <a:solidFill>
            <a:srgbClr val="FFFFFF">
              <a:alpha val="0"/>
            </a:srgbClr>
          </a:solidFill>
          <a:ln w="6350">
            <a:solidFill>
              <a:srgbClr val="E5E7EB"/>
            </a:solidFill>
            <a:prstDash val="solid"/>
          </a:ln>
        </p:spPr>
      </p:sp>
      <p:sp>
        <p:nvSpPr>
          <p:cNvPr id="8" name="Text 6"/>
          <p:cNvSpPr/>
          <p:nvPr/>
        </p:nvSpPr>
        <p:spPr>
          <a:xfrm>
            <a:off x="685800" y="4023360"/>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0</a:t>
            </a:r>
            <a:endParaRPr lang="en-US" sz="720" dirty="0"/>
          </a:p>
        </p:txBody>
      </p:sp>
      <p:sp>
        <p:nvSpPr>
          <p:cNvPr id="9" name="Shape 7"/>
          <p:cNvSpPr/>
          <p:nvPr/>
        </p:nvSpPr>
        <p:spPr>
          <a:xfrm>
            <a:off x="1069848" y="3586558"/>
            <a:ext cx="5925312" cy="0"/>
          </a:xfrm>
          <a:prstGeom prst="line">
            <a:avLst/>
          </a:prstGeom>
          <a:solidFill>
            <a:srgbClr val="FFFFFF">
              <a:alpha val="0"/>
            </a:srgbClr>
          </a:solidFill>
          <a:ln w="6350">
            <a:solidFill>
              <a:srgbClr val="E5E7EB"/>
            </a:solidFill>
            <a:prstDash val="solid"/>
          </a:ln>
        </p:spPr>
      </p:sp>
      <p:sp>
        <p:nvSpPr>
          <p:cNvPr id="10" name="Text 8"/>
          <p:cNvSpPr/>
          <p:nvPr/>
        </p:nvSpPr>
        <p:spPr>
          <a:xfrm>
            <a:off x="685800" y="3513406"/>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5</a:t>
            </a:r>
            <a:endParaRPr lang="en-US" sz="720" dirty="0"/>
          </a:p>
        </p:txBody>
      </p:sp>
      <p:sp>
        <p:nvSpPr>
          <p:cNvPr id="11" name="Shape 9"/>
          <p:cNvSpPr/>
          <p:nvPr/>
        </p:nvSpPr>
        <p:spPr>
          <a:xfrm>
            <a:off x="1069848" y="3076604"/>
            <a:ext cx="5925312" cy="0"/>
          </a:xfrm>
          <a:prstGeom prst="line">
            <a:avLst/>
          </a:prstGeom>
          <a:solidFill>
            <a:srgbClr val="FFFFFF">
              <a:alpha val="0"/>
            </a:srgbClr>
          </a:solidFill>
          <a:ln w="6350">
            <a:solidFill>
              <a:srgbClr val="E5E7EB"/>
            </a:solidFill>
            <a:prstDash val="solid"/>
          </a:ln>
        </p:spPr>
      </p:sp>
      <p:sp>
        <p:nvSpPr>
          <p:cNvPr id="12" name="Text 10"/>
          <p:cNvSpPr/>
          <p:nvPr/>
        </p:nvSpPr>
        <p:spPr>
          <a:xfrm>
            <a:off x="685800" y="3003452"/>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10</a:t>
            </a:r>
            <a:endParaRPr lang="en-US" sz="720" dirty="0"/>
          </a:p>
        </p:txBody>
      </p:sp>
      <p:sp>
        <p:nvSpPr>
          <p:cNvPr id="13" name="Shape 11"/>
          <p:cNvSpPr/>
          <p:nvPr/>
        </p:nvSpPr>
        <p:spPr>
          <a:xfrm>
            <a:off x="1069848" y="2566650"/>
            <a:ext cx="5925312" cy="0"/>
          </a:xfrm>
          <a:prstGeom prst="line">
            <a:avLst/>
          </a:prstGeom>
          <a:solidFill>
            <a:srgbClr val="FFFFFF">
              <a:alpha val="0"/>
            </a:srgbClr>
          </a:solidFill>
          <a:ln w="6350">
            <a:solidFill>
              <a:srgbClr val="E5E7EB"/>
            </a:solidFill>
            <a:prstDash val="solid"/>
          </a:ln>
        </p:spPr>
      </p:sp>
      <p:sp>
        <p:nvSpPr>
          <p:cNvPr id="14" name="Text 12"/>
          <p:cNvSpPr/>
          <p:nvPr/>
        </p:nvSpPr>
        <p:spPr>
          <a:xfrm>
            <a:off x="685800" y="2493498"/>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15</a:t>
            </a:r>
            <a:endParaRPr lang="en-US" sz="720" dirty="0"/>
          </a:p>
        </p:txBody>
      </p:sp>
      <p:sp>
        <p:nvSpPr>
          <p:cNvPr id="15" name="Shape 13"/>
          <p:cNvSpPr/>
          <p:nvPr/>
        </p:nvSpPr>
        <p:spPr>
          <a:xfrm>
            <a:off x="1069848" y="2056697"/>
            <a:ext cx="5925312" cy="0"/>
          </a:xfrm>
          <a:prstGeom prst="line">
            <a:avLst/>
          </a:prstGeom>
          <a:solidFill>
            <a:srgbClr val="FFFFFF">
              <a:alpha val="0"/>
            </a:srgbClr>
          </a:solidFill>
          <a:ln w="6350">
            <a:solidFill>
              <a:srgbClr val="E5E7EB"/>
            </a:solidFill>
            <a:prstDash val="solid"/>
          </a:ln>
        </p:spPr>
      </p:sp>
      <p:sp>
        <p:nvSpPr>
          <p:cNvPr id="16" name="Text 14"/>
          <p:cNvSpPr/>
          <p:nvPr/>
        </p:nvSpPr>
        <p:spPr>
          <a:xfrm>
            <a:off x="685800" y="1983545"/>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20</a:t>
            </a:r>
            <a:endParaRPr lang="en-US" sz="720" dirty="0"/>
          </a:p>
        </p:txBody>
      </p:sp>
      <p:sp>
        <p:nvSpPr>
          <p:cNvPr id="17" name="Shape 15"/>
          <p:cNvSpPr/>
          <p:nvPr/>
        </p:nvSpPr>
        <p:spPr>
          <a:xfrm>
            <a:off x="1069848" y="1546743"/>
            <a:ext cx="5925312" cy="0"/>
          </a:xfrm>
          <a:prstGeom prst="line">
            <a:avLst/>
          </a:prstGeom>
          <a:solidFill>
            <a:srgbClr val="FFFFFF">
              <a:alpha val="0"/>
            </a:srgbClr>
          </a:solidFill>
          <a:ln w="6350">
            <a:solidFill>
              <a:srgbClr val="E5E7EB"/>
            </a:solidFill>
            <a:prstDash val="solid"/>
          </a:ln>
        </p:spPr>
      </p:sp>
      <p:sp>
        <p:nvSpPr>
          <p:cNvPr id="18" name="Text 16"/>
          <p:cNvSpPr/>
          <p:nvPr/>
        </p:nvSpPr>
        <p:spPr>
          <a:xfrm>
            <a:off x="685800" y="1473591"/>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25</a:t>
            </a:r>
            <a:endParaRPr lang="en-US" sz="720" dirty="0"/>
          </a:p>
        </p:txBody>
      </p:sp>
      <p:sp>
        <p:nvSpPr>
          <p:cNvPr id="19" name="Shape 17"/>
          <p:cNvSpPr/>
          <p:nvPr/>
        </p:nvSpPr>
        <p:spPr>
          <a:xfrm>
            <a:off x="1069848" y="4096512"/>
            <a:ext cx="5925312" cy="0"/>
          </a:xfrm>
          <a:prstGeom prst="line">
            <a:avLst/>
          </a:prstGeom>
          <a:solidFill>
            <a:srgbClr val="FFFFFF">
              <a:alpha val="0"/>
            </a:srgbClr>
          </a:solidFill>
          <a:ln w="10160">
            <a:solidFill>
              <a:srgbClr val="CBD5E1"/>
            </a:solidFill>
            <a:prstDash val="solid"/>
          </a:ln>
        </p:spPr>
      </p:sp>
      <p:sp>
        <p:nvSpPr>
          <p:cNvPr id="20" name="Shape 18"/>
          <p:cNvSpPr/>
          <p:nvPr/>
        </p:nvSpPr>
        <p:spPr>
          <a:xfrm>
            <a:off x="1069848" y="1444752"/>
            <a:ext cx="0" cy="2651760"/>
          </a:xfrm>
          <a:prstGeom prst="line">
            <a:avLst/>
          </a:prstGeom>
          <a:solidFill>
            <a:srgbClr val="FFFFFF">
              <a:alpha val="0"/>
            </a:srgbClr>
          </a:solidFill>
          <a:ln w="10160">
            <a:solidFill>
              <a:srgbClr val="CBD5E1"/>
            </a:solidFill>
            <a:prstDash val="solid"/>
          </a:ln>
        </p:spPr>
      </p:sp>
      <p:sp>
        <p:nvSpPr>
          <p:cNvPr id="21" name="Text 19"/>
          <p:cNvSpPr/>
          <p:nvPr/>
        </p:nvSpPr>
        <p:spPr>
          <a:xfrm>
            <a:off x="1069848" y="4169664"/>
            <a:ext cx="2962656" cy="14630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WER</a:t>
            </a:r>
            <a:endParaRPr lang="en-US" sz="850" dirty="0"/>
          </a:p>
        </p:txBody>
      </p:sp>
      <p:sp>
        <p:nvSpPr>
          <p:cNvPr id="22" name="Text 20"/>
          <p:cNvSpPr/>
          <p:nvPr/>
        </p:nvSpPr>
        <p:spPr>
          <a:xfrm>
            <a:off x="4032504" y="4169664"/>
            <a:ext cx="2962656" cy="14630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CER</a:t>
            </a:r>
            <a:endParaRPr lang="en-US" sz="850" dirty="0"/>
          </a:p>
        </p:txBody>
      </p:sp>
      <p:sp>
        <p:nvSpPr>
          <p:cNvPr id="23" name="Shape 21"/>
          <p:cNvSpPr/>
          <p:nvPr/>
        </p:nvSpPr>
        <p:spPr>
          <a:xfrm>
            <a:off x="1543873" y="1723187"/>
            <a:ext cx="523798" cy="2373325"/>
          </a:xfrm>
          <a:prstGeom prst="rect">
            <a:avLst/>
          </a:prstGeom>
          <a:solidFill>
            <a:srgbClr val="8A9099"/>
          </a:solidFill>
          <a:ln w="12700">
            <a:solidFill>
              <a:srgbClr val="8A9099">
                <a:alpha val="0"/>
              </a:srgbClr>
            </a:solidFill>
            <a:prstDash val="solid"/>
          </a:ln>
        </p:spPr>
      </p:sp>
      <p:sp>
        <p:nvSpPr>
          <p:cNvPr id="24" name="Text 22"/>
          <p:cNvSpPr/>
          <p:nvPr/>
        </p:nvSpPr>
        <p:spPr>
          <a:xfrm>
            <a:off x="1498153" y="1567739"/>
            <a:ext cx="60438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23.27</a:t>
            </a:r>
            <a:endParaRPr lang="en-US" sz="720" dirty="0"/>
          </a:p>
        </p:txBody>
      </p:sp>
      <p:sp>
        <p:nvSpPr>
          <p:cNvPr id="25" name="Shape 23"/>
          <p:cNvSpPr/>
          <p:nvPr/>
        </p:nvSpPr>
        <p:spPr>
          <a:xfrm>
            <a:off x="4506529" y="2990932"/>
            <a:ext cx="523798" cy="1105580"/>
          </a:xfrm>
          <a:prstGeom prst="rect">
            <a:avLst/>
          </a:prstGeom>
          <a:solidFill>
            <a:srgbClr val="8A9099"/>
          </a:solidFill>
          <a:ln w="12700">
            <a:solidFill>
              <a:srgbClr val="8A9099">
                <a:alpha val="0"/>
              </a:srgbClr>
            </a:solidFill>
            <a:prstDash val="solid"/>
          </a:ln>
        </p:spPr>
      </p:sp>
      <p:sp>
        <p:nvSpPr>
          <p:cNvPr id="26" name="Text 24"/>
          <p:cNvSpPr/>
          <p:nvPr/>
        </p:nvSpPr>
        <p:spPr>
          <a:xfrm>
            <a:off x="4460809" y="2835484"/>
            <a:ext cx="60438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10.84</a:t>
            </a:r>
            <a:endParaRPr lang="en-US" sz="720" dirty="0"/>
          </a:p>
        </p:txBody>
      </p:sp>
      <p:sp>
        <p:nvSpPr>
          <p:cNvPr id="27" name="Shape 25"/>
          <p:cNvSpPr/>
          <p:nvPr/>
        </p:nvSpPr>
        <p:spPr>
          <a:xfrm>
            <a:off x="2215408" y="2278017"/>
            <a:ext cx="523798" cy="1818495"/>
          </a:xfrm>
          <a:prstGeom prst="rect">
            <a:avLst/>
          </a:prstGeom>
          <a:solidFill>
            <a:srgbClr val="0078B8"/>
          </a:solidFill>
          <a:ln w="12700">
            <a:solidFill>
              <a:srgbClr val="0078B8">
                <a:alpha val="0"/>
              </a:srgbClr>
            </a:solidFill>
            <a:prstDash val="solid"/>
          </a:ln>
        </p:spPr>
      </p:sp>
      <p:sp>
        <p:nvSpPr>
          <p:cNvPr id="28" name="Text 26"/>
          <p:cNvSpPr/>
          <p:nvPr/>
        </p:nvSpPr>
        <p:spPr>
          <a:xfrm>
            <a:off x="2169688" y="2122569"/>
            <a:ext cx="60438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17.83</a:t>
            </a:r>
            <a:endParaRPr lang="en-US" sz="720" dirty="0"/>
          </a:p>
        </p:txBody>
      </p:sp>
      <p:sp>
        <p:nvSpPr>
          <p:cNvPr id="29" name="Shape 27"/>
          <p:cNvSpPr/>
          <p:nvPr/>
        </p:nvSpPr>
        <p:spPr>
          <a:xfrm>
            <a:off x="5178064" y="3287725"/>
            <a:ext cx="523798" cy="808787"/>
          </a:xfrm>
          <a:prstGeom prst="rect">
            <a:avLst/>
          </a:prstGeom>
          <a:solidFill>
            <a:srgbClr val="0078B8"/>
          </a:solidFill>
          <a:ln w="12700">
            <a:solidFill>
              <a:srgbClr val="0078B8">
                <a:alpha val="0"/>
              </a:srgbClr>
            </a:solidFill>
            <a:prstDash val="solid"/>
          </a:ln>
        </p:spPr>
      </p:sp>
      <p:sp>
        <p:nvSpPr>
          <p:cNvPr id="30" name="Text 28"/>
          <p:cNvSpPr/>
          <p:nvPr/>
        </p:nvSpPr>
        <p:spPr>
          <a:xfrm>
            <a:off x="5132344" y="3132277"/>
            <a:ext cx="60438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7.93</a:t>
            </a:r>
            <a:endParaRPr lang="en-US" sz="720" dirty="0"/>
          </a:p>
        </p:txBody>
      </p:sp>
      <p:sp>
        <p:nvSpPr>
          <p:cNvPr id="31" name="Shape 29"/>
          <p:cNvSpPr/>
          <p:nvPr/>
        </p:nvSpPr>
        <p:spPr>
          <a:xfrm>
            <a:off x="2886944" y="2215802"/>
            <a:ext cx="523798" cy="1880710"/>
          </a:xfrm>
          <a:prstGeom prst="rect">
            <a:avLst/>
          </a:prstGeom>
          <a:solidFill>
            <a:srgbClr val="D65F00"/>
          </a:solidFill>
          <a:ln w="12700">
            <a:solidFill>
              <a:srgbClr val="D65F00">
                <a:alpha val="0"/>
              </a:srgbClr>
            </a:solidFill>
            <a:prstDash val="solid"/>
          </a:ln>
        </p:spPr>
      </p:sp>
      <p:sp>
        <p:nvSpPr>
          <p:cNvPr id="32" name="Text 30"/>
          <p:cNvSpPr/>
          <p:nvPr/>
        </p:nvSpPr>
        <p:spPr>
          <a:xfrm>
            <a:off x="2841224" y="2060354"/>
            <a:ext cx="60438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18.44</a:t>
            </a:r>
            <a:endParaRPr lang="en-US" sz="720" dirty="0"/>
          </a:p>
        </p:txBody>
      </p:sp>
      <p:sp>
        <p:nvSpPr>
          <p:cNvPr id="33" name="Shape 31"/>
          <p:cNvSpPr/>
          <p:nvPr/>
        </p:nvSpPr>
        <p:spPr>
          <a:xfrm>
            <a:off x="5849600" y="2664562"/>
            <a:ext cx="523798" cy="1431950"/>
          </a:xfrm>
          <a:prstGeom prst="rect">
            <a:avLst/>
          </a:prstGeom>
          <a:solidFill>
            <a:srgbClr val="D65F00"/>
          </a:solidFill>
          <a:ln w="12700">
            <a:solidFill>
              <a:srgbClr val="D65F00">
                <a:alpha val="0"/>
              </a:srgbClr>
            </a:solidFill>
            <a:prstDash val="solid"/>
          </a:ln>
        </p:spPr>
      </p:sp>
      <p:sp>
        <p:nvSpPr>
          <p:cNvPr id="34" name="Text 32"/>
          <p:cNvSpPr/>
          <p:nvPr/>
        </p:nvSpPr>
        <p:spPr>
          <a:xfrm>
            <a:off x="5803880" y="2509114"/>
            <a:ext cx="60438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14.04</a:t>
            </a:r>
            <a:endParaRPr lang="en-US" sz="720" dirty="0"/>
          </a:p>
        </p:txBody>
      </p:sp>
      <p:sp>
        <p:nvSpPr>
          <p:cNvPr id="35" name="Shape 33"/>
          <p:cNvSpPr/>
          <p:nvPr/>
        </p:nvSpPr>
        <p:spPr>
          <a:xfrm>
            <a:off x="1069848" y="4581144"/>
            <a:ext cx="109728" cy="109728"/>
          </a:xfrm>
          <a:prstGeom prst="rect">
            <a:avLst/>
          </a:prstGeom>
          <a:solidFill>
            <a:srgbClr val="8A9099"/>
          </a:solidFill>
          <a:ln w="12700">
            <a:solidFill>
              <a:srgbClr val="8A9099">
                <a:alpha val="0"/>
              </a:srgbClr>
            </a:solidFill>
            <a:prstDash val="solid"/>
          </a:ln>
        </p:spPr>
      </p:sp>
      <p:sp>
        <p:nvSpPr>
          <p:cNvPr id="36" name="Text 34"/>
          <p:cNvSpPr/>
          <p:nvPr/>
        </p:nvSpPr>
        <p:spPr>
          <a:xfrm>
            <a:off x="1234440" y="4553712"/>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Ordinary</a:t>
            </a:r>
            <a:endParaRPr lang="en-US" sz="850" dirty="0"/>
          </a:p>
        </p:txBody>
      </p:sp>
      <p:sp>
        <p:nvSpPr>
          <p:cNvPr id="37" name="Shape 35"/>
          <p:cNvSpPr/>
          <p:nvPr/>
        </p:nvSpPr>
        <p:spPr>
          <a:xfrm>
            <a:off x="2944368" y="4581144"/>
            <a:ext cx="109728" cy="109728"/>
          </a:xfrm>
          <a:prstGeom prst="rect">
            <a:avLst/>
          </a:prstGeom>
          <a:solidFill>
            <a:srgbClr val="0078B8"/>
          </a:solidFill>
          <a:ln w="12700">
            <a:solidFill>
              <a:srgbClr val="0078B8">
                <a:alpha val="0"/>
              </a:srgbClr>
            </a:solidFill>
            <a:prstDash val="solid"/>
          </a:ln>
        </p:spPr>
      </p:sp>
      <p:sp>
        <p:nvSpPr>
          <p:cNvPr id="38" name="Text 36"/>
          <p:cNvSpPr/>
          <p:nvPr/>
        </p:nvSpPr>
        <p:spPr>
          <a:xfrm>
            <a:off x="3108960" y="4553712"/>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Multi-condition</a:t>
            </a:r>
            <a:endParaRPr lang="en-US" sz="850" dirty="0"/>
          </a:p>
        </p:txBody>
      </p:sp>
      <p:sp>
        <p:nvSpPr>
          <p:cNvPr id="39" name="Shape 37"/>
          <p:cNvSpPr/>
          <p:nvPr/>
        </p:nvSpPr>
        <p:spPr>
          <a:xfrm>
            <a:off x="4818888" y="4581144"/>
            <a:ext cx="109728" cy="109728"/>
          </a:xfrm>
          <a:prstGeom prst="rect">
            <a:avLst/>
          </a:prstGeom>
          <a:solidFill>
            <a:srgbClr val="D65F00"/>
          </a:solidFill>
          <a:ln w="12700">
            <a:solidFill>
              <a:srgbClr val="D65F00">
                <a:alpha val="0"/>
              </a:srgbClr>
            </a:solidFill>
            <a:prstDash val="solid"/>
          </a:ln>
        </p:spPr>
      </p:sp>
      <p:sp>
        <p:nvSpPr>
          <p:cNvPr id="40" name="Text 38"/>
          <p:cNvSpPr/>
          <p:nvPr/>
        </p:nvSpPr>
        <p:spPr>
          <a:xfrm>
            <a:off x="4983480" y="4553712"/>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Fusion</a:t>
            </a:r>
            <a:endParaRPr lang="en-US" sz="850" dirty="0"/>
          </a:p>
        </p:txBody>
      </p:sp>
      <p:sp>
        <p:nvSpPr>
          <p:cNvPr id="41" name="Shape 39"/>
          <p:cNvSpPr/>
          <p:nvPr/>
        </p:nvSpPr>
        <p:spPr>
          <a:xfrm>
            <a:off x="7360920" y="1353312"/>
            <a:ext cx="1789024" cy="411480"/>
          </a:xfrm>
          <a:prstGeom prst="rect">
            <a:avLst/>
          </a:prstGeom>
          <a:solidFill>
            <a:srgbClr val="EEF2F6"/>
          </a:solidFill>
          <a:ln w="6350">
            <a:solidFill>
              <a:srgbClr val="CBD5E1"/>
            </a:solidFill>
            <a:prstDash val="solid"/>
          </a:ln>
        </p:spPr>
      </p:sp>
      <p:sp>
        <p:nvSpPr>
          <p:cNvPr id="42" name="Text 40"/>
          <p:cNvSpPr/>
          <p:nvPr/>
        </p:nvSpPr>
        <p:spPr>
          <a:xfrm>
            <a:off x="7397496" y="1371600"/>
            <a:ext cx="1715872" cy="374904"/>
          </a:xfrm>
          <a:prstGeom prst="rect">
            <a:avLst/>
          </a:prstGeom>
          <a:noFill/>
          <a:ln/>
        </p:spPr>
        <p:txBody>
          <a:bodyPr wrap="square" lIns="0" tIns="0" rIns="0" bIns="0" rtlCol="0" anchor="ctr">
            <a:normAutofit/>
          </a:bodyPr>
          <a:lstStyle/>
          <a:p>
            <a:pPr algn="l" indent="0" marL="0">
              <a:buNone/>
            </a:pPr>
            <a:r>
              <a:rPr lang="en-US" sz="820" b="1" dirty="0">
                <a:solidFill>
                  <a:srgbClr val="1F2937"/>
                </a:solidFill>
                <a:latin typeface="Aptos" pitchFamily="34" charset="0"/>
                <a:ea typeface="Aptos" pitchFamily="34" charset="-122"/>
                <a:cs typeface="Aptos" pitchFamily="34" charset="-120"/>
              </a:rPr>
              <a:t>System</a:t>
            </a:r>
            <a:endParaRPr lang="en-US" sz="820" dirty="0"/>
          </a:p>
        </p:txBody>
      </p:sp>
      <p:sp>
        <p:nvSpPr>
          <p:cNvPr id="43" name="Shape 41"/>
          <p:cNvSpPr/>
          <p:nvPr/>
        </p:nvSpPr>
        <p:spPr>
          <a:xfrm>
            <a:off x="9149944" y="1353312"/>
            <a:ext cx="748894" cy="411480"/>
          </a:xfrm>
          <a:prstGeom prst="rect">
            <a:avLst/>
          </a:prstGeom>
          <a:solidFill>
            <a:srgbClr val="EEF2F6"/>
          </a:solidFill>
          <a:ln w="6350">
            <a:solidFill>
              <a:srgbClr val="CBD5E1"/>
            </a:solidFill>
            <a:prstDash val="solid"/>
          </a:ln>
        </p:spPr>
      </p:sp>
      <p:sp>
        <p:nvSpPr>
          <p:cNvPr id="44" name="Text 42"/>
          <p:cNvSpPr/>
          <p:nvPr/>
        </p:nvSpPr>
        <p:spPr>
          <a:xfrm>
            <a:off x="9186520" y="1371600"/>
            <a:ext cx="675742" cy="374904"/>
          </a:xfrm>
          <a:prstGeom prst="rect">
            <a:avLst/>
          </a:prstGeom>
          <a:noFill/>
          <a:ln/>
        </p:spPr>
        <p:txBody>
          <a:bodyPr wrap="square" lIns="0" tIns="0" rIns="0" bIns="0" rtlCol="0" anchor="ctr">
            <a:normAutofit/>
          </a:bodyPr>
          <a:lstStyle/>
          <a:p>
            <a:pPr algn="ctr" indent="0" marL="0">
              <a:buNone/>
            </a:pPr>
            <a:r>
              <a:rPr lang="en-US" sz="820" b="1" dirty="0">
                <a:solidFill>
                  <a:srgbClr val="1F2937"/>
                </a:solidFill>
                <a:latin typeface="Aptos" pitchFamily="34" charset="0"/>
                <a:ea typeface="Aptos" pitchFamily="34" charset="-122"/>
                <a:cs typeface="Aptos" pitchFamily="34" charset="-120"/>
              </a:rPr>
              <a:t>WER</a:t>
            </a:r>
            <a:endParaRPr lang="en-US" sz="820" dirty="0"/>
          </a:p>
        </p:txBody>
      </p:sp>
      <p:sp>
        <p:nvSpPr>
          <p:cNvPr id="45" name="Shape 43"/>
          <p:cNvSpPr/>
          <p:nvPr/>
        </p:nvSpPr>
        <p:spPr>
          <a:xfrm>
            <a:off x="9898837" y="1353312"/>
            <a:ext cx="748894" cy="411480"/>
          </a:xfrm>
          <a:prstGeom prst="rect">
            <a:avLst/>
          </a:prstGeom>
          <a:solidFill>
            <a:srgbClr val="EEF2F6"/>
          </a:solidFill>
          <a:ln w="6350">
            <a:solidFill>
              <a:srgbClr val="CBD5E1"/>
            </a:solidFill>
            <a:prstDash val="solid"/>
          </a:ln>
        </p:spPr>
      </p:sp>
      <p:sp>
        <p:nvSpPr>
          <p:cNvPr id="46" name="Text 44"/>
          <p:cNvSpPr/>
          <p:nvPr/>
        </p:nvSpPr>
        <p:spPr>
          <a:xfrm>
            <a:off x="9935413" y="1371600"/>
            <a:ext cx="675742" cy="374904"/>
          </a:xfrm>
          <a:prstGeom prst="rect">
            <a:avLst/>
          </a:prstGeom>
          <a:noFill/>
          <a:ln/>
        </p:spPr>
        <p:txBody>
          <a:bodyPr wrap="square" lIns="0" tIns="0" rIns="0" bIns="0" rtlCol="0" anchor="ctr">
            <a:normAutofit/>
          </a:bodyPr>
          <a:lstStyle/>
          <a:p>
            <a:pPr algn="ctr" indent="0" marL="0">
              <a:buNone/>
            </a:pPr>
            <a:r>
              <a:rPr lang="en-US" sz="820" b="1" dirty="0">
                <a:solidFill>
                  <a:srgbClr val="1F2937"/>
                </a:solidFill>
                <a:latin typeface="Aptos" pitchFamily="34" charset="0"/>
                <a:ea typeface="Aptos" pitchFamily="34" charset="-122"/>
                <a:cs typeface="Aptos" pitchFamily="34" charset="-120"/>
              </a:rPr>
              <a:t>CER</a:t>
            </a:r>
            <a:endParaRPr lang="en-US" sz="820" dirty="0"/>
          </a:p>
        </p:txBody>
      </p:sp>
      <p:sp>
        <p:nvSpPr>
          <p:cNvPr id="47" name="Shape 45"/>
          <p:cNvSpPr/>
          <p:nvPr/>
        </p:nvSpPr>
        <p:spPr>
          <a:xfrm>
            <a:off x="10647731" y="1353312"/>
            <a:ext cx="873709" cy="411480"/>
          </a:xfrm>
          <a:prstGeom prst="rect">
            <a:avLst/>
          </a:prstGeom>
          <a:solidFill>
            <a:srgbClr val="EEF2F6"/>
          </a:solidFill>
          <a:ln w="6350">
            <a:solidFill>
              <a:srgbClr val="CBD5E1"/>
            </a:solidFill>
            <a:prstDash val="solid"/>
          </a:ln>
        </p:spPr>
      </p:sp>
      <p:sp>
        <p:nvSpPr>
          <p:cNvPr id="48" name="Text 46"/>
          <p:cNvSpPr/>
          <p:nvPr/>
        </p:nvSpPr>
        <p:spPr>
          <a:xfrm>
            <a:off x="10684307" y="1371600"/>
            <a:ext cx="800557" cy="374904"/>
          </a:xfrm>
          <a:prstGeom prst="rect">
            <a:avLst/>
          </a:prstGeom>
          <a:noFill/>
          <a:ln/>
        </p:spPr>
        <p:txBody>
          <a:bodyPr wrap="square" lIns="0" tIns="0" rIns="0" bIns="0" rtlCol="0" anchor="ctr">
            <a:normAutofit/>
          </a:bodyPr>
          <a:lstStyle/>
          <a:p>
            <a:pPr algn="ctr" indent="0" marL="0">
              <a:buNone/>
            </a:pPr>
            <a:r>
              <a:rPr lang="en-US" sz="820" b="1" dirty="0">
                <a:solidFill>
                  <a:srgbClr val="1F2937"/>
                </a:solidFill>
                <a:latin typeface="Aptos" pitchFamily="34" charset="0"/>
                <a:ea typeface="Aptos" pitchFamily="34" charset="-122"/>
                <a:cs typeface="Aptos" pitchFamily="34" charset="-120"/>
              </a:rPr>
              <a:t>WER change</a:t>
            </a:r>
            <a:endParaRPr lang="en-US" sz="820" dirty="0"/>
          </a:p>
        </p:txBody>
      </p:sp>
      <p:sp>
        <p:nvSpPr>
          <p:cNvPr id="49" name="Shape 47"/>
          <p:cNvSpPr/>
          <p:nvPr/>
        </p:nvSpPr>
        <p:spPr>
          <a:xfrm>
            <a:off x="7360920" y="1764792"/>
            <a:ext cx="1789024" cy="411480"/>
          </a:xfrm>
          <a:prstGeom prst="rect">
            <a:avLst/>
          </a:prstGeom>
          <a:solidFill>
            <a:srgbClr val="FFFFFF"/>
          </a:solidFill>
          <a:ln w="6350">
            <a:solidFill>
              <a:srgbClr val="CBD5E1"/>
            </a:solidFill>
            <a:prstDash val="solid"/>
          </a:ln>
        </p:spPr>
      </p:sp>
      <p:sp>
        <p:nvSpPr>
          <p:cNvPr id="50" name="Text 48"/>
          <p:cNvSpPr/>
          <p:nvPr/>
        </p:nvSpPr>
        <p:spPr>
          <a:xfrm>
            <a:off x="7397496" y="1783080"/>
            <a:ext cx="1715872" cy="374904"/>
          </a:xfrm>
          <a:prstGeom prst="rect">
            <a:avLst/>
          </a:prstGeom>
          <a:noFill/>
          <a:ln/>
        </p:spPr>
        <p:txBody>
          <a:bodyPr wrap="square" lIns="0" tIns="0" rIns="0" bIns="0" rtlCol="0" anchor="ctr">
            <a:normAutofit/>
          </a:bodyPr>
          <a:lstStyle/>
          <a:p>
            <a:pPr algn="l" indent="0" marL="0">
              <a:buNone/>
            </a:pPr>
            <a:r>
              <a:rPr lang="en-US" sz="820" dirty="0">
                <a:solidFill>
                  <a:srgbClr val="1F2937"/>
                </a:solidFill>
                <a:latin typeface="Aptos" pitchFamily="34" charset="0"/>
                <a:ea typeface="Aptos" pitchFamily="34" charset="-122"/>
                <a:cs typeface="Aptos" pitchFamily="34" charset="-120"/>
              </a:rPr>
              <a:t>Ordinary Whisper</a:t>
            </a:r>
            <a:endParaRPr lang="en-US" sz="820" dirty="0"/>
          </a:p>
        </p:txBody>
      </p:sp>
      <p:sp>
        <p:nvSpPr>
          <p:cNvPr id="51" name="Shape 49"/>
          <p:cNvSpPr/>
          <p:nvPr/>
        </p:nvSpPr>
        <p:spPr>
          <a:xfrm>
            <a:off x="9149944" y="1764792"/>
            <a:ext cx="748894" cy="411480"/>
          </a:xfrm>
          <a:prstGeom prst="rect">
            <a:avLst/>
          </a:prstGeom>
          <a:solidFill>
            <a:srgbClr val="FFFFFF"/>
          </a:solidFill>
          <a:ln w="6350">
            <a:solidFill>
              <a:srgbClr val="CBD5E1"/>
            </a:solidFill>
            <a:prstDash val="solid"/>
          </a:ln>
        </p:spPr>
      </p:sp>
      <p:sp>
        <p:nvSpPr>
          <p:cNvPr id="52" name="Text 50"/>
          <p:cNvSpPr/>
          <p:nvPr/>
        </p:nvSpPr>
        <p:spPr>
          <a:xfrm>
            <a:off x="9186520" y="1783080"/>
            <a:ext cx="675742" cy="374904"/>
          </a:xfrm>
          <a:prstGeom prst="rect">
            <a:avLst/>
          </a:prstGeom>
          <a:noFill/>
          <a:ln/>
        </p:spPr>
        <p:txBody>
          <a:bodyPr wrap="square" lIns="0" tIns="0" rIns="0" bIns="0" rtlCol="0" anchor="ctr">
            <a:normAutofit/>
          </a:bodyPr>
          <a:lstStyle/>
          <a:p>
            <a:pPr algn="ctr" indent="0" marL="0">
              <a:buNone/>
            </a:pPr>
            <a:r>
              <a:rPr lang="en-US" sz="820" dirty="0">
                <a:solidFill>
                  <a:srgbClr val="1F2937"/>
                </a:solidFill>
                <a:latin typeface="Aptos" pitchFamily="34" charset="0"/>
                <a:ea typeface="Aptos" pitchFamily="34" charset="-122"/>
                <a:cs typeface="Aptos" pitchFamily="34" charset="-120"/>
              </a:rPr>
              <a:t>23.27%</a:t>
            </a:r>
            <a:endParaRPr lang="en-US" sz="820" dirty="0"/>
          </a:p>
        </p:txBody>
      </p:sp>
      <p:sp>
        <p:nvSpPr>
          <p:cNvPr id="53" name="Shape 51"/>
          <p:cNvSpPr/>
          <p:nvPr/>
        </p:nvSpPr>
        <p:spPr>
          <a:xfrm>
            <a:off x="9898837" y="1764792"/>
            <a:ext cx="748894" cy="411480"/>
          </a:xfrm>
          <a:prstGeom prst="rect">
            <a:avLst/>
          </a:prstGeom>
          <a:solidFill>
            <a:srgbClr val="FFFFFF"/>
          </a:solidFill>
          <a:ln w="6350">
            <a:solidFill>
              <a:srgbClr val="CBD5E1"/>
            </a:solidFill>
            <a:prstDash val="solid"/>
          </a:ln>
        </p:spPr>
      </p:sp>
      <p:sp>
        <p:nvSpPr>
          <p:cNvPr id="54" name="Text 52"/>
          <p:cNvSpPr/>
          <p:nvPr/>
        </p:nvSpPr>
        <p:spPr>
          <a:xfrm>
            <a:off x="9935413" y="1783080"/>
            <a:ext cx="675742" cy="374904"/>
          </a:xfrm>
          <a:prstGeom prst="rect">
            <a:avLst/>
          </a:prstGeom>
          <a:noFill/>
          <a:ln/>
        </p:spPr>
        <p:txBody>
          <a:bodyPr wrap="square" lIns="0" tIns="0" rIns="0" bIns="0" rtlCol="0" anchor="ctr">
            <a:normAutofit/>
          </a:bodyPr>
          <a:lstStyle/>
          <a:p>
            <a:pPr algn="ctr" indent="0" marL="0">
              <a:buNone/>
            </a:pPr>
            <a:r>
              <a:rPr lang="en-US" sz="820" dirty="0">
                <a:solidFill>
                  <a:srgbClr val="1F2937"/>
                </a:solidFill>
                <a:latin typeface="Aptos" pitchFamily="34" charset="0"/>
                <a:ea typeface="Aptos" pitchFamily="34" charset="-122"/>
                <a:cs typeface="Aptos" pitchFamily="34" charset="-120"/>
              </a:rPr>
              <a:t>10.84%</a:t>
            </a:r>
            <a:endParaRPr lang="en-US" sz="820" dirty="0"/>
          </a:p>
        </p:txBody>
      </p:sp>
      <p:sp>
        <p:nvSpPr>
          <p:cNvPr id="55" name="Shape 53"/>
          <p:cNvSpPr/>
          <p:nvPr/>
        </p:nvSpPr>
        <p:spPr>
          <a:xfrm>
            <a:off x="10647731" y="1764792"/>
            <a:ext cx="873709" cy="411480"/>
          </a:xfrm>
          <a:prstGeom prst="rect">
            <a:avLst/>
          </a:prstGeom>
          <a:solidFill>
            <a:srgbClr val="FFFFFF"/>
          </a:solidFill>
          <a:ln w="6350">
            <a:solidFill>
              <a:srgbClr val="CBD5E1"/>
            </a:solidFill>
            <a:prstDash val="solid"/>
          </a:ln>
        </p:spPr>
      </p:sp>
      <p:sp>
        <p:nvSpPr>
          <p:cNvPr id="56" name="Text 54"/>
          <p:cNvSpPr/>
          <p:nvPr/>
        </p:nvSpPr>
        <p:spPr>
          <a:xfrm>
            <a:off x="10684307" y="1783080"/>
            <a:ext cx="800557" cy="374904"/>
          </a:xfrm>
          <a:prstGeom prst="rect">
            <a:avLst/>
          </a:prstGeom>
          <a:noFill/>
          <a:ln/>
        </p:spPr>
        <p:txBody>
          <a:bodyPr wrap="square" lIns="0" tIns="0" rIns="0" bIns="0" rtlCol="0" anchor="ctr">
            <a:normAutofit/>
          </a:bodyPr>
          <a:lstStyle/>
          <a:p>
            <a:pPr algn="ctr" indent="0" marL="0">
              <a:buNone/>
            </a:pPr>
            <a:r>
              <a:rPr lang="en-US" sz="820" dirty="0">
                <a:solidFill>
                  <a:srgbClr val="1F2937"/>
                </a:solidFill>
                <a:latin typeface="Aptos" pitchFamily="34" charset="0"/>
                <a:ea typeface="Aptos" pitchFamily="34" charset="-122"/>
                <a:cs typeface="Aptos" pitchFamily="34" charset="-120"/>
              </a:rPr>
              <a:t>—</a:t>
            </a:r>
            <a:endParaRPr lang="en-US" sz="820" dirty="0"/>
          </a:p>
        </p:txBody>
      </p:sp>
      <p:sp>
        <p:nvSpPr>
          <p:cNvPr id="57" name="Shape 55"/>
          <p:cNvSpPr/>
          <p:nvPr/>
        </p:nvSpPr>
        <p:spPr>
          <a:xfrm>
            <a:off x="7360920" y="2176272"/>
            <a:ext cx="1789024" cy="411480"/>
          </a:xfrm>
          <a:prstGeom prst="rect">
            <a:avLst/>
          </a:prstGeom>
          <a:solidFill>
            <a:srgbClr val="EAF6FF"/>
          </a:solidFill>
          <a:ln w="6350">
            <a:solidFill>
              <a:srgbClr val="CBD5E1"/>
            </a:solidFill>
            <a:prstDash val="solid"/>
          </a:ln>
        </p:spPr>
      </p:sp>
      <p:sp>
        <p:nvSpPr>
          <p:cNvPr id="58" name="Text 56"/>
          <p:cNvSpPr/>
          <p:nvPr/>
        </p:nvSpPr>
        <p:spPr>
          <a:xfrm>
            <a:off x="7397496" y="2194560"/>
            <a:ext cx="1715872" cy="374904"/>
          </a:xfrm>
          <a:prstGeom prst="rect">
            <a:avLst/>
          </a:prstGeom>
          <a:noFill/>
          <a:ln/>
        </p:spPr>
        <p:txBody>
          <a:bodyPr wrap="square" lIns="0" tIns="0" rIns="0" bIns="0" rtlCol="0" anchor="ctr">
            <a:normAutofit/>
          </a:bodyPr>
          <a:lstStyle/>
          <a:p>
            <a:pPr algn="l" indent="0" marL="0">
              <a:buNone/>
            </a:pPr>
            <a:r>
              <a:rPr lang="en-US" sz="820" b="1" dirty="0">
                <a:solidFill>
                  <a:srgbClr val="1F2937"/>
                </a:solidFill>
                <a:latin typeface="Aptos" pitchFamily="34" charset="0"/>
                <a:ea typeface="Aptos" pitchFamily="34" charset="-122"/>
                <a:cs typeface="Aptos" pitchFamily="34" charset="-120"/>
              </a:rPr>
              <a:t>Multi-condition Whisper</a:t>
            </a:r>
            <a:endParaRPr lang="en-US" sz="820" dirty="0"/>
          </a:p>
        </p:txBody>
      </p:sp>
      <p:sp>
        <p:nvSpPr>
          <p:cNvPr id="59" name="Shape 57"/>
          <p:cNvSpPr/>
          <p:nvPr/>
        </p:nvSpPr>
        <p:spPr>
          <a:xfrm>
            <a:off x="9149944" y="2176272"/>
            <a:ext cx="748894" cy="411480"/>
          </a:xfrm>
          <a:prstGeom prst="rect">
            <a:avLst/>
          </a:prstGeom>
          <a:solidFill>
            <a:srgbClr val="EAF6FF"/>
          </a:solidFill>
          <a:ln w="6350">
            <a:solidFill>
              <a:srgbClr val="CBD5E1"/>
            </a:solidFill>
            <a:prstDash val="solid"/>
          </a:ln>
        </p:spPr>
      </p:sp>
      <p:sp>
        <p:nvSpPr>
          <p:cNvPr id="60" name="Text 58"/>
          <p:cNvSpPr/>
          <p:nvPr/>
        </p:nvSpPr>
        <p:spPr>
          <a:xfrm>
            <a:off x="9186520" y="2194560"/>
            <a:ext cx="675742" cy="374904"/>
          </a:xfrm>
          <a:prstGeom prst="rect">
            <a:avLst/>
          </a:prstGeom>
          <a:noFill/>
          <a:ln/>
        </p:spPr>
        <p:txBody>
          <a:bodyPr wrap="square" lIns="0" tIns="0" rIns="0" bIns="0" rtlCol="0" anchor="ctr">
            <a:normAutofit/>
          </a:bodyPr>
          <a:lstStyle/>
          <a:p>
            <a:pPr algn="ctr" indent="0" marL="0">
              <a:buNone/>
            </a:pPr>
            <a:r>
              <a:rPr lang="en-US" sz="820" b="1" dirty="0">
                <a:solidFill>
                  <a:srgbClr val="1F2937"/>
                </a:solidFill>
                <a:latin typeface="Aptos" pitchFamily="34" charset="0"/>
                <a:ea typeface="Aptos" pitchFamily="34" charset="-122"/>
                <a:cs typeface="Aptos" pitchFamily="34" charset="-120"/>
              </a:rPr>
              <a:t>17.83%</a:t>
            </a:r>
            <a:endParaRPr lang="en-US" sz="820" dirty="0"/>
          </a:p>
        </p:txBody>
      </p:sp>
      <p:sp>
        <p:nvSpPr>
          <p:cNvPr id="61" name="Shape 59"/>
          <p:cNvSpPr/>
          <p:nvPr/>
        </p:nvSpPr>
        <p:spPr>
          <a:xfrm>
            <a:off x="9898837" y="2176272"/>
            <a:ext cx="748894" cy="411480"/>
          </a:xfrm>
          <a:prstGeom prst="rect">
            <a:avLst/>
          </a:prstGeom>
          <a:solidFill>
            <a:srgbClr val="EAF6FF"/>
          </a:solidFill>
          <a:ln w="6350">
            <a:solidFill>
              <a:srgbClr val="CBD5E1"/>
            </a:solidFill>
            <a:prstDash val="solid"/>
          </a:ln>
        </p:spPr>
      </p:sp>
      <p:sp>
        <p:nvSpPr>
          <p:cNvPr id="62" name="Text 60"/>
          <p:cNvSpPr/>
          <p:nvPr/>
        </p:nvSpPr>
        <p:spPr>
          <a:xfrm>
            <a:off x="9935413" y="2194560"/>
            <a:ext cx="675742" cy="374904"/>
          </a:xfrm>
          <a:prstGeom prst="rect">
            <a:avLst/>
          </a:prstGeom>
          <a:noFill/>
          <a:ln/>
        </p:spPr>
        <p:txBody>
          <a:bodyPr wrap="square" lIns="0" tIns="0" rIns="0" bIns="0" rtlCol="0" anchor="ctr">
            <a:normAutofit/>
          </a:bodyPr>
          <a:lstStyle/>
          <a:p>
            <a:pPr algn="ctr" indent="0" marL="0">
              <a:buNone/>
            </a:pPr>
            <a:r>
              <a:rPr lang="en-US" sz="820" b="1" dirty="0">
                <a:solidFill>
                  <a:srgbClr val="1F2937"/>
                </a:solidFill>
                <a:latin typeface="Aptos" pitchFamily="34" charset="0"/>
                <a:ea typeface="Aptos" pitchFamily="34" charset="-122"/>
                <a:cs typeface="Aptos" pitchFamily="34" charset="-120"/>
              </a:rPr>
              <a:t>7.93%</a:t>
            </a:r>
            <a:endParaRPr lang="en-US" sz="820" dirty="0"/>
          </a:p>
        </p:txBody>
      </p:sp>
      <p:sp>
        <p:nvSpPr>
          <p:cNvPr id="63" name="Shape 61"/>
          <p:cNvSpPr/>
          <p:nvPr/>
        </p:nvSpPr>
        <p:spPr>
          <a:xfrm>
            <a:off x="10647731" y="2176272"/>
            <a:ext cx="873709" cy="411480"/>
          </a:xfrm>
          <a:prstGeom prst="rect">
            <a:avLst/>
          </a:prstGeom>
          <a:solidFill>
            <a:srgbClr val="EAF6FF"/>
          </a:solidFill>
          <a:ln w="6350">
            <a:solidFill>
              <a:srgbClr val="CBD5E1"/>
            </a:solidFill>
            <a:prstDash val="solid"/>
          </a:ln>
        </p:spPr>
      </p:sp>
      <p:sp>
        <p:nvSpPr>
          <p:cNvPr id="64" name="Text 62"/>
          <p:cNvSpPr/>
          <p:nvPr/>
        </p:nvSpPr>
        <p:spPr>
          <a:xfrm>
            <a:off x="10684307" y="2194560"/>
            <a:ext cx="800557" cy="374904"/>
          </a:xfrm>
          <a:prstGeom prst="rect">
            <a:avLst/>
          </a:prstGeom>
          <a:noFill/>
          <a:ln/>
        </p:spPr>
        <p:txBody>
          <a:bodyPr wrap="square" lIns="0" tIns="0" rIns="0" bIns="0" rtlCol="0" anchor="ctr">
            <a:normAutofit/>
          </a:bodyPr>
          <a:lstStyle/>
          <a:p>
            <a:pPr algn="ctr" indent="0" marL="0">
              <a:buNone/>
            </a:pPr>
            <a:r>
              <a:rPr lang="en-US" sz="820" b="1" dirty="0">
                <a:solidFill>
                  <a:srgbClr val="1F2937"/>
                </a:solidFill>
                <a:latin typeface="Aptos" pitchFamily="34" charset="0"/>
                <a:ea typeface="Aptos" pitchFamily="34" charset="-122"/>
                <a:cs typeface="Aptos" pitchFamily="34" charset="-120"/>
              </a:rPr>
              <a:t>−5.44 pp</a:t>
            </a:r>
            <a:endParaRPr lang="en-US" sz="820" dirty="0"/>
          </a:p>
        </p:txBody>
      </p:sp>
      <p:sp>
        <p:nvSpPr>
          <p:cNvPr id="65" name="Shape 63"/>
          <p:cNvSpPr/>
          <p:nvPr/>
        </p:nvSpPr>
        <p:spPr>
          <a:xfrm>
            <a:off x="7360920" y="2587752"/>
            <a:ext cx="1789024" cy="411480"/>
          </a:xfrm>
          <a:prstGeom prst="rect">
            <a:avLst/>
          </a:prstGeom>
          <a:solidFill>
            <a:srgbClr val="FFF1E5"/>
          </a:solidFill>
          <a:ln w="6350">
            <a:solidFill>
              <a:srgbClr val="CBD5E1"/>
            </a:solidFill>
            <a:prstDash val="solid"/>
          </a:ln>
        </p:spPr>
      </p:sp>
      <p:sp>
        <p:nvSpPr>
          <p:cNvPr id="66" name="Text 64"/>
          <p:cNvSpPr/>
          <p:nvPr/>
        </p:nvSpPr>
        <p:spPr>
          <a:xfrm>
            <a:off x="7397496" y="2606040"/>
            <a:ext cx="1715872" cy="374904"/>
          </a:xfrm>
          <a:prstGeom prst="rect">
            <a:avLst/>
          </a:prstGeom>
          <a:noFill/>
          <a:ln/>
        </p:spPr>
        <p:txBody>
          <a:bodyPr wrap="square" lIns="0" tIns="0" rIns="0" bIns="0" rtlCol="0" anchor="ctr">
            <a:normAutofit/>
          </a:bodyPr>
          <a:lstStyle/>
          <a:p>
            <a:pPr algn="l" indent="0" marL="0">
              <a:buNone/>
            </a:pPr>
            <a:r>
              <a:rPr lang="en-US" sz="820" dirty="0">
                <a:solidFill>
                  <a:srgbClr val="1F2937"/>
                </a:solidFill>
                <a:latin typeface="Aptos" pitchFamily="34" charset="0"/>
                <a:ea typeface="Aptos" pitchFamily="34" charset="-122"/>
                <a:cs typeface="Aptos" pitchFamily="34" charset="-120"/>
              </a:rPr>
              <a:t>Dual-stream fusion</a:t>
            </a:r>
            <a:endParaRPr lang="en-US" sz="820" dirty="0"/>
          </a:p>
        </p:txBody>
      </p:sp>
      <p:sp>
        <p:nvSpPr>
          <p:cNvPr id="67" name="Shape 65"/>
          <p:cNvSpPr/>
          <p:nvPr/>
        </p:nvSpPr>
        <p:spPr>
          <a:xfrm>
            <a:off x="9149944" y="2587752"/>
            <a:ext cx="748894" cy="411480"/>
          </a:xfrm>
          <a:prstGeom prst="rect">
            <a:avLst/>
          </a:prstGeom>
          <a:solidFill>
            <a:srgbClr val="FFF1E5"/>
          </a:solidFill>
          <a:ln w="6350">
            <a:solidFill>
              <a:srgbClr val="CBD5E1"/>
            </a:solidFill>
            <a:prstDash val="solid"/>
          </a:ln>
        </p:spPr>
      </p:sp>
      <p:sp>
        <p:nvSpPr>
          <p:cNvPr id="68" name="Text 66"/>
          <p:cNvSpPr/>
          <p:nvPr/>
        </p:nvSpPr>
        <p:spPr>
          <a:xfrm>
            <a:off x="9186520" y="2606040"/>
            <a:ext cx="675742" cy="374904"/>
          </a:xfrm>
          <a:prstGeom prst="rect">
            <a:avLst/>
          </a:prstGeom>
          <a:noFill/>
          <a:ln/>
        </p:spPr>
        <p:txBody>
          <a:bodyPr wrap="square" lIns="0" tIns="0" rIns="0" bIns="0" rtlCol="0" anchor="ctr">
            <a:normAutofit/>
          </a:bodyPr>
          <a:lstStyle/>
          <a:p>
            <a:pPr algn="ctr" indent="0" marL="0">
              <a:buNone/>
            </a:pPr>
            <a:r>
              <a:rPr lang="en-US" sz="820" dirty="0">
                <a:solidFill>
                  <a:srgbClr val="1F2937"/>
                </a:solidFill>
                <a:latin typeface="Aptos" pitchFamily="34" charset="0"/>
                <a:ea typeface="Aptos" pitchFamily="34" charset="-122"/>
                <a:cs typeface="Aptos" pitchFamily="34" charset="-120"/>
              </a:rPr>
              <a:t>18.44%</a:t>
            </a:r>
            <a:endParaRPr lang="en-US" sz="820" dirty="0"/>
          </a:p>
        </p:txBody>
      </p:sp>
      <p:sp>
        <p:nvSpPr>
          <p:cNvPr id="69" name="Shape 67"/>
          <p:cNvSpPr/>
          <p:nvPr/>
        </p:nvSpPr>
        <p:spPr>
          <a:xfrm>
            <a:off x="9898837" y="2587752"/>
            <a:ext cx="748894" cy="411480"/>
          </a:xfrm>
          <a:prstGeom prst="rect">
            <a:avLst/>
          </a:prstGeom>
          <a:solidFill>
            <a:srgbClr val="FFF1E5"/>
          </a:solidFill>
          <a:ln w="6350">
            <a:solidFill>
              <a:srgbClr val="CBD5E1"/>
            </a:solidFill>
            <a:prstDash val="solid"/>
          </a:ln>
        </p:spPr>
      </p:sp>
      <p:sp>
        <p:nvSpPr>
          <p:cNvPr id="70" name="Text 68"/>
          <p:cNvSpPr/>
          <p:nvPr/>
        </p:nvSpPr>
        <p:spPr>
          <a:xfrm>
            <a:off x="9935413" y="2606040"/>
            <a:ext cx="675742" cy="374904"/>
          </a:xfrm>
          <a:prstGeom prst="rect">
            <a:avLst/>
          </a:prstGeom>
          <a:noFill/>
          <a:ln/>
        </p:spPr>
        <p:txBody>
          <a:bodyPr wrap="square" lIns="0" tIns="0" rIns="0" bIns="0" rtlCol="0" anchor="ctr">
            <a:normAutofit/>
          </a:bodyPr>
          <a:lstStyle/>
          <a:p>
            <a:pPr algn="ctr" indent="0" marL="0">
              <a:buNone/>
            </a:pPr>
            <a:r>
              <a:rPr lang="en-US" sz="820" dirty="0">
                <a:solidFill>
                  <a:srgbClr val="1F2937"/>
                </a:solidFill>
                <a:latin typeface="Aptos" pitchFamily="34" charset="0"/>
                <a:ea typeface="Aptos" pitchFamily="34" charset="-122"/>
                <a:cs typeface="Aptos" pitchFamily="34" charset="-120"/>
              </a:rPr>
              <a:t>14.04%</a:t>
            </a:r>
            <a:endParaRPr lang="en-US" sz="820" dirty="0"/>
          </a:p>
        </p:txBody>
      </p:sp>
      <p:sp>
        <p:nvSpPr>
          <p:cNvPr id="71" name="Shape 69"/>
          <p:cNvSpPr/>
          <p:nvPr/>
        </p:nvSpPr>
        <p:spPr>
          <a:xfrm>
            <a:off x="10647731" y="2587752"/>
            <a:ext cx="873709" cy="411480"/>
          </a:xfrm>
          <a:prstGeom prst="rect">
            <a:avLst/>
          </a:prstGeom>
          <a:solidFill>
            <a:srgbClr val="FFF1E5"/>
          </a:solidFill>
          <a:ln w="6350">
            <a:solidFill>
              <a:srgbClr val="CBD5E1"/>
            </a:solidFill>
            <a:prstDash val="solid"/>
          </a:ln>
        </p:spPr>
      </p:sp>
      <p:sp>
        <p:nvSpPr>
          <p:cNvPr id="72" name="Text 70"/>
          <p:cNvSpPr/>
          <p:nvPr/>
        </p:nvSpPr>
        <p:spPr>
          <a:xfrm>
            <a:off x="10684307" y="2606040"/>
            <a:ext cx="800557" cy="374904"/>
          </a:xfrm>
          <a:prstGeom prst="rect">
            <a:avLst/>
          </a:prstGeom>
          <a:noFill/>
          <a:ln/>
        </p:spPr>
        <p:txBody>
          <a:bodyPr wrap="square" lIns="0" tIns="0" rIns="0" bIns="0" rtlCol="0" anchor="ctr">
            <a:normAutofit/>
          </a:bodyPr>
          <a:lstStyle/>
          <a:p>
            <a:pPr algn="ctr" indent="0" marL="0">
              <a:buNone/>
            </a:pPr>
            <a:r>
              <a:rPr lang="en-US" sz="820" dirty="0">
                <a:solidFill>
                  <a:srgbClr val="1F2937"/>
                </a:solidFill>
                <a:latin typeface="Aptos" pitchFamily="34" charset="0"/>
                <a:ea typeface="Aptos" pitchFamily="34" charset="-122"/>
                <a:cs typeface="Aptos" pitchFamily="34" charset="-120"/>
              </a:rPr>
              <a:t>−4.82 pp</a:t>
            </a:r>
            <a:endParaRPr lang="en-US" sz="820" dirty="0"/>
          </a:p>
        </p:txBody>
      </p:sp>
      <p:sp>
        <p:nvSpPr>
          <p:cNvPr id="73" name="Shape 71"/>
          <p:cNvSpPr/>
          <p:nvPr/>
        </p:nvSpPr>
        <p:spPr>
          <a:xfrm>
            <a:off x="7360920" y="3401568"/>
            <a:ext cx="4160520" cy="987552"/>
          </a:xfrm>
          <a:prstGeom prst="roundRect">
            <a:avLst>
              <a:gd name="adj" fmla="val 7407"/>
            </a:avLst>
          </a:prstGeom>
          <a:solidFill>
            <a:srgbClr val="EAF6FF"/>
          </a:solidFill>
          <a:ln w="12700">
            <a:solidFill>
              <a:srgbClr val="A8CAE8"/>
            </a:solidFill>
            <a:prstDash val="solid"/>
          </a:ln>
        </p:spPr>
      </p:sp>
      <p:sp>
        <p:nvSpPr>
          <p:cNvPr id="74" name="Text 72"/>
          <p:cNvSpPr/>
          <p:nvPr/>
        </p:nvSpPr>
        <p:spPr>
          <a:xfrm>
            <a:off x="7589520" y="3639312"/>
            <a:ext cx="3703320" cy="292608"/>
          </a:xfrm>
          <a:prstGeom prst="rect">
            <a:avLst/>
          </a:prstGeom>
          <a:noFill/>
          <a:ln/>
        </p:spPr>
        <p:txBody>
          <a:bodyPr wrap="square" lIns="635" tIns="635" rIns="635" bIns="635" rtlCol="0" anchor="ctr">
            <a:normAutofit/>
          </a:bodyPr>
          <a:lstStyle/>
          <a:p>
            <a:pPr algn="ctr" indent="0" marL="0">
              <a:buNone/>
            </a:pPr>
            <a:r>
              <a:rPr lang="en-US" sz="1900" b="1" dirty="0">
                <a:solidFill>
                  <a:srgbClr val="0078B8"/>
                </a:solidFill>
                <a:latin typeface="Aptos" pitchFamily="34" charset="0"/>
                <a:ea typeface="Aptos" pitchFamily="34" charset="-122"/>
                <a:cs typeface="Aptos" pitchFamily="34" charset="-120"/>
              </a:rPr>
              <a:t>23.4% relative WER reduction</a:t>
            </a:r>
            <a:endParaRPr lang="en-US" sz="1900" dirty="0"/>
          </a:p>
        </p:txBody>
      </p:sp>
      <p:sp>
        <p:nvSpPr>
          <p:cNvPr id="75" name="Text 73"/>
          <p:cNvSpPr/>
          <p:nvPr/>
        </p:nvSpPr>
        <p:spPr>
          <a:xfrm>
            <a:off x="7973568" y="4050792"/>
            <a:ext cx="2926080" cy="182880"/>
          </a:xfrm>
          <a:prstGeom prst="rect">
            <a:avLst/>
          </a:prstGeom>
          <a:noFill/>
          <a:ln/>
        </p:spPr>
        <p:txBody>
          <a:bodyPr wrap="square" lIns="635" tIns="635" rIns="635" bIns="635" rtlCol="0" anchor="ctr">
            <a:normAutofit/>
          </a:bodyPr>
          <a:lstStyle/>
          <a:p>
            <a:pPr algn="ctr" indent="0" marL="0">
              <a:buNone/>
            </a:pPr>
            <a:r>
              <a:rPr lang="en-US" sz="1080" dirty="0">
                <a:solidFill>
                  <a:srgbClr val="637083"/>
                </a:solidFill>
                <a:latin typeface="Aptos" pitchFamily="34" charset="0"/>
                <a:ea typeface="Aptos" pitchFamily="34" charset="-122"/>
                <a:cs typeface="Aptos" pitchFamily="34" charset="-120"/>
              </a:rPr>
              <a:t>Multi-condition vs. ordinary</a:t>
            </a:r>
            <a:endParaRPr lang="en-US" sz="1080" dirty="0"/>
          </a:p>
        </p:txBody>
      </p:sp>
      <p:sp>
        <p:nvSpPr>
          <p:cNvPr id="76" name="Shape 74"/>
          <p:cNvSpPr/>
          <p:nvPr/>
        </p:nvSpPr>
        <p:spPr>
          <a:xfrm>
            <a:off x="1143000" y="5349240"/>
            <a:ext cx="9921240" cy="530352"/>
          </a:xfrm>
          <a:prstGeom prst="roundRect">
            <a:avLst>
              <a:gd name="adj" fmla="val 13793"/>
            </a:avLst>
          </a:prstGeom>
          <a:solidFill>
            <a:srgbClr val="F8FAFC"/>
          </a:solidFill>
          <a:ln w="12700">
            <a:solidFill>
              <a:srgbClr val="CBD5E1"/>
            </a:solidFill>
            <a:prstDash val="solid"/>
          </a:ln>
        </p:spPr>
      </p:sp>
      <p:sp>
        <p:nvSpPr>
          <p:cNvPr id="77" name="Text 75"/>
          <p:cNvSpPr/>
          <p:nvPr/>
        </p:nvSpPr>
        <p:spPr>
          <a:xfrm>
            <a:off x="1417320" y="5504688"/>
            <a:ext cx="9372600" cy="164592"/>
          </a:xfrm>
          <a:prstGeom prst="rect">
            <a:avLst/>
          </a:prstGeom>
          <a:noFill/>
          <a:ln/>
        </p:spPr>
        <p:txBody>
          <a:bodyPr wrap="square" lIns="635" tIns="635" rIns="635" bIns="635" rtlCol="0" anchor="ctr">
            <a:normAutofit/>
          </a:bodyPr>
          <a:lstStyle/>
          <a:p>
            <a:pPr algn="ctr" indent="0" marL="0">
              <a:buNone/>
            </a:pPr>
            <a:r>
              <a:rPr lang="en-US" sz="1220" b="1" dirty="0">
                <a:solidFill>
                  <a:srgbClr val="1F2937"/>
                </a:solidFill>
                <a:latin typeface="Aptos" pitchFamily="34" charset="0"/>
                <a:ea typeface="Aptos" pitchFamily="34" charset="-122"/>
                <a:cs typeface="Aptos" pitchFamily="34" charset="-120"/>
              </a:rPr>
              <a:t>Key result: multi-condition training reduces WER by 5.44 percentage points and CER by 26.8% relative compared with ordinary Whisper.</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Synthetic Degradations Transfer to Real Calls</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13/19</a:t>
            </a:r>
            <a:endParaRPr lang="en-US" sz="750" dirty="0"/>
          </a:p>
        </p:txBody>
      </p:sp>
      <p:sp>
        <p:nvSpPr>
          <p:cNvPr id="6" name="Text 4"/>
          <p:cNvSpPr/>
          <p:nvPr/>
        </p:nvSpPr>
        <p:spPr>
          <a:xfrm>
            <a:off x="685800" y="932688"/>
            <a:ext cx="6400800" cy="219456"/>
          </a:xfrm>
          <a:prstGeom prst="rect">
            <a:avLst/>
          </a:prstGeom>
          <a:noFill/>
          <a:ln/>
        </p:spPr>
        <p:txBody>
          <a:bodyPr wrap="square" lIns="635" tIns="635" rIns="635" bIns="635" rtlCol="0" anchor="ctr">
            <a:normAutofit/>
          </a:bodyPr>
          <a:lstStyle/>
          <a:p>
            <a:pPr algn="l" indent="0" marL="0">
              <a:buNone/>
            </a:pPr>
            <a:r>
              <a:rPr lang="en-US" sz="1250" b="1" dirty="0">
                <a:solidFill>
                  <a:srgbClr val="637083"/>
                </a:solidFill>
                <a:latin typeface="Aptos" pitchFamily="34" charset="0"/>
                <a:ea typeface="Aptos" pitchFamily="34" charset="-122"/>
                <a:cs typeface="Aptos" pitchFamily="34" charset="-120"/>
              </a:rPr>
              <a:t>AGFarsdat: real telephone and VoIP speech · WER, lower is better</a:t>
            </a:r>
            <a:endParaRPr lang="en-US" sz="1250" dirty="0"/>
          </a:p>
        </p:txBody>
      </p:sp>
      <p:sp>
        <p:nvSpPr>
          <p:cNvPr id="7" name="Shape 5"/>
          <p:cNvSpPr/>
          <p:nvPr/>
        </p:nvSpPr>
        <p:spPr>
          <a:xfrm>
            <a:off x="1069848" y="4251960"/>
            <a:ext cx="5833872" cy="0"/>
          </a:xfrm>
          <a:prstGeom prst="line">
            <a:avLst/>
          </a:prstGeom>
          <a:solidFill>
            <a:srgbClr val="FFFFFF">
              <a:alpha val="0"/>
            </a:srgbClr>
          </a:solidFill>
          <a:ln w="6350">
            <a:solidFill>
              <a:srgbClr val="E5E7EB"/>
            </a:solidFill>
            <a:prstDash val="solid"/>
          </a:ln>
        </p:spPr>
      </p:sp>
      <p:sp>
        <p:nvSpPr>
          <p:cNvPr id="8" name="Text 6"/>
          <p:cNvSpPr/>
          <p:nvPr/>
        </p:nvSpPr>
        <p:spPr>
          <a:xfrm>
            <a:off x="685800" y="4178808"/>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0</a:t>
            </a:r>
            <a:endParaRPr lang="en-US" sz="720" dirty="0"/>
          </a:p>
        </p:txBody>
      </p:sp>
      <p:sp>
        <p:nvSpPr>
          <p:cNvPr id="9" name="Shape 7"/>
          <p:cNvSpPr/>
          <p:nvPr/>
        </p:nvSpPr>
        <p:spPr>
          <a:xfrm>
            <a:off x="1069848" y="3536442"/>
            <a:ext cx="5833872" cy="0"/>
          </a:xfrm>
          <a:prstGeom prst="line">
            <a:avLst/>
          </a:prstGeom>
          <a:solidFill>
            <a:srgbClr val="FFFFFF">
              <a:alpha val="0"/>
            </a:srgbClr>
          </a:solidFill>
          <a:ln w="6350">
            <a:solidFill>
              <a:srgbClr val="E5E7EB"/>
            </a:solidFill>
            <a:prstDash val="solid"/>
          </a:ln>
        </p:spPr>
      </p:sp>
      <p:sp>
        <p:nvSpPr>
          <p:cNvPr id="10" name="Text 8"/>
          <p:cNvSpPr/>
          <p:nvPr/>
        </p:nvSpPr>
        <p:spPr>
          <a:xfrm>
            <a:off x="685800" y="3463290"/>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10</a:t>
            </a:r>
            <a:endParaRPr lang="en-US" sz="720" dirty="0"/>
          </a:p>
        </p:txBody>
      </p:sp>
      <p:sp>
        <p:nvSpPr>
          <p:cNvPr id="11" name="Shape 9"/>
          <p:cNvSpPr/>
          <p:nvPr/>
        </p:nvSpPr>
        <p:spPr>
          <a:xfrm>
            <a:off x="1069848" y="2820924"/>
            <a:ext cx="5833872" cy="0"/>
          </a:xfrm>
          <a:prstGeom prst="line">
            <a:avLst/>
          </a:prstGeom>
          <a:solidFill>
            <a:srgbClr val="FFFFFF">
              <a:alpha val="0"/>
            </a:srgbClr>
          </a:solidFill>
          <a:ln w="6350">
            <a:solidFill>
              <a:srgbClr val="E5E7EB"/>
            </a:solidFill>
            <a:prstDash val="solid"/>
          </a:ln>
        </p:spPr>
      </p:sp>
      <p:sp>
        <p:nvSpPr>
          <p:cNvPr id="12" name="Text 10"/>
          <p:cNvSpPr/>
          <p:nvPr/>
        </p:nvSpPr>
        <p:spPr>
          <a:xfrm>
            <a:off x="685800" y="2747772"/>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20</a:t>
            </a:r>
            <a:endParaRPr lang="en-US" sz="720" dirty="0"/>
          </a:p>
        </p:txBody>
      </p:sp>
      <p:sp>
        <p:nvSpPr>
          <p:cNvPr id="13" name="Shape 11"/>
          <p:cNvSpPr/>
          <p:nvPr/>
        </p:nvSpPr>
        <p:spPr>
          <a:xfrm>
            <a:off x="1069848" y="2105406"/>
            <a:ext cx="5833872" cy="0"/>
          </a:xfrm>
          <a:prstGeom prst="line">
            <a:avLst/>
          </a:prstGeom>
          <a:solidFill>
            <a:srgbClr val="FFFFFF">
              <a:alpha val="0"/>
            </a:srgbClr>
          </a:solidFill>
          <a:ln w="6350">
            <a:solidFill>
              <a:srgbClr val="E5E7EB"/>
            </a:solidFill>
            <a:prstDash val="solid"/>
          </a:ln>
        </p:spPr>
      </p:sp>
      <p:sp>
        <p:nvSpPr>
          <p:cNvPr id="14" name="Text 12"/>
          <p:cNvSpPr/>
          <p:nvPr/>
        </p:nvSpPr>
        <p:spPr>
          <a:xfrm>
            <a:off x="685800" y="2032254"/>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30</a:t>
            </a:r>
            <a:endParaRPr lang="en-US" sz="720" dirty="0"/>
          </a:p>
        </p:txBody>
      </p:sp>
      <p:sp>
        <p:nvSpPr>
          <p:cNvPr id="15" name="Shape 13"/>
          <p:cNvSpPr/>
          <p:nvPr/>
        </p:nvSpPr>
        <p:spPr>
          <a:xfrm>
            <a:off x="1069848" y="1389888"/>
            <a:ext cx="5833872" cy="0"/>
          </a:xfrm>
          <a:prstGeom prst="line">
            <a:avLst/>
          </a:prstGeom>
          <a:solidFill>
            <a:srgbClr val="FFFFFF">
              <a:alpha val="0"/>
            </a:srgbClr>
          </a:solidFill>
          <a:ln w="6350">
            <a:solidFill>
              <a:srgbClr val="E5E7EB"/>
            </a:solidFill>
            <a:prstDash val="solid"/>
          </a:ln>
        </p:spPr>
      </p:sp>
      <p:sp>
        <p:nvSpPr>
          <p:cNvPr id="16" name="Text 14"/>
          <p:cNvSpPr/>
          <p:nvPr/>
        </p:nvSpPr>
        <p:spPr>
          <a:xfrm>
            <a:off x="685800" y="1316736"/>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40</a:t>
            </a:r>
            <a:endParaRPr lang="en-US" sz="720" dirty="0"/>
          </a:p>
        </p:txBody>
      </p:sp>
      <p:sp>
        <p:nvSpPr>
          <p:cNvPr id="17" name="Shape 15"/>
          <p:cNvSpPr/>
          <p:nvPr/>
        </p:nvSpPr>
        <p:spPr>
          <a:xfrm>
            <a:off x="1069848" y="4251960"/>
            <a:ext cx="5833872" cy="0"/>
          </a:xfrm>
          <a:prstGeom prst="line">
            <a:avLst/>
          </a:prstGeom>
          <a:solidFill>
            <a:srgbClr val="FFFFFF">
              <a:alpha val="0"/>
            </a:srgbClr>
          </a:solidFill>
          <a:ln w="10160">
            <a:solidFill>
              <a:srgbClr val="CBD5E1"/>
            </a:solidFill>
            <a:prstDash val="solid"/>
          </a:ln>
        </p:spPr>
      </p:sp>
      <p:sp>
        <p:nvSpPr>
          <p:cNvPr id="18" name="Shape 16"/>
          <p:cNvSpPr/>
          <p:nvPr/>
        </p:nvSpPr>
        <p:spPr>
          <a:xfrm>
            <a:off x="1069848" y="1389888"/>
            <a:ext cx="0" cy="2862072"/>
          </a:xfrm>
          <a:prstGeom prst="line">
            <a:avLst/>
          </a:prstGeom>
          <a:solidFill>
            <a:srgbClr val="FFFFFF">
              <a:alpha val="0"/>
            </a:srgbClr>
          </a:solidFill>
          <a:ln w="10160">
            <a:solidFill>
              <a:srgbClr val="CBD5E1"/>
            </a:solidFill>
            <a:prstDash val="solid"/>
          </a:ln>
        </p:spPr>
      </p:sp>
      <p:sp>
        <p:nvSpPr>
          <p:cNvPr id="19" name="Text 17"/>
          <p:cNvSpPr/>
          <p:nvPr/>
        </p:nvSpPr>
        <p:spPr>
          <a:xfrm>
            <a:off x="1069848" y="4325112"/>
            <a:ext cx="5833872" cy="14630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AGFarsdat</a:t>
            </a:r>
            <a:endParaRPr lang="en-US" sz="850" dirty="0"/>
          </a:p>
        </p:txBody>
      </p:sp>
      <p:sp>
        <p:nvSpPr>
          <p:cNvPr id="20" name="Shape 18"/>
          <p:cNvSpPr/>
          <p:nvPr/>
        </p:nvSpPr>
        <p:spPr>
          <a:xfrm>
            <a:off x="2003268" y="1702569"/>
            <a:ext cx="1031429" cy="2549391"/>
          </a:xfrm>
          <a:prstGeom prst="rect">
            <a:avLst/>
          </a:prstGeom>
          <a:solidFill>
            <a:srgbClr val="8A9099"/>
          </a:solidFill>
          <a:ln w="12700">
            <a:solidFill>
              <a:srgbClr val="8A9099">
                <a:alpha val="0"/>
              </a:srgbClr>
            </a:solidFill>
            <a:prstDash val="solid"/>
          </a:ln>
        </p:spPr>
      </p:sp>
      <p:sp>
        <p:nvSpPr>
          <p:cNvPr id="21" name="Text 19"/>
          <p:cNvSpPr/>
          <p:nvPr/>
        </p:nvSpPr>
        <p:spPr>
          <a:xfrm>
            <a:off x="1957548" y="1547121"/>
            <a:ext cx="1190110"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35.63</a:t>
            </a:r>
            <a:endParaRPr lang="en-US" sz="720" dirty="0"/>
          </a:p>
        </p:txBody>
      </p:sp>
      <p:sp>
        <p:nvSpPr>
          <p:cNvPr id="22" name="Shape 20"/>
          <p:cNvSpPr/>
          <p:nvPr/>
        </p:nvSpPr>
        <p:spPr>
          <a:xfrm>
            <a:off x="3325612" y="2405924"/>
            <a:ext cx="1031429" cy="1846036"/>
          </a:xfrm>
          <a:prstGeom prst="rect">
            <a:avLst/>
          </a:prstGeom>
          <a:solidFill>
            <a:srgbClr val="0078B8"/>
          </a:solidFill>
          <a:ln w="12700">
            <a:solidFill>
              <a:srgbClr val="0078B8">
                <a:alpha val="0"/>
              </a:srgbClr>
            </a:solidFill>
            <a:prstDash val="solid"/>
          </a:ln>
        </p:spPr>
      </p:sp>
      <p:sp>
        <p:nvSpPr>
          <p:cNvPr id="23" name="Text 21"/>
          <p:cNvSpPr/>
          <p:nvPr/>
        </p:nvSpPr>
        <p:spPr>
          <a:xfrm>
            <a:off x="3279892" y="2250476"/>
            <a:ext cx="1190110"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25.80</a:t>
            </a:r>
            <a:endParaRPr lang="en-US" sz="720" dirty="0"/>
          </a:p>
        </p:txBody>
      </p:sp>
      <p:sp>
        <p:nvSpPr>
          <p:cNvPr id="24" name="Shape 22"/>
          <p:cNvSpPr/>
          <p:nvPr/>
        </p:nvSpPr>
        <p:spPr>
          <a:xfrm>
            <a:off x="4647956" y="2435975"/>
            <a:ext cx="1031429" cy="1815985"/>
          </a:xfrm>
          <a:prstGeom prst="rect">
            <a:avLst/>
          </a:prstGeom>
          <a:solidFill>
            <a:srgbClr val="D65F00"/>
          </a:solidFill>
          <a:ln w="12700">
            <a:solidFill>
              <a:srgbClr val="D65F00">
                <a:alpha val="0"/>
              </a:srgbClr>
            </a:solidFill>
            <a:prstDash val="solid"/>
          </a:ln>
        </p:spPr>
      </p:sp>
      <p:sp>
        <p:nvSpPr>
          <p:cNvPr id="25" name="Text 23"/>
          <p:cNvSpPr/>
          <p:nvPr/>
        </p:nvSpPr>
        <p:spPr>
          <a:xfrm>
            <a:off x="4602236" y="2280527"/>
            <a:ext cx="1190110"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25.38</a:t>
            </a:r>
            <a:endParaRPr lang="en-US" sz="720" dirty="0"/>
          </a:p>
        </p:txBody>
      </p:sp>
      <p:sp>
        <p:nvSpPr>
          <p:cNvPr id="26" name="Shape 24"/>
          <p:cNvSpPr/>
          <p:nvPr/>
        </p:nvSpPr>
        <p:spPr>
          <a:xfrm>
            <a:off x="1069848" y="4736592"/>
            <a:ext cx="109728" cy="109728"/>
          </a:xfrm>
          <a:prstGeom prst="rect">
            <a:avLst/>
          </a:prstGeom>
          <a:solidFill>
            <a:srgbClr val="8A9099"/>
          </a:solidFill>
          <a:ln w="12700">
            <a:solidFill>
              <a:srgbClr val="8A9099">
                <a:alpha val="0"/>
              </a:srgbClr>
            </a:solidFill>
            <a:prstDash val="solid"/>
          </a:ln>
        </p:spPr>
      </p:sp>
      <p:sp>
        <p:nvSpPr>
          <p:cNvPr id="27" name="Text 25"/>
          <p:cNvSpPr/>
          <p:nvPr/>
        </p:nvSpPr>
        <p:spPr>
          <a:xfrm>
            <a:off x="1234440" y="4709160"/>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Ordinary</a:t>
            </a:r>
            <a:endParaRPr lang="en-US" sz="850" dirty="0"/>
          </a:p>
        </p:txBody>
      </p:sp>
      <p:sp>
        <p:nvSpPr>
          <p:cNvPr id="28" name="Shape 26"/>
          <p:cNvSpPr/>
          <p:nvPr/>
        </p:nvSpPr>
        <p:spPr>
          <a:xfrm>
            <a:off x="2944368" y="4736592"/>
            <a:ext cx="109728" cy="109728"/>
          </a:xfrm>
          <a:prstGeom prst="rect">
            <a:avLst/>
          </a:prstGeom>
          <a:solidFill>
            <a:srgbClr val="0078B8"/>
          </a:solidFill>
          <a:ln w="12700">
            <a:solidFill>
              <a:srgbClr val="0078B8">
                <a:alpha val="0"/>
              </a:srgbClr>
            </a:solidFill>
            <a:prstDash val="solid"/>
          </a:ln>
        </p:spPr>
      </p:sp>
      <p:sp>
        <p:nvSpPr>
          <p:cNvPr id="29" name="Text 27"/>
          <p:cNvSpPr/>
          <p:nvPr/>
        </p:nvSpPr>
        <p:spPr>
          <a:xfrm>
            <a:off x="3108960" y="4709160"/>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Multi-condition</a:t>
            </a:r>
            <a:endParaRPr lang="en-US" sz="850" dirty="0"/>
          </a:p>
        </p:txBody>
      </p:sp>
      <p:sp>
        <p:nvSpPr>
          <p:cNvPr id="30" name="Shape 28"/>
          <p:cNvSpPr/>
          <p:nvPr/>
        </p:nvSpPr>
        <p:spPr>
          <a:xfrm>
            <a:off x="4818888" y="4736592"/>
            <a:ext cx="109728" cy="109728"/>
          </a:xfrm>
          <a:prstGeom prst="rect">
            <a:avLst/>
          </a:prstGeom>
          <a:solidFill>
            <a:srgbClr val="D65F00"/>
          </a:solidFill>
          <a:ln w="12700">
            <a:solidFill>
              <a:srgbClr val="D65F00">
                <a:alpha val="0"/>
              </a:srgbClr>
            </a:solidFill>
            <a:prstDash val="solid"/>
          </a:ln>
        </p:spPr>
      </p:sp>
      <p:sp>
        <p:nvSpPr>
          <p:cNvPr id="31" name="Text 29"/>
          <p:cNvSpPr/>
          <p:nvPr/>
        </p:nvSpPr>
        <p:spPr>
          <a:xfrm>
            <a:off x="4983480" y="4709160"/>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Fusion</a:t>
            </a:r>
            <a:endParaRPr lang="en-US" sz="850" dirty="0"/>
          </a:p>
        </p:txBody>
      </p:sp>
      <p:sp>
        <p:nvSpPr>
          <p:cNvPr id="32" name="Shape 30"/>
          <p:cNvSpPr/>
          <p:nvPr/>
        </p:nvSpPr>
        <p:spPr>
          <a:xfrm>
            <a:off x="7360920" y="1143000"/>
            <a:ext cx="2163470" cy="377190"/>
          </a:xfrm>
          <a:prstGeom prst="rect">
            <a:avLst/>
          </a:prstGeom>
          <a:solidFill>
            <a:srgbClr val="EEF2F6"/>
          </a:solidFill>
          <a:ln w="6350">
            <a:solidFill>
              <a:srgbClr val="CBD5E1"/>
            </a:solidFill>
            <a:prstDash val="solid"/>
          </a:ln>
        </p:spPr>
      </p:sp>
      <p:sp>
        <p:nvSpPr>
          <p:cNvPr id="33" name="Text 31"/>
          <p:cNvSpPr/>
          <p:nvPr/>
        </p:nvSpPr>
        <p:spPr>
          <a:xfrm>
            <a:off x="7397496" y="1161288"/>
            <a:ext cx="2090318" cy="340614"/>
          </a:xfrm>
          <a:prstGeom prst="rect">
            <a:avLst/>
          </a:prstGeom>
          <a:noFill/>
          <a:ln/>
        </p:spPr>
        <p:txBody>
          <a:bodyPr wrap="square" lIns="0" tIns="0" rIns="0" bIns="0" rtlCol="0" anchor="ctr">
            <a:normAutofit/>
          </a:bodyPr>
          <a:lstStyle/>
          <a:p>
            <a:pPr algn="l" indent="0" marL="0">
              <a:buNone/>
            </a:pPr>
            <a:r>
              <a:rPr lang="en-US" sz="860" b="1" dirty="0">
                <a:solidFill>
                  <a:srgbClr val="1F2937"/>
                </a:solidFill>
                <a:latin typeface="Aptos" pitchFamily="34" charset="0"/>
                <a:ea typeface="Aptos" pitchFamily="34" charset="-122"/>
                <a:cs typeface="Aptos" pitchFamily="34" charset="-120"/>
              </a:rPr>
              <a:t>System</a:t>
            </a:r>
            <a:endParaRPr lang="en-US" sz="860" dirty="0"/>
          </a:p>
        </p:txBody>
      </p:sp>
      <p:sp>
        <p:nvSpPr>
          <p:cNvPr id="34" name="Shape 32"/>
          <p:cNvSpPr/>
          <p:nvPr/>
        </p:nvSpPr>
        <p:spPr>
          <a:xfrm>
            <a:off x="9524390" y="1143000"/>
            <a:ext cx="832104" cy="377190"/>
          </a:xfrm>
          <a:prstGeom prst="rect">
            <a:avLst/>
          </a:prstGeom>
          <a:solidFill>
            <a:srgbClr val="EEF2F6"/>
          </a:solidFill>
          <a:ln w="6350">
            <a:solidFill>
              <a:srgbClr val="CBD5E1"/>
            </a:solidFill>
            <a:prstDash val="solid"/>
          </a:ln>
        </p:spPr>
      </p:sp>
      <p:sp>
        <p:nvSpPr>
          <p:cNvPr id="35" name="Text 33"/>
          <p:cNvSpPr/>
          <p:nvPr/>
        </p:nvSpPr>
        <p:spPr>
          <a:xfrm>
            <a:off x="9560966" y="1161288"/>
            <a:ext cx="758952" cy="340614"/>
          </a:xfrm>
          <a:prstGeom prst="rect">
            <a:avLst/>
          </a:prstGeom>
          <a:noFill/>
          <a:ln/>
        </p:spPr>
        <p:txBody>
          <a:bodyPr wrap="square" lIns="0" tIns="0" rIns="0" bIns="0" rtlCol="0" anchor="ctr">
            <a:normAutofit/>
          </a:bodyPr>
          <a:lstStyle/>
          <a:p>
            <a:pPr algn="ctr" indent="0" marL="0">
              <a:buNone/>
            </a:pPr>
            <a:r>
              <a:rPr lang="en-US" sz="860" b="1" dirty="0">
                <a:solidFill>
                  <a:srgbClr val="1F2937"/>
                </a:solidFill>
                <a:latin typeface="Aptos" pitchFamily="34" charset="0"/>
                <a:ea typeface="Aptos" pitchFamily="34" charset="-122"/>
                <a:cs typeface="Aptos" pitchFamily="34" charset="-120"/>
              </a:rPr>
              <a:t>WER</a:t>
            </a:r>
            <a:endParaRPr lang="en-US" sz="860" dirty="0"/>
          </a:p>
        </p:txBody>
      </p:sp>
      <p:sp>
        <p:nvSpPr>
          <p:cNvPr id="36" name="Shape 34"/>
          <p:cNvSpPr/>
          <p:nvPr/>
        </p:nvSpPr>
        <p:spPr>
          <a:xfrm>
            <a:off x="10356494" y="1143000"/>
            <a:ext cx="1164946" cy="377190"/>
          </a:xfrm>
          <a:prstGeom prst="rect">
            <a:avLst/>
          </a:prstGeom>
          <a:solidFill>
            <a:srgbClr val="EEF2F6"/>
          </a:solidFill>
          <a:ln w="6350">
            <a:solidFill>
              <a:srgbClr val="CBD5E1"/>
            </a:solidFill>
            <a:prstDash val="solid"/>
          </a:ln>
        </p:spPr>
      </p:sp>
      <p:sp>
        <p:nvSpPr>
          <p:cNvPr id="37" name="Text 35"/>
          <p:cNvSpPr/>
          <p:nvPr/>
        </p:nvSpPr>
        <p:spPr>
          <a:xfrm>
            <a:off x="10393070" y="1161288"/>
            <a:ext cx="1091794" cy="340614"/>
          </a:xfrm>
          <a:prstGeom prst="rect">
            <a:avLst/>
          </a:prstGeom>
          <a:noFill/>
          <a:ln/>
        </p:spPr>
        <p:txBody>
          <a:bodyPr wrap="square" lIns="0" tIns="0" rIns="0" bIns="0" rtlCol="0" anchor="ctr">
            <a:normAutofit/>
          </a:bodyPr>
          <a:lstStyle/>
          <a:p>
            <a:pPr algn="ctr" indent="0" marL="0">
              <a:buNone/>
            </a:pPr>
            <a:r>
              <a:rPr lang="en-US" sz="860" b="1" dirty="0">
                <a:solidFill>
                  <a:srgbClr val="1F2937"/>
                </a:solidFill>
                <a:latin typeface="Aptos" pitchFamily="34" charset="0"/>
                <a:ea typeface="Aptos" pitchFamily="34" charset="-122"/>
                <a:cs typeface="Aptos" pitchFamily="34" charset="-120"/>
              </a:rPr>
              <a:t>Abs. change</a:t>
            </a:r>
            <a:endParaRPr lang="en-US" sz="860" dirty="0"/>
          </a:p>
        </p:txBody>
      </p:sp>
      <p:sp>
        <p:nvSpPr>
          <p:cNvPr id="38" name="Shape 36"/>
          <p:cNvSpPr/>
          <p:nvPr/>
        </p:nvSpPr>
        <p:spPr>
          <a:xfrm>
            <a:off x="7360920" y="1520190"/>
            <a:ext cx="2163470" cy="377190"/>
          </a:xfrm>
          <a:prstGeom prst="rect">
            <a:avLst/>
          </a:prstGeom>
          <a:solidFill>
            <a:srgbClr val="FFFFFF"/>
          </a:solidFill>
          <a:ln w="6350">
            <a:solidFill>
              <a:srgbClr val="CBD5E1"/>
            </a:solidFill>
            <a:prstDash val="solid"/>
          </a:ln>
        </p:spPr>
      </p:sp>
      <p:sp>
        <p:nvSpPr>
          <p:cNvPr id="39" name="Text 37"/>
          <p:cNvSpPr/>
          <p:nvPr/>
        </p:nvSpPr>
        <p:spPr>
          <a:xfrm>
            <a:off x="7397496" y="1538478"/>
            <a:ext cx="2090318" cy="340614"/>
          </a:xfrm>
          <a:prstGeom prst="rect">
            <a:avLst/>
          </a:prstGeom>
          <a:noFill/>
          <a:ln/>
        </p:spPr>
        <p:txBody>
          <a:bodyPr wrap="square" lIns="0" tIns="0" rIns="0" bIns="0" rtlCol="0" anchor="ctr">
            <a:normAutofit/>
          </a:bodyPr>
          <a:lstStyle/>
          <a:p>
            <a:pPr algn="l" indent="0" marL="0">
              <a:buNone/>
            </a:pPr>
            <a:r>
              <a:rPr lang="en-US" sz="860" dirty="0">
                <a:solidFill>
                  <a:srgbClr val="1F2937"/>
                </a:solidFill>
                <a:latin typeface="Aptos" pitchFamily="34" charset="0"/>
                <a:ea typeface="Aptos" pitchFamily="34" charset="-122"/>
                <a:cs typeface="Aptos" pitchFamily="34" charset="-120"/>
              </a:rPr>
              <a:t>Ordinary Whisper</a:t>
            </a:r>
            <a:endParaRPr lang="en-US" sz="860" dirty="0"/>
          </a:p>
        </p:txBody>
      </p:sp>
      <p:sp>
        <p:nvSpPr>
          <p:cNvPr id="40" name="Shape 38"/>
          <p:cNvSpPr/>
          <p:nvPr/>
        </p:nvSpPr>
        <p:spPr>
          <a:xfrm>
            <a:off x="9524390" y="1520190"/>
            <a:ext cx="832104" cy="377190"/>
          </a:xfrm>
          <a:prstGeom prst="rect">
            <a:avLst/>
          </a:prstGeom>
          <a:solidFill>
            <a:srgbClr val="FFFFFF"/>
          </a:solidFill>
          <a:ln w="6350">
            <a:solidFill>
              <a:srgbClr val="CBD5E1"/>
            </a:solidFill>
            <a:prstDash val="solid"/>
          </a:ln>
        </p:spPr>
      </p:sp>
      <p:sp>
        <p:nvSpPr>
          <p:cNvPr id="41" name="Text 39"/>
          <p:cNvSpPr/>
          <p:nvPr/>
        </p:nvSpPr>
        <p:spPr>
          <a:xfrm>
            <a:off x="9560966" y="1538478"/>
            <a:ext cx="758952" cy="340614"/>
          </a:xfrm>
          <a:prstGeom prst="rect">
            <a:avLst/>
          </a:prstGeom>
          <a:noFill/>
          <a:ln/>
        </p:spPr>
        <p:txBody>
          <a:bodyPr wrap="square" lIns="0" tIns="0" rIns="0" bIns="0" rtlCol="0" anchor="ctr">
            <a:normAutofit/>
          </a:bodyPr>
          <a:lstStyle/>
          <a:p>
            <a:pPr algn="ctr" indent="0" marL="0">
              <a:buNone/>
            </a:pPr>
            <a:r>
              <a:rPr lang="en-US" sz="860" dirty="0">
                <a:solidFill>
                  <a:srgbClr val="1F2937"/>
                </a:solidFill>
                <a:latin typeface="Aptos" pitchFamily="34" charset="0"/>
                <a:ea typeface="Aptos" pitchFamily="34" charset="-122"/>
                <a:cs typeface="Aptos" pitchFamily="34" charset="-120"/>
              </a:rPr>
              <a:t>35.63%</a:t>
            </a:r>
            <a:endParaRPr lang="en-US" sz="860" dirty="0"/>
          </a:p>
        </p:txBody>
      </p:sp>
      <p:sp>
        <p:nvSpPr>
          <p:cNvPr id="42" name="Shape 40"/>
          <p:cNvSpPr/>
          <p:nvPr/>
        </p:nvSpPr>
        <p:spPr>
          <a:xfrm>
            <a:off x="10356494" y="1520190"/>
            <a:ext cx="1164946" cy="377190"/>
          </a:xfrm>
          <a:prstGeom prst="rect">
            <a:avLst/>
          </a:prstGeom>
          <a:solidFill>
            <a:srgbClr val="FFFFFF"/>
          </a:solidFill>
          <a:ln w="6350">
            <a:solidFill>
              <a:srgbClr val="CBD5E1"/>
            </a:solidFill>
            <a:prstDash val="solid"/>
          </a:ln>
        </p:spPr>
      </p:sp>
      <p:sp>
        <p:nvSpPr>
          <p:cNvPr id="43" name="Text 41"/>
          <p:cNvSpPr/>
          <p:nvPr/>
        </p:nvSpPr>
        <p:spPr>
          <a:xfrm>
            <a:off x="10393070" y="1538478"/>
            <a:ext cx="1091794" cy="340614"/>
          </a:xfrm>
          <a:prstGeom prst="rect">
            <a:avLst/>
          </a:prstGeom>
          <a:noFill/>
          <a:ln/>
        </p:spPr>
        <p:txBody>
          <a:bodyPr wrap="square" lIns="0" tIns="0" rIns="0" bIns="0" rtlCol="0" anchor="ctr">
            <a:normAutofit/>
          </a:bodyPr>
          <a:lstStyle/>
          <a:p>
            <a:pPr algn="ctr" indent="0" marL="0">
              <a:buNone/>
            </a:pPr>
            <a:r>
              <a:rPr lang="en-US" sz="860" dirty="0">
                <a:solidFill>
                  <a:srgbClr val="1F2937"/>
                </a:solidFill>
                <a:latin typeface="Aptos" pitchFamily="34" charset="0"/>
                <a:ea typeface="Aptos" pitchFamily="34" charset="-122"/>
                <a:cs typeface="Aptos" pitchFamily="34" charset="-120"/>
              </a:rPr>
              <a:t>—</a:t>
            </a:r>
            <a:endParaRPr lang="en-US" sz="860" dirty="0"/>
          </a:p>
        </p:txBody>
      </p:sp>
      <p:sp>
        <p:nvSpPr>
          <p:cNvPr id="44" name="Shape 42"/>
          <p:cNvSpPr/>
          <p:nvPr/>
        </p:nvSpPr>
        <p:spPr>
          <a:xfrm>
            <a:off x="7360920" y="1897380"/>
            <a:ext cx="2163470" cy="377190"/>
          </a:xfrm>
          <a:prstGeom prst="rect">
            <a:avLst/>
          </a:prstGeom>
          <a:solidFill>
            <a:srgbClr val="EAF6FF"/>
          </a:solidFill>
          <a:ln w="6350">
            <a:solidFill>
              <a:srgbClr val="CBD5E1"/>
            </a:solidFill>
            <a:prstDash val="solid"/>
          </a:ln>
        </p:spPr>
      </p:sp>
      <p:sp>
        <p:nvSpPr>
          <p:cNvPr id="45" name="Text 43"/>
          <p:cNvSpPr/>
          <p:nvPr/>
        </p:nvSpPr>
        <p:spPr>
          <a:xfrm>
            <a:off x="7397496" y="1915668"/>
            <a:ext cx="2090318" cy="340614"/>
          </a:xfrm>
          <a:prstGeom prst="rect">
            <a:avLst/>
          </a:prstGeom>
          <a:noFill/>
          <a:ln/>
        </p:spPr>
        <p:txBody>
          <a:bodyPr wrap="square" lIns="0" tIns="0" rIns="0" bIns="0" rtlCol="0" anchor="ctr">
            <a:normAutofit/>
          </a:bodyPr>
          <a:lstStyle/>
          <a:p>
            <a:pPr algn="l" indent="0" marL="0">
              <a:buNone/>
            </a:pPr>
            <a:r>
              <a:rPr lang="en-US" sz="860" dirty="0">
                <a:solidFill>
                  <a:srgbClr val="1F2937"/>
                </a:solidFill>
                <a:latin typeface="Aptos" pitchFamily="34" charset="0"/>
                <a:ea typeface="Aptos" pitchFamily="34" charset="-122"/>
                <a:cs typeface="Aptos" pitchFamily="34" charset="-120"/>
              </a:rPr>
              <a:t>Multi-condition Whisper</a:t>
            </a:r>
            <a:endParaRPr lang="en-US" sz="860" dirty="0"/>
          </a:p>
        </p:txBody>
      </p:sp>
      <p:sp>
        <p:nvSpPr>
          <p:cNvPr id="46" name="Shape 44"/>
          <p:cNvSpPr/>
          <p:nvPr/>
        </p:nvSpPr>
        <p:spPr>
          <a:xfrm>
            <a:off x="9524390" y="1897380"/>
            <a:ext cx="832104" cy="377190"/>
          </a:xfrm>
          <a:prstGeom prst="rect">
            <a:avLst/>
          </a:prstGeom>
          <a:solidFill>
            <a:srgbClr val="EAF6FF"/>
          </a:solidFill>
          <a:ln w="6350">
            <a:solidFill>
              <a:srgbClr val="CBD5E1"/>
            </a:solidFill>
            <a:prstDash val="solid"/>
          </a:ln>
        </p:spPr>
      </p:sp>
      <p:sp>
        <p:nvSpPr>
          <p:cNvPr id="47" name="Text 45"/>
          <p:cNvSpPr/>
          <p:nvPr/>
        </p:nvSpPr>
        <p:spPr>
          <a:xfrm>
            <a:off x="9560966" y="1915668"/>
            <a:ext cx="758952" cy="340614"/>
          </a:xfrm>
          <a:prstGeom prst="rect">
            <a:avLst/>
          </a:prstGeom>
          <a:noFill/>
          <a:ln/>
        </p:spPr>
        <p:txBody>
          <a:bodyPr wrap="square" lIns="0" tIns="0" rIns="0" bIns="0" rtlCol="0" anchor="ctr">
            <a:normAutofit/>
          </a:bodyPr>
          <a:lstStyle/>
          <a:p>
            <a:pPr algn="ctr" indent="0" marL="0">
              <a:buNone/>
            </a:pPr>
            <a:r>
              <a:rPr lang="en-US" sz="860" dirty="0">
                <a:solidFill>
                  <a:srgbClr val="1F2937"/>
                </a:solidFill>
                <a:latin typeface="Aptos" pitchFamily="34" charset="0"/>
                <a:ea typeface="Aptos" pitchFamily="34" charset="-122"/>
                <a:cs typeface="Aptos" pitchFamily="34" charset="-120"/>
              </a:rPr>
              <a:t>25.80%</a:t>
            </a:r>
            <a:endParaRPr lang="en-US" sz="860" dirty="0"/>
          </a:p>
        </p:txBody>
      </p:sp>
      <p:sp>
        <p:nvSpPr>
          <p:cNvPr id="48" name="Shape 46"/>
          <p:cNvSpPr/>
          <p:nvPr/>
        </p:nvSpPr>
        <p:spPr>
          <a:xfrm>
            <a:off x="10356494" y="1897380"/>
            <a:ext cx="1164946" cy="377190"/>
          </a:xfrm>
          <a:prstGeom prst="rect">
            <a:avLst/>
          </a:prstGeom>
          <a:solidFill>
            <a:srgbClr val="EAF6FF"/>
          </a:solidFill>
          <a:ln w="6350">
            <a:solidFill>
              <a:srgbClr val="CBD5E1"/>
            </a:solidFill>
            <a:prstDash val="solid"/>
          </a:ln>
        </p:spPr>
      </p:sp>
      <p:sp>
        <p:nvSpPr>
          <p:cNvPr id="49" name="Text 47"/>
          <p:cNvSpPr/>
          <p:nvPr/>
        </p:nvSpPr>
        <p:spPr>
          <a:xfrm>
            <a:off x="10393070" y="1915668"/>
            <a:ext cx="1091794" cy="340614"/>
          </a:xfrm>
          <a:prstGeom prst="rect">
            <a:avLst/>
          </a:prstGeom>
          <a:noFill/>
          <a:ln/>
        </p:spPr>
        <p:txBody>
          <a:bodyPr wrap="square" lIns="0" tIns="0" rIns="0" bIns="0" rtlCol="0" anchor="ctr">
            <a:normAutofit/>
          </a:bodyPr>
          <a:lstStyle/>
          <a:p>
            <a:pPr algn="ctr" indent="0" marL="0">
              <a:buNone/>
            </a:pPr>
            <a:r>
              <a:rPr lang="en-US" sz="860" dirty="0">
                <a:solidFill>
                  <a:srgbClr val="1F2937"/>
                </a:solidFill>
                <a:latin typeface="Aptos" pitchFamily="34" charset="0"/>
                <a:ea typeface="Aptos" pitchFamily="34" charset="-122"/>
                <a:cs typeface="Aptos" pitchFamily="34" charset="-120"/>
              </a:rPr>
              <a:t>−9.83 pp</a:t>
            </a:r>
            <a:endParaRPr lang="en-US" sz="860" dirty="0"/>
          </a:p>
        </p:txBody>
      </p:sp>
      <p:sp>
        <p:nvSpPr>
          <p:cNvPr id="50" name="Shape 48"/>
          <p:cNvSpPr/>
          <p:nvPr/>
        </p:nvSpPr>
        <p:spPr>
          <a:xfrm>
            <a:off x="7360920" y="2274570"/>
            <a:ext cx="2163470" cy="377190"/>
          </a:xfrm>
          <a:prstGeom prst="rect">
            <a:avLst/>
          </a:prstGeom>
          <a:solidFill>
            <a:srgbClr val="FFF1E5"/>
          </a:solidFill>
          <a:ln w="6350">
            <a:solidFill>
              <a:srgbClr val="CBD5E1"/>
            </a:solidFill>
            <a:prstDash val="solid"/>
          </a:ln>
        </p:spPr>
      </p:sp>
      <p:sp>
        <p:nvSpPr>
          <p:cNvPr id="51" name="Text 49"/>
          <p:cNvSpPr/>
          <p:nvPr/>
        </p:nvSpPr>
        <p:spPr>
          <a:xfrm>
            <a:off x="7397496" y="2292858"/>
            <a:ext cx="2090318" cy="340614"/>
          </a:xfrm>
          <a:prstGeom prst="rect">
            <a:avLst/>
          </a:prstGeom>
          <a:noFill/>
          <a:ln/>
        </p:spPr>
        <p:txBody>
          <a:bodyPr wrap="square" lIns="0" tIns="0" rIns="0" bIns="0" rtlCol="0" anchor="ctr">
            <a:normAutofit/>
          </a:bodyPr>
          <a:lstStyle/>
          <a:p>
            <a:pPr algn="l" indent="0" marL="0">
              <a:buNone/>
            </a:pPr>
            <a:r>
              <a:rPr lang="en-US" sz="860" b="1" dirty="0">
                <a:solidFill>
                  <a:srgbClr val="1F2937"/>
                </a:solidFill>
                <a:latin typeface="Aptos" pitchFamily="34" charset="0"/>
                <a:ea typeface="Aptos" pitchFamily="34" charset="-122"/>
                <a:cs typeface="Aptos" pitchFamily="34" charset="-120"/>
              </a:rPr>
              <a:t>Dual-stream fusion</a:t>
            </a:r>
            <a:endParaRPr lang="en-US" sz="860" dirty="0"/>
          </a:p>
        </p:txBody>
      </p:sp>
      <p:sp>
        <p:nvSpPr>
          <p:cNvPr id="52" name="Shape 50"/>
          <p:cNvSpPr/>
          <p:nvPr/>
        </p:nvSpPr>
        <p:spPr>
          <a:xfrm>
            <a:off x="9524390" y="2274570"/>
            <a:ext cx="832104" cy="377190"/>
          </a:xfrm>
          <a:prstGeom prst="rect">
            <a:avLst/>
          </a:prstGeom>
          <a:solidFill>
            <a:srgbClr val="FFF1E5"/>
          </a:solidFill>
          <a:ln w="6350">
            <a:solidFill>
              <a:srgbClr val="CBD5E1"/>
            </a:solidFill>
            <a:prstDash val="solid"/>
          </a:ln>
        </p:spPr>
      </p:sp>
      <p:sp>
        <p:nvSpPr>
          <p:cNvPr id="53" name="Text 51"/>
          <p:cNvSpPr/>
          <p:nvPr/>
        </p:nvSpPr>
        <p:spPr>
          <a:xfrm>
            <a:off x="9560966" y="2292858"/>
            <a:ext cx="758952" cy="340614"/>
          </a:xfrm>
          <a:prstGeom prst="rect">
            <a:avLst/>
          </a:prstGeom>
          <a:noFill/>
          <a:ln/>
        </p:spPr>
        <p:txBody>
          <a:bodyPr wrap="square" lIns="0" tIns="0" rIns="0" bIns="0" rtlCol="0" anchor="ctr">
            <a:normAutofit/>
          </a:bodyPr>
          <a:lstStyle/>
          <a:p>
            <a:pPr algn="ctr" indent="0" marL="0">
              <a:buNone/>
            </a:pPr>
            <a:r>
              <a:rPr lang="en-US" sz="860" b="1" dirty="0">
                <a:solidFill>
                  <a:srgbClr val="1F2937"/>
                </a:solidFill>
                <a:latin typeface="Aptos" pitchFamily="34" charset="0"/>
                <a:ea typeface="Aptos" pitchFamily="34" charset="-122"/>
                <a:cs typeface="Aptos" pitchFamily="34" charset="-120"/>
              </a:rPr>
              <a:t>25.38%</a:t>
            </a:r>
            <a:endParaRPr lang="en-US" sz="860" dirty="0"/>
          </a:p>
        </p:txBody>
      </p:sp>
      <p:sp>
        <p:nvSpPr>
          <p:cNvPr id="54" name="Shape 52"/>
          <p:cNvSpPr/>
          <p:nvPr/>
        </p:nvSpPr>
        <p:spPr>
          <a:xfrm>
            <a:off x="10356494" y="2274570"/>
            <a:ext cx="1164946" cy="377190"/>
          </a:xfrm>
          <a:prstGeom prst="rect">
            <a:avLst/>
          </a:prstGeom>
          <a:solidFill>
            <a:srgbClr val="FFF1E5"/>
          </a:solidFill>
          <a:ln w="6350">
            <a:solidFill>
              <a:srgbClr val="CBD5E1"/>
            </a:solidFill>
            <a:prstDash val="solid"/>
          </a:ln>
        </p:spPr>
      </p:sp>
      <p:sp>
        <p:nvSpPr>
          <p:cNvPr id="55" name="Text 53"/>
          <p:cNvSpPr/>
          <p:nvPr/>
        </p:nvSpPr>
        <p:spPr>
          <a:xfrm>
            <a:off x="10393070" y="2292858"/>
            <a:ext cx="1091794" cy="340614"/>
          </a:xfrm>
          <a:prstGeom prst="rect">
            <a:avLst/>
          </a:prstGeom>
          <a:noFill/>
          <a:ln/>
        </p:spPr>
        <p:txBody>
          <a:bodyPr wrap="square" lIns="0" tIns="0" rIns="0" bIns="0" rtlCol="0" anchor="ctr">
            <a:normAutofit/>
          </a:bodyPr>
          <a:lstStyle/>
          <a:p>
            <a:pPr algn="ctr" indent="0" marL="0">
              <a:buNone/>
            </a:pPr>
            <a:r>
              <a:rPr lang="en-US" sz="860" b="1" dirty="0">
                <a:solidFill>
                  <a:srgbClr val="1F2937"/>
                </a:solidFill>
                <a:latin typeface="Aptos" pitchFamily="34" charset="0"/>
                <a:ea typeface="Aptos" pitchFamily="34" charset="-122"/>
                <a:cs typeface="Aptos" pitchFamily="34" charset="-120"/>
              </a:rPr>
              <a:t>−10.25 pp</a:t>
            </a:r>
            <a:endParaRPr lang="en-US" sz="860" dirty="0"/>
          </a:p>
        </p:txBody>
      </p:sp>
      <p:sp>
        <p:nvSpPr>
          <p:cNvPr id="56" name="Shape 54"/>
          <p:cNvSpPr/>
          <p:nvPr/>
        </p:nvSpPr>
        <p:spPr>
          <a:xfrm>
            <a:off x="7360920" y="2962656"/>
            <a:ext cx="4160520" cy="941832"/>
          </a:xfrm>
          <a:prstGeom prst="roundRect">
            <a:avLst>
              <a:gd name="adj" fmla="val 7767"/>
            </a:avLst>
          </a:prstGeom>
          <a:solidFill>
            <a:srgbClr val="EAF6FF"/>
          </a:solidFill>
          <a:ln w="12700">
            <a:solidFill>
              <a:srgbClr val="A8CAE8"/>
            </a:solidFill>
            <a:prstDash val="solid"/>
          </a:ln>
        </p:spPr>
      </p:sp>
      <p:sp>
        <p:nvSpPr>
          <p:cNvPr id="57" name="Text 55"/>
          <p:cNvSpPr/>
          <p:nvPr/>
        </p:nvSpPr>
        <p:spPr>
          <a:xfrm>
            <a:off x="7525512" y="3081528"/>
            <a:ext cx="3831336" cy="237744"/>
          </a:xfrm>
          <a:prstGeom prst="rect">
            <a:avLst/>
          </a:prstGeom>
          <a:noFill/>
          <a:ln/>
        </p:spPr>
        <p:txBody>
          <a:bodyPr wrap="square" lIns="635" tIns="635" rIns="635" bIns="635" rtlCol="0" anchor="ctr">
            <a:normAutofit/>
          </a:bodyPr>
          <a:lstStyle/>
          <a:p>
            <a:pPr algn="l" indent="0" marL="0">
              <a:buNone/>
            </a:pPr>
            <a:r>
              <a:rPr lang="en-US" sz="1700" b="1" dirty="0">
                <a:solidFill>
                  <a:srgbClr val="0078B8"/>
                </a:solidFill>
                <a:latin typeface="Aptos" pitchFamily="34" charset="0"/>
                <a:ea typeface="Aptos" pitchFamily="34" charset="-122"/>
                <a:cs typeface="Aptos" pitchFamily="34" charset="-120"/>
              </a:rPr>
              <a:t>27.6% relative WER reduction</a:t>
            </a:r>
            <a:endParaRPr lang="en-US" sz="1700" dirty="0"/>
          </a:p>
        </p:txBody>
      </p:sp>
      <p:sp>
        <p:nvSpPr>
          <p:cNvPr id="58" name="Text 56"/>
          <p:cNvSpPr/>
          <p:nvPr/>
        </p:nvSpPr>
        <p:spPr>
          <a:xfrm>
            <a:off x="7525512" y="3401568"/>
            <a:ext cx="3831336" cy="438912"/>
          </a:xfrm>
          <a:prstGeom prst="rect">
            <a:avLst/>
          </a:prstGeom>
          <a:noFill/>
          <a:ln/>
        </p:spPr>
        <p:txBody>
          <a:bodyPr wrap="square" lIns="635" tIns="635" rIns="635" bIns="635" rtlCol="0" anchor="t">
            <a:normAutofit/>
          </a:bodyPr>
          <a:lstStyle/>
          <a:p>
            <a:pPr algn="l" indent="0" marL="0">
              <a:buNone/>
            </a:pPr>
            <a:r>
              <a:rPr lang="en-US" sz="1150" dirty="0">
                <a:solidFill>
                  <a:srgbClr val="637083"/>
                </a:solidFill>
                <a:latin typeface="Aptos" pitchFamily="34" charset="0"/>
                <a:ea typeface="Aptos" pitchFamily="34" charset="-122"/>
                <a:cs typeface="Aptos" pitchFamily="34" charset="-120"/>
              </a:rPr>
              <a:t>Multi-condition training transfers to real calls; AGFarsdat was not produced by the simulator.</a:t>
            </a:r>
            <a:endParaRPr lang="en-US" sz="1150" dirty="0"/>
          </a:p>
        </p:txBody>
      </p:sp>
      <p:sp>
        <p:nvSpPr>
          <p:cNvPr id="59" name="Shape 57"/>
          <p:cNvSpPr/>
          <p:nvPr/>
        </p:nvSpPr>
        <p:spPr>
          <a:xfrm>
            <a:off x="7360920" y="4224528"/>
            <a:ext cx="4160520" cy="804672"/>
          </a:xfrm>
          <a:prstGeom prst="roundRect">
            <a:avLst>
              <a:gd name="adj" fmla="val 9091"/>
            </a:avLst>
          </a:prstGeom>
          <a:solidFill>
            <a:srgbClr val="FFF7ED"/>
          </a:solidFill>
          <a:ln w="12700">
            <a:solidFill>
              <a:srgbClr val="FDBA74"/>
            </a:solidFill>
            <a:prstDash val="solid"/>
          </a:ln>
        </p:spPr>
      </p:sp>
      <p:sp>
        <p:nvSpPr>
          <p:cNvPr id="60" name="Text 58"/>
          <p:cNvSpPr/>
          <p:nvPr/>
        </p:nvSpPr>
        <p:spPr>
          <a:xfrm>
            <a:off x="7571232" y="4443984"/>
            <a:ext cx="3749040" cy="237744"/>
          </a:xfrm>
          <a:prstGeom prst="rect">
            <a:avLst/>
          </a:prstGeom>
          <a:noFill/>
          <a:ln/>
        </p:spPr>
        <p:txBody>
          <a:bodyPr wrap="square" lIns="635" tIns="635" rIns="635" bIns="635" rtlCol="0" anchor="ctr">
            <a:normAutofit/>
          </a:bodyPr>
          <a:lstStyle/>
          <a:p>
            <a:pPr algn="ctr" indent="0" marL="0">
              <a:buNone/>
            </a:pPr>
            <a:r>
              <a:rPr lang="en-US" sz="1190" b="1" dirty="0">
                <a:solidFill>
                  <a:srgbClr val="1F2937"/>
                </a:solidFill>
                <a:latin typeface="Aptos" pitchFamily="34" charset="0"/>
                <a:ea typeface="Aptos" pitchFamily="34" charset="-122"/>
                <a:cs typeface="Aptos" pitchFamily="34" charset="-120"/>
              </a:rPr>
              <a:t>Fusion is 0.42 pp lower than multi-condition Whisper, but no statistical test supports a stable advantage.</a:t>
            </a:r>
            <a:endParaRPr lang="en-US" sz="119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Robustness Is Domain-Dependent</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14/19</a:t>
            </a:r>
            <a:endParaRPr lang="en-US" sz="750" dirty="0"/>
          </a:p>
        </p:txBody>
      </p:sp>
      <p:sp>
        <p:nvSpPr>
          <p:cNvPr id="6" name="Text 4"/>
          <p:cNvSpPr/>
          <p:nvPr/>
        </p:nvSpPr>
        <p:spPr>
          <a:xfrm>
            <a:off x="685800" y="932688"/>
            <a:ext cx="5029200" cy="219456"/>
          </a:xfrm>
          <a:prstGeom prst="rect">
            <a:avLst/>
          </a:prstGeom>
          <a:noFill/>
          <a:ln/>
        </p:spPr>
        <p:txBody>
          <a:bodyPr wrap="square" lIns="635" tIns="635" rIns="635" bIns="635" rtlCol="0" anchor="ctr">
            <a:normAutofit/>
          </a:bodyPr>
          <a:lstStyle/>
          <a:p>
            <a:pPr algn="l" indent="0" marL="0">
              <a:buNone/>
            </a:pPr>
            <a:r>
              <a:rPr lang="en-US" sz="1250" b="1" dirty="0">
                <a:solidFill>
                  <a:srgbClr val="637083"/>
                </a:solidFill>
                <a:latin typeface="Aptos" pitchFamily="34" charset="0"/>
                <a:ea typeface="Aptos" pitchFamily="34" charset="-122"/>
                <a:cs typeface="Aptos" pitchFamily="34" charset="-120"/>
              </a:rPr>
              <a:t>WER by test set (%) · lower is better</a:t>
            </a:r>
            <a:endParaRPr lang="en-US" sz="1250" dirty="0"/>
          </a:p>
        </p:txBody>
      </p:sp>
      <p:sp>
        <p:nvSpPr>
          <p:cNvPr id="7" name="Shape 5"/>
          <p:cNvSpPr/>
          <p:nvPr/>
        </p:nvSpPr>
        <p:spPr>
          <a:xfrm>
            <a:off x="2167128" y="1280160"/>
            <a:ext cx="0" cy="3675888"/>
          </a:xfrm>
          <a:prstGeom prst="line">
            <a:avLst/>
          </a:prstGeom>
          <a:solidFill>
            <a:srgbClr val="FFFFFF">
              <a:alpha val="0"/>
            </a:srgbClr>
          </a:solidFill>
          <a:ln w="6350">
            <a:solidFill>
              <a:srgbClr val="E5E7EB"/>
            </a:solidFill>
            <a:prstDash val="solid"/>
          </a:ln>
        </p:spPr>
      </p:sp>
      <p:sp>
        <p:nvSpPr>
          <p:cNvPr id="8" name="Text 6"/>
          <p:cNvSpPr/>
          <p:nvPr/>
        </p:nvSpPr>
        <p:spPr>
          <a:xfrm>
            <a:off x="2057400" y="5010912"/>
            <a:ext cx="228600" cy="118872"/>
          </a:xfrm>
          <a:prstGeom prst="rect">
            <a:avLst/>
          </a:prstGeom>
          <a:noFill/>
          <a:ln/>
        </p:spPr>
        <p:txBody>
          <a:bodyPr wrap="square" lIns="0" tIns="0" rIns="0" bIns="0" rtlCol="0" anchor="ctr">
            <a:normAutofit/>
          </a:bodyPr>
          <a:lstStyle/>
          <a:p>
            <a:pPr algn="ctr" indent="0" marL="0">
              <a:buNone/>
            </a:pPr>
            <a:r>
              <a:rPr lang="en-US" sz="720" dirty="0">
                <a:solidFill>
                  <a:srgbClr val="637083"/>
                </a:solidFill>
                <a:latin typeface="Aptos" pitchFamily="34" charset="0"/>
                <a:ea typeface="Aptos" pitchFamily="34" charset="-122"/>
                <a:cs typeface="Aptos" pitchFamily="34" charset="-120"/>
              </a:rPr>
              <a:t>0</a:t>
            </a:r>
            <a:endParaRPr lang="en-US" sz="720" dirty="0"/>
          </a:p>
        </p:txBody>
      </p:sp>
      <p:sp>
        <p:nvSpPr>
          <p:cNvPr id="9" name="Shape 7"/>
          <p:cNvSpPr/>
          <p:nvPr/>
        </p:nvSpPr>
        <p:spPr>
          <a:xfrm>
            <a:off x="3380994" y="1280160"/>
            <a:ext cx="0" cy="3675888"/>
          </a:xfrm>
          <a:prstGeom prst="line">
            <a:avLst/>
          </a:prstGeom>
          <a:solidFill>
            <a:srgbClr val="FFFFFF">
              <a:alpha val="0"/>
            </a:srgbClr>
          </a:solidFill>
          <a:ln w="6350">
            <a:solidFill>
              <a:srgbClr val="E5E7EB"/>
            </a:solidFill>
            <a:prstDash val="solid"/>
          </a:ln>
        </p:spPr>
      </p:sp>
      <p:sp>
        <p:nvSpPr>
          <p:cNvPr id="10" name="Text 8"/>
          <p:cNvSpPr/>
          <p:nvPr/>
        </p:nvSpPr>
        <p:spPr>
          <a:xfrm>
            <a:off x="3271266" y="5010912"/>
            <a:ext cx="228600" cy="118872"/>
          </a:xfrm>
          <a:prstGeom prst="rect">
            <a:avLst/>
          </a:prstGeom>
          <a:noFill/>
          <a:ln/>
        </p:spPr>
        <p:txBody>
          <a:bodyPr wrap="square" lIns="0" tIns="0" rIns="0" bIns="0" rtlCol="0" anchor="ctr">
            <a:normAutofit/>
          </a:bodyPr>
          <a:lstStyle/>
          <a:p>
            <a:pPr algn="ctr" indent="0" marL="0">
              <a:buNone/>
            </a:pPr>
            <a:r>
              <a:rPr lang="en-US" sz="720" dirty="0">
                <a:solidFill>
                  <a:srgbClr val="637083"/>
                </a:solidFill>
                <a:latin typeface="Aptos" pitchFamily="34" charset="0"/>
                <a:ea typeface="Aptos" pitchFamily="34" charset="-122"/>
                <a:cs typeface="Aptos" pitchFamily="34" charset="-120"/>
              </a:rPr>
              <a:t>10</a:t>
            </a:r>
            <a:endParaRPr lang="en-US" sz="720" dirty="0"/>
          </a:p>
        </p:txBody>
      </p:sp>
      <p:sp>
        <p:nvSpPr>
          <p:cNvPr id="11" name="Shape 9"/>
          <p:cNvSpPr/>
          <p:nvPr/>
        </p:nvSpPr>
        <p:spPr>
          <a:xfrm>
            <a:off x="4594860" y="1280160"/>
            <a:ext cx="0" cy="3675888"/>
          </a:xfrm>
          <a:prstGeom prst="line">
            <a:avLst/>
          </a:prstGeom>
          <a:solidFill>
            <a:srgbClr val="FFFFFF">
              <a:alpha val="0"/>
            </a:srgbClr>
          </a:solidFill>
          <a:ln w="6350">
            <a:solidFill>
              <a:srgbClr val="E5E7EB"/>
            </a:solidFill>
            <a:prstDash val="solid"/>
          </a:ln>
        </p:spPr>
      </p:sp>
      <p:sp>
        <p:nvSpPr>
          <p:cNvPr id="12" name="Text 10"/>
          <p:cNvSpPr/>
          <p:nvPr/>
        </p:nvSpPr>
        <p:spPr>
          <a:xfrm>
            <a:off x="4485132" y="5010912"/>
            <a:ext cx="228600" cy="118872"/>
          </a:xfrm>
          <a:prstGeom prst="rect">
            <a:avLst/>
          </a:prstGeom>
          <a:noFill/>
          <a:ln/>
        </p:spPr>
        <p:txBody>
          <a:bodyPr wrap="square" lIns="0" tIns="0" rIns="0" bIns="0" rtlCol="0" anchor="ctr">
            <a:normAutofit/>
          </a:bodyPr>
          <a:lstStyle/>
          <a:p>
            <a:pPr algn="ctr" indent="0" marL="0">
              <a:buNone/>
            </a:pPr>
            <a:r>
              <a:rPr lang="en-US" sz="720" dirty="0">
                <a:solidFill>
                  <a:srgbClr val="637083"/>
                </a:solidFill>
                <a:latin typeface="Aptos" pitchFamily="34" charset="0"/>
                <a:ea typeface="Aptos" pitchFamily="34" charset="-122"/>
                <a:cs typeface="Aptos" pitchFamily="34" charset="-120"/>
              </a:rPr>
              <a:t>20</a:t>
            </a:r>
            <a:endParaRPr lang="en-US" sz="720" dirty="0"/>
          </a:p>
        </p:txBody>
      </p:sp>
      <p:sp>
        <p:nvSpPr>
          <p:cNvPr id="13" name="Shape 11"/>
          <p:cNvSpPr/>
          <p:nvPr/>
        </p:nvSpPr>
        <p:spPr>
          <a:xfrm>
            <a:off x="5808726" y="1280160"/>
            <a:ext cx="0" cy="3675888"/>
          </a:xfrm>
          <a:prstGeom prst="line">
            <a:avLst/>
          </a:prstGeom>
          <a:solidFill>
            <a:srgbClr val="FFFFFF">
              <a:alpha val="0"/>
            </a:srgbClr>
          </a:solidFill>
          <a:ln w="6350">
            <a:solidFill>
              <a:srgbClr val="E5E7EB"/>
            </a:solidFill>
            <a:prstDash val="solid"/>
          </a:ln>
        </p:spPr>
      </p:sp>
      <p:sp>
        <p:nvSpPr>
          <p:cNvPr id="14" name="Text 12"/>
          <p:cNvSpPr/>
          <p:nvPr/>
        </p:nvSpPr>
        <p:spPr>
          <a:xfrm>
            <a:off x="5698998" y="5010912"/>
            <a:ext cx="228600" cy="118872"/>
          </a:xfrm>
          <a:prstGeom prst="rect">
            <a:avLst/>
          </a:prstGeom>
          <a:noFill/>
          <a:ln/>
        </p:spPr>
        <p:txBody>
          <a:bodyPr wrap="square" lIns="0" tIns="0" rIns="0" bIns="0" rtlCol="0" anchor="ctr">
            <a:normAutofit/>
          </a:bodyPr>
          <a:lstStyle/>
          <a:p>
            <a:pPr algn="ctr" indent="0" marL="0">
              <a:buNone/>
            </a:pPr>
            <a:r>
              <a:rPr lang="en-US" sz="720" dirty="0">
                <a:solidFill>
                  <a:srgbClr val="637083"/>
                </a:solidFill>
                <a:latin typeface="Aptos" pitchFamily="34" charset="0"/>
                <a:ea typeface="Aptos" pitchFamily="34" charset="-122"/>
                <a:cs typeface="Aptos" pitchFamily="34" charset="-120"/>
              </a:rPr>
              <a:t>30</a:t>
            </a:r>
            <a:endParaRPr lang="en-US" sz="720" dirty="0"/>
          </a:p>
        </p:txBody>
      </p:sp>
      <p:sp>
        <p:nvSpPr>
          <p:cNvPr id="15" name="Shape 13"/>
          <p:cNvSpPr/>
          <p:nvPr/>
        </p:nvSpPr>
        <p:spPr>
          <a:xfrm>
            <a:off x="7022592" y="1280160"/>
            <a:ext cx="0" cy="3675888"/>
          </a:xfrm>
          <a:prstGeom prst="line">
            <a:avLst/>
          </a:prstGeom>
          <a:solidFill>
            <a:srgbClr val="FFFFFF">
              <a:alpha val="0"/>
            </a:srgbClr>
          </a:solidFill>
          <a:ln w="6350">
            <a:solidFill>
              <a:srgbClr val="E5E7EB"/>
            </a:solidFill>
            <a:prstDash val="solid"/>
          </a:ln>
        </p:spPr>
      </p:sp>
      <p:sp>
        <p:nvSpPr>
          <p:cNvPr id="16" name="Text 14"/>
          <p:cNvSpPr/>
          <p:nvPr/>
        </p:nvSpPr>
        <p:spPr>
          <a:xfrm>
            <a:off x="6912864" y="5010912"/>
            <a:ext cx="228600" cy="118872"/>
          </a:xfrm>
          <a:prstGeom prst="rect">
            <a:avLst/>
          </a:prstGeom>
          <a:noFill/>
          <a:ln/>
        </p:spPr>
        <p:txBody>
          <a:bodyPr wrap="square" lIns="0" tIns="0" rIns="0" bIns="0" rtlCol="0" anchor="ctr">
            <a:normAutofit/>
          </a:bodyPr>
          <a:lstStyle/>
          <a:p>
            <a:pPr algn="ctr" indent="0" marL="0">
              <a:buNone/>
            </a:pPr>
            <a:r>
              <a:rPr lang="en-US" sz="720" dirty="0">
                <a:solidFill>
                  <a:srgbClr val="637083"/>
                </a:solidFill>
                <a:latin typeface="Aptos" pitchFamily="34" charset="0"/>
                <a:ea typeface="Aptos" pitchFamily="34" charset="-122"/>
                <a:cs typeface="Aptos" pitchFamily="34" charset="-120"/>
              </a:rPr>
              <a:t>40</a:t>
            </a:r>
            <a:endParaRPr lang="en-US" sz="720" dirty="0"/>
          </a:p>
        </p:txBody>
      </p:sp>
      <p:sp>
        <p:nvSpPr>
          <p:cNvPr id="17" name="Text 15"/>
          <p:cNvSpPr/>
          <p:nvPr/>
        </p:nvSpPr>
        <p:spPr>
          <a:xfrm>
            <a:off x="594360" y="1362456"/>
            <a:ext cx="1463040" cy="182880"/>
          </a:xfrm>
          <a:prstGeom prst="rect">
            <a:avLst/>
          </a:prstGeom>
          <a:noFill/>
          <a:ln/>
        </p:spPr>
        <p:txBody>
          <a:bodyPr wrap="square" lIns="0" tIns="0" rIns="0" bIns="0" rtlCol="0" anchor="ctr">
            <a:normAutofit/>
          </a:bodyPr>
          <a:lstStyle/>
          <a:p>
            <a:pPr algn="r" indent="0" marL="0">
              <a:buNone/>
            </a:pPr>
            <a:r>
              <a:rPr lang="en-US" sz="750" dirty="0">
                <a:solidFill>
                  <a:srgbClr val="1F2937"/>
                </a:solidFill>
                <a:latin typeface="Aptos" pitchFamily="34" charset="0"/>
                <a:ea typeface="Aptos" pitchFamily="34" charset="-122"/>
                <a:cs typeface="Aptos" pitchFamily="34" charset="-120"/>
              </a:rPr>
              <a:t>AGFarsdat</a:t>
            </a:r>
            <a:endParaRPr lang="en-US" sz="750" dirty="0"/>
          </a:p>
        </p:txBody>
      </p:sp>
      <p:sp>
        <p:nvSpPr>
          <p:cNvPr id="18" name="Text 16"/>
          <p:cNvSpPr/>
          <p:nvPr/>
        </p:nvSpPr>
        <p:spPr>
          <a:xfrm>
            <a:off x="594360" y="2097634"/>
            <a:ext cx="1463040" cy="182880"/>
          </a:xfrm>
          <a:prstGeom prst="rect">
            <a:avLst/>
          </a:prstGeom>
          <a:noFill/>
          <a:ln/>
        </p:spPr>
        <p:txBody>
          <a:bodyPr wrap="square" lIns="0" tIns="0" rIns="0" bIns="0" rtlCol="0" anchor="ctr">
            <a:normAutofit/>
          </a:bodyPr>
          <a:lstStyle/>
          <a:p>
            <a:pPr algn="r" indent="0" marL="0">
              <a:buNone/>
            </a:pPr>
            <a:r>
              <a:rPr lang="en-US" sz="750" dirty="0">
                <a:solidFill>
                  <a:srgbClr val="1F2937"/>
                </a:solidFill>
                <a:latin typeface="Aptos" pitchFamily="34" charset="0"/>
                <a:ea typeface="Aptos" pitchFamily="34" charset="-122"/>
                <a:cs typeface="Aptos" pitchFamily="34" charset="-120"/>
              </a:rPr>
              <a:t>Common Voice</a:t>
            </a:r>
            <a:endParaRPr lang="en-US" sz="750" dirty="0"/>
          </a:p>
        </p:txBody>
      </p:sp>
      <p:sp>
        <p:nvSpPr>
          <p:cNvPr id="19" name="Text 17"/>
          <p:cNvSpPr/>
          <p:nvPr/>
        </p:nvSpPr>
        <p:spPr>
          <a:xfrm>
            <a:off x="594360" y="2832811"/>
            <a:ext cx="1463040" cy="182880"/>
          </a:xfrm>
          <a:prstGeom prst="rect">
            <a:avLst/>
          </a:prstGeom>
          <a:noFill/>
          <a:ln/>
        </p:spPr>
        <p:txBody>
          <a:bodyPr wrap="square" lIns="0" tIns="0" rIns="0" bIns="0" rtlCol="0" anchor="ctr">
            <a:normAutofit/>
          </a:bodyPr>
          <a:lstStyle/>
          <a:p>
            <a:pPr algn="r" indent="0" marL="0">
              <a:buNone/>
            </a:pPr>
            <a:r>
              <a:rPr lang="en-US" sz="750" dirty="0">
                <a:solidFill>
                  <a:srgbClr val="1F2937"/>
                </a:solidFill>
                <a:latin typeface="Aptos" pitchFamily="34" charset="0"/>
                <a:ea typeface="Aptos" pitchFamily="34" charset="-122"/>
                <a:cs typeface="Aptos" pitchFamily="34" charset="-120"/>
              </a:rPr>
              <a:t>FLEURS</a:t>
            </a:r>
            <a:endParaRPr lang="en-US" sz="750" dirty="0"/>
          </a:p>
        </p:txBody>
      </p:sp>
      <p:sp>
        <p:nvSpPr>
          <p:cNvPr id="20" name="Text 18"/>
          <p:cNvSpPr/>
          <p:nvPr/>
        </p:nvSpPr>
        <p:spPr>
          <a:xfrm>
            <a:off x="594360" y="3567989"/>
            <a:ext cx="1463040" cy="182880"/>
          </a:xfrm>
          <a:prstGeom prst="rect">
            <a:avLst/>
          </a:prstGeom>
          <a:noFill/>
          <a:ln/>
        </p:spPr>
        <p:txBody>
          <a:bodyPr wrap="square" lIns="0" tIns="0" rIns="0" bIns="0" rtlCol="0" anchor="ctr">
            <a:normAutofit/>
          </a:bodyPr>
          <a:lstStyle/>
          <a:p>
            <a:pPr algn="r" indent="0" marL="0">
              <a:buNone/>
            </a:pPr>
            <a:r>
              <a:rPr lang="en-US" sz="750" dirty="0">
                <a:solidFill>
                  <a:srgbClr val="1F2937"/>
                </a:solidFill>
                <a:latin typeface="Aptos" pitchFamily="34" charset="0"/>
                <a:ea typeface="Aptos" pitchFamily="34" charset="-122"/>
                <a:cs typeface="Aptos" pitchFamily="34" charset="-120"/>
              </a:rPr>
              <a:t>PersianSpeech</a:t>
            </a:r>
            <a:endParaRPr lang="en-US" sz="750" dirty="0"/>
          </a:p>
        </p:txBody>
      </p:sp>
      <p:sp>
        <p:nvSpPr>
          <p:cNvPr id="21" name="Text 19"/>
          <p:cNvSpPr/>
          <p:nvPr/>
        </p:nvSpPr>
        <p:spPr>
          <a:xfrm>
            <a:off x="594360" y="4303166"/>
            <a:ext cx="1463040" cy="182880"/>
          </a:xfrm>
          <a:prstGeom prst="rect">
            <a:avLst/>
          </a:prstGeom>
          <a:noFill/>
          <a:ln/>
        </p:spPr>
        <p:txBody>
          <a:bodyPr wrap="square" lIns="0" tIns="0" rIns="0" bIns="0" rtlCol="0" anchor="ctr">
            <a:normAutofit/>
          </a:bodyPr>
          <a:lstStyle/>
          <a:p>
            <a:pPr algn="r" indent="0" marL="0">
              <a:buNone/>
            </a:pPr>
            <a:r>
              <a:rPr lang="en-US" sz="750" dirty="0">
                <a:solidFill>
                  <a:srgbClr val="1F2937"/>
                </a:solidFill>
                <a:latin typeface="Aptos" pitchFamily="34" charset="0"/>
                <a:ea typeface="Aptos" pitchFamily="34" charset="-122"/>
                <a:cs typeface="Aptos" pitchFamily="34" charset="-120"/>
              </a:rPr>
              <a:t>Persian Speech Corpus</a:t>
            </a:r>
            <a:endParaRPr lang="en-US" sz="750" dirty="0"/>
          </a:p>
        </p:txBody>
      </p:sp>
      <p:sp>
        <p:nvSpPr>
          <p:cNvPr id="22" name="Shape 20"/>
          <p:cNvSpPr/>
          <p:nvPr/>
        </p:nvSpPr>
        <p:spPr>
          <a:xfrm>
            <a:off x="2167128" y="1316736"/>
            <a:ext cx="4325005" cy="147036"/>
          </a:xfrm>
          <a:prstGeom prst="rect">
            <a:avLst/>
          </a:prstGeom>
          <a:solidFill>
            <a:srgbClr val="8A9099"/>
          </a:solidFill>
          <a:ln w="12700">
            <a:solidFill>
              <a:srgbClr val="8A9099">
                <a:alpha val="0"/>
              </a:srgbClr>
            </a:solidFill>
            <a:prstDash val="solid"/>
          </a:ln>
        </p:spPr>
      </p:sp>
      <p:sp>
        <p:nvSpPr>
          <p:cNvPr id="23" name="Text 21"/>
          <p:cNvSpPr/>
          <p:nvPr/>
        </p:nvSpPr>
        <p:spPr>
          <a:xfrm>
            <a:off x="6528709" y="1307592"/>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35.6</a:t>
            </a:r>
            <a:endParaRPr lang="en-US" sz="670" dirty="0"/>
          </a:p>
        </p:txBody>
      </p:sp>
      <p:sp>
        <p:nvSpPr>
          <p:cNvPr id="24" name="Shape 22"/>
          <p:cNvSpPr/>
          <p:nvPr/>
        </p:nvSpPr>
        <p:spPr>
          <a:xfrm>
            <a:off x="2167128" y="2051914"/>
            <a:ext cx="1398374" cy="147036"/>
          </a:xfrm>
          <a:prstGeom prst="rect">
            <a:avLst/>
          </a:prstGeom>
          <a:solidFill>
            <a:srgbClr val="8A9099"/>
          </a:solidFill>
          <a:ln w="12700">
            <a:solidFill>
              <a:srgbClr val="8A9099">
                <a:alpha val="0"/>
              </a:srgbClr>
            </a:solidFill>
            <a:prstDash val="solid"/>
          </a:ln>
        </p:spPr>
      </p:sp>
      <p:sp>
        <p:nvSpPr>
          <p:cNvPr id="25" name="Text 23"/>
          <p:cNvSpPr/>
          <p:nvPr/>
        </p:nvSpPr>
        <p:spPr>
          <a:xfrm>
            <a:off x="3602078" y="2042770"/>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11.5</a:t>
            </a:r>
            <a:endParaRPr lang="en-US" sz="670" dirty="0"/>
          </a:p>
        </p:txBody>
      </p:sp>
      <p:sp>
        <p:nvSpPr>
          <p:cNvPr id="26" name="Shape 24"/>
          <p:cNvSpPr/>
          <p:nvPr/>
        </p:nvSpPr>
        <p:spPr>
          <a:xfrm>
            <a:off x="2167128" y="2787091"/>
            <a:ext cx="2555188" cy="147036"/>
          </a:xfrm>
          <a:prstGeom prst="rect">
            <a:avLst/>
          </a:prstGeom>
          <a:solidFill>
            <a:srgbClr val="8A9099"/>
          </a:solidFill>
          <a:ln w="12700">
            <a:solidFill>
              <a:srgbClr val="8A9099">
                <a:alpha val="0"/>
              </a:srgbClr>
            </a:solidFill>
            <a:prstDash val="solid"/>
          </a:ln>
        </p:spPr>
      </p:sp>
      <p:sp>
        <p:nvSpPr>
          <p:cNvPr id="27" name="Text 25"/>
          <p:cNvSpPr/>
          <p:nvPr/>
        </p:nvSpPr>
        <p:spPr>
          <a:xfrm>
            <a:off x="4758892" y="2777947"/>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21.1</a:t>
            </a:r>
            <a:endParaRPr lang="en-US" sz="670" dirty="0"/>
          </a:p>
        </p:txBody>
      </p:sp>
      <p:sp>
        <p:nvSpPr>
          <p:cNvPr id="28" name="Shape 26"/>
          <p:cNvSpPr/>
          <p:nvPr/>
        </p:nvSpPr>
        <p:spPr>
          <a:xfrm>
            <a:off x="2167128" y="3522269"/>
            <a:ext cx="4191479" cy="147036"/>
          </a:xfrm>
          <a:prstGeom prst="rect">
            <a:avLst/>
          </a:prstGeom>
          <a:solidFill>
            <a:srgbClr val="8A9099"/>
          </a:solidFill>
          <a:ln w="12700">
            <a:solidFill>
              <a:srgbClr val="8A9099">
                <a:alpha val="0"/>
              </a:srgbClr>
            </a:solidFill>
            <a:prstDash val="solid"/>
          </a:ln>
        </p:spPr>
      </p:sp>
      <p:sp>
        <p:nvSpPr>
          <p:cNvPr id="29" name="Text 27"/>
          <p:cNvSpPr/>
          <p:nvPr/>
        </p:nvSpPr>
        <p:spPr>
          <a:xfrm>
            <a:off x="6395183" y="3513125"/>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34.5</a:t>
            </a:r>
            <a:endParaRPr lang="en-US" sz="670" dirty="0"/>
          </a:p>
        </p:txBody>
      </p:sp>
      <p:sp>
        <p:nvSpPr>
          <p:cNvPr id="30" name="Shape 28"/>
          <p:cNvSpPr/>
          <p:nvPr/>
        </p:nvSpPr>
        <p:spPr>
          <a:xfrm>
            <a:off x="2167128" y="4257446"/>
            <a:ext cx="3662234" cy="147036"/>
          </a:xfrm>
          <a:prstGeom prst="rect">
            <a:avLst/>
          </a:prstGeom>
          <a:solidFill>
            <a:srgbClr val="8A9099"/>
          </a:solidFill>
          <a:ln w="12700">
            <a:solidFill>
              <a:srgbClr val="8A9099">
                <a:alpha val="0"/>
              </a:srgbClr>
            </a:solidFill>
            <a:prstDash val="solid"/>
          </a:ln>
        </p:spPr>
      </p:sp>
      <p:sp>
        <p:nvSpPr>
          <p:cNvPr id="31" name="Text 29"/>
          <p:cNvSpPr/>
          <p:nvPr/>
        </p:nvSpPr>
        <p:spPr>
          <a:xfrm>
            <a:off x="5865938" y="4248302"/>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30.2</a:t>
            </a:r>
            <a:endParaRPr lang="en-US" sz="670" dirty="0"/>
          </a:p>
        </p:txBody>
      </p:sp>
      <p:sp>
        <p:nvSpPr>
          <p:cNvPr id="32" name="Shape 30"/>
          <p:cNvSpPr/>
          <p:nvPr/>
        </p:nvSpPr>
        <p:spPr>
          <a:xfrm>
            <a:off x="2167128" y="1496119"/>
            <a:ext cx="3131774" cy="147036"/>
          </a:xfrm>
          <a:prstGeom prst="rect">
            <a:avLst/>
          </a:prstGeom>
          <a:solidFill>
            <a:srgbClr val="0078B8"/>
          </a:solidFill>
          <a:ln w="12700">
            <a:solidFill>
              <a:srgbClr val="0078B8">
                <a:alpha val="0"/>
              </a:srgbClr>
            </a:solidFill>
            <a:prstDash val="solid"/>
          </a:ln>
        </p:spPr>
      </p:sp>
      <p:sp>
        <p:nvSpPr>
          <p:cNvPr id="33" name="Text 31"/>
          <p:cNvSpPr/>
          <p:nvPr/>
        </p:nvSpPr>
        <p:spPr>
          <a:xfrm>
            <a:off x="5335478" y="1486975"/>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25.8</a:t>
            </a:r>
            <a:endParaRPr lang="en-US" sz="670" dirty="0"/>
          </a:p>
        </p:txBody>
      </p:sp>
      <p:sp>
        <p:nvSpPr>
          <p:cNvPr id="34" name="Shape 32"/>
          <p:cNvSpPr/>
          <p:nvPr/>
        </p:nvSpPr>
        <p:spPr>
          <a:xfrm>
            <a:off x="2167128" y="2231297"/>
            <a:ext cx="951671" cy="147036"/>
          </a:xfrm>
          <a:prstGeom prst="rect">
            <a:avLst/>
          </a:prstGeom>
          <a:solidFill>
            <a:srgbClr val="0078B8"/>
          </a:solidFill>
          <a:ln w="12700">
            <a:solidFill>
              <a:srgbClr val="0078B8">
                <a:alpha val="0"/>
              </a:srgbClr>
            </a:solidFill>
            <a:prstDash val="solid"/>
          </a:ln>
        </p:spPr>
      </p:sp>
      <p:sp>
        <p:nvSpPr>
          <p:cNvPr id="35" name="Text 33"/>
          <p:cNvSpPr/>
          <p:nvPr/>
        </p:nvSpPr>
        <p:spPr>
          <a:xfrm>
            <a:off x="3155375" y="2222153"/>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7.8</a:t>
            </a:r>
            <a:endParaRPr lang="en-US" sz="670" dirty="0"/>
          </a:p>
        </p:txBody>
      </p:sp>
      <p:sp>
        <p:nvSpPr>
          <p:cNvPr id="36" name="Shape 34"/>
          <p:cNvSpPr/>
          <p:nvPr/>
        </p:nvSpPr>
        <p:spPr>
          <a:xfrm>
            <a:off x="2167128" y="2966475"/>
            <a:ext cx="2405882" cy="147036"/>
          </a:xfrm>
          <a:prstGeom prst="rect">
            <a:avLst/>
          </a:prstGeom>
          <a:solidFill>
            <a:srgbClr val="0078B8"/>
          </a:solidFill>
          <a:ln w="12700">
            <a:solidFill>
              <a:srgbClr val="0078B8">
                <a:alpha val="0"/>
              </a:srgbClr>
            </a:solidFill>
            <a:prstDash val="solid"/>
          </a:ln>
        </p:spPr>
      </p:sp>
      <p:sp>
        <p:nvSpPr>
          <p:cNvPr id="37" name="Text 35"/>
          <p:cNvSpPr/>
          <p:nvPr/>
        </p:nvSpPr>
        <p:spPr>
          <a:xfrm>
            <a:off x="4609586" y="2957331"/>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19.8</a:t>
            </a:r>
            <a:endParaRPr lang="en-US" sz="670" dirty="0"/>
          </a:p>
        </p:txBody>
      </p:sp>
      <p:sp>
        <p:nvSpPr>
          <p:cNvPr id="38" name="Shape 36"/>
          <p:cNvSpPr/>
          <p:nvPr/>
        </p:nvSpPr>
        <p:spPr>
          <a:xfrm>
            <a:off x="2167128" y="3701652"/>
            <a:ext cx="4278878" cy="147036"/>
          </a:xfrm>
          <a:prstGeom prst="rect">
            <a:avLst/>
          </a:prstGeom>
          <a:solidFill>
            <a:srgbClr val="0078B8"/>
          </a:solidFill>
          <a:ln w="12700">
            <a:solidFill>
              <a:srgbClr val="0078B8">
                <a:alpha val="0"/>
              </a:srgbClr>
            </a:solidFill>
            <a:prstDash val="solid"/>
          </a:ln>
        </p:spPr>
      </p:sp>
      <p:sp>
        <p:nvSpPr>
          <p:cNvPr id="39" name="Text 37"/>
          <p:cNvSpPr/>
          <p:nvPr/>
        </p:nvSpPr>
        <p:spPr>
          <a:xfrm>
            <a:off x="6482582" y="3692508"/>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35.3</a:t>
            </a:r>
            <a:endParaRPr lang="en-US" sz="670" dirty="0"/>
          </a:p>
        </p:txBody>
      </p:sp>
      <p:sp>
        <p:nvSpPr>
          <p:cNvPr id="40" name="Shape 38"/>
          <p:cNvSpPr/>
          <p:nvPr/>
        </p:nvSpPr>
        <p:spPr>
          <a:xfrm>
            <a:off x="2167128" y="4436830"/>
            <a:ext cx="3750846" cy="147036"/>
          </a:xfrm>
          <a:prstGeom prst="rect">
            <a:avLst/>
          </a:prstGeom>
          <a:solidFill>
            <a:srgbClr val="0078B8"/>
          </a:solidFill>
          <a:ln w="12700">
            <a:solidFill>
              <a:srgbClr val="0078B8">
                <a:alpha val="0"/>
              </a:srgbClr>
            </a:solidFill>
            <a:prstDash val="solid"/>
          </a:ln>
        </p:spPr>
      </p:sp>
      <p:sp>
        <p:nvSpPr>
          <p:cNvPr id="41" name="Text 39"/>
          <p:cNvSpPr/>
          <p:nvPr/>
        </p:nvSpPr>
        <p:spPr>
          <a:xfrm>
            <a:off x="5954550" y="4427686"/>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30.9</a:t>
            </a:r>
            <a:endParaRPr lang="en-US" sz="670" dirty="0"/>
          </a:p>
        </p:txBody>
      </p:sp>
      <p:sp>
        <p:nvSpPr>
          <p:cNvPr id="42" name="Shape 40"/>
          <p:cNvSpPr/>
          <p:nvPr/>
        </p:nvSpPr>
        <p:spPr>
          <a:xfrm>
            <a:off x="2167128" y="1675503"/>
            <a:ext cx="3080792" cy="147036"/>
          </a:xfrm>
          <a:prstGeom prst="rect">
            <a:avLst/>
          </a:prstGeom>
          <a:solidFill>
            <a:srgbClr val="D65F00"/>
          </a:solidFill>
          <a:ln w="12700">
            <a:solidFill>
              <a:srgbClr val="D65F00">
                <a:alpha val="0"/>
              </a:srgbClr>
            </a:solidFill>
            <a:prstDash val="solid"/>
          </a:ln>
        </p:spPr>
      </p:sp>
      <p:sp>
        <p:nvSpPr>
          <p:cNvPr id="43" name="Text 41"/>
          <p:cNvSpPr/>
          <p:nvPr/>
        </p:nvSpPr>
        <p:spPr>
          <a:xfrm>
            <a:off x="5284496" y="1666359"/>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25.4</a:t>
            </a:r>
            <a:endParaRPr lang="en-US" sz="670" dirty="0"/>
          </a:p>
        </p:txBody>
      </p:sp>
      <p:sp>
        <p:nvSpPr>
          <p:cNvPr id="44" name="Shape 42"/>
          <p:cNvSpPr/>
          <p:nvPr/>
        </p:nvSpPr>
        <p:spPr>
          <a:xfrm>
            <a:off x="2167128" y="2410680"/>
            <a:ext cx="1099763" cy="147036"/>
          </a:xfrm>
          <a:prstGeom prst="rect">
            <a:avLst/>
          </a:prstGeom>
          <a:solidFill>
            <a:srgbClr val="D65F00"/>
          </a:solidFill>
          <a:ln w="12700">
            <a:solidFill>
              <a:srgbClr val="D65F00">
                <a:alpha val="0"/>
              </a:srgbClr>
            </a:solidFill>
            <a:prstDash val="solid"/>
          </a:ln>
        </p:spPr>
      </p:sp>
      <p:sp>
        <p:nvSpPr>
          <p:cNvPr id="45" name="Text 43"/>
          <p:cNvSpPr/>
          <p:nvPr/>
        </p:nvSpPr>
        <p:spPr>
          <a:xfrm>
            <a:off x="3303467" y="2401536"/>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9.1</a:t>
            </a:r>
            <a:endParaRPr lang="en-US" sz="670" dirty="0"/>
          </a:p>
        </p:txBody>
      </p:sp>
      <p:sp>
        <p:nvSpPr>
          <p:cNvPr id="46" name="Shape 44"/>
          <p:cNvSpPr/>
          <p:nvPr/>
        </p:nvSpPr>
        <p:spPr>
          <a:xfrm>
            <a:off x="2167128" y="3145858"/>
            <a:ext cx="2380391" cy="147036"/>
          </a:xfrm>
          <a:prstGeom prst="rect">
            <a:avLst/>
          </a:prstGeom>
          <a:solidFill>
            <a:srgbClr val="D65F00"/>
          </a:solidFill>
          <a:ln w="12700">
            <a:solidFill>
              <a:srgbClr val="D65F00">
                <a:alpha val="0"/>
              </a:srgbClr>
            </a:solidFill>
            <a:prstDash val="solid"/>
          </a:ln>
        </p:spPr>
      </p:sp>
      <p:sp>
        <p:nvSpPr>
          <p:cNvPr id="47" name="Text 45"/>
          <p:cNvSpPr/>
          <p:nvPr/>
        </p:nvSpPr>
        <p:spPr>
          <a:xfrm>
            <a:off x="4584095" y="3136714"/>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19.6</a:t>
            </a:r>
            <a:endParaRPr lang="en-US" sz="670" dirty="0"/>
          </a:p>
        </p:txBody>
      </p:sp>
      <p:sp>
        <p:nvSpPr>
          <p:cNvPr id="48" name="Shape 46"/>
          <p:cNvSpPr/>
          <p:nvPr/>
        </p:nvSpPr>
        <p:spPr>
          <a:xfrm>
            <a:off x="2167128" y="3881035"/>
            <a:ext cx="3784834" cy="147036"/>
          </a:xfrm>
          <a:prstGeom prst="rect">
            <a:avLst/>
          </a:prstGeom>
          <a:solidFill>
            <a:srgbClr val="D65F00"/>
          </a:solidFill>
          <a:ln w="12700">
            <a:solidFill>
              <a:srgbClr val="D65F00">
                <a:alpha val="0"/>
              </a:srgbClr>
            </a:solidFill>
            <a:prstDash val="solid"/>
          </a:ln>
        </p:spPr>
      </p:sp>
      <p:sp>
        <p:nvSpPr>
          <p:cNvPr id="49" name="Text 47"/>
          <p:cNvSpPr/>
          <p:nvPr/>
        </p:nvSpPr>
        <p:spPr>
          <a:xfrm>
            <a:off x="5988538" y="3871891"/>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31.2</a:t>
            </a:r>
            <a:endParaRPr lang="en-US" sz="670" dirty="0"/>
          </a:p>
        </p:txBody>
      </p:sp>
      <p:sp>
        <p:nvSpPr>
          <p:cNvPr id="50" name="Shape 48"/>
          <p:cNvSpPr/>
          <p:nvPr/>
        </p:nvSpPr>
        <p:spPr>
          <a:xfrm>
            <a:off x="2167128" y="4616213"/>
            <a:ext cx="4269167" cy="147036"/>
          </a:xfrm>
          <a:prstGeom prst="rect">
            <a:avLst/>
          </a:prstGeom>
          <a:solidFill>
            <a:srgbClr val="D65F00"/>
          </a:solidFill>
          <a:ln w="12700">
            <a:solidFill>
              <a:srgbClr val="D65F00">
                <a:alpha val="0"/>
              </a:srgbClr>
            </a:solidFill>
            <a:prstDash val="solid"/>
          </a:ln>
        </p:spPr>
      </p:sp>
      <p:sp>
        <p:nvSpPr>
          <p:cNvPr id="51" name="Text 49"/>
          <p:cNvSpPr/>
          <p:nvPr/>
        </p:nvSpPr>
        <p:spPr>
          <a:xfrm>
            <a:off x="6472871" y="4607069"/>
            <a:ext cx="320040" cy="174468"/>
          </a:xfrm>
          <a:prstGeom prst="rect">
            <a:avLst/>
          </a:prstGeom>
          <a:noFill/>
          <a:ln/>
        </p:spPr>
        <p:txBody>
          <a:bodyPr wrap="square" lIns="0" tIns="0" rIns="0" bIns="0" rtlCol="0" anchor="ctr">
            <a:normAutofit/>
          </a:bodyPr>
          <a:lstStyle/>
          <a:p>
            <a:pPr algn="l" indent="0" marL="0">
              <a:buNone/>
            </a:pPr>
            <a:r>
              <a:rPr lang="en-US" sz="670" dirty="0">
                <a:solidFill>
                  <a:srgbClr val="637083"/>
                </a:solidFill>
                <a:latin typeface="Aptos" pitchFamily="34" charset="0"/>
                <a:ea typeface="Aptos" pitchFamily="34" charset="-122"/>
                <a:cs typeface="Aptos" pitchFamily="34" charset="-120"/>
              </a:rPr>
              <a:t>35.2</a:t>
            </a:r>
            <a:endParaRPr lang="en-US" sz="670" dirty="0"/>
          </a:p>
        </p:txBody>
      </p:sp>
      <p:sp>
        <p:nvSpPr>
          <p:cNvPr id="52" name="Shape 50"/>
          <p:cNvSpPr/>
          <p:nvPr/>
        </p:nvSpPr>
        <p:spPr>
          <a:xfrm>
            <a:off x="2167128" y="5367528"/>
            <a:ext cx="109728" cy="109728"/>
          </a:xfrm>
          <a:prstGeom prst="rect">
            <a:avLst/>
          </a:prstGeom>
          <a:solidFill>
            <a:srgbClr val="8A9099"/>
          </a:solidFill>
          <a:ln w="12700">
            <a:solidFill>
              <a:srgbClr val="8A9099">
                <a:alpha val="0"/>
              </a:srgbClr>
            </a:solidFill>
            <a:prstDash val="solid"/>
          </a:ln>
        </p:spPr>
      </p:sp>
      <p:sp>
        <p:nvSpPr>
          <p:cNvPr id="53" name="Text 51"/>
          <p:cNvSpPr/>
          <p:nvPr/>
        </p:nvSpPr>
        <p:spPr>
          <a:xfrm>
            <a:off x="2331720" y="5340096"/>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Ordinary</a:t>
            </a:r>
            <a:endParaRPr lang="en-US" sz="850" dirty="0"/>
          </a:p>
        </p:txBody>
      </p:sp>
      <p:sp>
        <p:nvSpPr>
          <p:cNvPr id="54" name="Shape 52"/>
          <p:cNvSpPr/>
          <p:nvPr/>
        </p:nvSpPr>
        <p:spPr>
          <a:xfrm>
            <a:off x="4041648" y="5367528"/>
            <a:ext cx="109728" cy="109728"/>
          </a:xfrm>
          <a:prstGeom prst="rect">
            <a:avLst/>
          </a:prstGeom>
          <a:solidFill>
            <a:srgbClr val="0078B8"/>
          </a:solidFill>
          <a:ln w="12700">
            <a:solidFill>
              <a:srgbClr val="0078B8">
                <a:alpha val="0"/>
              </a:srgbClr>
            </a:solidFill>
            <a:prstDash val="solid"/>
          </a:ln>
        </p:spPr>
      </p:sp>
      <p:sp>
        <p:nvSpPr>
          <p:cNvPr id="55" name="Text 53"/>
          <p:cNvSpPr/>
          <p:nvPr/>
        </p:nvSpPr>
        <p:spPr>
          <a:xfrm>
            <a:off x="4206240" y="5340096"/>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Multi</a:t>
            </a:r>
            <a:endParaRPr lang="en-US" sz="850" dirty="0"/>
          </a:p>
        </p:txBody>
      </p:sp>
      <p:sp>
        <p:nvSpPr>
          <p:cNvPr id="56" name="Shape 54"/>
          <p:cNvSpPr/>
          <p:nvPr/>
        </p:nvSpPr>
        <p:spPr>
          <a:xfrm>
            <a:off x="5916168" y="5367528"/>
            <a:ext cx="109728" cy="109728"/>
          </a:xfrm>
          <a:prstGeom prst="rect">
            <a:avLst/>
          </a:prstGeom>
          <a:solidFill>
            <a:srgbClr val="D65F00"/>
          </a:solidFill>
          <a:ln w="12700">
            <a:solidFill>
              <a:srgbClr val="D65F00">
                <a:alpha val="0"/>
              </a:srgbClr>
            </a:solidFill>
            <a:prstDash val="solid"/>
          </a:ln>
        </p:spPr>
      </p:sp>
      <p:sp>
        <p:nvSpPr>
          <p:cNvPr id="57" name="Text 55"/>
          <p:cNvSpPr/>
          <p:nvPr/>
        </p:nvSpPr>
        <p:spPr>
          <a:xfrm>
            <a:off x="6080760" y="5340096"/>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Fusion</a:t>
            </a:r>
            <a:endParaRPr lang="en-US" sz="850" dirty="0"/>
          </a:p>
        </p:txBody>
      </p:sp>
      <p:sp>
        <p:nvSpPr>
          <p:cNvPr id="58" name="Shape 56"/>
          <p:cNvSpPr/>
          <p:nvPr/>
        </p:nvSpPr>
        <p:spPr>
          <a:xfrm>
            <a:off x="7543800" y="1234440"/>
            <a:ext cx="1904238" cy="358140"/>
          </a:xfrm>
          <a:prstGeom prst="rect">
            <a:avLst/>
          </a:prstGeom>
          <a:solidFill>
            <a:srgbClr val="EEF2F6"/>
          </a:solidFill>
          <a:ln w="6350">
            <a:solidFill>
              <a:srgbClr val="CBD5E1"/>
            </a:solidFill>
            <a:prstDash val="solid"/>
          </a:ln>
        </p:spPr>
      </p:sp>
      <p:sp>
        <p:nvSpPr>
          <p:cNvPr id="59" name="Text 57"/>
          <p:cNvSpPr/>
          <p:nvPr/>
        </p:nvSpPr>
        <p:spPr>
          <a:xfrm>
            <a:off x="7580376" y="1252728"/>
            <a:ext cx="1831086" cy="321564"/>
          </a:xfrm>
          <a:prstGeom prst="rect">
            <a:avLst/>
          </a:prstGeom>
          <a:noFill/>
          <a:ln/>
        </p:spPr>
        <p:txBody>
          <a:bodyPr wrap="square" lIns="0" tIns="0" rIns="0" bIns="0" rtlCol="0" anchor="ctr">
            <a:normAutofit/>
          </a:bodyPr>
          <a:lstStyle/>
          <a:p>
            <a:pPr algn="l" indent="0" marL="0">
              <a:buNone/>
            </a:pPr>
            <a:r>
              <a:rPr lang="en-US" sz="760" b="1" dirty="0">
                <a:solidFill>
                  <a:srgbClr val="1F2937"/>
                </a:solidFill>
                <a:latin typeface="Aptos" pitchFamily="34" charset="0"/>
                <a:ea typeface="Aptos" pitchFamily="34" charset="-122"/>
                <a:cs typeface="Aptos" pitchFamily="34" charset="-120"/>
              </a:rPr>
              <a:t>Test set</a:t>
            </a:r>
            <a:endParaRPr lang="en-US" sz="760" dirty="0"/>
          </a:p>
        </p:txBody>
      </p:sp>
      <p:sp>
        <p:nvSpPr>
          <p:cNvPr id="60" name="Shape 58"/>
          <p:cNvSpPr/>
          <p:nvPr/>
        </p:nvSpPr>
        <p:spPr>
          <a:xfrm>
            <a:off x="9448038" y="1234440"/>
            <a:ext cx="660654" cy="358140"/>
          </a:xfrm>
          <a:prstGeom prst="rect">
            <a:avLst/>
          </a:prstGeom>
          <a:solidFill>
            <a:srgbClr val="EEF2F6"/>
          </a:solidFill>
          <a:ln w="6350">
            <a:solidFill>
              <a:srgbClr val="CBD5E1"/>
            </a:solidFill>
            <a:prstDash val="solid"/>
          </a:ln>
        </p:spPr>
      </p:sp>
      <p:sp>
        <p:nvSpPr>
          <p:cNvPr id="61" name="Text 59"/>
          <p:cNvSpPr/>
          <p:nvPr/>
        </p:nvSpPr>
        <p:spPr>
          <a:xfrm>
            <a:off x="9484614" y="1252728"/>
            <a:ext cx="587502" cy="321564"/>
          </a:xfrm>
          <a:prstGeom prst="rect">
            <a:avLst/>
          </a:prstGeom>
          <a:noFill/>
          <a:ln/>
        </p:spPr>
        <p:txBody>
          <a:bodyPr wrap="square" lIns="0" tIns="0" rIns="0" bIns="0" rtlCol="0" anchor="ctr">
            <a:normAutofit/>
          </a:bodyPr>
          <a:lstStyle/>
          <a:p>
            <a:pPr algn="ctr" indent="0" marL="0">
              <a:buNone/>
            </a:pPr>
            <a:r>
              <a:rPr lang="en-US" sz="760" b="1" dirty="0">
                <a:solidFill>
                  <a:srgbClr val="1F2937"/>
                </a:solidFill>
                <a:latin typeface="Aptos" pitchFamily="34" charset="0"/>
                <a:ea typeface="Aptos" pitchFamily="34" charset="-122"/>
                <a:cs typeface="Aptos" pitchFamily="34" charset="-120"/>
              </a:rPr>
              <a:t>Ord.</a:t>
            </a:r>
            <a:endParaRPr lang="en-US" sz="760" dirty="0"/>
          </a:p>
        </p:txBody>
      </p:sp>
      <p:sp>
        <p:nvSpPr>
          <p:cNvPr id="62" name="Shape 60"/>
          <p:cNvSpPr/>
          <p:nvPr/>
        </p:nvSpPr>
        <p:spPr>
          <a:xfrm>
            <a:off x="10108692" y="1234440"/>
            <a:ext cx="660654" cy="358140"/>
          </a:xfrm>
          <a:prstGeom prst="rect">
            <a:avLst/>
          </a:prstGeom>
          <a:solidFill>
            <a:srgbClr val="EEF2F6"/>
          </a:solidFill>
          <a:ln w="6350">
            <a:solidFill>
              <a:srgbClr val="CBD5E1"/>
            </a:solidFill>
            <a:prstDash val="solid"/>
          </a:ln>
        </p:spPr>
      </p:sp>
      <p:sp>
        <p:nvSpPr>
          <p:cNvPr id="63" name="Text 61"/>
          <p:cNvSpPr/>
          <p:nvPr/>
        </p:nvSpPr>
        <p:spPr>
          <a:xfrm>
            <a:off x="10145268" y="1252728"/>
            <a:ext cx="587502" cy="321564"/>
          </a:xfrm>
          <a:prstGeom prst="rect">
            <a:avLst/>
          </a:prstGeom>
          <a:noFill/>
          <a:ln/>
        </p:spPr>
        <p:txBody>
          <a:bodyPr wrap="square" lIns="0" tIns="0" rIns="0" bIns="0" rtlCol="0" anchor="ctr">
            <a:normAutofit/>
          </a:bodyPr>
          <a:lstStyle/>
          <a:p>
            <a:pPr algn="ctr" indent="0" marL="0">
              <a:buNone/>
            </a:pPr>
            <a:r>
              <a:rPr lang="en-US" sz="760" b="1" dirty="0">
                <a:solidFill>
                  <a:srgbClr val="1F2937"/>
                </a:solidFill>
                <a:latin typeface="Aptos" pitchFamily="34" charset="0"/>
                <a:ea typeface="Aptos" pitchFamily="34" charset="-122"/>
                <a:cs typeface="Aptos" pitchFamily="34" charset="-120"/>
              </a:rPr>
              <a:t>Multi</a:t>
            </a:r>
            <a:endParaRPr lang="en-US" sz="760" dirty="0"/>
          </a:p>
        </p:txBody>
      </p:sp>
      <p:sp>
        <p:nvSpPr>
          <p:cNvPr id="64" name="Shape 62"/>
          <p:cNvSpPr/>
          <p:nvPr/>
        </p:nvSpPr>
        <p:spPr>
          <a:xfrm>
            <a:off x="10769346" y="1234440"/>
            <a:ext cx="660654" cy="358140"/>
          </a:xfrm>
          <a:prstGeom prst="rect">
            <a:avLst/>
          </a:prstGeom>
          <a:solidFill>
            <a:srgbClr val="EEF2F6"/>
          </a:solidFill>
          <a:ln w="6350">
            <a:solidFill>
              <a:srgbClr val="CBD5E1"/>
            </a:solidFill>
            <a:prstDash val="solid"/>
          </a:ln>
        </p:spPr>
      </p:sp>
      <p:sp>
        <p:nvSpPr>
          <p:cNvPr id="65" name="Text 63"/>
          <p:cNvSpPr/>
          <p:nvPr/>
        </p:nvSpPr>
        <p:spPr>
          <a:xfrm>
            <a:off x="10805922" y="1252728"/>
            <a:ext cx="587502" cy="321564"/>
          </a:xfrm>
          <a:prstGeom prst="rect">
            <a:avLst/>
          </a:prstGeom>
          <a:noFill/>
          <a:ln/>
        </p:spPr>
        <p:txBody>
          <a:bodyPr wrap="square" lIns="0" tIns="0" rIns="0" bIns="0" rtlCol="0" anchor="ctr">
            <a:normAutofit/>
          </a:bodyPr>
          <a:lstStyle/>
          <a:p>
            <a:pPr algn="ctr" indent="0" marL="0">
              <a:buNone/>
            </a:pPr>
            <a:r>
              <a:rPr lang="en-US" sz="760" b="1" dirty="0">
                <a:solidFill>
                  <a:srgbClr val="1F2937"/>
                </a:solidFill>
                <a:latin typeface="Aptos" pitchFamily="34" charset="0"/>
                <a:ea typeface="Aptos" pitchFamily="34" charset="-122"/>
                <a:cs typeface="Aptos" pitchFamily="34" charset="-120"/>
              </a:rPr>
              <a:t>Fusion</a:t>
            </a:r>
            <a:endParaRPr lang="en-US" sz="760" dirty="0"/>
          </a:p>
        </p:txBody>
      </p:sp>
      <p:sp>
        <p:nvSpPr>
          <p:cNvPr id="66" name="Shape 64"/>
          <p:cNvSpPr/>
          <p:nvPr/>
        </p:nvSpPr>
        <p:spPr>
          <a:xfrm>
            <a:off x="7543800" y="1592580"/>
            <a:ext cx="1904238" cy="358140"/>
          </a:xfrm>
          <a:prstGeom prst="rect">
            <a:avLst/>
          </a:prstGeom>
          <a:solidFill>
            <a:srgbClr val="FFFFFF"/>
          </a:solidFill>
          <a:ln w="6350">
            <a:solidFill>
              <a:srgbClr val="CBD5E1"/>
            </a:solidFill>
            <a:prstDash val="solid"/>
          </a:ln>
        </p:spPr>
      </p:sp>
      <p:sp>
        <p:nvSpPr>
          <p:cNvPr id="67" name="Text 65"/>
          <p:cNvSpPr/>
          <p:nvPr/>
        </p:nvSpPr>
        <p:spPr>
          <a:xfrm>
            <a:off x="7580376" y="1610868"/>
            <a:ext cx="1831086" cy="321564"/>
          </a:xfrm>
          <a:prstGeom prst="rect">
            <a:avLst/>
          </a:prstGeom>
          <a:noFill/>
          <a:ln/>
        </p:spPr>
        <p:txBody>
          <a:bodyPr wrap="square" lIns="0" tIns="0" rIns="0" bIns="0" rtlCol="0" anchor="ctr">
            <a:normAutofit/>
          </a:bodyPr>
          <a:lstStyle/>
          <a:p>
            <a:pPr algn="l" indent="0" marL="0">
              <a:buNone/>
            </a:pPr>
            <a:r>
              <a:rPr lang="en-US" sz="760" dirty="0">
                <a:solidFill>
                  <a:srgbClr val="1F2937"/>
                </a:solidFill>
                <a:latin typeface="Aptos" pitchFamily="34" charset="0"/>
                <a:ea typeface="Aptos" pitchFamily="34" charset="-122"/>
                <a:cs typeface="Aptos" pitchFamily="34" charset="-120"/>
              </a:rPr>
              <a:t>AGFarsdat</a:t>
            </a:r>
            <a:endParaRPr lang="en-US" sz="760" dirty="0"/>
          </a:p>
        </p:txBody>
      </p:sp>
      <p:sp>
        <p:nvSpPr>
          <p:cNvPr id="68" name="Shape 66"/>
          <p:cNvSpPr/>
          <p:nvPr/>
        </p:nvSpPr>
        <p:spPr>
          <a:xfrm>
            <a:off x="9448038" y="1592580"/>
            <a:ext cx="660654" cy="358140"/>
          </a:xfrm>
          <a:prstGeom prst="rect">
            <a:avLst/>
          </a:prstGeom>
          <a:solidFill>
            <a:srgbClr val="FFFFFF"/>
          </a:solidFill>
          <a:ln w="6350">
            <a:solidFill>
              <a:srgbClr val="CBD5E1"/>
            </a:solidFill>
            <a:prstDash val="solid"/>
          </a:ln>
        </p:spPr>
      </p:sp>
      <p:sp>
        <p:nvSpPr>
          <p:cNvPr id="69" name="Text 67"/>
          <p:cNvSpPr/>
          <p:nvPr/>
        </p:nvSpPr>
        <p:spPr>
          <a:xfrm>
            <a:off x="9484614" y="161086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35.63</a:t>
            </a:r>
            <a:endParaRPr lang="en-US" sz="760" dirty="0"/>
          </a:p>
        </p:txBody>
      </p:sp>
      <p:sp>
        <p:nvSpPr>
          <p:cNvPr id="70" name="Shape 68"/>
          <p:cNvSpPr/>
          <p:nvPr/>
        </p:nvSpPr>
        <p:spPr>
          <a:xfrm>
            <a:off x="10108692" y="1592580"/>
            <a:ext cx="660654" cy="358140"/>
          </a:xfrm>
          <a:prstGeom prst="rect">
            <a:avLst/>
          </a:prstGeom>
          <a:solidFill>
            <a:srgbClr val="FFFFFF"/>
          </a:solidFill>
          <a:ln w="6350">
            <a:solidFill>
              <a:srgbClr val="CBD5E1"/>
            </a:solidFill>
            <a:prstDash val="solid"/>
          </a:ln>
        </p:spPr>
      </p:sp>
      <p:sp>
        <p:nvSpPr>
          <p:cNvPr id="71" name="Text 69"/>
          <p:cNvSpPr/>
          <p:nvPr/>
        </p:nvSpPr>
        <p:spPr>
          <a:xfrm>
            <a:off x="10145268" y="161086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25.80</a:t>
            </a:r>
            <a:endParaRPr lang="en-US" sz="760" dirty="0"/>
          </a:p>
        </p:txBody>
      </p:sp>
      <p:sp>
        <p:nvSpPr>
          <p:cNvPr id="72" name="Shape 70"/>
          <p:cNvSpPr/>
          <p:nvPr/>
        </p:nvSpPr>
        <p:spPr>
          <a:xfrm>
            <a:off x="10769346" y="1592580"/>
            <a:ext cx="660654" cy="358140"/>
          </a:xfrm>
          <a:prstGeom prst="rect">
            <a:avLst/>
          </a:prstGeom>
          <a:solidFill>
            <a:srgbClr val="FFFFFF"/>
          </a:solidFill>
          <a:ln w="6350">
            <a:solidFill>
              <a:srgbClr val="CBD5E1"/>
            </a:solidFill>
            <a:prstDash val="solid"/>
          </a:ln>
        </p:spPr>
      </p:sp>
      <p:sp>
        <p:nvSpPr>
          <p:cNvPr id="73" name="Text 71"/>
          <p:cNvSpPr/>
          <p:nvPr/>
        </p:nvSpPr>
        <p:spPr>
          <a:xfrm>
            <a:off x="10805922" y="161086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25.38</a:t>
            </a:r>
            <a:endParaRPr lang="en-US" sz="760" dirty="0"/>
          </a:p>
        </p:txBody>
      </p:sp>
      <p:sp>
        <p:nvSpPr>
          <p:cNvPr id="74" name="Shape 72"/>
          <p:cNvSpPr/>
          <p:nvPr/>
        </p:nvSpPr>
        <p:spPr>
          <a:xfrm>
            <a:off x="7543800" y="1950720"/>
            <a:ext cx="1904238" cy="358140"/>
          </a:xfrm>
          <a:prstGeom prst="rect">
            <a:avLst/>
          </a:prstGeom>
          <a:solidFill>
            <a:srgbClr val="FFFFFF"/>
          </a:solidFill>
          <a:ln w="6350">
            <a:solidFill>
              <a:srgbClr val="CBD5E1"/>
            </a:solidFill>
            <a:prstDash val="solid"/>
          </a:ln>
        </p:spPr>
      </p:sp>
      <p:sp>
        <p:nvSpPr>
          <p:cNvPr id="75" name="Text 73"/>
          <p:cNvSpPr/>
          <p:nvPr/>
        </p:nvSpPr>
        <p:spPr>
          <a:xfrm>
            <a:off x="7580376" y="1969008"/>
            <a:ext cx="1831086" cy="321564"/>
          </a:xfrm>
          <a:prstGeom prst="rect">
            <a:avLst/>
          </a:prstGeom>
          <a:noFill/>
          <a:ln/>
        </p:spPr>
        <p:txBody>
          <a:bodyPr wrap="square" lIns="0" tIns="0" rIns="0" bIns="0" rtlCol="0" anchor="ctr">
            <a:normAutofit/>
          </a:bodyPr>
          <a:lstStyle/>
          <a:p>
            <a:pPr algn="l" indent="0" marL="0">
              <a:buNone/>
            </a:pPr>
            <a:r>
              <a:rPr lang="en-US" sz="760" dirty="0">
                <a:solidFill>
                  <a:srgbClr val="1F2937"/>
                </a:solidFill>
                <a:latin typeface="Aptos" pitchFamily="34" charset="0"/>
                <a:ea typeface="Aptos" pitchFamily="34" charset="-122"/>
                <a:cs typeface="Aptos" pitchFamily="34" charset="-120"/>
              </a:rPr>
              <a:t>Common Voice</a:t>
            </a:r>
            <a:endParaRPr lang="en-US" sz="760" dirty="0"/>
          </a:p>
        </p:txBody>
      </p:sp>
      <p:sp>
        <p:nvSpPr>
          <p:cNvPr id="76" name="Shape 74"/>
          <p:cNvSpPr/>
          <p:nvPr/>
        </p:nvSpPr>
        <p:spPr>
          <a:xfrm>
            <a:off x="9448038" y="1950720"/>
            <a:ext cx="660654" cy="358140"/>
          </a:xfrm>
          <a:prstGeom prst="rect">
            <a:avLst/>
          </a:prstGeom>
          <a:solidFill>
            <a:srgbClr val="FFFFFF"/>
          </a:solidFill>
          <a:ln w="6350">
            <a:solidFill>
              <a:srgbClr val="CBD5E1"/>
            </a:solidFill>
            <a:prstDash val="solid"/>
          </a:ln>
        </p:spPr>
      </p:sp>
      <p:sp>
        <p:nvSpPr>
          <p:cNvPr id="77" name="Text 75"/>
          <p:cNvSpPr/>
          <p:nvPr/>
        </p:nvSpPr>
        <p:spPr>
          <a:xfrm>
            <a:off x="9484614" y="196900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11.52</a:t>
            </a:r>
            <a:endParaRPr lang="en-US" sz="760" dirty="0"/>
          </a:p>
        </p:txBody>
      </p:sp>
      <p:sp>
        <p:nvSpPr>
          <p:cNvPr id="78" name="Shape 76"/>
          <p:cNvSpPr/>
          <p:nvPr/>
        </p:nvSpPr>
        <p:spPr>
          <a:xfrm>
            <a:off x="10108692" y="1950720"/>
            <a:ext cx="660654" cy="358140"/>
          </a:xfrm>
          <a:prstGeom prst="rect">
            <a:avLst/>
          </a:prstGeom>
          <a:solidFill>
            <a:srgbClr val="FFFFFF"/>
          </a:solidFill>
          <a:ln w="6350">
            <a:solidFill>
              <a:srgbClr val="CBD5E1"/>
            </a:solidFill>
            <a:prstDash val="solid"/>
          </a:ln>
        </p:spPr>
      </p:sp>
      <p:sp>
        <p:nvSpPr>
          <p:cNvPr id="79" name="Text 77"/>
          <p:cNvSpPr/>
          <p:nvPr/>
        </p:nvSpPr>
        <p:spPr>
          <a:xfrm>
            <a:off x="10145268" y="196900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7.84</a:t>
            </a:r>
            <a:endParaRPr lang="en-US" sz="760" dirty="0"/>
          </a:p>
        </p:txBody>
      </p:sp>
      <p:sp>
        <p:nvSpPr>
          <p:cNvPr id="80" name="Shape 78"/>
          <p:cNvSpPr/>
          <p:nvPr/>
        </p:nvSpPr>
        <p:spPr>
          <a:xfrm>
            <a:off x="10769346" y="1950720"/>
            <a:ext cx="660654" cy="358140"/>
          </a:xfrm>
          <a:prstGeom prst="rect">
            <a:avLst/>
          </a:prstGeom>
          <a:solidFill>
            <a:srgbClr val="FFFFFF"/>
          </a:solidFill>
          <a:ln w="6350">
            <a:solidFill>
              <a:srgbClr val="CBD5E1"/>
            </a:solidFill>
            <a:prstDash val="solid"/>
          </a:ln>
        </p:spPr>
      </p:sp>
      <p:sp>
        <p:nvSpPr>
          <p:cNvPr id="81" name="Text 79"/>
          <p:cNvSpPr/>
          <p:nvPr/>
        </p:nvSpPr>
        <p:spPr>
          <a:xfrm>
            <a:off x="10805922" y="196900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9.06</a:t>
            </a:r>
            <a:endParaRPr lang="en-US" sz="760" dirty="0"/>
          </a:p>
        </p:txBody>
      </p:sp>
      <p:sp>
        <p:nvSpPr>
          <p:cNvPr id="82" name="Shape 80"/>
          <p:cNvSpPr/>
          <p:nvPr/>
        </p:nvSpPr>
        <p:spPr>
          <a:xfrm>
            <a:off x="7543800" y="2308860"/>
            <a:ext cx="1904238" cy="358140"/>
          </a:xfrm>
          <a:prstGeom prst="rect">
            <a:avLst/>
          </a:prstGeom>
          <a:solidFill>
            <a:srgbClr val="FFFFFF"/>
          </a:solidFill>
          <a:ln w="6350">
            <a:solidFill>
              <a:srgbClr val="CBD5E1"/>
            </a:solidFill>
            <a:prstDash val="solid"/>
          </a:ln>
        </p:spPr>
      </p:sp>
      <p:sp>
        <p:nvSpPr>
          <p:cNvPr id="83" name="Text 81"/>
          <p:cNvSpPr/>
          <p:nvPr/>
        </p:nvSpPr>
        <p:spPr>
          <a:xfrm>
            <a:off x="7580376" y="2327148"/>
            <a:ext cx="1831086" cy="321564"/>
          </a:xfrm>
          <a:prstGeom prst="rect">
            <a:avLst/>
          </a:prstGeom>
          <a:noFill/>
          <a:ln/>
        </p:spPr>
        <p:txBody>
          <a:bodyPr wrap="square" lIns="0" tIns="0" rIns="0" bIns="0" rtlCol="0" anchor="ctr">
            <a:normAutofit/>
          </a:bodyPr>
          <a:lstStyle/>
          <a:p>
            <a:pPr algn="l" indent="0" marL="0">
              <a:buNone/>
            </a:pPr>
            <a:r>
              <a:rPr lang="en-US" sz="760" dirty="0">
                <a:solidFill>
                  <a:srgbClr val="1F2937"/>
                </a:solidFill>
                <a:latin typeface="Aptos" pitchFamily="34" charset="0"/>
                <a:ea typeface="Aptos" pitchFamily="34" charset="-122"/>
                <a:cs typeface="Aptos" pitchFamily="34" charset="-120"/>
              </a:rPr>
              <a:t>FLEURS</a:t>
            </a:r>
            <a:endParaRPr lang="en-US" sz="760" dirty="0"/>
          </a:p>
        </p:txBody>
      </p:sp>
      <p:sp>
        <p:nvSpPr>
          <p:cNvPr id="84" name="Shape 82"/>
          <p:cNvSpPr/>
          <p:nvPr/>
        </p:nvSpPr>
        <p:spPr>
          <a:xfrm>
            <a:off x="9448038" y="2308860"/>
            <a:ext cx="660654" cy="358140"/>
          </a:xfrm>
          <a:prstGeom prst="rect">
            <a:avLst/>
          </a:prstGeom>
          <a:solidFill>
            <a:srgbClr val="FFFFFF"/>
          </a:solidFill>
          <a:ln w="6350">
            <a:solidFill>
              <a:srgbClr val="CBD5E1"/>
            </a:solidFill>
            <a:prstDash val="solid"/>
          </a:ln>
        </p:spPr>
      </p:sp>
      <p:sp>
        <p:nvSpPr>
          <p:cNvPr id="85" name="Text 83"/>
          <p:cNvSpPr/>
          <p:nvPr/>
        </p:nvSpPr>
        <p:spPr>
          <a:xfrm>
            <a:off x="9484614" y="232714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21.05</a:t>
            </a:r>
            <a:endParaRPr lang="en-US" sz="760" dirty="0"/>
          </a:p>
        </p:txBody>
      </p:sp>
      <p:sp>
        <p:nvSpPr>
          <p:cNvPr id="86" name="Shape 84"/>
          <p:cNvSpPr/>
          <p:nvPr/>
        </p:nvSpPr>
        <p:spPr>
          <a:xfrm>
            <a:off x="10108692" y="2308860"/>
            <a:ext cx="660654" cy="358140"/>
          </a:xfrm>
          <a:prstGeom prst="rect">
            <a:avLst/>
          </a:prstGeom>
          <a:solidFill>
            <a:srgbClr val="FFFFFF"/>
          </a:solidFill>
          <a:ln w="6350">
            <a:solidFill>
              <a:srgbClr val="CBD5E1"/>
            </a:solidFill>
            <a:prstDash val="solid"/>
          </a:ln>
        </p:spPr>
      </p:sp>
      <p:sp>
        <p:nvSpPr>
          <p:cNvPr id="87" name="Text 85"/>
          <p:cNvSpPr/>
          <p:nvPr/>
        </p:nvSpPr>
        <p:spPr>
          <a:xfrm>
            <a:off x="10145268" y="232714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19.82</a:t>
            </a:r>
            <a:endParaRPr lang="en-US" sz="760" dirty="0"/>
          </a:p>
        </p:txBody>
      </p:sp>
      <p:sp>
        <p:nvSpPr>
          <p:cNvPr id="88" name="Shape 86"/>
          <p:cNvSpPr/>
          <p:nvPr/>
        </p:nvSpPr>
        <p:spPr>
          <a:xfrm>
            <a:off x="10769346" y="2308860"/>
            <a:ext cx="660654" cy="358140"/>
          </a:xfrm>
          <a:prstGeom prst="rect">
            <a:avLst/>
          </a:prstGeom>
          <a:solidFill>
            <a:srgbClr val="FFFFFF"/>
          </a:solidFill>
          <a:ln w="6350">
            <a:solidFill>
              <a:srgbClr val="CBD5E1"/>
            </a:solidFill>
            <a:prstDash val="solid"/>
          </a:ln>
        </p:spPr>
      </p:sp>
      <p:sp>
        <p:nvSpPr>
          <p:cNvPr id="89" name="Text 87"/>
          <p:cNvSpPr/>
          <p:nvPr/>
        </p:nvSpPr>
        <p:spPr>
          <a:xfrm>
            <a:off x="10805922" y="232714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19.61</a:t>
            </a:r>
            <a:endParaRPr lang="en-US" sz="760" dirty="0"/>
          </a:p>
        </p:txBody>
      </p:sp>
      <p:sp>
        <p:nvSpPr>
          <p:cNvPr id="90" name="Shape 88"/>
          <p:cNvSpPr/>
          <p:nvPr/>
        </p:nvSpPr>
        <p:spPr>
          <a:xfrm>
            <a:off x="7543800" y="2667000"/>
            <a:ext cx="1904238" cy="358140"/>
          </a:xfrm>
          <a:prstGeom prst="rect">
            <a:avLst/>
          </a:prstGeom>
          <a:solidFill>
            <a:srgbClr val="FFFFFF"/>
          </a:solidFill>
          <a:ln w="6350">
            <a:solidFill>
              <a:srgbClr val="CBD5E1"/>
            </a:solidFill>
            <a:prstDash val="solid"/>
          </a:ln>
        </p:spPr>
      </p:sp>
      <p:sp>
        <p:nvSpPr>
          <p:cNvPr id="91" name="Text 89"/>
          <p:cNvSpPr/>
          <p:nvPr/>
        </p:nvSpPr>
        <p:spPr>
          <a:xfrm>
            <a:off x="7580376" y="2685288"/>
            <a:ext cx="1831086" cy="321564"/>
          </a:xfrm>
          <a:prstGeom prst="rect">
            <a:avLst/>
          </a:prstGeom>
          <a:noFill/>
          <a:ln/>
        </p:spPr>
        <p:txBody>
          <a:bodyPr wrap="square" lIns="0" tIns="0" rIns="0" bIns="0" rtlCol="0" anchor="ctr">
            <a:normAutofit/>
          </a:bodyPr>
          <a:lstStyle/>
          <a:p>
            <a:pPr algn="l" indent="0" marL="0">
              <a:buNone/>
            </a:pPr>
            <a:r>
              <a:rPr lang="en-US" sz="760" dirty="0">
                <a:solidFill>
                  <a:srgbClr val="1F2937"/>
                </a:solidFill>
                <a:latin typeface="Aptos" pitchFamily="34" charset="0"/>
                <a:ea typeface="Aptos" pitchFamily="34" charset="-122"/>
                <a:cs typeface="Aptos" pitchFamily="34" charset="-120"/>
              </a:rPr>
              <a:t>PersianSpeech</a:t>
            </a:r>
            <a:endParaRPr lang="en-US" sz="760" dirty="0"/>
          </a:p>
        </p:txBody>
      </p:sp>
      <p:sp>
        <p:nvSpPr>
          <p:cNvPr id="92" name="Shape 90"/>
          <p:cNvSpPr/>
          <p:nvPr/>
        </p:nvSpPr>
        <p:spPr>
          <a:xfrm>
            <a:off x="9448038" y="2667000"/>
            <a:ext cx="660654" cy="358140"/>
          </a:xfrm>
          <a:prstGeom prst="rect">
            <a:avLst/>
          </a:prstGeom>
          <a:solidFill>
            <a:srgbClr val="FFFFFF"/>
          </a:solidFill>
          <a:ln w="6350">
            <a:solidFill>
              <a:srgbClr val="CBD5E1"/>
            </a:solidFill>
            <a:prstDash val="solid"/>
          </a:ln>
        </p:spPr>
      </p:sp>
      <p:sp>
        <p:nvSpPr>
          <p:cNvPr id="93" name="Text 91"/>
          <p:cNvSpPr/>
          <p:nvPr/>
        </p:nvSpPr>
        <p:spPr>
          <a:xfrm>
            <a:off x="9484614" y="268528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34.53</a:t>
            </a:r>
            <a:endParaRPr lang="en-US" sz="760" dirty="0"/>
          </a:p>
        </p:txBody>
      </p:sp>
      <p:sp>
        <p:nvSpPr>
          <p:cNvPr id="94" name="Shape 92"/>
          <p:cNvSpPr/>
          <p:nvPr/>
        </p:nvSpPr>
        <p:spPr>
          <a:xfrm>
            <a:off x="10108692" y="2667000"/>
            <a:ext cx="660654" cy="358140"/>
          </a:xfrm>
          <a:prstGeom prst="rect">
            <a:avLst/>
          </a:prstGeom>
          <a:solidFill>
            <a:srgbClr val="FFFFFF"/>
          </a:solidFill>
          <a:ln w="6350">
            <a:solidFill>
              <a:srgbClr val="CBD5E1"/>
            </a:solidFill>
            <a:prstDash val="solid"/>
          </a:ln>
        </p:spPr>
      </p:sp>
      <p:sp>
        <p:nvSpPr>
          <p:cNvPr id="95" name="Text 93"/>
          <p:cNvSpPr/>
          <p:nvPr/>
        </p:nvSpPr>
        <p:spPr>
          <a:xfrm>
            <a:off x="10145268" y="268528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35.25</a:t>
            </a:r>
            <a:endParaRPr lang="en-US" sz="760" dirty="0"/>
          </a:p>
        </p:txBody>
      </p:sp>
      <p:sp>
        <p:nvSpPr>
          <p:cNvPr id="96" name="Shape 94"/>
          <p:cNvSpPr/>
          <p:nvPr/>
        </p:nvSpPr>
        <p:spPr>
          <a:xfrm>
            <a:off x="10769346" y="2667000"/>
            <a:ext cx="660654" cy="358140"/>
          </a:xfrm>
          <a:prstGeom prst="rect">
            <a:avLst/>
          </a:prstGeom>
          <a:solidFill>
            <a:srgbClr val="FFFFFF"/>
          </a:solidFill>
          <a:ln w="6350">
            <a:solidFill>
              <a:srgbClr val="CBD5E1"/>
            </a:solidFill>
            <a:prstDash val="solid"/>
          </a:ln>
        </p:spPr>
      </p:sp>
      <p:sp>
        <p:nvSpPr>
          <p:cNvPr id="97" name="Text 95"/>
          <p:cNvSpPr/>
          <p:nvPr/>
        </p:nvSpPr>
        <p:spPr>
          <a:xfrm>
            <a:off x="10805922" y="268528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31.18</a:t>
            </a:r>
            <a:endParaRPr lang="en-US" sz="760" dirty="0"/>
          </a:p>
        </p:txBody>
      </p:sp>
      <p:sp>
        <p:nvSpPr>
          <p:cNvPr id="98" name="Shape 96"/>
          <p:cNvSpPr/>
          <p:nvPr/>
        </p:nvSpPr>
        <p:spPr>
          <a:xfrm>
            <a:off x="7543800" y="3025140"/>
            <a:ext cx="1904238" cy="358140"/>
          </a:xfrm>
          <a:prstGeom prst="rect">
            <a:avLst/>
          </a:prstGeom>
          <a:solidFill>
            <a:srgbClr val="FFF7ED"/>
          </a:solidFill>
          <a:ln w="6350">
            <a:solidFill>
              <a:srgbClr val="CBD5E1"/>
            </a:solidFill>
            <a:prstDash val="solid"/>
          </a:ln>
        </p:spPr>
      </p:sp>
      <p:sp>
        <p:nvSpPr>
          <p:cNvPr id="99" name="Text 97"/>
          <p:cNvSpPr/>
          <p:nvPr/>
        </p:nvSpPr>
        <p:spPr>
          <a:xfrm>
            <a:off x="7580376" y="3043428"/>
            <a:ext cx="1831086" cy="321564"/>
          </a:xfrm>
          <a:prstGeom prst="rect">
            <a:avLst/>
          </a:prstGeom>
          <a:noFill/>
          <a:ln/>
        </p:spPr>
        <p:txBody>
          <a:bodyPr wrap="square" lIns="0" tIns="0" rIns="0" bIns="0" rtlCol="0" anchor="ctr">
            <a:normAutofit/>
          </a:bodyPr>
          <a:lstStyle/>
          <a:p>
            <a:pPr algn="l" indent="0" marL="0">
              <a:buNone/>
            </a:pPr>
            <a:r>
              <a:rPr lang="en-US" sz="760" dirty="0">
                <a:solidFill>
                  <a:srgbClr val="1F2937"/>
                </a:solidFill>
                <a:latin typeface="Aptos" pitchFamily="34" charset="0"/>
                <a:ea typeface="Aptos" pitchFamily="34" charset="-122"/>
                <a:cs typeface="Aptos" pitchFamily="34" charset="-120"/>
              </a:rPr>
              <a:t>Persian Speech Corpus</a:t>
            </a:r>
            <a:endParaRPr lang="en-US" sz="760" dirty="0"/>
          </a:p>
        </p:txBody>
      </p:sp>
      <p:sp>
        <p:nvSpPr>
          <p:cNvPr id="100" name="Shape 98"/>
          <p:cNvSpPr/>
          <p:nvPr/>
        </p:nvSpPr>
        <p:spPr>
          <a:xfrm>
            <a:off x="9448038" y="3025140"/>
            <a:ext cx="660654" cy="358140"/>
          </a:xfrm>
          <a:prstGeom prst="rect">
            <a:avLst/>
          </a:prstGeom>
          <a:solidFill>
            <a:srgbClr val="FFF7ED"/>
          </a:solidFill>
          <a:ln w="6350">
            <a:solidFill>
              <a:srgbClr val="CBD5E1"/>
            </a:solidFill>
            <a:prstDash val="solid"/>
          </a:ln>
        </p:spPr>
      </p:sp>
      <p:sp>
        <p:nvSpPr>
          <p:cNvPr id="101" name="Text 99"/>
          <p:cNvSpPr/>
          <p:nvPr/>
        </p:nvSpPr>
        <p:spPr>
          <a:xfrm>
            <a:off x="9484614" y="304342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30.17</a:t>
            </a:r>
            <a:endParaRPr lang="en-US" sz="760" dirty="0"/>
          </a:p>
        </p:txBody>
      </p:sp>
      <p:sp>
        <p:nvSpPr>
          <p:cNvPr id="102" name="Shape 100"/>
          <p:cNvSpPr/>
          <p:nvPr/>
        </p:nvSpPr>
        <p:spPr>
          <a:xfrm>
            <a:off x="10108692" y="3025140"/>
            <a:ext cx="660654" cy="358140"/>
          </a:xfrm>
          <a:prstGeom prst="rect">
            <a:avLst/>
          </a:prstGeom>
          <a:solidFill>
            <a:srgbClr val="FFF7ED"/>
          </a:solidFill>
          <a:ln w="6350">
            <a:solidFill>
              <a:srgbClr val="CBD5E1"/>
            </a:solidFill>
            <a:prstDash val="solid"/>
          </a:ln>
        </p:spPr>
      </p:sp>
      <p:sp>
        <p:nvSpPr>
          <p:cNvPr id="103" name="Text 101"/>
          <p:cNvSpPr/>
          <p:nvPr/>
        </p:nvSpPr>
        <p:spPr>
          <a:xfrm>
            <a:off x="10145268" y="304342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30.90</a:t>
            </a:r>
            <a:endParaRPr lang="en-US" sz="760" dirty="0"/>
          </a:p>
        </p:txBody>
      </p:sp>
      <p:sp>
        <p:nvSpPr>
          <p:cNvPr id="104" name="Shape 102"/>
          <p:cNvSpPr/>
          <p:nvPr/>
        </p:nvSpPr>
        <p:spPr>
          <a:xfrm>
            <a:off x="10769346" y="3025140"/>
            <a:ext cx="660654" cy="358140"/>
          </a:xfrm>
          <a:prstGeom prst="rect">
            <a:avLst/>
          </a:prstGeom>
          <a:solidFill>
            <a:srgbClr val="FFF7ED"/>
          </a:solidFill>
          <a:ln w="6350">
            <a:solidFill>
              <a:srgbClr val="CBD5E1"/>
            </a:solidFill>
            <a:prstDash val="solid"/>
          </a:ln>
        </p:spPr>
      </p:sp>
      <p:sp>
        <p:nvSpPr>
          <p:cNvPr id="105" name="Text 103"/>
          <p:cNvSpPr/>
          <p:nvPr/>
        </p:nvSpPr>
        <p:spPr>
          <a:xfrm>
            <a:off x="10805922" y="3043428"/>
            <a:ext cx="587502" cy="321564"/>
          </a:xfrm>
          <a:prstGeom prst="rect">
            <a:avLst/>
          </a:prstGeom>
          <a:noFill/>
          <a:ln/>
        </p:spPr>
        <p:txBody>
          <a:bodyPr wrap="square" lIns="0" tIns="0" rIns="0" bIns="0" rtlCol="0" anchor="ctr">
            <a:normAutofit/>
          </a:bodyPr>
          <a:lstStyle/>
          <a:p>
            <a:pPr algn="ctr" indent="0" marL="0">
              <a:buNone/>
            </a:pPr>
            <a:r>
              <a:rPr lang="en-US" sz="760" dirty="0">
                <a:solidFill>
                  <a:srgbClr val="1F2937"/>
                </a:solidFill>
                <a:latin typeface="Aptos" pitchFamily="34" charset="0"/>
                <a:ea typeface="Aptos" pitchFamily="34" charset="-122"/>
                <a:cs typeface="Aptos" pitchFamily="34" charset="-120"/>
              </a:rPr>
              <a:t>35.17</a:t>
            </a:r>
            <a:endParaRPr lang="en-US" sz="760" dirty="0"/>
          </a:p>
        </p:txBody>
      </p:sp>
      <p:sp>
        <p:nvSpPr>
          <p:cNvPr id="106" name="Shape 104"/>
          <p:cNvSpPr/>
          <p:nvPr/>
        </p:nvSpPr>
        <p:spPr>
          <a:xfrm>
            <a:off x="7543800" y="3813048"/>
            <a:ext cx="3886200" cy="640080"/>
          </a:xfrm>
          <a:prstGeom prst="roundRect">
            <a:avLst>
              <a:gd name="adj" fmla="val 11429"/>
            </a:avLst>
          </a:prstGeom>
          <a:solidFill>
            <a:srgbClr val="FFF7ED"/>
          </a:solidFill>
          <a:ln w="12700">
            <a:solidFill>
              <a:srgbClr val="FDBA74"/>
            </a:solidFill>
            <a:prstDash val="solid"/>
          </a:ln>
        </p:spPr>
      </p:sp>
      <p:sp>
        <p:nvSpPr>
          <p:cNvPr id="107" name="Text 105"/>
          <p:cNvSpPr/>
          <p:nvPr/>
        </p:nvSpPr>
        <p:spPr>
          <a:xfrm>
            <a:off x="7772400" y="3977640"/>
            <a:ext cx="3429000" cy="182880"/>
          </a:xfrm>
          <a:prstGeom prst="rect">
            <a:avLst/>
          </a:prstGeom>
          <a:noFill/>
          <a:ln/>
        </p:spPr>
        <p:txBody>
          <a:bodyPr wrap="square" lIns="635" tIns="635" rIns="635" bIns="635" rtlCol="0" anchor="ctr">
            <a:normAutofit/>
          </a:bodyPr>
          <a:lstStyle/>
          <a:p>
            <a:pPr algn="ctr" indent="0" marL="0">
              <a:buNone/>
            </a:pPr>
            <a:r>
              <a:rPr lang="en-US" sz="1080" b="1" dirty="0">
                <a:solidFill>
                  <a:srgbClr val="1F2937"/>
                </a:solidFill>
                <a:latin typeface="Aptos" pitchFamily="34" charset="0"/>
                <a:ea typeface="Aptos" pitchFamily="34" charset="-122"/>
                <a:cs typeface="Aptos" pitchFamily="34" charset="-120"/>
              </a:rPr>
              <a:t>PersianSpeech has only n = 24 scored examples, so each sample has a large effect.</a:t>
            </a:r>
            <a:endParaRPr lang="en-US" sz="1080" dirty="0"/>
          </a:p>
        </p:txBody>
      </p:sp>
      <p:sp>
        <p:nvSpPr>
          <p:cNvPr id="108" name="Shape 106"/>
          <p:cNvSpPr/>
          <p:nvPr/>
        </p:nvSpPr>
        <p:spPr>
          <a:xfrm>
            <a:off x="1097280" y="5806440"/>
            <a:ext cx="9966960" cy="457200"/>
          </a:xfrm>
          <a:prstGeom prst="roundRect">
            <a:avLst>
              <a:gd name="adj" fmla="val 16000"/>
            </a:avLst>
          </a:prstGeom>
          <a:solidFill>
            <a:srgbClr val="F8FAFC"/>
          </a:solidFill>
          <a:ln w="12700">
            <a:solidFill>
              <a:srgbClr val="CBD5E1"/>
            </a:solidFill>
            <a:prstDash val="solid"/>
          </a:ln>
        </p:spPr>
      </p:sp>
      <p:sp>
        <p:nvSpPr>
          <p:cNvPr id="109" name="Text 107"/>
          <p:cNvSpPr/>
          <p:nvPr/>
        </p:nvSpPr>
        <p:spPr>
          <a:xfrm>
            <a:off x="1463040" y="5952744"/>
            <a:ext cx="9235440" cy="128016"/>
          </a:xfrm>
          <a:prstGeom prst="rect">
            <a:avLst/>
          </a:prstGeom>
          <a:noFill/>
          <a:ln/>
        </p:spPr>
        <p:txBody>
          <a:bodyPr wrap="square" lIns="635" tIns="635" rIns="635" bIns="635" rtlCol="0" anchor="ctr">
            <a:normAutofit/>
          </a:bodyPr>
          <a:lstStyle/>
          <a:p>
            <a:pPr algn="ctr" indent="0" marL="0">
              <a:buNone/>
            </a:pPr>
            <a:r>
              <a:rPr lang="en-US" sz="1220" b="1" dirty="0">
                <a:solidFill>
                  <a:srgbClr val="1F2937"/>
                </a:solidFill>
                <a:latin typeface="Aptos" pitchFamily="34" charset="0"/>
                <a:ea typeface="Aptos" pitchFamily="34" charset="-122"/>
                <a:cs typeface="Aptos" pitchFamily="34" charset="-120"/>
              </a:rPr>
              <a:t>Interpretation: telecom robustness does not guarantee uniform cross-domain improvement.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CER Exposes a Fusion Failure Mode</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15/19</a:t>
            </a:r>
            <a:endParaRPr lang="en-US" sz="750" dirty="0"/>
          </a:p>
        </p:txBody>
      </p:sp>
      <p:sp>
        <p:nvSpPr>
          <p:cNvPr id="6" name="Text 4"/>
          <p:cNvSpPr/>
          <p:nvPr/>
        </p:nvSpPr>
        <p:spPr>
          <a:xfrm>
            <a:off x="685800" y="932688"/>
            <a:ext cx="5029200" cy="219456"/>
          </a:xfrm>
          <a:prstGeom prst="rect">
            <a:avLst/>
          </a:prstGeom>
          <a:noFill/>
          <a:ln/>
        </p:spPr>
        <p:txBody>
          <a:bodyPr wrap="square" lIns="635" tIns="635" rIns="635" bIns="635" rtlCol="0" anchor="ctr">
            <a:normAutofit/>
          </a:bodyPr>
          <a:lstStyle/>
          <a:p>
            <a:pPr algn="l" indent="0" marL="0">
              <a:buNone/>
            </a:pPr>
            <a:r>
              <a:rPr lang="en-US" sz="1250" b="1" dirty="0">
                <a:solidFill>
                  <a:srgbClr val="637083"/>
                </a:solidFill>
                <a:latin typeface="Aptos" pitchFamily="34" charset="0"/>
                <a:ea typeface="Aptos" pitchFamily="34" charset="-122"/>
                <a:cs typeface="Aptos" pitchFamily="34" charset="-120"/>
              </a:rPr>
              <a:t>CER by test set (%) · lower is better</a:t>
            </a:r>
            <a:endParaRPr lang="en-US" sz="1250" dirty="0"/>
          </a:p>
        </p:txBody>
      </p:sp>
      <p:sp>
        <p:nvSpPr>
          <p:cNvPr id="7" name="Shape 5"/>
          <p:cNvSpPr/>
          <p:nvPr/>
        </p:nvSpPr>
        <p:spPr>
          <a:xfrm>
            <a:off x="731520" y="1280160"/>
            <a:ext cx="3047238" cy="457200"/>
          </a:xfrm>
          <a:prstGeom prst="rect">
            <a:avLst/>
          </a:prstGeom>
          <a:solidFill>
            <a:srgbClr val="EEF2F6"/>
          </a:solidFill>
          <a:ln w="6350">
            <a:solidFill>
              <a:srgbClr val="CBD5E1"/>
            </a:solidFill>
            <a:prstDash val="solid"/>
          </a:ln>
        </p:spPr>
      </p:sp>
      <p:sp>
        <p:nvSpPr>
          <p:cNvPr id="8" name="Text 6"/>
          <p:cNvSpPr/>
          <p:nvPr/>
        </p:nvSpPr>
        <p:spPr>
          <a:xfrm>
            <a:off x="768096" y="1298448"/>
            <a:ext cx="2974086" cy="420624"/>
          </a:xfrm>
          <a:prstGeom prst="rect">
            <a:avLst/>
          </a:prstGeom>
          <a:noFill/>
          <a:ln/>
        </p:spPr>
        <p:txBody>
          <a:bodyPr wrap="square" lIns="0" tIns="0" rIns="0" bIns="0" rtlCol="0" anchor="ctr">
            <a:normAutofit/>
          </a:bodyPr>
          <a:lstStyle/>
          <a:p>
            <a:pPr algn="l" indent="0" marL="0">
              <a:buNone/>
            </a:pPr>
            <a:r>
              <a:rPr lang="en-US" sz="840" b="1" dirty="0">
                <a:solidFill>
                  <a:srgbClr val="1F2937"/>
                </a:solidFill>
                <a:latin typeface="Aptos" pitchFamily="34" charset="0"/>
                <a:ea typeface="Aptos" pitchFamily="34" charset="-122"/>
                <a:cs typeface="Aptos" pitchFamily="34" charset="-120"/>
              </a:rPr>
              <a:t>Test set</a:t>
            </a:r>
            <a:endParaRPr lang="en-US" sz="840" dirty="0"/>
          </a:p>
        </p:txBody>
      </p:sp>
      <p:sp>
        <p:nvSpPr>
          <p:cNvPr id="9" name="Shape 7"/>
          <p:cNvSpPr/>
          <p:nvPr/>
        </p:nvSpPr>
        <p:spPr>
          <a:xfrm>
            <a:off x="3778758" y="1280160"/>
            <a:ext cx="1346454" cy="457200"/>
          </a:xfrm>
          <a:prstGeom prst="rect">
            <a:avLst/>
          </a:prstGeom>
          <a:solidFill>
            <a:srgbClr val="EEF2F6"/>
          </a:solidFill>
          <a:ln w="6350">
            <a:solidFill>
              <a:srgbClr val="CBD5E1"/>
            </a:solidFill>
            <a:prstDash val="solid"/>
          </a:ln>
        </p:spPr>
      </p:sp>
      <p:sp>
        <p:nvSpPr>
          <p:cNvPr id="10" name="Text 8"/>
          <p:cNvSpPr/>
          <p:nvPr/>
        </p:nvSpPr>
        <p:spPr>
          <a:xfrm>
            <a:off x="3815334" y="1298448"/>
            <a:ext cx="1273302" cy="420624"/>
          </a:xfrm>
          <a:prstGeom prst="rect">
            <a:avLst/>
          </a:prstGeom>
          <a:noFill/>
          <a:ln/>
        </p:spPr>
        <p:txBody>
          <a:bodyPr wrap="square" lIns="0" tIns="0" rIns="0" bIns="0" rtlCol="0" anchor="ctr">
            <a:normAutofit/>
          </a:bodyPr>
          <a:lstStyle/>
          <a:p>
            <a:pPr algn="ctr" indent="0" marL="0">
              <a:buNone/>
            </a:pPr>
            <a:r>
              <a:rPr lang="en-US" sz="840" b="1" dirty="0">
                <a:solidFill>
                  <a:srgbClr val="1F2937"/>
                </a:solidFill>
                <a:latin typeface="Aptos" pitchFamily="34" charset="0"/>
                <a:ea typeface="Aptos" pitchFamily="34" charset="-122"/>
                <a:cs typeface="Aptos" pitchFamily="34" charset="-120"/>
              </a:rPr>
              <a:t>Ordinary</a:t>
            </a:r>
            <a:endParaRPr lang="en-US" sz="840" dirty="0"/>
          </a:p>
        </p:txBody>
      </p:sp>
      <p:sp>
        <p:nvSpPr>
          <p:cNvPr id="11" name="Shape 9"/>
          <p:cNvSpPr/>
          <p:nvPr/>
        </p:nvSpPr>
        <p:spPr>
          <a:xfrm>
            <a:off x="5125212" y="1280160"/>
            <a:ext cx="1346454" cy="457200"/>
          </a:xfrm>
          <a:prstGeom prst="rect">
            <a:avLst/>
          </a:prstGeom>
          <a:solidFill>
            <a:srgbClr val="EEF2F6"/>
          </a:solidFill>
          <a:ln w="6350">
            <a:solidFill>
              <a:srgbClr val="CBD5E1"/>
            </a:solidFill>
            <a:prstDash val="solid"/>
          </a:ln>
        </p:spPr>
      </p:sp>
      <p:sp>
        <p:nvSpPr>
          <p:cNvPr id="12" name="Text 10"/>
          <p:cNvSpPr/>
          <p:nvPr/>
        </p:nvSpPr>
        <p:spPr>
          <a:xfrm>
            <a:off x="5161788" y="1298448"/>
            <a:ext cx="1273302" cy="420624"/>
          </a:xfrm>
          <a:prstGeom prst="rect">
            <a:avLst/>
          </a:prstGeom>
          <a:noFill/>
          <a:ln/>
        </p:spPr>
        <p:txBody>
          <a:bodyPr wrap="square" lIns="0" tIns="0" rIns="0" bIns="0" rtlCol="0" anchor="ctr">
            <a:normAutofit/>
          </a:bodyPr>
          <a:lstStyle/>
          <a:p>
            <a:pPr algn="ctr" indent="0" marL="0">
              <a:buNone/>
            </a:pPr>
            <a:r>
              <a:rPr lang="en-US" sz="840" b="1" dirty="0">
                <a:solidFill>
                  <a:srgbClr val="1F2937"/>
                </a:solidFill>
                <a:latin typeface="Aptos" pitchFamily="34" charset="0"/>
                <a:ea typeface="Aptos" pitchFamily="34" charset="-122"/>
                <a:cs typeface="Aptos" pitchFamily="34" charset="-120"/>
              </a:rPr>
              <a:t>Multi-condition</a:t>
            </a:r>
            <a:endParaRPr lang="en-US" sz="840" dirty="0"/>
          </a:p>
        </p:txBody>
      </p:sp>
      <p:sp>
        <p:nvSpPr>
          <p:cNvPr id="13" name="Shape 11"/>
          <p:cNvSpPr/>
          <p:nvPr/>
        </p:nvSpPr>
        <p:spPr>
          <a:xfrm>
            <a:off x="6471666" y="1280160"/>
            <a:ext cx="1346454" cy="457200"/>
          </a:xfrm>
          <a:prstGeom prst="rect">
            <a:avLst/>
          </a:prstGeom>
          <a:solidFill>
            <a:srgbClr val="EEF2F6"/>
          </a:solidFill>
          <a:ln w="6350">
            <a:solidFill>
              <a:srgbClr val="CBD5E1"/>
            </a:solidFill>
            <a:prstDash val="solid"/>
          </a:ln>
        </p:spPr>
      </p:sp>
      <p:sp>
        <p:nvSpPr>
          <p:cNvPr id="14" name="Text 12"/>
          <p:cNvSpPr/>
          <p:nvPr/>
        </p:nvSpPr>
        <p:spPr>
          <a:xfrm>
            <a:off x="6508242" y="1298448"/>
            <a:ext cx="1273302" cy="420624"/>
          </a:xfrm>
          <a:prstGeom prst="rect">
            <a:avLst/>
          </a:prstGeom>
          <a:noFill/>
          <a:ln/>
        </p:spPr>
        <p:txBody>
          <a:bodyPr wrap="square" lIns="0" tIns="0" rIns="0" bIns="0" rtlCol="0" anchor="ctr">
            <a:normAutofit/>
          </a:bodyPr>
          <a:lstStyle/>
          <a:p>
            <a:pPr algn="ctr" indent="0" marL="0">
              <a:buNone/>
            </a:pPr>
            <a:r>
              <a:rPr lang="en-US" sz="840" b="1" dirty="0">
                <a:solidFill>
                  <a:srgbClr val="1F2937"/>
                </a:solidFill>
                <a:latin typeface="Aptos" pitchFamily="34" charset="0"/>
                <a:ea typeface="Aptos" pitchFamily="34" charset="-122"/>
                <a:cs typeface="Aptos" pitchFamily="34" charset="-120"/>
              </a:rPr>
              <a:t>Fusion</a:t>
            </a:r>
            <a:endParaRPr lang="en-US" sz="840" dirty="0"/>
          </a:p>
        </p:txBody>
      </p:sp>
      <p:sp>
        <p:nvSpPr>
          <p:cNvPr id="15" name="Shape 13"/>
          <p:cNvSpPr/>
          <p:nvPr/>
        </p:nvSpPr>
        <p:spPr>
          <a:xfrm>
            <a:off x="731520" y="1737360"/>
            <a:ext cx="3047238" cy="457200"/>
          </a:xfrm>
          <a:prstGeom prst="rect">
            <a:avLst/>
          </a:prstGeom>
          <a:solidFill>
            <a:srgbClr val="FFFFFF"/>
          </a:solidFill>
          <a:ln w="6350">
            <a:solidFill>
              <a:srgbClr val="CBD5E1"/>
            </a:solidFill>
            <a:prstDash val="solid"/>
          </a:ln>
        </p:spPr>
      </p:sp>
      <p:sp>
        <p:nvSpPr>
          <p:cNvPr id="16" name="Text 14"/>
          <p:cNvSpPr/>
          <p:nvPr/>
        </p:nvSpPr>
        <p:spPr>
          <a:xfrm>
            <a:off x="768096" y="1755648"/>
            <a:ext cx="2974086" cy="420624"/>
          </a:xfrm>
          <a:prstGeom prst="rect">
            <a:avLst/>
          </a:prstGeom>
          <a:noFill/>
          <a:ln/>
        </p:spPr>
        <p:txBody>
          <a:bodyPr wrap="square" lIns="0" tIns="0" rIns="0" bIns="0" rtlCol="0" anchor="ctr">
            <a:normAutofit/>
          </a:bodyPr>
          <a:lstStyle/>
          <a:p>
            <a:pPr algn="l" indent="0" marL="0">
              <a:buNone/>
            </a:pPr>
            <a:r>
              <a:rPr lang="en-US" sz="840" dirty="0">
                <a:solidFill>
                  <a:srgbClr val="1F2937"/>
                </a:solidFill>
                <a:latin typeface="Aptos" pitchFamily="34" charset="0"/>
                <a:ea typeface="Aptos" pitchFamily="34" charset="-122"/>
                <a:cs typeface="Aptos" pitchFamily="34" charset="-120"/>
              </a:rPr>
              <a:t>AGFarsdat</a:t>
            </a:r>
            <a:endParaRPr lang="en-US" sz="840" dirty="0"/>
          </a:p>
        </p:txBody>
      </p:sp>
      <p:sp>
        <p:nvSpPr>
          <p:cNvPr id="17" name="Shape 15"/>
          <p:cNvSpPr/>
          <p:nvPr/>
        </p:nvSpPr>
        <p:spPr>
          <a:xfrm>
            <a:off x="3778758" y="1737360"/>
            <a:ext cx="1346454" cy="457200"/>
          </a:xfrm>
          <a:prstGeom prst="rect">
            <a:avLst/>
          </a:prstGeom>
          <a:solidFill>
            <a:srgbClr val="FEE2E2"/>
          </a:solidFill>
          <a:ln w="6350">
            <a:solidFill>
              <a:srgbClr val="CBD5E1"/>
            </a:solidFill>
            <a:prstDash val="solid"/>
          </a:ln>
        </p:spPr>
      </p:sp>
      <p:sp>
        <p:nvSpPr>
          <p:cNvPr id="18" name="Text 16"/>
          <p:cNvSpPr/>
          <p:nvPr/>
        </p:nvSpPr>
        <p:spPr>
          <a:xfrm>
            <a:off x="3815334" y="17556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19.73</a:t>
            </a:r>
            <a:endParaRPr lang="en-US" sz="840" dirty="0"/>
          </a:p>
        </p:txBody>
      </p:sp>
      <p:sp>
        <p:nvSpPr>
          <p:cNvPr id="19" name="Shape 17"/>
          <p:cNvSpPr/>
          <p:nvPr/>
        </p:nvSpPr>
        <p:spPr>
          <a:xfrm>
            <a:off x="5125212" y="1737360"/>
            <a:ext cx="1346454" cy="457200"/>
          </a:xfrm>
          <a:prstGeom prst="rect">
            <a:avLst/>
          </a:prstGeom>
          <a:solidFill>
            <a:srgbClr val="EAF6FF"/>
          </a:solidFill>
          <a:ln w="6350">
            <a:solidFill>
              <a:srgbClr val="CBD5E1"/>
            </a:solidFill>
            <a:prstDash val="solid"/>
          </a:ln>
        </p:spPr>
      </p:sp>
      <p:sp>
        <p:nvSpPr>
          <p:cNvPr id="20" name="Text 18"/>
          <p:cNvSpPr/>
          <p:nvPr/>
        </p:nvSpPr>
        <p:spPr>
          <a:xfrm>
            <a:off x="5161788" y="17556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12.62</a:t>
            </a:r>
            <a:endParaRPr lang="en-US" sz="840" dirty="0"/>
          </a:p>
        </p:txBody>
      </p:sp>
      <p:sp>
        <p:nvSpPr>
          <p:cNvPr id="21" name="Shape 19"/>
          <p:cNvSpPr/>
          <p:nvPr/>
        </p:nvSpPr>
        <p:spPr>
          <a:xfrm>
            <a:off x="6471666" y="1737360"/>
            <a:ext cx="1346454" cy="457200"/>
          </a:xfrm>
          <a:prstGeom prst="rect">
            <a:avLst/>
          </a:prstGeom>
          <a:solidFill>
            <a:srgbClr val="EAF6FF"/>
          </a:solidFill>
          <a:ln w="6350">
            <a:solidFill>
              <a:srgbClr val="CBD5E1"/>
            </a:solidFill>
            <a:prstDash val="solid"/>
          </a:ln>
        </p:spPr>
      </p:sp>
      <p:sp>
        <p:nvSpPr>
          <p:cNvPr id="22" name="Text 20"/>
          <p:cNvSpPr/>
          <p:nvPr/>
        </p:nvSpPr>
        <p:spPr>
          <a:xfrm>
            <a:off x="6508242" y="17556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12.38</a:t>
            </a:r>
            <a:endParaRPr lang="en-US" sz="840" dirty="0"/>
          </a:p>
        </p:txBody>
      </p:sp>
      <p:sp>
        <p:nvSpPr>
          <p:cNvPr id="23" name="Shape 21"/>
          <p:cNvSpPr/>
          <p:nvPr/>
        </p:nvSpPr>
        <p:spPr>
          <a:xfrm>
            <a:off x="731520" y="2194560"/>
            <a:ext cx="3047238" cy="457200"/>
          </a:xfrm>
          <a:prstGeom prst="rect">
            <a:avLst/>
          </a:prstGeom>
          <a:solidFill>
            <a:srgbClr val="FFFFFF"/>
          </a:solidFill>
          <a:ln w="6350">
            <a:solidFill>
              <a:srgbClr val="CBD5E1"/>
            </a:solidFill>
            <a:prstDash val="solid"/>
          </a:ln>
        </p:spPr>
      </p:sp>
      <p:sp>
        <p:nvSpPr>
          <p:cNvPr id="24" name="Text 22"/>
          <p:cNvSpPr/>
          <p:nvPr/>
        </p:nvSpPr>
        <p:spPr>
          <a:xfrm>
            <a:off x="768096" y="2212848"/>
            <a:ext cx="2974086" cy="420624"/>
          </a:xfrm>
          <a:prstGeom prst="rect">
            <a:avLst/>
          </a:prstGeom>
          <a:noFill/>
          <a:ln/>
        </p:spPr>
        <p:txBody>
          <a:bodyPr wrap="square" lIns="0" tIns="0" rIns="0" bIns="0" rtlCol="0" anchor="ctr">
            <a:normAutofit/>
          </a:bodyPr>
          <a:lstStyle/>
          <a:p>
            <a:pPr algn="l" indent="0" marL="0">
              <a:buNone/>
            </a:pPr>
            <a:r>
              <a:rPr lang="en-US" sz="840" dirty="0">
                <a:solidFill>
                  <a:srgbClr val="1F2937"/>
                </a:solidFill>
                <a:latin typeface="Aptos" pitchFamily="34" charset="0"/>
                <a:ea typeface="Aptos" pitchFamily="34" charset="-122"/>
                <a:cs typeface="Aptos" pitchFamily="34" charset="-120"/>
              </a:rPr>
              <a:t>Common Voice</a:t>
            </a:r>
            <a:endParaRPr lang="en-US" sz="840" dirty="0"/>
          </a:p>
        </p:txBody>
      </p:sp>
      <p:sp>
        <p:nvSpPr>
          <p:cNvPr id="25" name="Shape 23"/>
          <p:cNvSpPr/>
          <p:nvPr/>
        </p:nvSpPr>
        <p:spPr>
          <a:xfrm>
            <a:off x="3778758" y="2194560"/>
            <a:ext cx="1346454" cy="457200"/>
          </a:xfrm>
          <a:prstGeom prst="rect">
            <a:avLst/>
          </a:prstGeom>
          <a:solidFill>
            <a:srgbClr val="DCFCE7"/>
          </a:solidFill>
          <a:ln w="6350">
            <a:solidFill>
              <a:srgbClr val="CBD5E1"/>
            </a:solidFill>
            <a:prstDash val="solid"/>
          </a:ln>
        </p:spPr>
      </p:sp>
      <p:sp>
        <p:nvSpPr>
          <p:cNvPr id="26" name="Text 24"/>
          <p:cNvSpPr/>
          <p:nvPr/>
        </p:nvSpPr>
        <p:spPr>
          <a:xfrm>
            <a:off x="3815334" y="22128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4.06</a:t>
            </a:r>
            <a:endParaRPr lang="en-US" sz="840" dirty="0"/>
          </a:p>
        </p:txBody>
      </p:sp>
      <p:sp>
        <p:nvSpPr>
          <p:cNvPr id="27" name="Shape 25"/>
          <p:cNvSpPr/>
          <p:nvPr/>
        </p:nvSpPr>
        <p:spPr>
          <a:xfrm>
            <a:off x="5125212" y="2194560"/>
            <a:ext cx="1346454" cy="457200"/>
          </a:xfrm>
          <a:prstGeom prst="rect">
            <a:avLst/>
          </a:prstGeom>
          <a:solidFill>
            <a:srgbClr val="DCFCE7"/>
          </a:solidFill>
          <a:ln w="6350">
            <a:solidFill>
              <a:srgbClr val="CBD5E1"/>
            </a:solidFill>
            <a:prstDash val="solid"/>
          </a:ln>
        </p:spPr>
      </p:sp>
      <p:sp>
        <p:nvSpPr>
          <p:cNvPr id="28" name="Text 26"/>
          <p:cNvSpPr/>
          <p:nvPr/>
        </p:nvSpPr>
        <p:spPr>
          <a:xfrm>
            <a:off x="5161788" y="22128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3.22</a:t>
            </a:r>
            <a:endParaRPr lang="en-US" sz="840" dirty="0"/>
          </a:p>
        </p:txBody>
      </p:sp>
      <p:sp>
        <p:nvSpPr>
          <p:cNvPr id="29" name="Shape 27"/>
          <p:cNvSpPr/>
          <p:nvPr/>
        </p:nvSpPr>
        <p:spPr>
          <a:xfrm>
            <a:off x="6471666" y="2194560"/>
            <a:ext cx="1346454" cy="457200"/>
          </a:xfrm>
          <a:prstGeom prst="rect">
            <a:avLst/>
          </a:prstGeom>
          <a:solidFill>
            <a:srgbClr val="FEE2E2"/>
          </a:solidFill>
          <a:ln w="6350">
            <a:solidFill>
              <a:srgbClr val="CBD5E1"/>
            </a:solidFill>
            <a:prstDash val="solid"/>
          </a:ln>
        </p:spPr>
      </p:sp>
      <p:sp>
        <p:nvSpPr>
          <p:cNvPr id="30" name="Text 28"/>
          <p:cNvSpPr/>
          <p:nvPr/>
        </p:nvSpPr>
        <p:spPr>
          <a:xfrm>
            <a:off x="6508242" y="2212848"/>
            <a:ext cx="1273302" cy="420624"/>
          </a:xfrm>
          <a:prstGeom prst="rect">
            <a:avLst/>
          </a:prstGeom>
          <a:noFill/>
          <a:ln/>
        </p:spPr>
        <p:txBody>
          <a:bodyPr wrap="square" lIns="0" tIns="0" rIns="0" bIns="0" rtlCol="0" anchor="ctr">
            <a:normAutofit/>
          </a:bodyPr>
          <a:lstStyle/>
          <a:p>
            <a:pPr algn="ctr" indent="0" marL="0">
              <a:buNone/>
            </a:pPr>
            <a:r>
              <a:rPr lang="en-US" sz="840" b="1" dirty="0">
                <a:solidFill>
                  <a:srgbClr val="1F2937"/>
                </a:solidFill>
                <a:latin typeface="Aptos" pitchFamily="34" charset="0"/>
                <a:ea typeface="Aptos" pitchFamily="34" charset="-122"/>
                <a:cs typeface="Aptos" pitchFamily="34" charset="-120"/>
              </a:rPr>
              <a:t>16.08</a:t>
            </a:r>
            <a:endParaRPr lang="en-US" sz="840" dirty="0"/>
          </a:p>
        </p:txBody>
      </p:sp>
      <p:sp>
        <p:nvSpPr>
          <p:cNvPr id="31" name="Shape 29"/>
          <p:cNvSpPr/>
          <p:nvPr/>
        </p:nvSpPr>
        <p:spPr>
          <a:xfrm>
            <a:off x="731520" y="2651760"/>
            <a:ext cx="3047238" cy="457200"/>
          </a:xfrm>
          <a:prstGeom prst="rect">
            <a:avLst/>
          </a:prstGeom>
          <a:solidFill>
            <a:srgbClr val="FFFFFF"/>
          </a:solidFill>
          <a:ln w="6350">
            <a:solidFill>
              <a:srgbClr val="CBD5E1"/>
            </a:solidFill>
            <a:prstDash val="solid"/>
          </a:ln>
        </p:spPr>
      </p:sp>
      <p:sp>
        <p:nvSpPr>
          <p:cNvPr id="32" name="Text 30"/>
          <p:cNvSpPr/>
          <p:nvPr/>
        </p:nvSpPr>
        <p:spPr>
          <a:xfrm>
            <a:off x="768096" y="2670048"/>
            <a:ext cx="2974086" cy="420624"/>
          </a:xfrm>
          <a:prstGeom prst="rect">
            <a:avLst/>
          </a:prstGeom>
          <a:noFill/>
          <a:ln/>
        </p:spPr>
        <p:txBody>
          <a:bodyPr wrap="square" lIns="0" tIns="0" rIns="0" bIns="0" rtlCol="0" anchor="ctr">
            <a:normAutofit/>
          </a:bodyPr>
          <a:lstStyle/>
          <a:p>
            <a:pPr algn="l" indent="0" marL="0">
              <a:buNone/>
            </a:pPr>
            <a:r>
              <a:rPr lang="en-US" sz="840" dirty="0">
                <a:solidFill>
                  <a:srgbClr val="1F2937"/>
                </a:solidFill>
                <a:latin typeface="Aptos" pitchFamily="34" charset="0"/>
                <a:ea typeface="Aptos" pitchFamily="34" charset="-122"/>
                <a:cs typeface="Aptos" pitchFamily="34" charset="-120"/>
              </a:rPr>
              <a:t>FLEURS</a:t>
            </a:r>
            <a:endParaRPr lang="en-US" sz="840" dirty="0"/>
          </a:p>
        </p:txBody>
      </p:sp>
      <p:sp>
        <p:nvSpPr>
          <p:cNvPr id="33" name="Shape 31"/>
          <p:cNvSpPr/>
          <p:nvPr/>
        </p:nvSpPr>
        <p:spPr>
          <a:xfrm>
            <a:off x="3778758" y="2651760"/>
            <a:ext cx="1346454" cy="457200"/>
          </a:xfrm>
          <a:prstGeom prst="rect">
            <a:avLst/>
          </a:prstGeom>
          <a:solidFill>
            <a:srgbClr val="DCFCE7"/>
          </a:solidFill>
          <a:ln w="6350">
            <a:solidFill>
              <a:srgbClr val="CBD5E1"/>
            </a:solidFill>
            <a:prstDash val="solid"/>
          </a:ln>
        </p:spPr>
      </p:sp>
      <p:sp>
        <p:nvSpPr>
          <p:cNvPr id="34" name="Text 32"/>
          <p:cNvSpPr/>
          <p:nvPr/>
        </p:nvSpPr>
        <p:spPr>
          <a:xfrm>
            <a:off x="3815334" y="26700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6.13</a:t>
            </a:r>
            <a:endParaRPr lang="en-US" sz="840" dirty="0"/>
          </a:p>
        </p:txBody>
      </p:sp>
      <p:sp>
        <p:nvSpPr>
          <p:cNvPr id="35" name="Shape 33"/>
          <p:cNvSpPr/>
          <p:nvPr/>
        </p:nvSpPr>
        <p:spPr>
          <a:xfrm>
            <a:off x="5125212" y="2651760"/>
            <a:ext cx="1346454" cy="457200"/>
          </a:xfrm>
          <a:prstGeom prst="rect">
            <a:avLst/>
          </a:prstGeom>
          <a:solidFill>
            <a:srgbClr val="DCFCE7"/>
          </a:solidFill>
          <a:ln w="6350">
            <a:solidFill>
              <a:srgbClr val="CBD5E1"/>
            </a:solidFill>
            <a:prstDash val="solid"/>
          </a:ln>
        </p:spPr>
      </p:sp>
      <p:sp>
        <p:nvSpPr>
          <p:cNvPr id="36" name="Text 34"/>
          <p:cNvSpPr/>
          <p:nvPr/>
        </p:nvSpPr>
        <p:spPr>
          <a:xfrm>
            <a:off x="5161788" y="26700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6.36</a:t>
            </a:r>
            <a:endParaRPr lang="en-US" sz="840" dirty="0"/>
          </a:p>
        </p:txBody>
      </p:sp>
      <p:sp>
        <p:nvSpPr>
          <p:cNvPr id="37" name="Shape 35"/>
          <p:cNvSpPr/>
          <p:nvPr/>
        </p:nvSpPr>
        <p:spPr>
          <a:xfrm>
            <a:off x="6471666" y="2651760"/>
            <a:ext cx="1346454" cy="457200"/>
          </a:xfrm>
          <a:prstGeom prst="rect">
            <a:avLst/>
          </a:prstGeom>
          <a:solidFill>
            <a:srgbClr val="DCFCE7"/>
          </a:solidFill>
          <a:ln w="6350">
            <a:solidFill>
              <a:srgbClr val="CBD5E1"/>
            </a:solidFill>
            <a:prstDash val="solid"/>
          </a:ln>
        </p:spPr>
      </p:sp>
      <p:sp>
        <p:nvSpPr>
          <p:cNvPr id="38" name="Text 36"/>
          <p:cNvSpPr/>
          <p:nvPr/>
        </p:nvSpPr>
        <p:spPr>
          <a:xfrm>
            <a:off x="6508242" y="26700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6.23</a:t>
            </a:r>
            <a:endParaRPr lang="en-US" sz="840" dirty="0"/>
          </a:p>
        </p:txBody>
      </p:sp>
      <p:sp>
        <p:nvSpPr>
          <p:cNvPr id="39" name="Shape 37"/>
          <p:cNvSpPr/>
          <p:nvPr/>
        </p:nvSpPr>
        <p:spPr>
          <a:xfrm>
            <a:off x="731520" y="3108960"/>
            <a:ext cx="3047238" cy="457200"/>
          </a:xfrm>
          <a:prstGeom prst="rect">
            <a:avLst/>
          </a:prstGeom>
          <a:solidFill>
            <a:srgbClr val="FFFFFF"/>
          </a:solidFill>
          <a:ln w="6350">
            <a:solidFill>
              <a:srgbClr val="CBD5E1"/>
            </a:solidFill>
            <a:prstDash val="solid"/>
          </a:ln>
        </p:spPr>
      </p:sp>
      <p:sp>
        <p:nvSpPr>
          <p:cNvPr id="40" name="Text 38"/>
          <p:cNvSpPr/>
          <p:nvPr/>
        </p:nvSpPr>
        <p:spPr>
          <a:xfrm>
            <a:off x="768096" y="3127248"/>
            <a:ext cx="2974086" cy="420624"/>
          </a:xfrm>
          <a:prstGeom prst="rect">
            <a:avLst/>
          </a:prstGeom>
          <a:noFill/>
          <a:ln/>
        </p:spPr>
        <p:txBody>
          <a:bodyPr wrap="square" lIns="0" tIns="0" rIns="0" bIns="0" rtlCol="0" anchor="ctr">
            <a:normAutofit/>
          </a:bodyPr>
          <a:lstStyle/>
          <a:p>
            <a:pPr algn="l" indent="0" marL="0">
              <a:buNone/>
            </a:pPr>
            <a:r>
              <a:rPr lang="en-US" sz="840" dirty="0">
                <a:solidFill>
                  <a:srgbClr val="1F2937"/>
                </a:solidFill>
                <a:latin typeface="Aptos" pitchFamily="34" charset="0"/>
                <a:ea typeface="Aptos" pitchFamily="34" charset="-122"/>
                <a:cs typeface="Aptos" pitchFamily="34" charset="-120"/>
              </a:rPr>
              <a:t>PersianSpeech</a:t>
            </a:r>
            <a:endParaRPr lang="en-US" sz="840" dirty="0"/>
          </a:p>
        </p:txBody>
      </p:sp>
      <p:sp>
        <p:nvSpPr>
          <p:cNvPr id="41" name="Shape 39"/>
          <p:cNvSpPr/>
          <p:nvPr/>
        </p:nvSpPr>
        <p:spPr>
          <a:xfrm>
            <a:off x="3778758" y="3108960"/>
            <a:ext cx="1346454" cy="457200"/>
          </a:xfrm>
          <a:prstGeom prst="rect">
            <a:avLst/>
          </a:prstGeom>
          <a:solidFill>
            <a:srgbClr val="FEE2E2"/>
          </a:solidFill>
          <a:ln w="6350">
            <a:solidFill>
              <a:srgbClr val="CBD5E1"/>
            </a:solidFill>
            <a:prstDash val="solid"/>
          </a:ln>
        </p:spPr>
      </p:sp>
      <p:sp>
        <p:nvSpPr>
          <p:cNvPr id="42" name="Text 40"/>
          <p:cNvSpPr/>
          <p:nvPr/>
        </p:nvSpPr>
        <p:spPr>
          <a:xfrm>
            <a:off x="3815334" y="31272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16.21</a:t>
            </a:r>
            <a:endParaRPr lang="en-US" sz="840" dirty="0"/>
          </a:p>
        </p:txBody>
      </p:sp>
      <p:sp>
        <p:nvSpPr>
          <p:cNvPr id="43" name="Shape 41"/>
          <p:cNvSpPr/>
          <p:nvPr/>
        </p:nvSpPr>
        <p:spPr>
          <a:xfrm>
            <a:off x="5125212" y="3108960"/>
            <a:ext cx="1346454" cy="457200"/>
          </a:xfrm>
          <a:prstGeom prst="rect">
            <a:avLst/>
          </a:prstGeom>
          <a:solidFill>
            <a:srgbClr val="FFF7ED"/>
          </a:solidFill>
          <a:ln w="6350">
            <a:solidFill>
              <a:srgbClr val="CBD5E1"/>
            </a:solidFill>
            <a:prstDash val="solid"/>
          </a:ln>
        </p:spPr>
      </p:sp>
      <p:sp>
        <p:nvSpPr>
          <p:cNvPr id="44" name="Text 42"/>
          <p:cNvSpPr/>
          <p:nvPr/>
        </p:nvSpPr>
        <p:spPr>
          <a:xfrm>
            <a:off x="5161788" y="31272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15.62</a:t>
            </a:r>
            <a:endParaRPr lang="en-US" sz="840" dirty="0"/>
          </a:p>
        </p:txBody>
      </p:sp>
      <p:sp>
        <p:nvSpPr>
          <p:cNvPr id="45" name="Shape 43"/>
          <p:cNvSpPr/>
          <p:nvPr/>
        </p:nvSpPr>
        <p:spPr>
          <a:xfrm>
            <a:off x="6471666" y="3108960"/>
            <a:ext cx="1346454" cy="457200"/>
          </a:xfrm>
          <a:prstGeom prst="rect">
            <a:avLst/>
          </a:prstGeom>
          <a:solidFill>
            <a:srgbClr val="EAF6FF"/>
          </a:solidFill>
          <a:ln w="6350">
            <a:solidFill>
              <a:srgbClr val="CBD5E1"/>
            </a:solidFill>
            <a:prstDash val="solid"/>
          </a:ln>
        </p:spPr>
      </p:sp>
      <p:sp>
        <p:nvSpPr>
          <p:cNvPr id="46" name="Text 44"/>
          <p:cNvSpPr/>
          <p:nvPr/>
        </p:nvSpPr>
        <p:spPr>
          <a:xfrm>
            <a:off x="6508242" y="31272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12.91</a:t>
            </a:r>
            <a:endParaRPr lang="en-US" sz="840" dirty="0"/>
          </a:p>
        </p:txBody>
      </p:sp>
      <p:sp>
        <p:nvSpPr>
          <p:cNvPr id="47" name="Shape 45"/>
          <p:cNvSpPr/>
          <p:nvPr/>
        </p:nvSpPr>
        <p:spPr>
          <a:xfrm>
            <a:off x="731520" y="3566160"/>
            <a:ext cx="3047238" cy="457200"/>
          </a:xfrm>
          <a:prstGeom prst="rect">
            <a:avLst/>
          </a:prstGeom>
          <a:solidFill>
            <a:srgbClr val="FFFFFF"/>
          </a:solidFill>
          <a:ln w="6350">
            <a:solidFill>
              <a:srgbClr val="CBD5E1"/>
            </a:solidFill>
            <a:prstDash val="solid"/>
          </a:ln>
        </p:spPr>
      </p:sp>
      <p:sp>
        <p:nvSpPr>
          <p:cNvPr id="48" name="Text 46"/>
          <p:cNvSpPr/>
          <p:nvPr/>
        </p:nvSpPr>
        <p:spPr>
          <a:xfrm>
            <a:off x="768096" y="3584448"/>
            <a:ext cx="2974086" cy="420624"/>
          </a:xfrm>
          <a:prstGeom prst="rect">
            <a:avLst/>
          </a:prstGeom>
          <a:noFill/>
          <a:ln/>
        </p:spPr>
        <p:txBody>
          <a:bodyPr wrap="square" lIns="0" tIns="0" rIns="0" bIns="0" rtlCol="0" anchor="ctr">
            <a:normAutofit/>
          </a:bodyPr>
          <a:lstStyle/>
          <a:p>
            <a:pPr algn="l" indent="0" marL="0">
              <a:buNone/>
            </a:pPr>
            <a:r>
              <a:rPr lang="en-US" sz="840" dirty="0">
                <a:solidFill>
                  <a:srgbClr val="1F2937"/>
                </a:solidFill>
                <a:latin typeface="Aptos" pitchFamily="34" charset="0"/>
                <a:ea typeface="Aptos" pitchFamily="34" charset="-122"/>
                <a:cs typeface="Aptos" pitchFamily="34" charset="-120"/>
              </a:rPr>
              <a:t>Persian Speech Corpus</a:t>
            </a:r>
            <a:endParaRPr lang="en-US" sz="840" dirty="0"/>
          </a:p>
        </p:txBody>
      </p:sp>
      <p:sp>
        <p:nvSpPr>
          <p:cNvPr id="49" name="Shape 47"/>
          <p:cNvSpPr/>
          <p:nvPr/>
        </p:nvSpPr>
        <p:spPr>
          <a:xfrm>
            <a:off x="3778758" y="3566160"/>
            <a:ext cx="1346454" cy="457200"/>
          </a:xfrm>
          <a:prstGeom prst="rect">
            <a:avLst/>
          </a:prstGeom>
          <a:solidFill>
            <a:srgbClr val="FFF7ED"/>
          </a:solidFill>
          <a:ln w="6350">
            <a:solidFill>
              <a:srgbClr val="CBD5E1"/>
            </a:solidFill>
            <a:prstDash val="solid"/>
          </a:ln>
        </p:spPr>
      </p:sp>
      <p:sp>
        <p:nvSpPr>
          <p:cNvPr id="50" name="Text 48"/>
          <p:cNvSpPr/>
          <p:nvPr/>
        </p:nvSpPr>
        <p:spPr>
          <a:xfrm>
            <a:off x="3815334" y="35844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15.48</a:t>
            </a:r>
            <a:endParaRPr lang="en-US" sz="840" dirty="0"/>
          </a:p>
        </p:txBody>
      </p:sp>
      <p:sp>
        <p:nvSpPr>
          <p:cNvPr id="51" name="Shape 49"/>
          <p:cNvSpPr/>
          <p:nvPr/>
        </p:nvSpPr>
        <p:spPr>
          <a:xfrm>
            <a:off x="5125212" y="3566160"/>
            <a:ext cx="1346454" cy="457200"/>
          </a:xfrm>
          <a:prstGeom prst="rect">
            <a:avLst/>
          </a:prstGeom>
          <a:solidFill>
            <a:srgbClr val="FFF7ED"/>
          </a:solidFill>
          <a:ln w="6350">
            <a:solidFill>
              <a:srgbClr val="CBD5E1"/>
            </a:solidFill>
            <a:prstDash val="solid"/>
          </a:ln>
        </p:spPr>
      </p:sp>
      <p:sp>
        <p:nvSpPr>
          <p:cNvPr id="52" name="Text 50"/>
          <p:cNvSpPr/>
          <p:nvPr/>
        </p:nvSpPr>
        <p:spPr>
          <a:xfrm>
            <a:off x="5161788" y="3584448"/>
            <a:ext cx="1273302" cy="420624"/>
          </a:xfrm>
          <a:prstGeom prst="rect">
            <a:avLst/>
          </a:prstGeom>
          <a:noFill/>
          <a:ln/>
        </p:spPr>
        <p:txBody>
          <a:bodyPr wrap="square" lIns="0" tIns="0" rIns="0" bIns="0" rtlCol="0" anchor="ctr">
            <a:normAutofit/>
          </a:bodyPr>
          <a:lstStyle/>
          <a:p>
            <a:pPr algn="ctr" indent="0" marL="0">
              <a:buNone/>
            </a:pPr>
            <a:r>
              <a:rPr lang="en-US" sz="840" dirty="0">
                <a:solidFill>
                  <a:srgbClr val="1F2937"/>
                </a:solidFill>
                <a:latin typeface="Aptos" pitchFamily="34" charset="0"/>
                <a:ea typeface="Aptos" pitchFamily="34" charset="-122"/>
                <a:cs typeface="Aptos" pitchFamily="34" charset="-120"/>
              </a:rPr>
              <a:t>15.22</a:t>
            </a:r>
            <a:endParaRPr lang="en-US" sz="840" dirty="0"/>
          </a:p>
        </p:txBody>
      </p:sp>
      <p:sp>
        <p:nvSpPr>
          <p:cNvPr id="53" name="Shape 51"/>
          <p:cNvSpPr/>
          <p:nvPr/>
        </p:nvSpPr>
        <p:spPr>
          <a:xfrm>
            <a:off x="6471666" y="3566160"/>
            <a:ext cx="1346454" cy="457200"/>
          </a:xfrm>
          <a:prstGeom prst="rect">
            <a:avLst/>
          </a:prstGeom>
          <a:solidFill>
            <a:srgbClr val="FEE2E2"/>
          </a:solidFill>
          <a:ln w="6350">
            <a:solidFill>
              <a:srgbClr val="CBD5E1"/>
            </a:solidFill>
            <a:prstDash val="solid"/>
          </a:ln>
        </p:spPr>
      </p:sp>
      <p:sp>
        <p:nvSpPr>
          <p:cNvPr id="54" name="Text 52"/>
          <p:cNvSpPr/>
          <p:nvPr/>
        </p:nvSpPr>
        <p:spPr>
          <a:xfrm>
            <a:off x="6508242" y="3584448"/>
            <a:ext cx="1273302" cy="420624"/>
          </a:xfrm>
          <a:prstGeom prst="rect">
            <a:avLst/>
          </a:prstGeom>
          <a:noFill/>
          <a:ln/>
        </p:spPr>
        <p:txBody>
          <a:bodyPr wrap="square" lIns="0" tIns="0" rIns="0" bIns="0" rtlCol="0" anchor="ctr">
            <a:normAutofit/>
          </a:bodyPr>
          <a:lstStyle/>
          <a:p>
            <a:pPr algn="ctr" indent="0" marL="0">
              <a:buNone/>
            </a:pPr>
            <a:r>
              <a:rPr lang="en-US" sz="840" b="1" dirty="0">
                <a:solidFill>
                  <a:srgbClr val="1F2937"/>
                </a:solidFill>
                <a:latin typeface="Aptos" pitchFamily="34" charset="0"/>
                <a:ea typeface="Aptos" pitchFamily="34" charset="-122"/>
                <a:cs typeface="Aptos" pitchFamily="34" charset="-120"/>
              </a:rPr>
              <a:t>21.07</a:t>
            </a:r>
            <a:endParaRPr lang="en-US" sz="840" dirty="0"/>
          </a:p>
        </p:txBody>
      </p:sp>
      <p:sp>
        <p:nvSpPr>
          <p:cNvPr id="55" name="Shape 53"/>
          <p:cNvSpPr/>
          <p:nvPr/>
        </p:nvSpPr>
        <p:spPr>
          <a:xfrm>
            <a:off x="8229600" y="1298448"/>
            <a:ext cx="3246120" cy="896112"/>
          </a:xfrm>
          <a:prstGeom prst="roundRect">
            <a:avLst>
              <a:gd name="adj" fmla="val 8163"/>
            </a:avLst>
          </a:prstGeom>
          <a:solidFill>
            <a:srgbClr val="FFF1E5"/>
          </a:solidFill>
          <a:ln w="12700">
            <a:solidFill>
              <a:srgbClr val="FDBA74"/>
            </a:solidFill>
            <a:prstDash val="solid"/>
          </a:ln>
        </p:spPr>
      </p:sp>
      <p:sp>
        <p:nvSpPr>
          <p:cNvPr id="56" name="Text 54"/>
          <p:cNvSpPr/>
          <p:nvPr/>
        </p:nvSpPr>
        <p:spPr>
          <a:xfrm>
            <a:off x="8394192" y="1417320"/>
            <a:ext cx="2916936" cy="237744"/>
          </a:xfrm>
          <a:prstGeom prst="rect">
            <a:avLst/>
          </a:prstGeom>
          <a:noFill/>
          <a:ln/>
        </p:spPr>
        <p:txBody>
          <a:bodyPr wrap="square" lIns="635" tIns="635" rIns="635" bIns="635" rtlCol="0" anchor="ctr">
            <a:normAutofit/>
          </a:bodyPr>
          <a:lstStyle/>
          <a:p>
            <a:pPr algn="l" indent="0" marL="0">
              <a:buNone/>
            </a:pPr>
            <a:r>
              <a:rPr lang="en-US" sz="1600" b="1" dirty="0">
                <a:solidFill>
                  <a:srgbClr val="D65F00"/>
                </a:solidFill>
                <a:latin typeface="Aptos" pitchFamily="34" charset="0"/>
                <a:ea typeface="Aptos" pitchFamily="34" charset="-122"/>
                <a:cs typeface="Aptos" pitchFamily="34" charset="-120"/>
              </a:rPr>
              <a:t>Key anomaly</a:t>
            </a:r>
            <a:endParaRPr lang="en-US" sz="1600" dirty="0"/>
          </a:p>
        </p:txBody>
      </p:sp>
      <p:sp>
        <p:nvSpPr>
          <p:cNvPr id="57" name="Text 55"/>
          <p:cNvSpPr/>
          <p:nvPr/>
        </p:nvSpPr>
        <p:spPr>
          <a:xfrm>
            <a:off x="8394192" y="1737360"/>
            <a:ext cx="2916936" cy="393192"/>
          </a:xfrm>
          <a:prstGeom prst="rect">
            <a:avLst/>
          </a:prstGeom>
          <a:noFill/>
          <a:ln/>
        </p:spPr>
        <p:txBody>
          <a:bodyPr wrap="square" lIns="635" tIns="635" rIns="635" bIns="635" rtlCol="0" anchor="t">
            <a:normAutofit/>
          </a:bodyPr>
          <a:lstStyle/>
          <a:p>
            <a:pPr algn="l" indent="0" marL="0">
              <a:buNone/>
            </a:pPr>
            <a:r>
              <a:rPr lang="en-US" sz="1230" dirty="0">
                <a:solidFill>
                  <a:srgbClr val="637083"/>
                </a:solidFill>
                <a:latin typeface="Aptos" pitchFamily="34" charset="0"/>
                <a:ea typeface="Aptos" pitchFamily="34" charset="-122"/>
                <a:cs typeface="Aptos" pitchFamily="34" charset="-120"/>
              </a:rPr>
              <a:t>Fusion reaches 9.06% WER but 16.08% CER on Common Voice.</a:t>
            </a:r>
            <a:endParaRPr lang="en-US" sz="1230" dirty="0"/>
          </a:p>
        </p:txBody>
      </p:sp>
      <p:sp>
        <p:nvSpPr>
          <p:cNvPr id="58" name="Shape 56"/>
          <p:cNvSpPr/>
          <p:nvPr/>
        </p:nvSpPr>
        <p:spPr>
          <a:xfrm>
            <a:off x="8229600" y="2487168"/>
            <a:ext cx="3246120" cy="896112"/>
          </a:xfrm>
          <a:prstGeom prst="roundRect">
            <a:avLst>
              <a:gd name="adj" fmla="val 8163"/>
            </a:avLst>
          </a:prstGeom>
          <a:solidFill>
            <a:srgbClr val="FFFFFF"/>
          </a:solidFill>
          <a:ln w="12700">
            <a:solidFill>
              <a:srgbClr val="CBD5E1"/>
            </a:solidFill>
            <a:prstDash val="solid"/>
          </a:ln>
        </p:spPr>
      </p:sp>
      <p:sp>
        <p:nvSpPr>
          <p:cNvPr id="59" name="Text 57"/>
          <p:cNvSpPr/>
          <p:nvPr/>
        </p:nvSpPr>
        <p:spPr>
          <a:xfrm>
            <a:off x="8394192" y="2606040"/>
            <a:ext cx="2916936" cy="237744"/>
          </a:xfrm>
          <a:prstGeom prst="rect">
            <a:avLst/>
          </a:prstGeom>
          <a:noFill/>
          <a:ln/>
        </p:spPr>
        <p:txBody>
          <a:bodyPr wrap="square" lIns="635" tIns="635" rIns="635" bIns="635" rtlCol="0" anchor="ctr">
            <a:normAutofit/>
          </a:bodyPr>
          <a:lstStyle/>
          <a:p>
            <a:pPr algn="l" indent="0" marL="0">
              <a:buNone/>
            </a:pPr>
            <a:r>
              <a:rPr lang="en-US" sz="1600" b="1" dirty="0">
                <a:solidFill>
                  <a:srgbClr val="1F2937"/>
                </a:solidFill>
                <a:latin typeface="Aptos" pitchFamily="34" charset="0"/>
                <a:ea typeface="Aptos" pitchFamily="34" charset="-122"/>
                <a:cs typeface="Aptos" pitchFamily="34" charset="-120"/>
              </a:rPr>
              <a:t>Aggregate CER</a:t>
            </a:r>
            <a:endParaRPr lang="en-US" sz="1600" dirty="0"/>
          </a:p>
        </p:txBody>
      </p:sp>
      <p:sp>
        <p:nvSpPr>
          <p:cNvPr id="60" name="Text 58"/>
          <p:cNvSpPr/>
          <p:nvPr/>
        </p:nvSpPr>
        <p:spPr>
          <a:xfrm>
            <a:off x="8394192" y="2926080"/>
            <a:ext cx="2916936" cy="393192"/>
          </a:xfrm>
          <a:prstGeom prst="rect">
            <a:avLst/>
          </a:prstGeom>
          <a:noFill/>
          <a:ln/>
        </p:spPr>
        <p:txBody>
          <a:bodyPr wrap="square" lIns="635" tIns="635" rIns="635" bIns="635" rtlCol="0" anchor="t">
            <a:normAutofit/>
          </a:bodyPr>
          <a:lstStyle/>
          <a:p>
            <a:pPr algn="l" indent="0" marL="0">
              <a:buNone/>
            </a:pPr>
            <a:r>
              <a:rPr lang="en-US" sz="1230" dirty="0">
                <a:solidFill>
                  <a:srgbClr val="637083"/>
                </a:solidFill>
                <a:latin typeface="Aptos" pitchFamily="34" charset="0"/>
                <a:ea typeface="Aptos" pitchFamily="34" charset="-122"/>
                <a:cs typeface="Aptos" pitchFamily="34" charset="-120"/>
              </a:rPr>
              <a:t>Ordinary 10.84% · Multi-condition 7.93% · Fusion 14.04%</a:t>
            </a:r>
            <a:endParaRPr lang="en-US" sz="1230" dirty="0"/>
          </a:p>
        </p:txBody>
      </p:sp>
      <p:sp>
        <p:nvSpPr>
          <p:cNvPr id="61" name="Shape 59"/>
          <p:cNvSpPr/>
          <p:nvPr/>
        </p:nvSpPr>
        <p:spPr>
          <a:xfrm>
            <a:off x="8229600" y="3675888"/>
            <a:ext cx="3246120" cy="1143000"/>
          </a:xfrm>
          <a:prstGeom prst="roundRect">
            <a:avLst>
              <a:gd name="adj" fmla="val 6400"/>
            </a:avLst>
          </a:prstGeom>
          <a:solidFill>
            <a:srgbClr val="F8FAFC"/>
          </a:solidFill>
          <a:ln w="12700">
            <a:solidFill>
              <a:srgbClr val="CBD5E1"/>
            </a:solidFill>
            <a:prstDash val="solid"/>
          </a:ln>
        </p:spPr>
      </p:sp>
      <p:sp>
        <p:nvSpPr>
          <p:cNvPr id="62" name="Text 60"/>
          <p:cNvSpPr/>
          <p:nvPr/>
        </p:nvSpPr>
        <p:spPr>
          <a:xfrm>
            <a:off x="8394192" y="3794760"/>
            <a:ext cx="2916936" cy="237744"/>
          </a:xfrm>
          <a:prstGeom prst="rect">
            <a:avLst/>
          </a:prstGeom>
          <a:noFill/>
          <a:ln/>
        </p:spPr>
        <p:txBody>
          <a:bodyPr wrap="square" lIns="635" tIns="635" rIns="635" bIns="635" rtlCol="0" anchor="ctr">
            <a:normAutofit/>
          </a:bodyPr>
          <a:lstStyle/>
          <a:p>
            <a:pPr algn="l" indent="0" marL="0">
              <a:buNone/>
            </a:pPr>
            <a:r>
              <a:rPr lang="en-US" sz="1600" b="1" dirty="0">
                <a:solidFill>
                  <a:srgbClr val="1F2937"/>
                </a:solidFill>
                <a:latin typeface="Aptos" pitchFamily="34" charset="0"/>
                <a:ea typeface="Aptos" pitchFamily="34" charset="-122"/>
                <a:cs typeface="Aptos" pitchFamily="34" charset="-120"/>
              </a:rPr>
              <a:t>Next diagnosis</a:t>
            </a:r>
            <a:endParaRPr lang="en-US" sz="1600" dirty="0"/>
          </a:p>
        </p:txBody>
      </p:sp>
      <p:sp>
        <p:nvSpPr>
          <p:cNvPr id="63" name="Text 61"/>
          <p:cNvSpPr/>
          <p:nvPr/>
        </p:nvSpPr>
        <p:spPr>
          <a:xfrm>
            <a:off x="8394192" y="4114800"/>
            <a:ext cx="2916936" cy="640080"/>
          </a:xfrm>
          <a:prstGeom prst="rect">
            <a:avLst/>
          </a:prstGeom>
          <a:noFill/>
          <a:ln/>
        </p:spPr>
        <p:txBody>
          <a:bodyPr wrap="square" lIns="635" tIns="635" rIns="635" bIns="635" rtlCol="0" anchor="t">
            <a:normAutofit/>
          </a:bodyPr>
          <a:lstStyle/>
          <a:p>
            <a:pPr algn="l" indent="0" marL="0">
              <a:buNone/>
            </a:pPr>
            <a:r>
              <a:rPr lang="en-US" sz="1250" dirty="0">
                <a:solidFill>
                  <a:srgbClr val="637083"/>
                </a:solidFill>
                <a:latin typeface="Aptos" pitchFamily="34" charset="0"/>
                <a:ea typeface="Aptos" pitchFamily="34" charset="-122"/>
                <a:cs typeface="Aptos" pitchFamily="34" charset="-120"/>
              </a:rPr>
              <a:t>Sample-level error decomposition is needed before attributing the cause.</a:t>
            </a:r>
            <a:endParaRPr lang="en-US" sz="1250" dirty="0"/>
          </a:p>
        </p:txBody>
      </p:sp>
      <p:sp>
        <p:nvSpPr>
          <p:cNvPr id="64" name="Shape 62"/>
          <p:cNvSpPr/>
          <p:nvPr/>
        </p:nvSpPr>
        <p:spPr>
          <a:xfrm>
            <a:off x="1005840" y="5349240"/>
            <a:ext cx="10149840" cy="530352"/>
          </a:xfrm>
          <a:prstGeom prst="roundRect">
            <a:avLst>
              <a:gd name="adj" fmla="val 13793"/>
            </a:avLst>
          </a:prstGeom>
          <a:solidFill>
            <a:srgbClr val="FFF7ED"/>
          </a:solidFill>
          <a:ln w="12700">
            <a:solidFill>
              <a:srgbClr val="FDBA74"/>
            </a:solidFill>
            <a:prstDash val="solid"/>
          </a:ln>
        </p:spPr>
      </p:sp>
      <p:sp>
        <p:nvSpPr>
          <p:cNvPr id="65" name="Text 63"/>
          <p:cNvSpPr/>
          <p:nvPr/>
        </p:nvSpPr>
        <p:spPr>
          <a:xfrm>
            <a:off x="1325880" y="5513832"/>
            <a:ext cx="9509760" cy="164592"/>
          </a:xfrm>
          <a:prstGeom prst="rect">
            <a:avLst/>
          </a:prstGeom>
          <a:noFill/>
          <a:ln/>
        </p:spPr>
        <p:txBody>
          <a:bodyPr wrap="square" lIns="635" tIns="635" rIns="635" bIns="635" rtlCol="0" anchor="ctr">
            <a:normAutofit/>
          </a:bodyPr>
          <a:lstStyle/>
          <a:p>
            <a:pPr algn="ctr" indent="0" marL="0">
              <a:buNone/>
            </a:pPr>
            <a:r>
              <a:rPr lang="en-US" sz="1180" b="1" dirty="0">
                <a:solidFill>
                  <a:srgbClr val="1F2937"/>
                </a:solidFill>
                <a:latin typeface="Aptos" pitchFamily="34" charset="0"/>
                <a:ea typeface="Aptos" pitchFamily="34" charset="-122"/>
                <a:cs typeface="Aptos" pitchFamily="34" charset="-120"/>
              </a:rPr>
              <a:t>WER alone gives an incomplete assessment: fusion improves or matches target-domain CER but fails badly on Common Voice and the Persian Speech Corpus.</a:t>
            </a:r>
            <a:endParaRPr lang="en-US" sz="11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The Learned Gate Collapsed to the Original Stream</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16/19</a:t>
            </a:r>
            <a:endParaRPr lang="en-US" sz="750" dirty="0"/>
          </a:p>
        </p:txBody>
      </p:sp>
      <p:sp>
        <p:nvSpPr>
          <p:cNvPr id="6" name="Text 4"/>
          <p:cNvSpPr/>
          <p:nvPr/>
        </p:nvSpPr>
        <p:spPr>
          <a:xfrm>
            <a:off x="685800" y="932688"/>
            <a:ext cx="5029200" cy="219456"/>
          </a:xfrm>
          <a:prstGeom prst="rect">
            <a:avLst/>
          </a:prstGeom>
          <a:noFill/>
          <a:ln/>
        </p:spPr>
        <p:txBody>
          <a:bodyPr wrap="square" lIns="635" tIns="635" rIns="635" bIns="635" rtlCol="0" anchor="ctr">
            <a:normAutofit/>
          </a:bodyPr>
          <a:lstStyle/>
          <a:p>
            <a:pPr algn="l" indent="0" marL="0">
              <a:buNone/>
            </a:pPr>
            <a:r>
              <a:rPr lang="en-US" sz="1250" b="1" dirty="0">
                <a:solidFill>
                  <a:srgbClr val="637083"/>
                </a:solidFill>
                <a:latin typeface="Aptos" pitchFamily="34" charset="0"/>
                <a:ea typeface="Aptos" pitchFamily="34" charset="-122"/>
                <a:cs typeface="Aptos" pitchFamily="34" charset="-120"/>
              </a:rPr>
              <a:t>Fusion development · lower WER/CER is better</a:t>
            </a:r>
            <a:endParaRPr lang="en-US" sz="1250" dirty="0"/>
          </a:p>
        </p:txBody>
      </p:sp>
      <p:sp>
        <p:nvSpPr>
          <p:cNvPr id="7" name="Shape 5"/>
          <p:cNvSpPr/>
          <p:nvPr/>
        </p:nvSpPr>
        <p:spPr>
          <a:xfrm>
            <a:off x="1069848" y="3456432"/>
            <a:ext cx="4325112" cy="0"/>
          </a:xfrm>
          <a:prstGeom prst="line">
            <a:avLst/>
          </a:prstGeom>
          <a:solidFill>
            <a:srgbClr val="FFFFFF">
              <a:alpha val="0"/>
            </a:srgbClr>
          </a:solidFill>
          <a:ln w="6350">
            <a:solidFill>
              <a:srgbClr val="E5E7EB"/>
            </a:solidFill>
            <a:prstDash val="solid"/>
          </a:ln>
        </p:spPr>
      </p:sp>
      <p:sp>
        <p:nvSpPr>
          <p:cNvPr id="8" name="Text 6"/>
          <p:cNvSpPr/>
          <p:nvPr/>
        </p:nvSpPr>
        <p:spPr>
          <a:xfrm>
            <a:off x="685800" y="3383280"/>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0</a:t>
            </a:r>
            <a:endParaRPr lang="en-US" sz="720" dirty="0"/>
          </a:p>
        </p:txBody>
      </p:sp>
      <p:sp>
        <p:nvSpPr>
          <p:cNvPr id="9" name="Shape 7"/>
          <p:cNvSpPr/>
          <p:nvPr/>
        </p:nvSpPr>
        <p:spPr>
          <a:xfrm>
            <a:off x="1069848" y="2946654"/>
            <a:ext cx="4325112" cy="0"/>
          </a:xfrm>
          <a:prstGeom prst="line">
            <a:avLst/>
          </a:prstGeom>
          <a:solidFill>
            <a:srgbClr val="FFFFFF">
              <a:alpha val="0"/>
            </a:srgbClr>
          </a:solidFill>
          <a:ln w="6350">
            <a:solidFill>
              <a:srgbClr val="E5E7EB"/>
            </a:solidFill>
            <a:prstDash val="solid"/>
          </a:ln>
        </p:spPr>
      </p:sp>
      <p:sp>
        <p:nvSpPr>
          <p:cNvPr id="10" name="Text 8"/>
          <p:cNvSpPr/>
          <p:nvPr/>
        </p:nvSpPr>
        <p:spPr>
          <a:xfrm>
            <a:off x="685800" y="2873502"/>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7</a:t>
            </a:r>
            <a:endParaRPr lang="en-US" sz="720" dirty="0"/>
          </a:p>
        </p:txBody>
      </p:sp>
      <p:sp>
        <p:nvSpPr>
          <p:cNvPr id="11" name="Shape 9"/>
          <p:cNvSpPr/>
          <p:nvPr/>
        </p:nvSpPr>
        <p:spPr>
          <a:xfrm>
            <a:off x="1069848" y="2436876"/>
            <a:ext cx="4325112" cy="0"/>
          </a:xfrm>
          <a:prstGeom prst="line">
            <a:avLst/>
          </a:prstGeom>
          <a:solidFill>
            <a:srgbClr val="FFFFFF">
              <a:alpha val="0"/>
            </a:srgbClr>
          </a:solidFill>
          <a:ln w="6350">
            <a:solidFill>
              <a:srgbClr val="E5E7EB"/>
            </a:solidFill>
            <a:prstDash val="solid"/>
          </a:ln>
        </p:spPr>
      </p:sp>
      <p:sp>
        <p:nvSpPr>
          <p:cNvPr id="12" name="Text 10"/>
          <p:cNvSpPr/>
          <p:nvPr/>
        </p:nvSpPr>
        <p:spPr>
          <a:xfrm>
            <a:off x="685800" y="2363724"/>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14</a:t>
            </a:r>
            <a:endParaRPr lang="en-US" sz="720" dirty="0"/>
          </a:p>
        </p:txBody>
      </p:sp>
      <p:sp>
        <p:nvSpPr>
          <p:cNvPr id="13" name="Shape 11"/>
          <p:cNvSpPr/>
          <p:nvPr/>
        </p:nvSpPr>
        <p:spPr>
          <a:xfrm>
            <a:off x="1069848" y="1927098"/>
            <a:ext cx="4325112" cy="0"/>
          </a:xfrm>
          <a:prstGeom prst="line">
            <a:avLst/>
          </a:prstGeom>
          <a:solidFill>
            <a:srgbClr val="FFFFFF">
              <a:alpha val="0"/>
            </a:srgbClr>
          </a:solidFill>
          <a:ln w="6350">
            <a:solidFill>
              <a:srgbClr val="E5E7EB"/>
            </a:solidFill>
            <a:prstDash val="solid"/>
          </a:ln>
        </p:spPr>
      </p:sp>
      <p:sp>
        <p:nvSpPr>
          <p:cNvPr id="14" name="Text 12"/>
          <p:cNvSpPr/>
          <p:nvPr/>
        </p:nvSpPr>
        <p:spPr>
          <a:xfrm>
            <a:off x="685800" y="1853946"/>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21</a:t>
            </a:r>
            <a:endParaRPr lang="en-US" sz="720" dirty="0"/>
          </a:p>
        </p:txBody>
      </p:sp>
      <p:sp>
        <p:nvSpPr>
          <p:cNvPr id="15" name="Shape 13"/>
          <p:cNvSpPr/>
          <p:nvPr/>
        </p:nvSpPr>
        <p:spPr>
          <a:xfrm>
            <a:off x="1069848" y="1417320"/>
            <a:ext cx="4325112" cy="0"/>
          </a:xfrm>
          <a:prstGeom prst="line">
            <a:avLst/>
          </a:prstGeom>
          <a:solidFill>
            <a:srgbClr val="FFFFFF">
              <a:alpha val="0"/>
            </a:srgbClr>
          </a:solidFill>
          <a:ln w="6350">
            <a:solidFill>
              <a:srgbClr val="E5E7EB"/>
            </a:solidFill>
            <a:prstDash val="solid"/>
          </a:ln>
        </p:spPr>
      </p:sp>
      <p:sp>
        <p:nvSpPr>
          <p:cNvPr id="16" name="Text 14"/>
          <p:cNvSpPr/>
          <p:nvPr/>
        </p:nvSpPr>
        <p:spPr>
          <a:xfrm>
            <a:off x="685800" y="1344168"/>
            <a:ext cx="320040" cy="146304"/>
          </a:xfrm>
          <a:prstGeom prst="rect">
            <a:avLst/>
          </a:prstGeom>
          <a:noFill/>
          <a:ln/>
        </p:spPr>
        <p:txBody>
          <a:bodyPr wrap="square" lIns="0" tIns="0" rIns="0" bIns="0" rtlCol="0" anchor="ctr">
            <a:normAutofit/>
          </a:bodyPr>
          <a:lstStyle/>
          <a:p>
            <a:pPr algn="r" indent="0" marL="0">
              <a:buNone/>
            </a:pPr>
            <a:r>
              <a:rPr lang="en-US" sz="720" dirty="0">
                <a:solidFill>
                  <a:srgbClr val="637083"/>
                </a:solidFill>
                <a:latin typeface="Aptos" pitchFamily="34" charset="0"/>
                <a:ea typeface="Aptos" pitchFamily="34" charset="-122"/>
                <a:cs typeface="Aptos" pitchFamily="34" charset="-120"/>
              </a:rPr>
              <a:t>28</a:t>
            </a:r>
            <a:endParaRPr lang="en-US" sz="720" dirty="0"/>
          </a:p>
        </p:txBody>
      </p:sp>
      <p:sp>
        <p:nvSpPr>
          <p:cNvPr id="17" name="Shape 15"/>
          <p:cNvSpPr/>
          <p:nvPr/>
        </p:nvSpPr>
        <p:spPr>
          <a:xfrm>
            <a:off x="1069848" y="3456432"/>
            <a:ext cx="4325112" cy="0"/>
          </a:xfrm>
          <a:prstGeom prst="line">
            <a:avLst/>
          </a:prstGeom>
          <a:solidFill>
            <a:srgbClr val="FFFFFF">
              <a:alpha val="0"/>
            </a:srgbClr>
          </a:solidFill>
          <a:ln w="10160">
            <a:solidFill>
              <a:srgbClr val="CBD5E1"/>
            </a:solidFill>
            <a:prstDash val="solid"/>
          </a:ln>
        </p:spPr>
      </p:sp>
      <p:sp>
        <p:nvSpPr>
          <p:cNvPr id="18" name="Shape 16"/>
          <p:cNvSpPr/>
          <p:nvPr/>
        </p:nvSpPr>
        <p:spPr>
          <a:xfrm>
            <a:off x="1069848" y="1417320"/>
            <a:ext cx="0" cy="2039112"/>
          </a:xfrm>
          <a:prstGeom prst="line">
            <a:avLst/>
          </a:prstGeom>
          <a:solidFill>
            <a:srgbClr val="FFFFFF">
              <a:alpha val="0"/>
            </a:srgbClr>
          </a:solidFill>
          <a:ln w="10160">
            <a:solidFill>
              <a:srgbClr val="CBD5E1"/>
            </a:solidFill>
            <a:prstDash val="solid"/>
          </a:ln>
        </p:spPr>
      </p:sp>
      <p:sp>
        <p:nvSpPr>
          <p:cNvPr id="19" name="Text 17"/>
          <p:cNvSpPr/>
          <p:nvPr/>
        </p:nvSpPr>
        <p:spPr>
          <a:xfrm>
            <a:off x="1069848" y="3529584"/>
            <a:ext cx="2162556" cy="14630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First run</a:t>
            </a:r>
            <a:endParaRPr lang="en-US" sz="850" dirty="0"/>
          </a:p>
        </p:txBody>
      </p:sp>
      <p:sp>
        <p:nvSpPr>
          <p:cNvPr id="20" name="Text 18"/>
          <p:cNvSpPr/>
          <p:nvPr/>
        </p:nvSpPr>
        <p:spPr>
          <a:xfrm>
            <a:off x="3232404" y="3529584"/>
            <a:ext cx="2162556" cy="146304"/>
          </a:xfrm>
          <a:prstGeom prst="rect">
            <a:avLst/>
          </a:prstGeom>
          <a:noFill/>
          <a:ln/>
        </p:spPr>
        <p:txBody>
          <a:bodyPr wrap="square" lIns="0" tIns="0" rIns="0" bIns="0" rtlCol="0" anchor="ctr">
            <a:normAutofit/>
          </a:bodyPr>
          <a:lstStyle/>
          <a:p>
            <a:pPr algn="ctr" indent="0" marL="0">
              <a:buNone/>
            </a:pPr>
            <a:r>
              <a:rPr lang="en-US" sz="850" b="1" dirty="0">
                <a:solidFill>
                  <a:srgbClr val="1F2937"/>
                </a:solidFill>
                <a:latin typeface="Aptos" pitchFamily="34" charset="0"/>
                <a:ea typeface="Aptos" pitchFamily="34" charset="-122"/>
                <a:cs typeface="Aptos" pitchFamily="34" charset="-120"/>
              </a:rPr>
              <a:t>Final run</a:t>
            </a:r>
            <a:endParaRPr lang="en-US" sz="850" dirty="0"/>
          </a:p>
        </p:txBody>
      </p:sp>
      <p:sp>
        <p:nvSpPr>
          <p:cNvPr id="21" name="Shape 19"/>
          <p:cNvSpPr/>
          <p:nvPr/>
        </p:nvSpPr>
        <p:spPr>
          <a:xfrm>
            <a:off x="1415857" y="1683133"/>
            <a:ext cx="573510" cy="1773299"/>
          </a:xfrm>
          <a:prstGeom prst="rect">
            <a:avLst/>
          </a:prstGeom>
          <a:solidFill>
            <a:srgbClr val="0078B8"/>
          </a:solidFill>
          <a:ln w="12700">
            <a:solidFill>
              <a:srgbClr val="0078B8">
                <a:alpha val="0"/>
              </a:srgbClr>
            </a:solidFill>
            <a:prstDash val="solid"/>
          </a:ln>
        </p:spPr>
      </p:sp>
      <p:sp>
        <p:nvSpPr>
          <p:cNvPr id="22" name="Text 20"/>
          <p:cNvSpPr/>
          <p:nvPr/>
        </p:nvSpPr>
        <p:spPr>
          <a:xfrm>
            <a:off x="1370137" y="1527685"/>
            <a:ext cx="66174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24.35</a:t>
            </a:r>
            <a:endParaRPr lang="en-US" sz="720" dirty="0"/>
          </a:p>
        </p:txBody>
      </p:sp>
      <p:sp>
        <p:nvSpPr>
          <p:cNvPr id="23" name="Shape 21"/>
          <p:cNvSpPr/>
          <p:nvPr/>
        </p:nvSpPr>
        <p:spPr>
          <a:xfrm>
            <a:off x="3578413" y="2113531"/>
            <a:ext cx="573510" cy="1342901"/>
          </a:xfrm>
          <a:prstGeom prst="rect">
            <a:avLst/>
          </a:prstGeom>
          <a:solidFill>
            <a:srgbClr val="0078B8"/>
          </a:solidFill>
          <a:ln w="12700">
            <a:solidFill>
              <a:srgbClr val="0078B8">
                <a:alpha val="0"/>
              </a:srgbClr>
            </a:solidFill>
            <a:prstDash val="solid"/>
          </a:ln>
        </p:spPr>
      </p:sp>
      <p:sp>
        <p:nvSpPr>
          <p:cNvPr id="24" name="Text 22"/>
          <p:cNvSpPr/>
          <p:nvPr/>
        </p:nvSpPr>
        <p:spPr>
          <a:xfrm>
            <a:off x="3532693" y="1958083"/>
            <a:ext cx="66174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18.44</a:t>
            </a:r>
            <a:endParaRPr lang="en-US" sz="720" dirty="0"/>
          </a:p>
        </p:txBody>
      </p:sp>
      <p:sp>
        <p:nvSpPr>
          <p:cNvPr id="25" name="Shape 23"/>
          <p:cNvSpPr/>
          <p:nvPr/>
        </p:nvSpPr>
        <p:spPr>
          <a:xfrm>
            <a:off x="2151126" y="2330551"/>
            <a:ext cx="573510" cy="1125881"/>
          </a:xfrm>
          <a:prstGeom prst="rect">
            <a:avLst/>
          </a:prstGeom>
          <a:solidFill>
            <a:srgbClr val="D65F00"/>
          </a:solidFill>
          <a:ln w="12700">
            <a:solidFill>
              <a:srgbClr val="D65F00">
                <a:alpha val="0"/>
              </a:srgbClr>
            </a:solidFill>
            <a:prstDash val="solid"/>
          </a:ln>
        </p:spPr>
      </p:sp>
      <p:sp>
        <p:nvSpPr>
          <p:cNvPr id="26" name="Text 24"/>
          <p:cNvSpPr/>
          <p:nvPr/>
        </p:nvSpPr>
        <p:spPr>
          <a:xfrm>
            <a:off x="2105406" y="2175103"/>
            <a:ext cx="66174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15.46</a:t>
            </a:r>
            <a:endParaRPr lang="en-US" sz="720" dirty="0"/>
          </a:p>
        </p:txBody>
      </p:sp>
      <p:sp>
        <p:nvSpPr>
          <p:cNvPr id="27" name="Shape 25"/>
          <p:cNvSpPr/>
          <p:nvPr/>
        </p:nvSpPr>
        <p:spPr>
          <a:xfrm>
            <a:off x="4313682" y="2433963"/>
            <a:ext cx="573510" cy="1022469"/>
          </a:xfrm>
          <a:prstGeom prst="rect">
            <a:avLst/>
          </a:prstGeom>
          <a:solidFill>
            <a:srgbClr val="D65F00"/>
          </a:solidFill>
          <a:ln w="12700">
            <a:solidFill>
              <a:srgbClr val="D65F00">
                <a:alpha val="0"/>
              </a:srgbClr>
            </a:solidFill>
            <a:prstDash val="solid"/>
          </a:ln>
        </p:spPr>
      </p:sp>
      <p:sp>
        <p:nvSpPr>
          <p:cNvPr id="28" name="Text 26"/>
          <p:cNvSpPr/>
          <p:nvPr/>
        </p:nvSpPr>
        <p:spPr>
          <a:xfrm>
            <a:off x="4267962" y="2278515"/>
            <a:ext cx="661742" cy="118872"/>
          </a:xfrm>
          <a:prstGeom prst="rect">
            <a:avLst/>
          </a:prstGeom>
          <a:noFill/>
          <a:ln/>
        </p:spPr>
        <p:txBody>
          <a:bodyPr wrap="square" lIns="0" tIns="0" rIns="0" bIns="0" rtlCol="0" anchor="ctr">
            <a:normAutofit/>
          </a:bodyPr>
          <a:lstStyle/>
          <a:p>
            <a:pPr algn="ctr" indent="0" marL="0">
              <a:buNone/>
            </a:pPr>
            <a:r>
              <a:rPr lang="en-US" sz="720" dirty="0">
                <a:solidFill>
                  <a:srgbClr val="1F2937"/>
                </a:solidFill>
                <a:latin typeface="Aptos" pitchFamily="34" charset="0"/>
                <a:ea typeface="Aptos" pitchFamily="34" charset="-122"/>
                <a:cs typeface="Aptos" pitchFamily="34" charset="-120"/>
              </a:rPr>
              <a:t>14.04</a:t>
            </a:r>
            <a:endParaRPr lang="en-US" sz="720" dirty="0"/>
          </a:p>
        </p:txBody>
      </p:sp>
      <p:sp>
        <p:nvSpPr>
          <p:cNvPr id="29" name="Shape 27"/>
          <p:cNvSpPr/>
          <p:nvPr/>
        </p:nvSpPr>
        <p:spPr>
          <a:xfrm>
            <a:off x="1069848" y="3941064"/>
            <a:ext cx="109728" cy="109728"/>
          </a:xfrm>
          <a:prstGeom prst="rect">
            <a:avLst/>
          </a:prstGeom>
          <a:solidFill>
            <a:srgbClr val="0078B8"/>
          </a:solidFill>
          <a:ln w="12700">
            <a:solidFill>
              <a:srgbClr val="0078B8">
                <a:alpha val="0"/>
              </a:srgbClr>
            </a:solidFill>
            <a:prstDash val="solid"/>
          </a:ln>
        </p:spPr>
      </p:sp>
      <p:sp>
        <p:nvSpPr>
          <p:cNvPr id="30" name="Text 28"/>
          <p:cNvSpPr/>
          <p:nvPr/>
        </p:nvSpPr>
        <p:spPr>
          <a:xfrm>
            <a:off x="1234440" y="3913632"/>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WER</a:t>
            </a:r>
            <a:endParaRPr lang="en-US" sz="850" dirty="0"/>
          </a:p>
        </p:txBody>
      </p:sp>
      <p:sp>
        <p:nvSpPr>
          <p:cNvPr id="31" name="Shape 29"/>
          <p:cNvSpPr/>
          <p:nvPr/>
        </p:nvSpPr>
        <p:spPr>
          <a:xfrm>
            <a:off x="2944368" y="3941064"/>
            <a:ext cx="109728" cy="109728"/>
          </a:xfrm>
          <a:prstGeom prst="rect">
            <a:avLst/>
          </a:prstGeom>
          <a:solidFill>
            <a:srgbClr val="D65F00"/>
          </a:solidFill>
          <a:ln w="12700">
            <a:solidFill>
              <a:srgbClr val="D65F00">
                <a:alpha val="0"/>
              </a:srgbClr>
            </a:solidFill>
            <a:prstDash val="solid"/>
          </a:ln>
        </p:spPr>
      </p:sp>
      <p:sp>
        <p:nvSpPr>
          <p:cNvPr id="32" name="Text 30"/>
          <p:cNvSpPr/>
          <p:nvPr/>
        </p:nvSpPr>
        <p:spPr>
          <a:xfrm>
            <a:off x="3108960" y="3913632"/>
            <a:ext cx="1554480" cy="164592"/>
          </a:xfrm>
          <a:prstGeom prst="rect">
            <a:avLst/>
          </a:prstGeom>
          <a:noFill/>
          <a:ln/>
        </p:spPr>
        <p:txBody>
          <a:bodyPr wrap="square" lIns="0" tIns="0" rIns="0" bIns="0" rtlCol="0" anchor="ctr">
            <a:normAutofit/>
          </a:bodyPr>
          <a:lstStyle/>
          <a:p>
            <a:pPr algn="l" indent="0" marL="0">
              <a:buNone/>
            </a:pPr>
            <a:r>
              <a:rPr lang="en-US" sz="850" dirty="0">
                <a:solidFill>
                  <a:srgbClr val="637083"/>
                </a:solidFill>
                <a:latin typeface="Aptos" pitchFamily="34" charset="0"/>
                <a:ea typeface="Aptos" pitchFamily="34" charset="-122"/>
                <a:cs typeface="Aptos" pitchFamily="34" charset="-120"/>
              </a:rPr>
              <a:t>CER</a:t>
            </a:r>
            <a:endParaRPr lang="en-US" sz="850" dirty="0"/>
          </a:p>
        </p:txBody>
      </p:sp>
      <p:sp>
        <p:nvSpPr>
          <p:cNvPr id="33" name="Text 31"/>
          <p:cNvSpPr/>
          <p:nvPr/>
        </p:nvSpPr>
        <p:spPr>
          <a:xfrm>
            <a:off x="5989320" y="1252728"/>
            <a:ext cx="5029200" cy="182880"/>
          </a:xfrm>
          <a:prstGeom prst="rect">
            <a:avLst/>
          </a:prstGeom>
          <a:noFill/>
          <a:ln/>
        </p:spPr>
        <p:txBody>
          <a:bodyPr wrap="square" lIns="635" tIns="635" rIns="635" bIns="635" rtlCol="0" anchor="ctr">
            <a:normAutofit/>
          </a:bodyPr>
          <a:lstStyle/>
          <a:p>
            <a:pPr algn="l" indent="0" marL="0">
              <a:buNone/>
            </a:pPr>
            <a:r>
              <a:rPr lang="en-US" sz="1150" b="1" dirty="0">
                <a:solidFill>
                  <a:srgbClr val="1F2937"/>
                </a:solidFill>
                <a:latin typeface="Aptos" pitchFamily="34" charset="0"/>
                <a:ea typeface="Aptos" pitchFamily="34" charset="-122"/>
                <a:cs typeface="Aptos" pitchFamily="34" charset="-120"/>
              </a:rPr>
              <a:t>Final gate allocation</a:t>
            </a:r>
            <a:endParaRPr lang="en-US" sz="1150" dirty="0"/>
          </a:p>
        </p:txBody>
      </p:sp>
      <p:sp>
        <p:nvSpPr>
          <p:cNvPr id="34" name="Shape 32"/>
          <p:cNvSpPr/>
          <p:nvPr/>
        </p:nvSpPr>
        <p:spPr>
          <a:xfrm>
            <a:off x="5989320" y="1874520"/>
            <a:ext cx="5120640" cy="502920"/>
          </a:xfrm>
          <a:prstGeom prst="roundRect">
            <a:avLst>
              <a:gd name="adj" fmla="val 14545"/>
            </a:avLst>
          </a:prstGeom>
          <a:solidFill>
            <a:srgbClr val="E5E7EB"/>
          </a:solidFill>
          <a:ln w="12700">
            <a:solidFill>
              <a:srgbClr val="E5E7EB"/>
            </a:solidFill>
            <a:prstDash val="solid"/>
          </a:ln>
        </p:spPr>
      </p:sp>
      <p:sp>
        <p:nvSpPr>
          <p:cNvPr id="35" name="Shape 33"/>
          <p:cNvSpPr/>
          <p:nvPr/>
        </p:nvSpPr>
        <p:spPr>
          <a:xfrm>
            <a:off x="5989320" y="1874520"/>
            <a:ext cx="5102352" cy="502920"/>
          </a:xfrm>
          <a:prstGeom prst="rect">
            <a:avLst/>
          </a:prstGeom>
          <a:solidFill>
            <a:srgbClr val="0078B8"/>
          </a:solidFill>
          <a:ln w="12700">
            <a:solidFill>
              <a:srgbClr val="0078B8">
                <a:alpha val="0"/>
              </a:srgbClr>
            </a:solidFill>
            <a:prstDash val="solid"/>
          </a:ln>
        </p:spPr>
      </p:sp>
      <p:sp>
        <p:nvSpPr>
          <p:cNvPr id="36" name="Shape 34"/>
          <p:cNvSpPr/>
          <p:nvPr/>
        </p:nvSpPr>
        <p:spPr>
          <a:xfrm>
            <a:off x="5989320" y="1874520"/>
            <a:ext cx="20117" cy="502920"/>
          </a:xfrm>
          <a:prstGeom prst="rect">
            <a:avLst/>
          </a:prstGeom>
          <a:solidFill>
            <a:srgbClr val="D65F00"/>
          </a:solidFill>
          <a:ln w="12700">
            <a:solidFill>
              <a:srgbClr val="D65F00">
                <a:alpha val="0"/>
              </a:srgbClr>
            </a:solidFill>
            <a:prstDash val="solid"/>
          </a:ln>
        </p:spPr>
      </p:sp>
      <p:sp>
        <p:nvSpPr>
          <p:cNvPr id="37" name="Text 35"/>
          <p:cNvSpPr/>
          <p:nvPr/>
        </p:nvSpPr>
        <p:spPr>
          <a:xfrm>
            <a:off x="6949440" y="2029968"/>
            <a:ext cx="3291840" cy="128016"/>
          </a:xfrm>
          <a:prstGeom prst="rect">
            <a:avLst/>
          </a:prstGeom>
          <a:noFill/>
          <a:ln/>
        </p:spPr>
        <p:txBody>
          <a:bodyPr wrap="square" lIns="635" tIns="635" rIns="635" bIns="635" rtlCol="0" anchor="ctr">
            <a:normAutofit/>
          </a:bodyPr>
          <a:lstStyle/>
          <a:p>
            <a:pPr algn="ctr" indent="0" marL="0">
              <a:buNone/>
            </a:pPr>
            <a:r>
              <a:rPr lang="en-US" sz="1250" b="1" dirty="0">
                <a:solidFill>
                  <a:srgbClr val="FFFFFF"/>
                </a:solidFill>
                <a:latin typeface="Aptos" pitchFamily="34" charset="0"/>
                <a:ea typeface="Aptos" pitchFamily="34" charset="-122"/>
                <a:cs typeface="Aptos" pitchFamily="34" charset="-120"/>
              </a:rPr>
              <a:t>99.61% original representation</a:t>
            </a:r>
            <a:endParaRPr lang="en-US" sz="1250" dirty="0"/>
          </a:p>
        </p:txBody>
      </p:sp>
      <p:sp>
        <p:nvSpPr>
          <p:cNvPr id="38" name="Text 36"/>
          <p:cNvSpPr/>
          <p:nvPr/>
        </p:nvSpPr>
        <p:spPr>
          <a:xfrm>
            <a:off x="5577840" y="2487168"/>
            <a:ext cx="1143000" cy="128016"/>
          </a:xfrm>
          <a:prstGeom prst="rect">
            <a:avLst/>
          </a:prstGeom>
          <a:noFill/>
          <a:ln/>
        </p:spPr>
        <p:txBody>
          <a:bodyPr wrap="square" lIns="635" tIns="635" rIns="635" bIns="635" rtlCol="0" anchor="ctr">
            <a:normAutofit/>
          </a:bodyPr>
          <a:lstStyle/>
          <a:p>
            <a:pPr algn="ctr" indent="0" marL="0">
              <a:buNone/>
            </a:pPr>
            <a:r>
              <a:rPr lang="en-US" sz="950" b="1" dirty="0">
                <a:solidFill>
                  <a:srgbClr val="D65F00"/>
                </a:solidFill>
                <a:latin typeface="Aptos" pitchFamily="34" charset="0"/>
                <a:ea typeface="Aptos" pitchFamily="34" charset="-122"/>
                <a:cs typeface="Aptos" pitchFamily="34" charset="-120"/>
              </a:rPr>
              <a:t>0.39% enhanced</a:t>
            </a:r>
            <a:endParaRPr lang="en-US" sz="950" dirty="0"/>
          </a:p>
        </p:txBody>
      </p:sp>
      <p:sp>
        <p:nvSpPr>
          <p:cNvPr id="39" name="Text 37"/>
          <p:cNvSpPr/>
          <p:nvPr/>
        </p:nvSpPr>
        <p:spPr>
          <a:xfrm>
            <a:off x="5989320" y="2971800"/>
            <a:ext cx="5120640" cy="347472"/>
          </a:xfrm>
          <a:prstGeom prst="rect">
            <a:avLst/>
          </a:prstGeom>
          <a:noFill/>
          <a:ln/>
        </p:spPr>
        <p:txBody>
          <a:bodyPr wrap="square" lIns="635" tIns="635" rIns="635" bIns="635" rtlCol="0" anchor="ctr">
            <a:normAutofit/>
          </a:bodyPr>
          <a:lstStyle/>
          <a:p>
            <a:pPr algn="ctr" indent="0" marL="0">
              <a:buNone/>
            </a:pPr>
            <a:r>
              <a:rPr lang="en-US" sz="2400" b="1" dirty="0">
                <a:solidFill>
                  <a:srgbClr val="D65F00"/>
                </a:solidFill>
                <a:latin typeface="Aptos" pitchFamily="34" charset="0"/>
                <a:ea typeface="Aptos" pitchFamily="34" charset="-122"/>
                <a:cs typeface="Aptos" pitchFamily="34" charset="-120"/>
              </a:rPr>
              <a:t>Gate collapse</a:t>
            </a:r>
            <a:endParaRPr lang="en-US" sz="2400" dirty="0"/>
          </a:p>
        </p:txBody>
      </p:sp>
      <p:sp>
        <p:nvSpPr>
          <p:cNvPr id="40" name="Text 38"/>
          <p:cNvSpPr/>
          <p:nvPr/>
        </p:nvSpPr>
        <p:spPr>
          <a:xfrm>
            <a:off x="6217920" y="3520440"/>
            <a:ext cx="4663440" cy="347472"/>
          </a:xfrm>
          <a:prstGeom prst="rect">
            <a:avLst/>
          </a:prstGeom>
          <a:noFill/>
          <a:ln/>
        </p:spPr>
        <p:txBody>
          <a:bodyPr wrap="square" lIns="635" tIns="635" rIns="635" bIns="635" rtlCol="0" anchor="ctr">
            <a:normAutofit/>
          </a:bodyPr>
          <a:lstStyle/>
          <a:p>
            <a:pPr algn="ctr" indent="0" marL="0">
              <a:buNone/>
            </a:pPr>
            <a:r>
              <a:rPr lang="en-US" sz="1420" b="1" dirty="0">
                <a:solidFill>
                  <a:srgbClr val="1F2937"/>
                </a:solidFill>
                <a:latin typeface="Aptos" pitchFamily="34" charset="0"/>
                <a:ea typeface="Aptos" pitchFamily="34" charset="-122"/>
                <a:cs typeface="Aptos" pitchFamily="34" charset="-120"/>
              </a:rPr>
              <a:t>The final model became more accurate while relying almost entirely on the original stream.</a:t>
            </a:r>
            <a:endParaRPr lang="en-US" sz="1420" dirty="0"/>
          </a:p>
        </p:txBody>
      </p:sp>
      <p:sp>
        <p:nvSpPr>
          <p:cNvPr id="41" name="Shape 39"/>
          <p:cNvSpPr/>
          <p:nvPr/>
        </p:nvSpPr>
        <p:spPr>
          <a:xfrm>
            <a:off x="1005840" y="4800600"/>
            <a:ext cx="2435962" cy="304800"/>
          </a:xfrm>
          <a:prstGeom prst="rect">
            <a:avLst/>
          </a:prstGeom>
          <a:solidFill>
            <a:srgbClr val="EEF2F6"/>
          </a:solidFill>
          <a:ln w="6350">
            <a:solidFill>
              <a:srgbClr val="CBD5E1"/>
            </a:solidFill>
            <a:prstDash val="solid"/>
          </a:ln>
        </p:spPr>
      </p:sp>
      <p:sp>
        <p:nvSpPr>
          <p:cNvPr id="42" name="Text 40"/>
          <p:cNvSpPr/>
          <p:nvPr/>
        </p:nvSpPr>
        <p:spPr>
          <a:xfrm>
            <a:off x="1042416" y="4818888"/>
            <a:ext cx="2362810" cy="268224"/>
          </a:xfrm>
          <a:prstGeom prst="rect">
            <a:avLst/>
          </a:prstGeom>
          <a:noFill/>
          <a:ln/>
        </p:spPr>
        <p:txBody>
          <a:bodyPr wrap="square" lIns="0" tIns="0" rIns="0" bIns="0" rtlCol="0" anchor="ctr">
            <a:normAutofit/>
          </a:bodyPr>
          <a:lstStyle/>
          <a:p>
            <a:pPr algn="l" indent="0" marL="0">
              <a:buNone/>
            </a:pPr>
            <a:r>
              <a:rPr lang="en-US" sz="880" b="1" dirty="0">
                <a:solidFill>
                  <a:srgbClr val="1F2937"/>
                </a:solidFill>
                <a:latin typeface="Aptos" pitchFamily="34" charset="0"/>
                <a:ea typeface="Aptos" pitchFamily="34" charset="-122"/>
                <a:cs typeface="Aptos" pitchFamily="34" charset="-120"/>
              </a:rPr>
              <a:t>Run</a:t>
            </a:r>
            <a:endParaRPr lang="en-US" sz="880" dirty="0"/>
          </a:p>
        </p:txBody>
      </p:sp>
      <p:sp>
        <p:nvSpPr>
          <p:cNvPr id="43" name="Shape 41"/>
          <p:cNvSpPr/>
          <p:nvPr/>
        </p:nvSpPr>
        <p:spPr>
          <a:xfrm>
            <a:off x="3441802" y="4800600"/>
            <a:ext cx="1623974" cy="304800"/>
          </a:xfrm>
          <a:prstGeom prst="rect">
            <a:avLst/>
          </a:prstGeom>
          <a:solidFill>
            <a:srgbClr val="EEF2F6"/>
          </a:solidFill>
          <a:ln w="6350">
            <a:solidFill>
              <a:srgbClr val="CBD5E1"/>
            </a:solidFill>
            <a:prstDash val="solid"/>
          </a:ln>
        </p:spPr>
      </p:sp>
      <p:sp>
        <p:nvSpPr>
          <p:cNvPr id="44" name="Text 42"/>
          <p:cNvSpPr/>
          <p:nvPr/>
        </p:nvSpPr>
        <p:spPr>
          <a:xfrm>
            <a:off x="3478378" y="4818888"/>
            <a:ext cx="1550822"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WER</a:t>
            </a:r>
            <a:endParaRPr lang="en-US" sz="880" dirty="0"/>
          </a:p>
        </p:txBody>
      </p:sp>
      <p:sp>
        <p:nvSpPr>
          <p:cNvPr id="45" name="Shape 43"/>
          <p:cNvSpPr/>
          <p:nvPr/>
        </p:nvSpPr>
        <p:spPr>
          <a:xfrm>
            <a:off x="5065776" y="4800600"/>
            <a:ext cx="1623974" cy="304800"/>
          </a:xfrm>
          <a:prstGeom prst="rect">
            <a:avLst/>
          </a:prstGeom>
          <a:solidFill>
            <a:srgbClr val="EEF2F6"/>
          </a:solidFill>
          <a:ln w="6350">
            <a:solidFill>
              <a:srgbClr val="CBD5E1"/>
            </a:solidFill>
            <a:prstDash val="solid"/>
          </a:ln>
        </p:spPr>
      </p:sp>
      <p:sp>
        <p:nvSpPr>
          <p:cNvPr id="46" name="Text 44"/>
          <p:cNvSpPr/>
          <p:nvPr/>
        </p:nvSpPr>
        <p:spPr>
          <a:xfrm>
            <a:off x="5102352" y="4818888"/>
            <a:ext cx="1550822"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CER</a:t>
            </a:r>
            <a:endParaRPr lang="en-US" sz="880" dirty="0"/>
          </a:p>
        </p:txBody>
      </p:sp>
      <p:sp>
        <p:nvSpPr>
          <p:cNvPr id="47" name="Shape 45"/>
          <p:cNvSpPr/>
          <p:nvPr/>
        </p:nvSpPr>
        <p:spPr>
          <a:xfrm>
            <a:off x="6689750" y="4800600"/>
            <a:ext cx="2232965" cy="304800"/>
          </a:xfrm>
          <a:prstGeom prst="rect">
            <a:avLst/>
          </a:prstGeom>
          <a:solidFill>
            <a:srgbClr val="EEF2F6"/>
          </a:solidFill>
          <a:ln w="6350">
            <a:solidFill>
              <a:srgbClr val="CBD5E1"/>
            </a:solidFill>
            <a:prstDash val="solid"/>
          </a:ln>
        </p:spPr>
      </p:sp>
      <p:sp>
        <p:nvSpPr>
          <p:cNvPr id="48" name="Text 46"/>
          <p:cNvSpPr/>
          <p:nvPr/>
        </p:nvSpPr>
        <p:spPr>
          <a:xfrm>
            <a:off x="6726326" y="4818888"/>
            <a:ext cx="2159813"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Enhanced</a:t>
            </a:r>
            <a:endParaRPr lang="en-US" sz="880" dirty="0"/>
          </a:p>
        </p:txBody>
      </p:sp>
      <p:sp>
        <p:nvSpPr>
          <p:cNvPr id="49" name="Shape 47"/>
          <p:cNvSpPr/>
          <p:nvPr/>
        </p:nvSpPr>
        <p:spPr>
          <a:xfrm>
            <a:off x="8922715" y="4800600"/>
            <a:ext cx="2232965" cy="304800"/>
          </a:xfrm>
          <a:prstGeom prst="rect">
            <a:avLst/>
          </a:prstGeom>
          <a:solidFill>
            <a:srgbClr val="EEF2F6"/>
          </a:solidFill>
          <a:ln w="6350">
            <a:solidFill>
              <a:srgbClr val="CBD5E1"/>
            </a:solidFill>
            <a:prstDash val="solid"/>
          </a:ln>
        </p:spPr>
      </p:sp>
      <p:sp>
        <p:nvSpPr>
          <p:cNvPr id="50" name="Text 48"/>
          <p:cNvSpPr/>
          <p:nvPr/>
        </p:nvSpPr>
        <p:spPr>
          <a:xfrm>
            <a:off x="8959291" y="4818888"/>
            <a:ext cx="2159813"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Original</a:t>
            </a:r>
            <a:endParaRPr lang="en-US" sz="880" dirty="0"/>
          </a:p>
        </p:txBody>
      </p:sp>
      <p:sp>
        <p:nvSpPr>
          <p:cNvPr id="51" name="Shape 49"/>
          <p:cNvSpPr/>
          <p:nvPr/>
        </p:nvSpPr>
        <p:spPr>
          <a:xfrm>
            <a:off x="1005840" y="5105400"/>
            <a:ext cx="2435962" cy="304800"/>
          </a:xfrm>
          <a:prstGeom prst="rect">
            <a:avLst/>
          </a:prstGeom>
          <a:solidFill>
            <a:srgbClr val="FFFFFF"/>
          </a:solidFill>
          <a:ln w="6350">
            <a:solidFill>
              <a:srgbClr val="CBD5E1"/>
            </a:solidFill>
            <a:prstDash val="solid"/>
          </a:ln>
        </p:spPr>
      </p:sp>
      <p:sp>
        <p:nvSpPr>
          <p:cNvPr id="52" name="Text 50"/>
          <p:cNvSpPr/>
          <p:nvPr/>
        </p:nvSpPr>
        <p:spPr>
          <a:xfrm>
            <a:off x="1042416" y="5123688"/>
            <a:ext cx="2362810" cy="268224"/>
          </a:xfrm>
          <a:prstGeom prst="rect">
            <a:avLst/>
          </a:prstGeom>
          <a:noFill/>
          <a:ln/>
        </p:spPr>
        <p:txBody>
          <a:bodyPr wrap="square" lIns="0" tIns="0" rIns="0" bIns="0" rtlCol="0" anchor="ctr">
            <a:normAutofit/>
          </a:bodyPr>
          <a:lstStyle/>
          <a:p>
            <a:pPr algn="l" indent="0" marL="0">
              <a:buNone/>
            </a:pPr>
            <a:r>
              <a:rPr lang="en-US" sz="880" dirty="0">
                <a:solidFill>
                  <a:srgbClr val="1F2937"/>
                </a:solidFill>
                <a:latin typeface="Aptos" pitchFamily="34" charset="0"/>
                <a:ea typeface="Aptos" pitchFamily="34" charset="-122"/>
                <a:cs typeface="Aptos" pitchFamily="34" charset="-120"/>
              </a:rPr>
              <a:t>First run</a:t>
            </a:r>
            <a:endParaRPr lang="en-US" sz="880" dirty="0"/>
          </a:p>
        </p:txBody>
      </p:sp>
      <p:sp>
        <p:nvSpPr>
          <p:cNvPr id="53" name="Shape 51"/>
          <p:cNvSpPr/>
          <p:nvPr/>
        </p:nvSpPr>
        <p:spPr>
          <a:xfrm>
            <a:off x="3441802" y="5105400"/>
            <a:ext cx="1623974" cy="304800"/>
          </a:xfrm>
          <a:prstGeom prst="rect">
            <a:avLst/>
          </a:prstGeom>
          <a:solidFill>
            <a:srgbClr val="FFFFFF"/>
          </a:solidFill>
          <a:ln w="6350">
            <a:solidFill>
              <a:srgbClr val="CBD5E1"/>
            </a:solidFill>
            <a:prstDash val="solid"/>
          </a:ln>
        </p:spPr>
      </p:sp>
      <p:sp>
        <p:nvSpPr>
          <p:cNvPr id="54" name="Text 52"/>
          <p:cNvSpPr/>
          <p:nvPr/>
        </p:nvSpPr>
        <p:spPr>
          <a:xfrm>
            <a:off x="3478378" y="5123688"/>
            <a:ext cx="1550822" cy="268224"/>
          </a:xfrm>
          <a:prstGeom prst="rect">
            <a:avLst/>
          </a:prstGeom>
          <a:noFill/>
          <a:ln/>
        </p:spPr>
        <p:txBody>
          <a:bodyPr wrap="square" lIns="0" tIns="0" rIns="0" bIns="0" rtlCol="0" anchor="ctr">
            <a:normAutofit/>
          </a:bodyPr>
          <a:lstStyle/>
          <a:p>
            <a:pPr algn="ctr" indent="0" marL="0">
              <a:buNone/>
            </a:pPr>
            <a:r>
              <a:rPr lang="en-US" sz="880" dirty="0">
                <a:solidFill>
                  <a:srgbClr val="1F2937"/>
                </a:solidFill>
                <a:latin typeface="Aptos" pitchFamily="34" charset="0"/>
                <a:ea typeface="Aptos" pitchFamily="34" charset="-122"/>
                <a:cs typeface="Aptos" pitchFamily="34" charset="-120"/>
              </a:rPr>
              <a:t>24.35%</a:t>
            </a:r>
            <a:endParaRPr lang="en-US" sz="880" dirty="0"/>
          </a:p>
        </p:txBody>
      </p:sp>
      <p:sp>
        <p:nvSpPr>
          <p:cNvPr id="55" name="Shape 53"/>
          <p:cNvSpPr/>
          <p:nvPr/>
        </p:nvSpPr>
        <p:spPr>
          <a:xfrm>
            <a:off x="5065776" y="5105400"/>
            <a:ext cx="1623974" cy="304800"/>
          </a:xfrm>
          <a:prstGeom prst="rect">
            <a:avLst/>
          </a:prstGeom>
          <a:solidFill>
            <a:srgbClr val="FFFFFF"/>
          </a:solidFill>
          <a:ln w="6350">
            <a:solidFill>
              <a:srgbClr val="CBD5E1"/>
            </a:solidFill>
            <a:prstDash val="solid"/>
          </a:ln>
        </p:spPr>
      </p:sp>
      <p:sp>
        <p:nvSpPr>
          <p:cNvPr id="56" name="Text 54"/>
          <p:cNvSpPr/>
          <p:nvPr/>
        </p:nvSpPr>
        <p:spPr>
          <a:xfrm>
            <a:off x="5102352" y="5123688"/>
            <a:ext cx="1550822" cy="268224"/>
          </a:xfrm>
          <a:prstGeom prst="rect">
            <a:avLst/>
          </a:prstGeom>
          <a:noFill/>
          <a:ln/>
        </p:spPr>
        <p:txBody>
          <a:bodyPr wrap="square" lIns="0" tIns="0" rIns="0" bIns="0" rtlCol="0" anchor="ctr">
            <a:normAutofit/>
          </a:bodyPr>
          <a:lstStyle/>
          <a:p>
            <a:pPr algn="ctr" indent="0" marL="0">
              <a:buNone/>
            </a:pPr>
            <a:r>
              <a:rPr lang="en-US" sz="880" dirty="0">
                <a:solidFill>
                  <a:srgbClr val="1F2937"/>
                </a:solidFill>
                <a:latin typeface="Aptos" pitchFamily="34" charset="0"/>
                <a:ea typeface="Aptos" pitchFamily="34" charset="-122"/>
                <a:cs typeface="Aptos" pitchFamily="34" charset="-120"/>
              </a:rPr>
              <a:t>15.46%</a:t>
            </a:r>
            <a:endParaRPr lang="en-US" sz="880" dirty="0"/>
          </a:p>
        </p:txBody>
      </p:sp>
      <p:sp>
        <p:nvSpPr>
          <p:cNvPr id="57" name="Shape 55"/>
          <p:cNvSpPr/>
          <p:nvPr/>
        </p:nvSpPr>
        <p:spPr>
          <a:xfrm>
            <a:off x="6689750" y="5105400"/>
            <a:ext cx="2232965" cy="304800"/>
          </a:xfrm>
          <a:prstGeom prst="rect">
            <a:avLst/>
          </a:prstGeom>
          <a:solidFill>
            <a:srgbClr val="FFFFFF"/>
          </a:solidFill>
          <a:ln w="6350">
            <a:solidFill>
              <a:srgbClr val="CBD5E1"/>
            </a:solidFill>
            <a:prstDash val="solid"/>
          </a:ln>
        </p:spPr>
      </p:sp>
      <p:sp>
        <p:nvSpPr>
          <p:cNvPr id="58" name="Text 56"/>
          <p:cNvSpPr/>
          <p:nvPr/>
        </p:nvSpPr>
        <p:spPr>
          <a:xfrm>
            <a:off x="6726326" y="5123688"/>
            <a:ext cx="2159813" cy="268224"/>
          </a:xfrm>
          <a:prstGeom prst="rect">
            <a:avLst/>
          </a:prstGeom>
          <a:noFill/>
          <a:ln/>
        </p:spPr>
        <p:txBody>
          <a:bodyPr wrap="square" lIns="0" tIns="0" rIns="0" bIns="0" rtlCol="0" anchor="ctr">
            <a:normAutofit/>
          </a:bodyPr>
          <a:lstStyle/>
          <a:p>
            <a:pPr algn="ctr" indent="0" marL="0">
              <a:buNone/>
            </a:pPr>
            <a:r>
              <a:rPr lang="en-US" sz="880" dirty="0">
                <a:solidFill>
                  <a:srgbClr val="1F2937"/>
                </a:solidFill>
                <a:latin typeface="Aptos" pitchFamily="34" charset="0"/>
                <a:ea typeface="Aptos" pitchFamily="34" charset="-122"/>
                <a:cs typeface="Aptos" pitchFamily="34" charset="-120"/>
              </a:rPr>
              <a:t>0.5154</a:t>
            </a:r>
            <a:endParaRPr lang="en-US" sz="880" dirty="0"/>
          </a:p>
        </p:txBody>
      </p:sp>
      <p:sp>
        <p:nvSpPr>
          <p:cNvPr id="59" name="Shape 57"/>
          <p:cNvSpPr/>
          <p:nvPr/>
        </p:nvSpPr>
        <p:spPr>
          <a:xfrm>
            <a:off x="8922715" y="5105400"/>
            <a:ext cx="2232965" cy="304800"/>
          </a:xfrm>
          <a:prstGeom prst="rect">
            <a:avLst/>
          </a:prstGeom>
          <a:solidFill>
            <a:srgbClr val="FFFFFF"/>
          </a:solidFill>
          <a:ln w="6350">
            <a:solidFill>
              <a:srgbClr val="CBD5E1"/>
            </a:solidFill>
            <a:prstDash val="solid"/>
          </a:ln>
        </p:spPr>
      </p:sp>
      <p:sp>
        <p:nvSpPr>
          <p:cNvPr id="60" name="Text 58"/>
          <p:cNvSpPr/>
          <p:nvPr/>
        </p:nvSpPr>
        <p:spPr>
          <a:xfrm>
            <a:off x="8959291" y="5123688"/>
            <a:ext cx="2159813" cy="268224"/>
          </a:xfrm>
          <a:prstGeom prst="rect">
            <a:avLst/>
          </a:prstGeom>
          <a:noFill/>
          <a:ln/>
        </p:spPr>
        <p:txBody>
          <a:bodyPr wrap="square" lIns="0" tIns="0" rIns="0" bIns="0" rtlCol="0" anchor="ctr">
            <a:normAutofit/>
          </a:bodyPr>
          <a:lstStyle/>
          <a:p>
            <a:pPr algn="ctr" indent="0" marL="0">
              <a:buNone/>
            </a:pPr>
            <a:r>
              <a:rPr lang="en-US" sz="880" dirty="0">
                <a:solidFill>
                  <a:srgbClr val="1F2937"/>
                </a:solidFill>
                <a:latin typeface="Aptos" pitchFamily="34" charset="0"/>
                <a:ea typeface="Aptos" pitchFamily="34" charset="-122"/>
                <a:cs typeface="Aptos" pitchFamily="34" charset="-120"/>
              </a:rPr>
              <a:t>0.4846</a:t>
            </a:r>
            <a:endParaRPr lang="en-US" sz="880" dirty="0"/>
          </a:p>
        </p:txBody>
      </p:sp>
      <p:sp>
        <p:nvSpPr>
          <p:cNvPr id="61" name="Shape 59"/>
          <p:cNvSpPr/>
          <p:nvPr/>
        </p:nvSpPr>
        <p:spPr>
          <a:xfrm>
            <a:off x="1005840" y="5410200"/>
            <a:ext cx="2435962" cy="304800"/>
          </a:xfrm>
          <a:prstGeom prst="rect">
            <a:avLst/>
          </a:prstGeom>
          <a:solidFill>
            <a:srgbClr val="FFF1E5"/>
          </a:solidFill>
          <a:ln w="6350">
            <a:solidFill>
              <a:srgbClr val="CBD5E1"/>
            </a:solidFill>
            <a:prstDash val="solid"/>
          </a:ln>
        </p:spPr>
      </p:sp>
      <p:sp>
        <p:nvSpPr>
          <p:cNvPr id="62" name="Text 60"/>
          <p:cNvSpPr/>
          <p:nvPr/>
        </p:nvSpPr>
        <p:spPr>
          <a:xfrm>
            <a:off x="1042416" y="5428488"/>
            <a:ext cx="2362810" cy="268224"/>
          </a:xfrm>
          <a:prstGeom prst="rect">
            <a:avLst/>
          </a:prstGeom>
          <a:noFill/>
          <a:ln/>
        </p:spPr>
        <p:txBody>
          <a:bodyPr wrap="square" lIns="0" tIns="0" rIns="0" bIns="0" rtlCol="0" anchor="ctr">
            <a:normAutofit/>
          </a:bodyPr>
          <a:lstStyle/>
          <a:p>
            <a:pPr algn="l" indent="0" marL="0">
              <a:buNone/>
            </a:pPr>
            <a:r>
              <a:rPr lang="en-US" sz="880" b="1" dirty="0">
                <a:solidFill>
                  <a:srgbClr val="1F2937"/>
                </a:solidFill>
                <a:latin typeface="Aptos" pitchFamily="34" charset="0"/>
                <a:ea typeface="Aptos" pitchFamily="34" charset="-122"/>
                <a:cs typeface="Aptos" pitchFamily="34" charset="-120"/>
              </a:rPr>
              <a:t>Final run</a:t>
            </a:r>
            <a:endParaRPr lang="en-US" sz="880" dirty="0"/>
          </a:p>
        </p:txBody>
      </p:sp>
      <p:sp>
        <p:nvSpPr>
          <p:cNvPr id="63" name="Shape 61"/>
          <p:cNvSpPr/>
          <p:nvPr/>
        </p:nvSpPr>
        <p:spPr>
          <a:xfrm>
            <a:off x="3441802" y="5410200"/>
            <a:ext cx="1623974" cy="304800"/>
          </a:xfrm>
          <a:prstGeom prst="rect">
            <a:avLst/>
          </a:prstGeom>
          <a:solidFill>
            <a:srgbClr val="FFF1E5"/>
          </a:solidFill>
          <a:ln w="6350">
            <a:solidFill>
              <a:srgbClr val="CBD5E1"/>
            </a:solidFill>
            <a:prstDash val="solid"/>
          </a:ln>
        </p:spPr>
      </p:sp>
      <p:sp>
        <p:nvSpPr>
          <p:cNvPr id="64" name="Text 62"/>
          <p:cNvSpPr/>
          <p:nvPr/>
        </p:nvSpPr>
        <p:spPr>
          <a:xfrm>
            <a:off x="3478378" y="5428488"/>
            <a:ext cx="1550822"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18.44%</a:t>
            </a:r>
            <a:endParaRPr lang="en-US" sz="880" dirty="0"/>
          </a:p>
        </p:txBody>
      </p:sp>
      <p:sp>
        <p:nvSpPr>
          <p:cNvPr id="65" name="Shape 63"/>
          <p:cNvSpPr/>
          <p:nvPr/>
        </p:nvSpPr>
        <p:spPr>
          <a:xfrm>
            <a:off x="5065776" y="5410200"/>
            <a:ext cx="1623974" cy="304800"/>
          </a:xfrm>
          <a:prstGeom prst="rect">
            <a:avLst/>
          </a:prstGeom>
          <a:solidFill>
            <a:srgbClr val="FFF1E5"/>
          </a:solidFill>
          <a:ln w="6350">
            <a:solidFill>
              <a:srgbClr val="CBD5E1"/>
            </a:solidFill>
            <a:prstDash val="solid"/>
          </a:ln>
        </p:spPr>
      </p:sp>
      <p:sp>
        <p:nvSpPr>
          <p:cNvPr id="66" name="Text 64"/>
          <p:cNvSpPr/>
          <p:nvPr/>
        </p:nvSpPr>
        <p:spPr>
          <a:xfrm>
            <a:off x="5102352" y="5428488"/>
            <a:ext cx="1550822"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14.04%</a:t>
            </a:r>
            <a:endParaRPr lang="en-US" sz="880" dirty="0"/>
          </a:p>
        </p:txBody>
      </p:sp>
      <p:sp>
        <p:nvSpPr>
          <p:cNvPr id="67" name="Shape 65"/>
          <p:cNvSpPr/>
          <p:nvPr/>
        </p:nvSpPr>
        <p:spPr>
          <a:xfrm>
            <a:off x="6689750" y="5410200"/>
            <a:ext cx="2232965" cy="304800"/>
          </a:xfrm>
          <a:prstGeom prst="rect">
            <a:avLst/>
          </a:prstGeom>
          <a:solidFill>
            <a:srgbClr val="FFF1E5"/>
          </a:solidFill>
          <a:ln w="6350">
            <a:solidFill>
              <a:srgbClr val="CBD5E1"/>
            </a:solidFill>
            <a:prstDash val="solid"/>
          </a:ln>
        </p:spPr>
      </p:sp>
      <p:sp>
        <p:nvSpPr>
          <p:cNvPr id="68" name="Text 66"/>
          <p:cNvSpPr/>
          <p:nvPr/>
        </p:nvSpPr>
        <p:spPr>
          <a:xfrm>
            <a:off x="6726326" y="5428488"/>
            <a:ext cx="2159813"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0.0039</a:t>
            </a:r>
            <a:endParaRPr lang="en-US" sz="880" dirty="0"/>
          </a:p>
        </p:txBody>
      </p:sp>
      <p:sp>
        <p:nvSpPr>
          <p:cNvPr id="69" name="Shape 67"/>
          <p:cNvSpPr/>
          <p:nvPr/>
        </p:nvSpPr>
        <p:spPr>
          <a:xfrm>
            <a:off x="8922715" y="5410200"/>
            <a:ext cx="2232965" cy="304800"/>
          </a:xfrm>
          <a:prstGeom prst="rect">
            <a:avLst/>
          </a:prstGeom>
          <a:solidFill>
            <a:srgbClr val="FFF1E5"/>
          </a:solidFill>
          <a:ln w="6350">
            <a:solidFill>
              <a:srgbClr val="CBD5E1"/>
            </a:solidFill>
            <a:prstDash val="solid"/>
          </a:ln>
        </p:spPr>
      </p:sp>
      <p:sp>
        <p:nvSpPr>
          <p:cNvPr id="70" name="Text 68"/>
          <p:cNvSpPr/>
          <p:nvPr/>
        </p:nvSpPr>
        <p:spPr>
          <a:xfrm>
            <a:off x="8959291" y="5428488"/>
            <a:ext cx="2159813" cy="268224"/>
          </a:xfrm>
          <a:prstGeom prst="rect">
            <a:avLst/>
          </a:prstGeom>
          <a:noFill/>
          <a:ln/>
        </p:spPr>
        <p:txBody>
          <a:bodyPr wrap="square" lIns="0" tIns="0" rIns="0" bIns="0" rtlCol="0" anchor="ctr">
            <a:normAutofit/>
          </a:bodyPr>
          <a:lstStyle/>
          <a:p>
            <a:pPr algn="ctr" indent="0" marL="0">
              <a:buNone/>
            </a:pPr>
            <a:r>
              <a:rPr lang="en-US" sz="880" b="1" dirty="0">
                <a:solidFill>
                  <a:srgbClr val="1F2937"/>
                </a:solidFill>
                <a:latin typeface="Aptos" pitchFamily="34" charset="0"/>
                <a:ea typeface="Aptos" pitchFamily="34" charset="-122"/>
                <a:cs typeface="Aptos" pitchFamily="34" charset="-120"/>
              </a:rPr>
              <a:t>0.9961</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What This Thesis Contributes</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17/19</a:t>
            </a:r>
            <a:endParaRPr lang="en-US" sz="750" dirty="0"/>
          </a:p>
        </p:txBody>
      </p:sp>
      <p:sp>
        <p:nvSpPr>
          <p:cNvPr id="6" name="Shape 4"/>
          <p:cNvSpPr/>
          <p:nvPr/>
        </p:nvSpPr>
        <p:spPr>
          <a:xfrm>
            <a:off x="685800" y="1207008"/>
            <a:ext cx="3520440" cy="2926080"/>
          </a:xfrm>
          <a:prstGeom prst="roundRect">
            <a:avLst>
              <a:gd name="adj" fmla="val 2500"/>
            </a:avLst>
          </a:prstGeom>
          <a:solidFill>
            <a:srgbClr val="EAF6FF"/>
          </a:solidFill>
          <a:ln w="12700">
            <a:solidFill>
              <a:srgbClr val="0078B8"/>
            </a:solidFill>
            <a:prstDash val="solid"/>
          </a:ln>
        </p:spPr>
      </p:sp>
      <p:sp>
        <p:nvSpPr>
          <p:cNvPr id="7" name="Text 5"/>
          <p:cNvSpPr/>
          <p:nvPr/>
        </p:nvSpPr>
        <p:spPr>
          <a:xfrm>
            <a:off x="850392" y="1325880"/>
            <a:ext cx="3191256" cy="237744"/>
          </a:xfrm>
          <a:prstGeom prst="rect">
            <a:avLst/>
          </a:prstGeom>
          <a:noFill/>
          <a:ln/>
        </p:spPr>
        <p:txBody>
          <a:bodyPr wrap="square" lIns="635" tIns="635" rIns="635" bIns="635" rtlCol="0" anchor="ctr">
            <a:normAutofit/>
          </a:bodyPr>
          <a:lstStyle/>
          <a:p>
            <a:pPr algn="l" indent="0" marL="0">
              <a:buNone/>
            </a:pPr>
            <a:r>
              <a:rPr lang="en-US" sz="1600" b="1" dirty="0">
                <a:solidFill>
                  <a:srgbClr val="0078B8"/>
                </a:solidFill>
                <a:latin typeface="Aptos" pitchFamily="34" charset="0"/>
                <a:ea typeface="Aptos" pitchFamily="34" charset="-122"/>
                <a:cs typeface="Aptos" pitchFamily="34" charset="-120"/>
              </a:rPr>
              <a:t>1. Traceable telecom data generation</a:t>
            </a:r>
            <a:endParaRPr lang="en-US" sz="1600" dirty="0"/>
          </a:p>
        </p:txBody>
      </p:sp>
      <p:sp>
        <p:nvSpPr>
          <p:cNvPr id="8" name="Text 6"/>
          <p:cNvSpPr/>
          <p:nvPr/>
        </p:nvSpPr>
        <p:spPr>
          <a:xfrm>
            <a:off x="978408" y="1682496"/>
            <a:ext cx="3063240" cy="256032"/>
          </a:xfrm>
          <a:prstGeom prst="rect">
            <a:avLst/>
          </a:prstGeom>
          <a:noFill/>
          <a:ln/>
        </p:spPr>
        <p:txBody>
          <a:bodyPr wrap="square" lIns="635" tIns="635" rIns="635" bIns="635" rtlCol="0" anchor="ctr">
            <a:normAutofit/>
          </a:bodyPr>
          <a:lstStyle/>
          <a:p>
            <a:pPr algn="l"/>
            <a:r>
              <a:rPr lang="en-US" sz="1240" dirty="0">
                <a:solidFill>
                  <a:srgbClr val="637083"/>
                </a:solidFill>
                <a:latin typeface="Aptos" pitchFamily="34" charset="0"/>
                <a:ea typeface="Aptos" pitchFamily="34" charset="-122"/>
                <a:cs typeface="Aptos" pitchFamily="34" charset="-120"/>
              </a:rPr>
              <a:t>Real codec round-trips, bandwidth limits, noise, gain, and packet loss</a:t>
            </a:r>
            <a:endParaRPr lang="en-US" sz="1240" dirty="0"/>
          </a:p>
        </p:txBody>
      </p:sp>
      <p:sp>
        <p:nvSpPr>
          <p:cNvPr id="9" name="Text 7"/>
          <p:cNvSpPr/>
          <p:nvPr/>
        </p:nvSpPr>
        <p:spPr>
          <a:xfrm>
            <a:off x="978408" y="1993392"/>
            <a:ext cx="3063240" cy="256032"/>
          </a:xfrm>
          <a:prstGeom prst="rect">
            <a:avLst/>
          </a:prstGeom>
          <a:noFill/>
          <a:ln/>
        </p:spPr>
        <p:txBody>
          <a:bodyPr wrap="square" lIns="635" tIns="635" rIns="635" bIns="635" rtlCol="0" anchor="ctr">
            <a:normAutofit/>
          </a:bodyPr>
          <a:lstStyle/>
          <a:p>
            <a:pPr algn="l"/>
            <a:r>
              <a:rPr lang="en-US" sz="1240" dirty="0">
                <a:solidFill>
                  <a:srgbClr val="637083"/>
                </a:solidFill>
                <a:latin typeface="Aptos" pitchFamily="34" charset="0"/>
                <a:ea typeface="Aptos" pitchFamily="34" charset="-122"/>
                <a:cs typeface="Aptos" pitchFamily="34" charset="-120"/>
              </a:rPr>
              <a:t>Deterministic seeds, aligned pairs, and auditable metadata</a:t>
            </a:r>
            <a:endParaRPr lang="en-US" sz="1240" dirty="0"/>
          </a:p>
        </p:txBody>
      </p:sp>
      <p:sp>
        <p:nvSpPr>
          <p:cNvPr id="10" name="Shape 8"/>
          <p:cNvSpPr/>
          <p:nvPr/>
        </p:nvSpPr>
        <p:spPr>
          <a:xfrm>
            <a:off x="4343400" y="1207008"/>
            <a:ext cx="3520440" cy="2926080"/>
          </a:xfrm>
          <a:prstGeom prst="roundRect">
            <a:avLst>
              <a:gd name="adj" fmla="val 2500"/>
            </a:avLst>
          </a:prstGeom>
          <a:solidFill>
            <a:srgbClr val="E9F7F0"/>
          </a:solidFill>
          <a:ln w="12700">
            <a:solidFill>
              <a:srgbClr val="14865A"/>
            </a:solidFill>
            <a:prstDash val="solid"/>
          </a:ln>
        </p:spPr>
      </p:sp>
      <p:sp>
        <p:nvSpPr>
          <p:cNvPr id="11" name="Text 9"/>
          <p:cNvSpPr/>
          <p:nvPr/>
        </p:nvSpPr>
        <p:spPr>
          <a:xfrm>
            <a:off x="4507992" y="1325880"/>
            <a:ext cx="3191256" cy="237744"/>
          </a:xfrm>
          <a:prstGeom prst="rect">
            <a:avLst/>
          </a:prstGeom>
          <a:noFill/>
          <a:ln/>
        </p:spPr>
        <p:txBody>
          <a:bodyPr wrap="square" lIns="635" tIns="635" rIns="635" bIns="635" rtlCol="0" anchor="ctr">
            <a:normAutofit/>
          </a:bodyPr>
          <a:lstStyle/>
          <a:p>
            <a:pPr algn="l" indent="0" marL="0">
              <a:buNone/>
            </a:pPr>
            <a:r>
              <a:rPr lang="en-US" sz="1600" b="1" dirty="0">
                <a:solidFill>
                  <a:srgbClr val="14865A"/>
                </a:solidFill>
                <a:latin typeface="Aptos" pitchFamily="34" charset="0"/>
                <a:ea typeface="Aptos" pitchFamily="34" charset="-122"/>
                <a:cs typeface="Aptos" pitchFamily="34" charset="-120"/>
              </a:rPr>
              <a:t>2. Controlled evidence for robust Persian ASR</a:t>
            </a:r>
            <a:endParaRPr lang="en-US" sz="1600" dirty="0"/>
          </a:p>
        </p:txBody>
      </p:sp>
      <p:sp>
        <p:nvSpPr>
          <p:cNvPr id="12" name="Text 10"/>
          <p:cNvSpPr/>
          <p:nvPr/>
        </p:nvSpPr>
        <p:spPr>
          <a:xfrm>
            <a:off x="4636008" y="1682496"/>
            <a:ext cx="3063240" cy="256032"/>
          </a:xfrm>
          <a:prstGeom prst="rect">
            <a:avLst/>
          </a:prstGeom>
          <a:noFill/>
          <a:ln/>
        </p:spPr>
        <p:txBody>
          <a:bodyPr wrap="square" lIns="635" tIns="635" rIns="635" bIns="635" rtlCol="0" anchor="ctr">
            <a:normAutofit/>
          </a:bodyPr>
          <a:lstStyle/>
          <a:p>
            <a:pPr algn="l"/>
            <a:r>
              <a:rPr lang="en-US" sz="1240" dirty="0">
                <a:solidFill>
                  <a:srgbClr val="637083"/>
                </a:solidFill>
                <a:latin typeface="Aptos" pitchFamily="34" charset="0"/>
                <a:ea typeface="Aptos" pitchFamily="34" charset="-122"/>
                <a:cs typeface="Aptos" pitchFamily="34" charset="-120"/>
              </a:rPr>
              <a:t>Multi-condition Whisper is a simple, strong baseline</a:t>
            </a:r>
            <a:endParaRPr lang="en-US" sz="1240" dirty="0"/>
          </a:p>
        </p:txBody>
      </p:sp>
      <p:sp>
        <p:nvSpPr>
          <p:cNvPr id="13" name="Text 11"/>
          <p:cNvSpPr/>
          <p:nvPr/>
        </p:nvSpPr>
        <p:spPr>
          <a:xfrm>
            <a:off x="4636008" y="1993392"/>
            <a:ext cx="3063240" cy="256032"/>
          </a:xfrm>
          <a:prstGeom prst="rect">
            <a:avLst/>
          </a:prstGeom>
          <a:noFill/>
          <a:ln/>
        </p:spPr>
        <p:txBody>
          <a:bodyPr wrap="square" lIns="635" tIns="635" rIns="635" bIns="635" rtlCol="0" anchor="ctr">
            <a:normAutofit/>
          </a:bodyPr>
          <a:lstStyle/>
          <a:p>
            <a:pPr algn="l"/>
            <a:r>
              <a:rPr lang="en-US" sz="1240" dirty="0">
                <a:solidFill>
                  <a:srgbClr val="637083"/>
                </a:solidFill>
                <a:latin typeface="Aptos" pitchFamily="34" charset="0"/>
                <a:ea typeface="Aptos" pitchFamily="34" charset="-122"/>
                <a:cs typeface="Aptos" pitchFamily="34" charset="-120"/>
              </a:rPr>
              <a:t>Synthetic degradations transfer to real AGFarsdat calls</a:t>
            </a:r>
            <a:endParaRPr lang="en-US" sz="1240" dirty="0"/>
          </a:p>
        </p:txBody>
      </p:sp>
      <p:sp>
        <p:nvSpPr>
          <p:cNvPr id="14" name="Shape 12"/>
          <p:cNvSpPr/>
          <p:nvPr/>
        </p:nvSpPr>
        <p:spPr>
          <a:xfrm>
            <a:off x="8001000" y="1207008"/>
            <a:ext cx="3520440" cy="2926080"/>
          </a:xfrm>
          <a:prstGeom prst="roundRect">
            <a:avLst>
              <a:gd name="adj" fmla="val 2500"/>
            </a:avLst>
          </a:prstGeom>
          <a:solidFill>
            <a:srgbClr val="FFF1E5"/>
          </a:solidFill>
          <a:ln w="12700">
            <a:solidFill>
              <a:srgbClr val="D65F00"/>
            </a:solidFill>
            <a:prstDash val="solid"/>
          </a:ln>
        </p:spPr>
      </p:sp>
      <p:sp>
        <p:nvSpPr>
          <p:cNvPr id="15" name="Text 13"/>
          <p:cNvSpPr/>
          <p:nvPr/>
        </p:nvSpPr>
        <p:spPr>
          <a:xfrm>
            <a:off x="8165592" y="1325880"/>
            <a:ext cx="3191256" cy="237744"/>
          </a:xfrm>
          <a:prstGeom prst="rect">
            <a:avLst/>
          </a:prstGeom>
          <a:noFill/>
          <a:ln/>
        </p:spPr>
        <p:txBody>
          <a:bodyPr wrap="square" lIns="635" tIns="635" rIns="635" bIns="635" rtlCol="0" anchor="ctr">
            <a:normAutofit/>
          </a:bodyPr>
          <a:lstStyle/>
          <a:p>
            <a:pPr algn="l" indent="0" marL="0">
              <a:buNone/>
            </a:pPr>
            <a:r>
              <a:rPr lang="en-US" sz="1600" b="1" dirty="0">
                <a:solidFill>
                  <a:srgbClr val="D65F00"/>
                </a:solidFill>
                <a:latin typeface="Aptos" pitchFamily="34" charset="0"/>
                <a:ea typeface="Aptos" pitchFamily="34" charset="-122"/>
                <a:cs typeface="Aptos" pitchFamily="34" charset="-120"/>
              </a:rPr>
              <a:t>3. Honest evaluation of dual-stream fusion</a:t>
            </a:r>
            <a:endParaRPr lang="en-US" sz="1600" dirty="0"/>
          </a:p>
        </p:txBody>
      </p:sp>
      <p:sp>
        <p:nvSpPr>
          <p:cNvPr id="16" name="Text 14"/>
          <p:cNvSpPr/>
          <p:nvPr/>
        </p:nvSpPr>
        <p:spPr>
          <a:xfrm>
            <a:off x="8293608" y="1682496"/>
            <a:ext cx="3063240" cy="256032"/>
          </a:xfrm>
          <a:prstGeom prst="rect">
            <a:avLst/>
          </a:prstGeom>
          <a:noFill/>
          <a:ln/>
        </p:spPr>
        <p:txBody>
          <a:bodyPr wrap="square" lIns="635" tIns="635" rIns="635" bIns="635" rtlCol="0" anchor="ctr">
            <a:normAutofit/>
          </a:bodyPr>
          <a:lstStyle/>
          <a:p>
            <a:pPr algn="l"/>
            <a:r>
              <a:rPr lang="en-US" sz="1240" dirty="0">
                <a:solidFill>
                  <a:srgbClr val="637083"/>
                </a:solidFill>
                <a:latin typeface="Aptos" pitchFamily="34" charset="0"/>
                <a:ea typeface="Aptos" pitchFamily="34" charset="-122"/>
                <a:cs typeface="Aptos" pitchFamily="34" charset="-120"/>
              </a:rPr>
              <a:t>Competitive target-domain WER, but no aggregate win</a:t>
            </a:r>
            <a:endParaRPr lang="en-US" sz="1240" dirty="0"/>
          </a:p>
        </p:txBody>
      </p:sp>
      <p:sp>
        <p:nvSpPr>
          <p:cNvPr id="17" name="Text 15"/>
          <p:cNvSpPr/>
          <p:nvPr/>
        </p:nvSpPr>
        <p:spPr>
          <a:xfrm>
            <a:off x="8293608" y="1993392"/>
            <a:ext cx="3063240" cy="256032"/>
          </a:xfrm>
          <a:prstGeom prst="rect">
            <a:avLst/>
          </a:prstGeom>
          <a:noFill/>
          <a:ln/>
        </p:spPr>
        <p:txBody>
          <a:bodyPr wrap="square" lIns="635" tIns="635" rIns="635" bIns="635" rtlCol="0" anchor="ctr">
            <a:normAutofit/>
          </a:bodyPr>
          <a:lstStyle/>
          <a:p>
            <a:pPr algn="l"/>
            <a:r>
              <a:rPr lang="en-US" sz="1240" dirty="0">
                <a:solidFill>
                  <a:srgbClr val="637083"/>
                </a:solidFill>
                <a:latin typeface="Aptos" pitchFamily="34" charset="0"/>
                <a:ea typeface="Aptos" pitchFamily="34" charset="-122"/>
                <a:cs typeface="Aptos" pitchFamily="34" charset="-120"/>
              </a:rPr>
              <a:t>CER anomaly and gate collapse reported as central findings</a:t>
            </a:r>
            <a:endParaRPr lang="en-US" sz="1240" dirty="0"/>
          </a:p>
        </p:txBody>
      </p:sp>
      <p:sp>
        <p:nvSpPr>
          <p:cNvPr id="18" name="Shape 16"/>
          <p:cNvSpPr/>
          <p:nvPr/>
        </p:nvSpPr>
        <p:spPr>
          <a:xfrm>
            <a:off x="1097280" y="4892040"/>
            <a:ext cx="9966960" cy="749808"/>
          </a:xfrm>
          <a:prstGeom prst="roundRect">
            <a:avLst>
              <a:gd name="adj" fmla="val 9756"/>
            </a:avLst>
          </a:prstGeom>
          <a:solidFill>
            <a:srgbClr val="F8FAFC"/>
          </a:solidFill>
          <a:ln w="12700">
            <a:solidFill>
              <a:srgbClr val="CBD5E1"/>
            </a:solidFill>
            <a:prstDash val="solid"/>
          </a:ln>
        </p:spPr>
      </p:sp>
      <p:sp>
        <p:nvSpPr>
          <p:cNvPr id="19" name="Text 17"/>
          <p:cNvSpPr/>
          <p:nvPr/>
        </p:nvSpPr>
        <p:spPr>
          <a:xfrm>
            <a:off x="1417320" y="5148072"/>
            <a:ext cx="9326880" cy="182880"/>
          </a:xfrm>
          <a:prstGeom prst="rect">
            <a:avLst/>
          </a:prstGeom>
          <a:noFill/>
          <a:ln/>
        </p:spPr>
        <p:txBody>
          <a:bodyPr wrap="square" lIns="635" tIns="635" rIns="635" bIns="635" rtlCol="0" anchor="ctr">
            <a:normAutofit/>
          </a:bodyPr>
          <a:lstStyle/>
          <a:p>
            <a:pPr algn="ctr" indent="0" marL="0">
              <a:buNone/>
            </a:pPr>
            <a:r>
              <a:rPr lang="en-US" sz="1440" b="1" dirty="0">
                <a:solidFill>
                  <a:srgbClr val="1F2937"/>
                </a:solidFill>
                <a:latin typeface="Aptos" pitchFamily="34" charset="0"/>
                <a:ea typeface="Aptos" pitchFamily="34" charset="-122"/>
                <a:cs typeface="Aptos" pitchFamily="34" charset="-120"/>
              </a:rPr>
              <a:t>Takeaway: In this setting, data design and a fair baseline mattered more than added architectural complexity.</a:t>
            </a:r>
            <a:endParaRPr lang="en-US" sz="14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Limitations and Next Experiments</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18/19</a:t>
            </a:r>
            <a:endParaRPr lang="en-US" sz="750" dirty="0"/>
          </a:p>
        </p:txBody>
      </p:sp>
      <p:sp>
        <p:nvSpPr>
          <p:cNvPr id="6" name="Shape 4"/>
          <p:cNvSpPr/>
          <p:nvPr/>
        </p:nvSpPr>
        <p:spPr>
          <a:xfrm>
            <a:off x="685800" y="1078992"/>
            <a:ext cx="5303520" cy="4846320"/>
          </a:xfrm>
          <a:prstGeom prst="roundRect">
            <a:avLst>
              <a:gd name="adj" fmla="val 1509"/>
            </a:avLst>
          </a:prstGeom>
          <a:solidFill>
            <a:srgbClr val="FFFFFF"/>
          </a:solidFill>
          <a:ln w="12700">
            <a:solidFill>
              <a:srgbClr val="CBD5E1"/>
            </a:solidFill>
            <a:prstDash val="solid"/>
          </a:ln>
        </p:spPr>
      </p:sp>
      <p:sp>
        <p:nvSpPr>
          <p:cNvPr id="7" name="Text 5"/>
          <p:cNvSpPr/>
          <p:nvPr/>
        </p:nvSpPr>
        <p:spPr>
          <a:xfrm>
            <a:off x="850392" y="1197864"/>
            <a:ext cx="4974336" cy="237744"/>
          </a:xfrm>
          <a:prstGeom prst="rect">
            <a:avLst/>
          </a:prstGeom>
          <a:noFill/>
          <a:ln/>
        </p:spPr>
        <p:txBody>
          <a:bodyPr wrap="square" lIns="635" tIns="635" rIns="635" bIns="635" rtlCol="0" anchor="ctr">
            <a:normAutofit/>
          </a:bodyPr>
          <a:lstStyle/>
          <a:p>
            <a:pPr algn="l" indent="0" marL="0">
              <a:buNone/>
            </a:pPr>
            <a:r>
              <a:rPr lang="en-US" sz="1700" b="1" dirty="0">
                <a:solidFill>
                  <a:srgbClr val="B91C1C"/>
                </a:solidFill>
                <a:latin typeface="Aptos" pitchFamily="34" charset="0"/>
                <a:ea typeface="Aptos" pitchFamily="34" charset="-122"/>
                <a:cs typeface="Aptos" pitchFamily="34" charset="-120"/>
              </a:rPr>
              <a:t>Current limitations</a:t>
            </a:r>
            <a:endParaRPr lang="en-US" sz="1700" dirty="0"/>
          </a:p>
        </p:txBody>
      </p:sp>
      <p:sp>
        <p:nvSpPr>
          <p:cNvPr id="8" name="Text 6"/>
          <p:cNvSpPr/>
          <p:nvPr/>
        </p:nvSpPr>
        <p:spPr>
          <a:xfrm>
            <a:off x="978408" y="1554480"/>
            <a:ext cx="4846320" cy="256032"/>
          </a:xfrm>
          <a:prstGeom prst="rect">
            <a:avLst/>
          </a:prstGeom>
          <a:noFill/>
          <a:ln/>
        </p:spPr>
        <p:txBody>
          <a:bodyPr wrap="square" lIns="635" tIns="635" rIns="635" bIns="635" rtlCol="0" anchor="ctr">
            <a:normAutofit/>
          </a:bodyPr>
          <a:lstStyle/>
          <a:p>
            <a:pPr algn="l"/>
            <a:r>
              <a:rPr lang="en-US" sz="1150" dirty="0">
                <a:solidFill>
                  <a:srgbClr val="637083"/>
                </a:solidFill>
                <a:latin typeface="Aptos" pitchFamily="34" charset="0"/>
                <a:ea typeface="Aptos" pitchFamily="34" charset="-122"/>
                <a:cs typeface="Aptos" pitchFamily="34" charset="-120"/>
              </a:rPr>
              <a:t>One training seed per main configuration; no confidence intervals</a:t>
            </a:r>
            <a:endParaRPr lang="en-US" sz="1150" dirty="0"/>
          </a:p>
        </p:txBody>
      </p:sp>
      <p:sp>
        <p:nvSpPr>
          <p:cNvPr id="9" name="Text 7"/>
          <p:cNvSpPr/>
          <p:nvPr/>
        </p:nvSpPr>
        <p:spPr>
          <a:xfrm>
            <a:off x="978408" y="1865376"/>
            <a:ext cx="4846320" cy="256032"/>
          </a:xfrm>
          <a:prstGeom prst="rect">
            <a:avLst/>
          </a:prstGeom>
          <a:noFill/>
          <a:ln/>
        </p:spPr>
        <p:txBody>
          <a:bodyPr wrap="square" lIns="635" tIns="635" rIns="635" bIns="635" rtlCol="0" anchor="ctr">
            <a:normAutofit/>
          </a:bodyPr>
          <a:lstStyle/>
          <a:p>
            <a:pPr algn="l"/>
            <a:r>
              <a:rPr lang="en-US" sz="1150" dirty="0">
                <a:solidFill>
                  <a:srgbClr val="637083"/>
                </a:solidFill>
                <a:latin typeface="Aptos" pitchFamily="34" charset="0"/>
                <a:ea typeface="Aptos" pitchFamily="34" charset="-122"/>
                <a:cs typeface="Aptos" pitchFamily="34" charset="-120"/>
              </a:rPr>
              <a:t>Fusion evaluation differs by six samples</a:t>
            </a:r>
            <a:endParaRPr lang="en-US" sz="1150" dirty="0"/>
          </a:p>
        </p:txBody>
      </p:sp>
      <p:sp>
        <p:nvSpPr>
          <p:cNvPr id="10" name="Text 8"/>
          <p:cNvSpPr/>
          <p:nvPr/>
        </p:nvSpPr>
        <p:spPr>
          <a:xfrm>
            <a:off x="978408" y="2176272"/>
            <a:ext cx="4846320" cy="256032"/>
          </a:xfrm>
          <a:prstGeom prst="rect">
            <a:avLst/>
          </a:prstGeom>
          <a:noFill/>
          <a:ln/>
        </p:spPr>
        <p:txBody>
          <a:bodyPr wrap="square" lIns="635" tIns="635" rIns="635" bIns="635" rtlCol="0" anchor="ctr">
            <a:normAutofit/>
          </a:bodyPr>
          <a:lstStyle/>
          <a:p>
            <a:pPr algn="l"/>
            <a:r>
              <a:rPr lang="en-US" sz="1150" dirty="0">
                <a:solidFill>
                  <a:srgbClr val="637083"/>
                </a:solidFill>
                <a:latin typeface="Aptos" pitchFamily="34" charset="0"/>
                <a:ea typeface="Aptos" pitchFamily="34" charset="-122"/>
                <a:cs typeface="Aptos" pitchFamily="34" charset="-120"/>
              </a:rPr>
              <a:t>No WER/CER breakdown by codec, SNR, packet loss, or clip length</a:t>
            </a:r>
            <a:endParaRPr lang="en-US" sz="1150" dirty="0"/>
          </a:p>
        </p:txBody>
      </p:sp>
      <p:sp>
        <p:nvSpPr>
          <p:cNvPr id="11" name="Text 9"/>
          <p:cNvSpPr/>
          <p:nvPr/>
        </p:nvSpPr>
        <p:spPr>
          <a:xfrm>
            <a:off x="978408" y="2487168"/>
            <a:ext cx="4846320" cy="256032"/>
          </a:xfrm>
          <a:prstGeom prst="rect">
            <a:avLst/>
          </a:prstGeom>
          <a:noFill/>
          <a:ln/>
        </p:spPr>
        <p:txBody>
          <a:bodyPr wrap="square" lIns="635" tIns="635" rIns="635" bIns="635" rtlCol="0" anchor="ctr">
            <a:normAutofit/>
          </a:bodyPr>
          <a:lstStyle/>
          <a:p>
            <a:pPr algn="l"/>
            <a:r>
              <a:rPr lang="en-US" sz="1150" dirty="0">
                <a:solidFill>
                  <a:srgbClr val="637083"/>
                </a:solidFill>
                <a:latin typeface="Aptos" pitchFamily="34" charset="0"/>
                <a:ea typeface="Aptos" pitchFamily="34" charset="-122"/>
                <a:cs typeface="Aptos" pitchFamily="34" charset="-120"/>
              </a:rPr>
              <a:t>No SI-SDR, PESQ, STOI, listening test, latency, or memory measurements</a:t>
            </a:r>
            <a:endParaRPr lang="en-US" sz="1150" dirty="0"/>
          </a:p>
        </p:txBody>
      </p:sp>
      <p:sp>
        <p:nvSpPr>
          <p:cNvPr id="12" name="Text 10"/>
          <p:cNvSpPr/>
          <p:nvPr/>
        </p:nvSpPr>
        <p:spPr>
          <a:xfrm>
            <a:off x="978408" y="2798064"/>
            <a:ext cx="4846320" cy="256032"/>
          </a:xfrm>
          <a:prstGeom prst="rect">
            <a:avLst/>
          </a:prstGeom>
          <a:noFill/>
          <a:ln/>
        </p:spPr>
        <p:txBody>
          <a:bodyPr wrap="square" lIns="635" tIns="635" rIns="635" bIns="635" rtlCol="0" anchor="ctr">
            <a:normAutofit/>
          </a:bodyPr>
          <a:lstStyle/>
          <a:p>
            <a:pPr algn="l"/>
            <a:r>
              <a:rPr lang="en-US" sz="1150" dirty="0">
                <a:solidFill>
                  <a:srgbClr val="637083"/>
                </a:solidFill>
                <a:latin typeface="Aptos" pitchFamily="34" charset="0"/>
                <a:ea typeface="Aptos" pitchFamily="34" charset="-122"/>
                <a:cs typeface="Aptos" pitchFamily="34" charset="-120"/>
              </a:rPr>
              <a:t>Simulator omits reverberation, echo, jitter, long dropouts, and overlapping speakers</a:t>
            </a:r>
            <a:endParaRPr lang="en-US" sz="1150" dirty="0"/>
          </a:p>
        </p:txBody>
      </p:sp>
      <p:sp>
        <p:nvSpPr>
          <p:cNvPr id="13" name="Shape 11"/>
          <p:cNvSpPr/>
          <p:nvPr/>
        </p:nvSpPr>
        <p:spPr>
          <a:xfrm>
            <a:off x="6217920" y="1078992"/>
            <a:ext cx="5303520" cy="4846320"/>
          </a:xfrm>
          <a:prstGeom prst="roundRect">
            <a:avLst>
              <a:gd name="adj" fmla="val 1509"/>
            </a:avLst>
          </a:prstGeom>
          <a:solidFill>
            <a:srgbClr val="EAF6FF"/>
          </a:solidFill>
          <a:ln w="12700">
            <a:solidFill>
              <a:srgbClr val="A8CAE8"/>
            </a:solidFill>
            <a:prstDash val="solid"/>
          </a:ln>
        </p:spPr>
      </p:sp>
      <p:sp>
        <p:nvSpPr>
          <p:cNvPr id="14" name="Text 12"/>
          <p:cNvSpPr/>
          <p:nvPr/>
        </p:nvSpPr>
        <p:spPr>
          <a:xfrm>
            <a:off x="6382512" y="1197864"/>
            <a:ext cx="4974336" cy="237744"/>
          </a:xfrm>
          <a:prstGeom prst="rect">
            <a:avLst/>
          </a:prstGeom>
          <a:noFill/>
          <a:ln/>
        </p:spPr>
        <p:txBody>
          <a:bodyPr wrap="square" lIns="635" tIns="635" rIns="635" bIns="635" rtlCol="0" anchor="ctr">
            <a:normAutofit/>
          </a:bodyPr>
          <a:lstStyle/>
          <a:p>
            <a:pPr algn="l" indent="0" marL="0">
              <a:buNone/>
            </a:pPr>
            <a:r>
              <a:rPr lang="en-US" sz="1700" b="1" dirty="0">
                <a:solidFill>
                  <a:srgbClr val="0078B8"/>
                </a:solidFill>
                <a:latin typeface="Aptos" pitchFamily="34" charset="0"/>
                <a:ea typeface="Aptos" pitchFamily="34" charset="-122"/>
                <a:cs typeface="Aptos" pitchFamily="34" charset="-120"/>
              </a:rPr>
              <a:t>Highest-priority next experiments</a:t>
            </a:r>
            <a:endParaRPr lang="en-US" sz="1700" dirty="0"/>
          </a:p>
        </p:txBody>
      </p:sp>
      <p:sp>
        <p:nvSpPr>
          <p:cNvPr id="15" name="Text 13"/>
          <p:cNvSpPr/>
          <p:nvPr/>
        </p:nvSpPr>
        <p:spPr>
          <a:xfrm>
            <a:off x="6510528" y="1554480"/>
            <a:ext cx="4846320" cy="256032"/>
          </a:xfrm>
          <a:prstGeom prst="rect">
            <a:avLst/>
          </a:prstGeom>
          <a:noFill/>
          <a:ln/>
        </p:spPr>
        <p:txBody>
          <a:bodyPr wrap="square" lIns="635" tIns="635" rIns="635" bIns="635" rtlCol="0" anchor="ctr">
            <a:normAutofit/>
          </a:bodyPr>
          <a:lstStyle/>
          <a:p>
            <a:pPr algn="l"/>
            <a:r>
              <a:rPr lang="en-US" sz="1180" dirty="0">
                <a:solidFill>
                  <a:srgbClr val="637083"/>
                </a:solidFill>
                <a:latin typeface="Aptos" pitchFamily="34" charset="0"/>
                <a:ea typeface="Aptos" pitchFamily="34" charset="-122"/>
                <a:cs typeface="Aptos" pitchFamily="34" charset="-120"/>
              </a:rPr>
              <a:t>Re-score identical sample lists; bootstrap confidence intervals; run multiple seeds</a:t>
            </a:r>
            <a:endParaRPr lang="en-US" sz="1180" dirty="0"/>
          </a:p>
        </p:txBody>
      </p:sp>
      <p:sp>
        <p:nvSpPr>
          <p:cNvPr id="16" name="Text 14"/>
          <p:cNvSpPr/>
          <p:nvPr/>
        </p:nvSpPr>
        <p:spPr>
          <a:xfrm>
            <a:off x="6510528" y="1865376"/>
            <a:ext cx="4846320" cy="256032"/>
          </a:xfrm>
          <a:prstGeom prst="rect">
            <a:avLst/>
          </a:prstGeom>
          <a:noFill/>
          <a:ln/>
        </p:spPr>
        <p:txBody>
          <a:bodyPr wrap="square" lIns="635" tIns="635" rIns="635" bIns="635" rtlCol="0" anchor="ctr">
            <a:normAutofit/>
          </a:bodyPr>
          <a:lstStyle/>
          <a:p>
            <a:pPr algn="l"/>
            <a:r>
              <a:rPr lang="en-US" sz="1180" dirty="0">
                <a:solidFill>
                  <a:srgbClr val="637083"/>
                </a:solidFill>
                <a:latin typeface="Aptos" pitchFamily="34" charset="0"/>
                <a:ea typeface="Aptos" pitchFamily="34" charset="-122"/>
                <a:cs typeface="Aptos" pitchFamily="34" charset="-120"/>
              </a:rPr>
              <a:t>Ablate original-only, enhanced-only, cross-attention, and forced/fixed gates</a:t>
            </a:r>
            <a:endParaRPr lang="en-US" sz="1180" dirty="0"/>
          </a:p>
        </p:txBody>
      </p:sp>
      <p:sp>
        <p:nvSpPr>
          <p:cNvPr id="17" name="Text 15"/>
          <p:cNvSpPr/>
          <p:nvPr/>
        </p:nvSpPr>
        <p:spPr>
          <a:xfrm>
            <a:off x="6510528" y="2176272"/>
            <a:ext cx="4846320" cy="256032"/>
          </a:xfrm>
          <a:prstGeom prst="rect">
            <a:avLst/>
          </a:prstGeom>
          <a:noFill/>
          <a:ln/>
        </p:spPr>
        <p:txBody>
          <a:bodyPr wrap="square" lIns="635" tIns="635" rIns="635" bIns="635" rtlCol="0" anchor="ctr">
            <a:normAutofit/>
          </a:bodyPr>
          <a:lstStyle/>
          <a:p>
            <a:pPr algn="l"/>
            <a:r>
              <a:rPr lang="en-US" sz="1180" dirty="0">
                <a:solidFill>
                  <a:srgbClr val="637083"/>
                </a:solidFill>
                <a:latin typeface="Aptos" pitchFamily="34" charset="0"/>
                <a:ea typeface="Aptos" pitchFamily="34" charset="-122"/>
                <a:cs typeface="Aptos" pitchFamily="34" charset="-120"/>
              </a:rPr>
              <a:t>Analyze errors and gate weights by degradation condition</a:t>
            </a:r>
            <a:endParaRPr lang="en-US" sz="1180" dirty="0"/>
          </a:p>
        </p:txBody>
      </p:sp>
      <p:sp>
        <p:nvSpPr>
          <p:cNvPr id="18" name="Text 16"/>
          <p:cNvSpPr/>
          <p:nvPr/>
        </p:nvSpPr>
        <p:spPr>
          <a:xfrm>
            <a:off x="6510528" y="2487168"/>
            <a:ext cx="4846320" cy="256032"/>
          </a:xfrm>
          <a:prstGeom prst="rect">
            <a:avLst/>
          </a:prstGeom>
          <a:noFill/>
          <a:ln/>
        </p:spPr>
        <p:txBody>
          <a:bodyPr wrap="square" lIns="635" tIns="635" rIns="635" bIns="635" rtlCol="0" anchor="ctr">
            <a:normAutofit/>
          </a:bodyPr>
          <a:lstStyle/>
          <a:p>
            <a:pPr algn="l"/>
            <a:r>
              <a:rPr lang="en-US" sz="1180" dirty="0">
                <a:solidFill>
                  <a:srgbClr val="637083"/>
                </a:solidFill>
                <a:latin typeface="Aptos" pitchFamily="34" charset="0"/>
                <a:ea typeface="Aptos" pitchFamily="34" charset="-122"/>
                <a:cs typeface="Aptos" pitchFamily="34" charset="-120"/>
              </a:rPr>
              <a:t>Measure real-time factor, peak memory, and end-to-end latency</a:t>
            </a:r>
            <a:endParaRPr lang="en-US" sz="11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AFC"/>
          </a:solidFill>
          <a:ln w="12700">
            <a:solidFill>
              <a:srgbClr val="F7FAFC">
                <a:alpha val="0"/>
              </a:srgbClr>
            </a:solidFill>
            <a:prstDash val="solid"/>
          </a:ln>
        </p:spPr>
      </p:sp>
      <p:sp>
        <p:nvSpPr>
          <p:cNvPr id="3" name="Text 1"/>
          <p:cNvSpPr/>
          <p:nvPr/>
        </p:nvSpPr>
        <p:spPr>
          <a:xfrm>
            <a:off x="411480" y="219456"/>
            <a:ext cx="10698480" cy="365760"/>
          </a:xfrm>
          <a:prstGeom prst="rect">
            <a:avLst/>
          </a:prstGeom>
          <a:noFill/>
          <a:ln/>
        </p:spPr>
        <p:txBody>
          <a:bodyPr wrap="square" lIns="0" tIns="0" rIns="0" bIns="0" rtlCol="0" anchor="ctr">
            <a:normAutofit/>
          </a:bodyPr>
          <a:lstStyle/>
          <a:p>
            <a:pPr indent="0" marL="0">
              <a:buNone/>
            </a:pPr>
            <a:r>
              <a:rPr lang="en-US" sz="2350" b="1" dirty="0">
                <a:solidFill>
                  <a:srgbClr val="1F2937"/>
                </a:solidFill>
                <a:latin typeface="Aptos Display" pitchFamily="34" charset="0"/>
                <a:ea typeface="Aptos Display" pitchFamily="34" charset="-122"/>
                <a:cs typeface="Aptos Display" pitchFamily="34" charset="-120"/>
              </a:rPr>
              <a:t>Conclusion</a:t>
            </a:r>
            <a:endParaRPr lang="en-US" sz="2350" dirty="0"/>
          </a:p>
        </p:txBody>
      </p:sp>
      <p:sp>
        <p:nvSpPr>
          <p:cNvPr id="4" name="Shape 2"/>
          <p:cNvSpPr/>
          <p:nvPr/>
        </p:nvSpPr>
        <p:spPr>
          <a:xfrm>
            <a:off x="411480" y="713232"/>
            <a:ext cx="11384280" cy="0"/>
          </a:xfrm>
          <a:prstGeom prst="line">
            <a:avLst/>
          </a:prstGeom>
          <a:solidFill>
            <a:srgbClr val="FFFFFF">
              <a:alpha val="0"/>
            </a:srgbClr>
          </a:solidFill>
          <a:ln w="13970">
            <a:solidFill>
              <a:srgbClr val="CBD5E1"/>
            </a:solidFill>
            <a:prstDash val="solid"/>
          </a:ln>
        </p:spPr>
      </p:sp>
      <p:sp>
        <p:nvSpPr>
          <p:cNvPr id="5" name="Text 3"/>
          <p:cNvSpPr/>
          <p:nvPr/>
        </p:nvSpPr>
        <p:spPr>
          <a:xfrm>
            <a:off x="9784080" y="6519672"/>
            <a:ext cx="1965960" cy="146304"/>
          </a:xfrm>
          <a:prstGeom prst="rect">
            <a:avLst/>
          </a:prstGeom>
          <a:noFill/>
          <a:ln/>
        </p:spPr>
        <p:txBody>
          <a:bodyPr wrap="square" lIns="0" tIns="0" rIns="0" bIns="0" rtlCol="0" anchor="ctr"/>
          <a:lstStyle/>
          <a:p>
            <a:pPr algn="r" indent="0" marL="0">
              <a:buNone/>
            </a:pPr>
            <a:r>
              <a:rPr lang="en-US" sz="750" dirty="0">
                <a:solidFill>
                  <a:srgbClr val="94A3B8"/>
                </a:solidFill>
              </a:rPr>
              <a:t>Robust Persian ASR · 19/19</a:t>
            </a:r>
            <a:endParaRPr lang="en-US" sz="750" dirty="0"/>
          </a:p>
        </p:txBody>
      </p:sp>
      <p:sp>
        <p:nvSpPr>
          <p:cNvPr id="6" name="Shape 4"/>
          <p:cNvSpPr/>
          <p:nvPr/>
        </p:nvSpPr>
        <p:spPr>
          <a:xfrm>
            <a:off x="914400" y="1060704"/>
            <a:ext cx="10378440" cy="941832"/>
          </a:xfrm>
          <a:prstGeom prst="roundRect">
            <a:avLst>
              <a:gd name="adj" fmla="val 7767"/>
            </a:avLst>
          </a:prstGeom>
          <a:solidFill>
            <a:srgbClr val="EAF6FF"/>
          </a:solidFill>
          <a:ln w="12700">
            <a:solidFill>
              <a:srgbClr val="A8CAE8"/>
            </a:solidFill>
            <a:prstDash val="solid"/>
          </a:ln>
        </p:spPr>
      </p:sp>
      <p:sp>
        <p:nvSpPr>
          <p:cNvPr id="7" name="Text 5"/>
          <p:cNvSpPr/>
          <p:nvPr/>
        </p:nvSpPr>
        <p:spPr>
          <a:xfrm>
            <a:off x="1261872" y="1353312"/>
            <a:ext cx="9692640" cy="256032"/>
          </a:xfrm>
          <a:prstGeom prst="rect">
            <a:avLst/>
          </a:prstGeom>
          <a:noFill/>
          <a:ln/>
        </p:spPr>
        <p:txBody>
          <a:bodyPr wrap="square" lIns="635" tIns="635" rIns="635" bIns="635" rtlCol="0" anchor="ctr">
            <a:normAutofit/>
          </a:bodyPr>
          <a:lstStyle/>
          <a:p>
            <a:pPr algn="ctr" indent="0" marL="0">
              <a:buNone/>
            </a:pPr>
            <a:r>
              <a:rPr lang="en-US" sz="1850" b="1" dirty="0">
                <a:solidFill>
                  <a:srgbClr val="1F2937"/>
                </a:solidFill>
                <a:latin typeface="Aptos" pitchFamily="34" charset="0"/>
                <a:ea typeface="Aptos" pitchFamily="34" charset="-122"/>
                <a:cs typeface="Aptos" pitchFamily="34" charset="-120"/>
              </a:rPr>
              <a:t>Traceable telecom augmentation + multi-condition training was the most effective approach in the current experiments.</a:t>
            </a:r>
            <a:endParaRPr lang="en-US" sz="1850" dirty="0"/>
          </a:p>
        </p:txBody>
      </p:sp>
      <p:sp>
        <p:nvSpPr>
          <p:cNvPr id="8" name="Shape 6"/>
          <p:cNvSpPr/>
          <p:nvPr/>
        </p:nvSpPr>
        <p:spPr>
          <a:xfrm>
            <a:off x="914400" y="2423160"/>
            <a:ext cx="4800600" cy="658368"/>
          </a:xfrm>
          <a:prstGeom prst="roundRect">
            <a:avLst>
              <a:gd name="adj" fmla="val 11111"/>
            </a:avLst>
          </a:prstGeom>
          <a:solidFill>
            <a:srgbClr val="FFFFFF"/>
          </a:solidFill>
          <a:ln w="12700">
            <a:solidFill>
              <a:srgbClr val="CBD5E1"/>
            </a:solidFill>
            <a:prstDash val="solid"/>
          </a:ln>
        </p:spPr>
      </p:sp>
      <p:sp>
        <p:nvSpPr>
          <p:cNvPr id="9" name="Text 7"/>
          <p:cNvSpPr/>
          <p:nvPr/>
        </p:nvSpPr>
        <p:spPr>
          <a:xfrm>
            <a:off x="1078992" y="2542032"/>
            <a:ext cx="4471416" cy="237744"/>
          </a:xfrm>
          <a:prstGeom prst="rect">
            <a:avLst/>
          </a:prstGeom>
          <a:noFill/>
          <a:ln/>
        </p:spPr>
        <p:txBody>
          <a:bodyPr wrap="square" lIns="635" tIns="635" rIns="635" bIns="635" rtlCol="0" anchor="ctr">
            <a:normAutofit/>
          </a:bodyPr>
          <a:lstStyle/>
          <a:p>
            <a:pPr algn="l" indent="0" marL="0">
              <a:buNone/>
            </a:pPr>
            <a:r>
              <a:rPr lang="en-US" sz="1150" b="1" dirty="0">
                <a:solidFill>
                  <a:srgbClr val="0078B8"/>
                </a:solidFill>
                <a:latin typeface="Aptos" pitchFamily="34" charset="0"/>
                <a:ea typeface="Aptos" pitchFamily="34" charset="-122"/>
                <a:cs typeface="Aptos" pitchFamily="34" charset="-120"/>
              </a:rPr>
              <a:t>Aggregate WER</a:t>
            </a:r>
            <a:endParaRPr lang="en-US" sz="1150" dirty="0"/>
          </a:p>
        </p:txBody>
      </p:sp>
      <p:sp>
        <p:nvSpPr>
          <p:cNvPr id="10" name="Text 8"/>
          <p:cNvSpPr/>
          <p:nvPr/>
        </p:nvSpPr>
        <p:spPr>
          <a:xfrm>
            <a:off x="1078992" y="2862072"/>
            <a:ext cx="4471416" cy="155448"/>
          </a:xfrm>
          <a:prstGeom prst="rect">
            <a:avLst/>
          </a:prstGeom>
          <a:noFill/>
          <a:ln/>
        </p:spPr>
        <p:txBody>
          <a:bodyPr wrap="square" lIns="635" tIns="635" rIns="635" bIns="635" rtlCol="0" anchor="t">
            <a:normAutofit/>
          </a:bodyPr>
          <a:lstStyle/>
          <a:p>
            <a:pPr algn="l" indent="0" marL="0">
              <a:buNone/>
            </a:pPr>
            <a:r>
              <a:rPr lang="en-US" sz="1350" dirty="0">
                <a:solidFill>
                  <a:srgbClr val="637083"/>
                </a:solidFill>
                <a:latin typeface="Aptos" pitchFamily="34" charset="0"/>
                <a:ea typeface="Aptos" pitchFamily="34" charset="-122"/>
                <a:cs typeface="Aptos" pitchFamily="34" charset="-120"/>
              </a:rPr>
              <a:t>23.27% → 17.83%</a:t>
            </a:r>
            <a:endParaRPr lang="en-US" sz="1350" dirty="0"/>
          </a:p>
        </p:txBody>
      </p:sp>
      <p:sp>
        <p:nvSpPr>
          <p:cNvPr id="11" name="Shape 9"/>
          <p:cNvSpPr/>
          <p:nvPr/>
        </p:nvSpPr>
        <p:spPr>
          <a:xfrm>
            <a:off x="6172200" y="2423160"/>
            <a:ext cx="4800600" cy="658368"/>
          </a:xfrm>
          <a:prstGeom prst="roundRect">
            <a:avLst>
              <a:gd name="adj" fmla="val 11111"/>
            </a:avLst>
          </a:prstGeom>
          <a:solidFill>
            <a:srgbClr val="FFFFFF"/>
          </a:solidFill>
          <a:ln w="12700">
            <a:solidFill>
              <a:srgbClr val="CBD5E1"/>
            </a:solidFill>
            <a:prstDash val="solid"/>
          </a:ln>
        </p:spPr>
      </p:sp>
      <p:sp>
        <p:nvSpPr>
          <p:cNvPr id="12" name="Text 10"/>
          <p:cNvSpPr/>
          <p:nvPr/>
        </p:nvSpPr>
        <p:spPr>
          <a:xfrm>
            <a:off x="6336792" y="2542032"/>
            <a:ext cx="4471416" cy="237744"/>
          </a:xfrm>
          <a:prstGeom prst="rect">
            <a:avLst/>
          </a:prstGeom>
          <a:noFill/>
          <a:ln/>
        </p:spPr>
        <p:txBody>
          <a:bodyPr wrap="square" lIns="635" tIns="635" rIns="635" bIns="635" rtlCol="0" anchor="ctr">
            <a:normAutofit/>
          </a:bodyPr>
          <a:lstStyle/>
          <a:p>
            <a:pPr algn="l" indent="0" marL="0">
              <a:buNone/>
            </a:pPr>
            <a:r>
              <a:rPr lang="en-US" sz="1150" b="1" dirty="0">
                <a:solidFill>
                  <a:srgbClr val="0078B8"/>
                </a:solidFill>
                <a:latin typeface="Aptos" pitchFamily="34" charset="0"/>
                <a:ea typeface="Aptos" pitchFamily="34" charset="-122"/>
                <a:cs typeface="Aptos" pitchFamily="34" charset="-120"/>
              </a:rPr>
              <a:t>Real AGFarsdat WER</a:t>
            </a:r>
            <a:endParaRPr lang="en-US" sz="1150" dirty="0"/>
          </a:p>
        </p:txBody>
      </p:sp>
      <p:sp>
        <p:nvSpPr>
          <p:cNvPr id="13" name="Text 11"/>
          <p:cNvSpPr/>
          <p:nvPr/>
        </p:nvSpPr>
        <p:spPr>
          <a:xfrm>
            <a:off x="6336792" y="2862072"/>
            <a:ext cx="4471416" cy="155448"/>
          </a:xfrm>
          <a:prstGeom prst="rect">
            <a:avLst/>
          </a:prstGeom>
          <a:noFill/>
          <a:ln/>
        </p:spPr>
        <p:txBody>
          <a:bodyPr wrap="square" lIns="635" tIns="635" rIns="635" bIns="635" rtlCol="0" anchor="t">
            <a:normAutofit/>
          </a:bodyPr>
          <a:lstStyle/>
          <a:p>
            <a:pPr algn="l" indent="0" marL="0">
              <a:buNone/>
            </a:pPr>
            <a:r>
              <a:rPr lang="en-US" sz="1350" dirty="0">
                <a:solidFill>
                  <a:srgbClr val="637083"/>
                </a:solidFill>
                <a:latin typeface="Aptos" pitchFamily="34" charset="0"/>
                <a:ea typeface="Aptos" pitchFamily="34" charset="-122"/>
                <a:cs typeface="Aptos" pitchFamily="34" charset="-120"/>
              </a:rPr>
              <a:t>35.63% → 25.80%</a:t>
            </a:r>
            <a:endParaRPr lang="en-US" sz="1350" dirty="0"/>
          </a:p>
        </p:txBody>
      </p:sp>
      <p:sp>
        <p:nvSpPr>
          <p:cNvPr id="14" name="Shape 12"/>
          <p:cNvSpPr/>
          <p:nvPr/>
        </p:nvSpPr>
        <p:spPr>
          <a:xfrm>
            <a:off x="914400" y="3383280"/>
            <a:ext cx="4800600" cy="658368"/>
          </a:xfrm>
          <a:prstGeom prst="roundRect">
            <a:avLst>
              <a:gd name="adj" fmla="val 11111"/>
            </a:avLst>
          </a:prstGeom>
          <a:solidFill>
            <a:srgbClr val="FFFFFF"/>
          </a:solidFill>
          <a:ln w="12700">
            <a:solidFill>
              <a:srgbClr val="CBD5E1"/>
            </a:solidFill>
            <a:prstDash val="solid"/>
          </a:ln>
        </p:spPr>
      </p:sp>
      <p:sp>
        <p:nvSpPr>
          <p:cNvPr id="15" name="Text 13"/>
          <p:cNvSpPr/>
          <p:nvPr/>
        </p:nvSpPr>
        <p:spPr>
          <a:xfrm>
            <a:off x="1078992" y="3502152"/>
            <a:ext cx="4471416" cy="237744"/>
          </a:xfrm>
          <a:prstGeom prst="rect">
            <a:avLst/>
          </a:prstGeom>
          <a:noFill/>
          <a:ln/>
        </p:spPr>
        <p:txBody>
          <a:bodyPr wrap="square" lIns="635" tIns="635" rIns="635" bIns="635" rtlCol="0" anchor="ctr">
            <a:normAutofit/>
          </a:bodyPr>
          <a:lstStyle/>
          <a:p>
            <a:pPr algn="l" indent="0" marL="0">
              <a:buNone/>
            </a:pPr>
            <a:r>
              <a:rPr lang="en-US" sz="1150" b="1" dirty="0">
                <a:solidFill>
                  <a:srgbClr val="D65F00"/>
                </a:solidFill>
                <a:latin typeface="Aptos" pitchFamily="34" charset="0"/>
                <a:ea typeface="Aptos" pitchFamily="34" charset="-122"/>
                <a:cs typeface="Aptos" pitchFamily="34" charset="-120"/>
              </a:rPr>
              <a:t>Fusion overall</a:t>
            </a:r>
            <a:endParaRPr lang="en-US" sz="1150" dirty="0"/>
          </a:p>
        </p:txBody>
      </p:sp>
      <p:sp>
        <p:nvSpPr>
          <p:cNvPr id="16" name="Text 14"/>
          <p:cNvSpPr/>
          <p:nvPr/>
        </p:nvSpPr>
        <p:spPr>
          <a:xfrm>
            <a:off x="1078992" y="3822192"/>
            <a:ext cx="4471416" cy="155448"/>
          </a:xfrm>
          <a:prstGeom prst="rect">
            <a:avLst/>
          </a:prstGeom>
          <a:noFill/>
          <a:ln/>
        </p:spPr>
        <p:txBody>
          <a:bodyPr wrap="square" lIns="635" tIns="635" rIns="635" bIns="635" rtlCol="0" anchor="t">
            <a:normAutofit/>
          </a:bodyPr>
          <a:lstStyle/>
          <a:p>
            <a:pPr algn="l" indent="0" marL="0">
              <a:buNone/>
            </a:pPr>
            <a:r>
              <a:rPr lang="en-US" sz="1350" dirty="0">
                <a:solidFill>
                  <a:srgbClr val="637083"/>
                </a:solidFill>
                <a:latin typeface="Aptos" pitchFamily="34" charset="0"/>
                <a:ea typeface="Aptos" pitchFamily="34" charset="-122"/>
                <a:cs typeface="Aptos" pitchFamily="34" charset="-120"/>
              </a:rPr>
              <a:t>Competitive, but not better overall</a:t>
            </a:r>
            <a:endParaRPr lang="en-US" sz="1350" dirty="0"/>
          </a:p>
        </p:txBody>
      </p:sp>
      <p:sp>
        <p:nvSpPr>
          <p:cNvPr id="17" name="Shape 15"/>
          <p:cNvSpPr/>
          <p:nvPr/>
        </p:nvSpPr>
        <p:spPr>
          <a:xfrm>
            <a:off x="6172200" y="3383280"/>
            <a:ext cx="4800600" cy="658368"/>
          </a:xfrm>
          <a:prstGeom prst="roundRect">
            <a:avLst>
              <a:gd name="adj" fmla="val 11111"/>
            </a:avLst>
          </a:prstGeom>
          <a:solidFill>
            <a:srgbClr val="FFFFFF"/>
          </a:solidFill>
          <a:ln w="12700">
            <a:solidFill>
              <a:srgbClr val="CBD5E1"/>
            </a:solidFill>
            <a:prstDash val="solid"/>
          </a:ln>
        </p:spPr>
      </p:sp>
      <p:sp>
        <p:nvSpPr>
          <p:cNvPr id="18" name="Text 16"/>
          <p:cNvSpPr/>
          <p:nvPr/>
        </p:nvSpPr>
        <p:spPr>
          <a:xfrm>
            <a:off x="6336792" y="3502152"/>
            <a:ext cx="4471416" cy="237744"/>
          </a:xfrm>
          <a:prstGeom prst="rect">
            <a:avLst/>
          </a:prstGeom>
          <a:noFill/>
          <a:ln/>
        </p:spPr>
        <p:txBody>
          <a:bodyPr wrap="square" lIns="635" tIns="635" rIns="635" bIns="635" rtlCol="0" anchor="ctr">
            <a:normAutofit/>
          </a:bodyPr>
          <a:lstStyle/>
          <a:p>
            <a:pPr algn="l" indent="0" marL="0">
              <a:buNone/>
            </a:pPr>
            <a:r>
              <a:rPr lang="en-US" sz="1150" b="1" dirty="0">
                <a:solidFill>
                  <a:srgbClr val="D65F00"/>
                </a:solidFill>
                <a:latin typeface="Aptos" pitchFamily="34" charset="0"/>
                <a:ea typeface="Aptos" pitchFamily="34" charset="-122"/>
                <a:cs typeface="Aptos" pitchFamily="34" charset="-120"/>
              </a:rPr>
              <a:t>Final gate</a:t>
            </a:r>
            <a:endParaRPr lang="en-US" sz="1150" dirty="0"/>
          </a:p>
        </p:txBody>
      </p:sp>
      <p:sp>
        <p:nvSpPr>
          <p:cNvPr id="19" name="Text 17"/>
          <p:cNvSpPr/>
          <p:nvPr/>
        </p:nvSpPr>
        <p:spPr>
          <a:xfrm>
            <a:off x="6336792" y="3822192"/>
            <a:ext cx="4471416" cy="155448"/>
          </a:xfrm>
          <a:prstGeom prst="rect">
            <a:avLst/>
          </a:prstGeom>
          <a:noFill/>
          <a:ln/>
        </p:spPr>
        <p:txBody>
          <a:bodyPr wrap="square" lIns="635" tIns="635" rIns="635" bIns="635" rtlCol="0" anchor="t">
            <a:normAutofit/>
          </a:bodyPr>
          <a:lstStyle/>
          <a:p>
            <a:pPr algn="l" indent="0" marL="0">
              <a:buNone/>
            </a:pPr>
            <a:r>
              <a:rPr lang="en-US" sz="1350" dirty="0">
                <a:solidFill>
                  <a:srgbClr val="637083"/>
                </a:solidFill>
                <a:latin typeface="Aptos" pitchFamily="34" charset="0"/>
                <a:ea typeface="Aptos" pitchFamily="34" charset="-122"/>
                <a:cs typeface="Aptos" pitchFamily="34" charset="-120"/>
              </a:rPr>
              <a:t>99.61% original stream</a:t>
            </a:r>
            <a:endParaRPr lang="en-US" sz="1350" dirty="0"/>
          </a:p>
        </p:txBody>
      </p:sp>
      <p:sp>
        <p:nvSpPr>
          <p:cNvPr id="20" name="Text 18"/>
          <p:cNvSpPr/>
          <p:nvPr/>
        </p:nvSpPr>
        <p:spPr>
          <a:xfrm>
            <a:off x="2926080" y="4956048"/>
            <a:ext cx="6309360" cy="201168"/>
          </a:xfrm>
          <a:prstGeom prst="rect">
            <a:avLst/>
          </a:prstGeom>
          <a:noFill/>
          <a:ln/>
        </p:spPr>
        <p:txBody>
          <a:bodyPr wrap="square" lIns="635" tIns="635" rIns="635" bIns="635" rtlCol="0" anchor="ctr">
            <a:normAutofit/>
          </a:bodyPr>
          <a:lstStyle/>
          <a:p>
            <a:pPr algn="ctr" indent="0" marL="0">
              <a:buNone/>
            </a:pPr>
            <a:r>
              <a:rPr lang="en-US" sz="1400" b="1" dirty="0">
                <a:solidFill>
                  <a:srgbClr val="637083"/>
                </a:solidFill>
                <a:latin typeface="Aptos" pitchFamily="34" charset="0"/>
                <a:ea typeface="Aptos" pitchFamily="34" charset="-122"/>
                <a:cs typeface="Aptos" pitchFamily="34" charset="-120"/>
              </a:rPr>
              <a:t>Best current balance</a:t>
            </a:r>
            <a:endParaRPr lang="en-US" sz="1400" dirty="0"/>
          </a:p>
        </p:txBody>
      </p:sp>
      <p:sp>
        <p:nvSpPr>
          <p:cNvPr id="21" name="Text 19"/>
          <p:cNvSpPr/>
          <p:nvPr/>
        </p:nvSpPr>
        <p:spPr>
          <a:xfrm>
            <a:off x="2148840" y="5321808"/>
            <a:ext cx="7818120" cy="329184"/>
          </a:xfrm>
          <a:prstGeom prst="rect">
            <a:avLst/>
          </a:prstGeom>
          <a:noFill/>
          <a:ln/>
        </p:spPr>
        <p:txBody>
          <a:bodyPr wrap="square" lIns="635" tIns="635" rIns="635" bIns="635" rtlCol="0" anchor="ctr">
            <a:normAutofit/>
          </a:bodyPr>
          <a:lstStyle/>
          <a:p>
            <a:pPr algn="ctr" indent="0" marL="0">
              <a:buNone/>
            </a:pPr>
            <a:r>
              <a:rPr lang="en-US" sz="2200" b="1" dirty="0">
                <a:solidFill>
                  <a:srgbClr val="1F2937"/>
                </a:solidFill>
                <a:latin typeface="Aptos" pitchFamily="34" charset="0"/>
                <a:ea typeface="Aptos" pitchFamily="34" charset="-122"/>
                <a:cs typeface="Aptos" pitchFamily="34" charset="-120"/>
              </a:rPr>
              <a:t>Multi-condition Whisper-small: accuracy · simplicity · interpretability</a:t>
            </a:r>
            <a:endParaRPr lang="en-US" sz="2200" dirty="0"/>
          </a:p>
        </p:txBody>
      </p:sp>
      <p:sp>
        <p:nvSpPr>
          <p:cNvPr id="22" name="Text 20"/>
          <p:cNvSpPr/>
          <p:nvPr/>
        </p:nvSpPr>
        <p:spPr>
          <a:xfrm>
            <a:off x="4846320" y="6099048"/>
            <a:ext cx="2560320" cy="228600"/>
          </a:xfrm>
          <a:prstGeom prst="rect">
            <a:avLst/>
          </a:prstGeom>
          <a:noFill/>
          <a:ln/>
        </p:spPr>
        <p:txBody>
          <a:bodyPr wrap="square" lIns="635" tIns="635" rIns="635" bIns="635" rtlCol="0" anchor="ctr">
            <a:normAutofit/>
          </a:bodyPr>
          <a:lstStyle/>
          <a:p>
            <a:pPr algn="ctr" indent="0" marL="0">
              <a:buNone/>
            </a:pPr>
            <a:r>
              <a:rPr lang="en-US" sz="1650" b="1" dirty="0">
                <a:solidFill>
                  <a:srgbClr val="637083"/>
                </a:solidFill>
                <a:latin typeface="Aptos" pitchFamily="34" charset="0"/>
                <a:ea typeface="Aptos" pitchFamily="34" charset="-122"/>
                <a:cs typeface="Aptos" pitchFamily="34" charset="-120"/>
              </a:rPr>
              <a:t>Questions?</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Robust Speech Recognition in Persian Language</dc:title>
  <dc:subject>M.Sc. thesis defense deck</dc:subject>
  <dc:creator>OpenAI</dc:creator>
  <cp:lastModifiedBy>OpenAI</cp:lastModifiedBy>
  <cp:revision>1</cp:revision>
  <dcterms:created xsi:type="dcterms:W3CDTF">2026-07-11T11:54:51Z</dcterms:created>
  <dcterms:modified xsi:type="dcterms:W3CDTF">2026-07-11T11:54:51Z</dcterms:modified>
</cp:coreProperties>
</file>